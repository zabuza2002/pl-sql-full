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9"/>
  </p:notesMasterIdLst>
  <p:handoutMasterIdLst>
    <p:handoutMasterId r:id="rId30"/>
  </p:handoutMasterIdLst>
  <p:sldIdLst>
    <p:sldId id="256" r:id="rId5"/>
    <p:sldId id="257" r:id="rId6"/>
    <p:sldId id="272" r:id="rId7"/>
    <p:sldId id="274" r:id="rId8"/>
    <p:sldId id="275" r:id="rId9"/>
    <p:sldId id="273" r:id="rId10"/>
    <p:sldId id="258" r:id="rId11"/>
    <p:sldId id="261" r:id="rId12"/>
    <p:sldId id="262" r:id="rId13"/>
    <p:sldId id="268" r:id="rId14"/>
    <p:sldId id="259" r:id="rId15"/>
    <p:sldId id="260" r:id="rId16"/>
    <p:sldId id="270" r:id="rId17"/>
    <p:sldId id="271" r:id="rId18"/>
    <p:sldId id="276" r:id="rId19"/>
    <p:sldId id="277" r:id="rId20"/>
    <p:sldId id="278" r:id="rId21"/>
    <p:sldId id="283" r:id="rId22"/>
    <p:sldId id="288" r:id="rId23"/>
    <p:sldId id="279" r:id="rId24"/>
    <p:sldId id="280" r:id="rId25"/>
    <p:sldId id="286" r:id="rId26"/>
    <p:sldId id="287" r:id="rId27"/>
    <p:sldId id="269" r:id="rId28"/>
  </p:sldIdLst>
  <p:sldSz cx="12192000" cy="6858000"/>
  <p:notesSz cx="6858000" cy="9144000"/>
  <p:defaultTextStyle>
    <a:defPPr rtl="0">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939B71-0644-FB37-F3E2-CD576A5F6ABA}" v="814" dt="2022-03-31T14:04:37.899"/>
    <p1510:client id="{D447348F-F4C7-3AA3-3EDE-57F20DCD4FC2}" v="119" dt="2022-03-31T15:32:08.701"/>
    <p1510:client id="{E11D6F9B-4B12-052D-A9F5-929DA8B8989C}" v="15" dt="2022-03-27T18:48:38.477"/>
    <p1510:client id="{F7EA9986-6026-408D-9D2B-71897D5A2078}" v="509" dt="2022-03-27T17:56:31.8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6" d="100"/>
          <a:sy n="86" d="100"/>
        </p:scale>
        <p:origin x="514" y="67"/>
      </p:cViewPr>
      <p:guideLst/>
    </p:cSldViewPr>
  </p:slideViewPr>
  <p:notesTextViewPr>
    <p:cViewPr>
      <p:scale>
        <a:sx n="1" d="1"/>
        <a:sy n="1" d="1"/>
      </p:scale>
      <p:origin x="0" y="0"/>
    </p:cViewPr>
  </p:notesTextViewPr>
  <p:notesViewPr>
    <p:cSldViewPr snapToGrid="0">
      <p:cViewPr varScale="1">
        <p:scale>
          <a:sx n="86" d="100"/>
          <a:sy n="86" d="100"/>
        </p:scale>
        <p:origin x="384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00C94F-C231-4A4F-BB78-99459B463F72}" type="doc">
      <dgm:prSet loTypeId="urn:microsoft.com/office/officeart/2005/8/layout/process4" loCatId="process" qsTypeId="urn:microsoft.com/office/officeart/2005/8/quickstyle/simple2" qsCatId="simple" csTypeId="urn:microsoft.com/office/officeart/2005/8/colors/colorful2" csCatId="colorful"/>
      <dgm:spPr/>
      <dgm:t>
        <a:bodyPr/>
        <a:lstStyle/>
        <a:p>
          <a:endParaRPr lang="en-US"/>
        </a:p>
      </dgm:t>
    </dgm:pt>
    <dgm:pt modelId="{73C686CA-E0CD-40C2-A9D1-DE4DA2AECDEA}">
      <dgm:prSet/>
      <dgm:spPr/>
      <dgm:t>
        <a:bodyPr/>
        <a:lstStyle/>
        <a:p>
          <a:r>
            <a:rPr lang="ru-RU" b="0" i="0"/>
            <a:t>REST API позволяет использовать для общения между программами </a:t>
          </a:r>
          <a:r>
            <a:rPr lang="ru-RU" b="1" i="0"/>
            <a:t>протокол HTTP</a:t>
          </a:r>
          <a:r>
            <a:rPr lang="ru-RU" b="0" i="0"/>
            <a:t> (зашифрованная версия — HTTPS), с помощью которого мы получаем и отправляем большую часть информации в интернете.</a:t>
          </a:r>
          <a:endParaRPr lang="en-US"/>
        </a:p>
      </dgm:t>
    </dgm:pt>
    <dgm:pt modelId="{7AF8B923-E1AB-49E8-83E5-180D53519045}" type="parTrans" cxnId="{C5B1B895-9414-412B-97A9-6BCDCE9D99CB}">
      <dgm:prSet/>
      <dgm:spPr/>
      <dgm:t>
        <a:bodyPr/>
        <a:lstStyle/>
        <a:p>
          <a:endParaRPr lang="en-US"/>
        </a:p>
      </dgm:t>
    </dgm:pt>
    <dgm:pt modelId="{246FE1EB-647E-4296-84DB-B215FA4F94C1}" type="sibTrans" cxnId="{C5B1B895-9414-412B-97A9-6BCDCE9D99CB}">
      <dgm:prSet/>
      <dgm:spPr/>
      <dgm:t>
        <a:bodyPr/>
        <a:lstStyle/>
        <a:p>
          <a:endParaRPr lang="en-US"/>
        </a:p>
      </dgm:t>
    </dgm:pt>
    <dgm:pt modelId="{254443E7-35F8-4B4B-BD27-4AABDC4139BA}">
      <dgm:prSet/>
      <dgm:spPr/>
      <dgm:t>
        <a:bodyPr/>
        <a:lstStyle/>
        <a:p>
          <a:r>
            <a:rPr lang="ru-RU" b="0" i="0"/>
            <a:t>HTTP довольно прост. Посмотрим на его работу на примере. Допустим, есть адрес http://website.com/something. Он состоит из двух частей: первая — это адрес сайта или сервера, то есть http://website.com. Вторая — адрес ресурса на удаленном сервере, в данном примере — /something.</a:t>
          </a:r>
          <a:endParaRPr lang="en-US"/>
        </a:p>
      </dgm:t>
    </dgm:pt>
    <dgm:pt modelId="{7EC4CE5D-8FA8-4736-B67E-253352623B9A}" type="parTrans" cxnId="{E7DA3B47-4D0C-432B-9D64-9E6747967E01}">
      <dgm:prSet/>
      <dgm:spPr/>
      <dgm:t>
        <a:bodyPr/>
        <a:lstStyle/>
        <a:p>
          <a:endParaRPr lang="en-US"/>
        </a:p>
      </dgm:t>
    </dgm:pt>
    <dgm:pt modelId="{486F598D-85D5-4628-81A2-A3B78A186764}" type="sibTrans" cxnId="{E7DA3B47-4D0C-432B-9D64-9E6747967E01}">
      <dgm:prSet/>
      <dgm:spPr/>
      <dgm:t>
        <a:bodyPr/>
        <a:lstStyle/>
        <a:p>
          <a:endParaRPr lang="en-US"/>
        </a:p>
      </dgm:t>
    </dgm:pt>
    <dgm:pt modelId="{BE081ECF-3442-4E21-985F-6698634CAE72}">
      <dgm:prSet/>
      <dgm:spPr/>
      <dgm:t>
        <a:bodyPr/>
        <a:lstStyle/>
        <a:p>
          <a:r>
            <a:rPr lang="ru-RU" b="0" i="0"/>
            <a:t>Вбивая в адресную строку URL-адрес http://website.com/something, мы на самом деле идем на сервер website.com и запрашиваем ресурс под названием /something. «Пойди вот туда, принеси мне вот то» — и есть HTTP-запрос.</a:t>
          </a:r>
          <a:endParaRPr lang="en-US"/>
        </a:p>
      </dgm:t>
    </dgm:pt>
    <dgm:pt modelId="{4BD93118-453E-42DB-8625-FBE75F73869F}" type="parTrans" cxnId="{B18FA437-5EDC-4563-AFB4-8302A3359EAC}">
      <dgm:prSet/>
      <dgm:spPr/>
      <dgm:t>
        <a:bodyPr/>
        <a:lstStyle/>
        <a:p>
          <a:endParaRPr lang="en-US"/>
        </a:p>
      </dgm:t>
    </dgm:pt>
    <dgm:pt modelId="{95D5CE38-358C-45A2-B4E3-252168016D03}" type="sibTrans" cxnId="{B18FA437-5EDC-4563-AFB4-8302A3359EAC}">
      <dgm:prSet/>
      <dgm:spPr/>
      <dgm:t>
        <a:bodyPr/>
        <a:lstStyle/>
        <a:p>
          <a:endParaRPr lang="en-US"/>
        </a:p>
      </dgm:t>
    </dgm:pt>
    <dgm:pt modelId="{AE8CEDD0-0431-44C4-854D-E98AEC5179B7}" type="pres">
      <dgm:prSet presAssocID="{8100C94F-C231-4A4F-BB78-99459B463F72}" presName="Name0" presStyleCnt="0">
        <dgm:presLayoutVars>
          <dgm:dir/>
          <dgm:animLvl val="lvl"/>
          <dgm:resizeHandles val="exact"/>
        </dgm:presLayoutVars>
      </dgm:prSet>
      <dgm:spPr/>
    </dgm:pt>
    <dgm:pt modelId="{6FACFB40-C40A-4CD0-A7B0-CA11AE8E919D}" type="pres">
      <dgm:prSet presAssocID="{BE081ECF-3442-4E21-985F-6698634CAE72}" presName="boxAndChildren" presStyleCnt="0"/>
      <dgm:spPr/>
    </dgm:pt>
    <dgm:pt modelId="{CD17C4D9-6DE8-4A6E-9EDB-2387AEE5A1F6}" type="pres">
      <dgm:prSet presAssocID="{BE081ECF-3442-4E21-985F-6698634CAE72}" presName="parentTextBox" presStyleLbl="node1" presStyleIdx="0" presStyleCnt="3"/>
      <dgm:spPr/>
    </dgm:pt>
    <dgm:pt modelId="{015628B5-191A-49A0-B850-ACDDCC26BE59}" type="pres">
      <dgm:prSet presAssocID="{486F598D-85D5-4628-81A2-A3B78A186764}" presName="sp" presStyleCnt="0"/>
      <dgm:spPr/>
    </dgm:pt>
    <dgm:pt modelId="{77B3D927-D916-408F-8B48-D77ED55A7F32}" type="pres">
      <dgm:prSet presAssocID="{254443E7-35F8-4B4B-BD27-4AABDC4139BA}" presName="arrowAndChildren" presStyleCnt="0"/>
      <dgm:spPr/>
    </dgm:pt>
    <dgm:pt modelId="{18A27056-8CBC-43CA-BEBE-6A5590815AC8}" type="pres">
      <dgm:prSet presAssocID="{254443E7-35F8-4B4B-BD27-4AABDC4139BA}" presName="parentTextArrow" presStyleLbl="node1" presStyleIdx="1" presStyleCnt="3"/>
      <dgm:spPr/>
    </dgm:pt>
    <dgm:pt modelId="{6DFF51E2-00D2-4CCB-B0DE-2CB4A018DC46}" type="pres">
      <dgm:prSet presAssocID="{246FE1EB-647E-4296-84DB-B215FA4F94C1}" presName="sp" presStyleCnt="0"/>
      <dgm:spPr/>
    </dgm:pt>
    <dgm:pt modelId="{C52A9402-7280-40C1-B1FE-DD1DDF12AD28}" type="pres">
      <dgm:prSet presAssocID="{73C686CA-E0CD-40C2-A9D1-DE4DA2AECDEA}" presName="arrowAndChildren" presStyleCnt="0"/>
      <dgm:spPr/>
    </dgm:pt>
    <dgm:pt modelId="{EE49640E-62C6-4485-B353-7C06B1211544}" type="pres">
      <dgm:prSet presAssocID="{73C686CA-E0CD-40C2-A9D1-DE4DA2AECDEA}" presName="parentTextArrow" presStyleLbl="node1" presStyleIdx="2" presStyleCnt="3"/>
      <dgm:spPr/>
    </dgm:pt>
  </dgm:ptLst>
  <dgm:cxnLst>
    <dgm:cxn modelId="{31A71A1C-9476-475F-B46B-C60BA643699C}" type="presOf" srcId="{8100C94F-C231-4A4F-BB78-99459B463F72}" destId="{AE8CEDD0-0431-44C4-854D-E98AEC5179B7}" srcOrd="0" destOrd="0" presId="urn:microsoft.com/office/officeart/2005/8/layout/process4"/>
    <dgm:cxn modelId="{837B951E-70FD-46A1-BE01-7739B92E0212}" type="presOf" srcId="{254443E7-35F8-4B4B-BD27-4AABDC4139BA}" destId="{18A27056-8CBC-43CA-BEBE-6A5590815AC8}" srcOrd="0" destOrd="0" presId="urn:microsoft.com/office/officeart/2005/8/layout/process4"/>
    <dgm:cxn modelId="{B18FA437-5EDC-4563-AFB4-8302A3359EAC}" srcId="{8100C94F-C231-4A4F-BB78-99459B463F72}" destId="{BE081ECF-3442-4E21-985F-6698634CAE72}" srcOrd="2" destOrd="0" parTransId="{4BD93118-453E-42DB-8625-FBE75F73869F}" sibTransId="{95D5CE38-358C-45A2-B4E3-252168016D03}"/>
    <dgm:cxn modelId="{E7DA3B47-4D0C-432B-9D64-9E6747967E01}" srcId="{8100C94F-C231-4A4F-BB78-99459B463F72}" destId="{254443E7-35F8-4B4B-BD27-4AABDC4139BA}" srcOrd="1" destOrd="0" parTransId="{7EC4CE5D-8FA8-4736-B67E-253352623B9A}" sibTransId="{486F598D-85D5-4628-81A2-A3B78A186764}"/>
    <dgm:cxn modelId="{E62F4C7E-A8E5-464C-9F44-85D7BBD9D362}" type="presOf" srcId="{73C686CA-E0CD-40C2-A9D1-DE4DA2AECDEA}" destId="{EE49640E-62C6-4485-B353-7C06B1211544}" srcOrd="0" destOrd="0" presId="urn:microsoft.com/office/officeart/2005/8/layout/process4"/>
    <dgm:cxn modelId="{35014193-54A3-416F-8669-48AEF0AC01C3}" type="presOf" srcId="{BE081ECF-3442-4E21-985F-6698634CAE72}" destId="{CD17C4D9-6DE8-4A6E-9EDB-2387AEE5A1F6}" srcOrd="0" destOrd="0" presId="urn:microsoft.com/office/officeart/2005/8/layout/process4"/>
    <dgm:cxn modelId="{C5B1B895-9414-412B-97A9-6BCDCE9D99CB}" srcId="{8100C94F-C231-4A4F-BB78-99459B463F72}" destId="{73C686CA-E0CD-40C2-A9D1-DE4DA2AECDEA}" srcOrd="0" destOrd="0" parTransId="{7AF8B923-E1AB-49E8-83E5-180D53519045}" sibTransId="{246FE1EB-647E-4296-84DB-B215FA4F94C1}"/>
    <dgm:cxn modelId="{793C70F8-598C-45C6-A028-937F3E1A624F}" type="presParOf" srcId="{AE8CEDD0-0431-44C4-854D-E98AEC5179B7}" destId="{6FACFB40-C40A-4CD0-A7B0-CA11AE8E919D}" srcOrd="0" destOrd="0" presId="urn:microsoft.com/office/officeart/2005/8/layout/process4"/>
    <dgm:cxn modelId="{29EA8B4C-E542-47E6-A858-85BD72710B0B}" type="presParOf" srcId="{6FACFB40-C40A-4CD0-A7B0-CA11AE8E919D}" destId="{CD17C4D9-6DE8-4A6E-9EDB-2387AEE5A1F6}" srcOrd="0" destOrd="0" presId="urn:microsoft.com/office/officeart/2005/8/layout/process4"/>
    <dgm:cxn modelId="{9DB74018-32FD-44A9-BDC7-ACD57DE3BED8}" type="presParOf" srcId="{AE8CEDD0-0431-44C4-854D-E98AEC5179B7}" destId="{015628B5-191A-49A0-B850-ACDDCC26BE59}" srcOrd="1" destOrd="0" presId="urn:microsoft.com/office/officeart/2005/8/layout/process4"/>
    <dgm:cxn modelId="{19DBCCCB-9137-4988-A526-5EFA51EF3798}" type="presParOf" srcId="{AE8CEDD0-0431-44C4-854D-E98AEC5179B7}" destId="{77B3D927-D916-408F-8B48-D77ED55A7F32}" srcOrd="2" destOrd="0" presId="urn:microsoft.com/office/officeart/2005/8/layout/process4"/>
    <dgm:cxn modelId="{C92612E9-2AB5-485B-8425-60BBA8D0157E}" type="presParOf" srcId="{77B3D927-D916-408F-8B48-D77ED55A7F32}" destId="{18A27056-8CBC-43CA-BEBE-6A5590815AC8}" srcOrd="0" destOrd="0" presId="urn:microsoft.com/office/officeart/2005/8/layout/process4"/>
    <dgm:cxn modelId="{A84BCB91-0403-43A9-A17C-61461D0D6CD7}" type="presParOf" srcId="{AE8CEDD0-0431-44C4-854D-E98AEC5179B7}" destId="{6DFF51E2-00D2-4CCB-B0DE-2CB4A018DC46}" srcOrd="3" destOrd="0" presId="urn:microsoft.com/office/officeart/2005/8/layout/process4"/>
    <dgm:cxn modelId="{C445A9EE-46E0-4559-88F3-E4C283AB238E}" type="presParOf" srcId="{AE8CEDD0-0431-44C4-854D-E98AEC5179B7}" destId="{C52A9402-7280-40C1-B1FE-DD1DDF12AD28}" srcOrd="4" destOrd="0" presId="urn:microsoft.com/office/officeart/2005/8/layout/process4"/>
    <dgm:cxn modelId="{AFEC4856-7679-4B48-9D1A-011AEA5AC589}" type="presParOf" srcId="{C52A9402-7280-40C1-B1FE-DD1DDF12AD28}" destId="{EE49640E-62C6-4485-B353-7C06B121154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7C4D9-6DE8-4A6E-9EDB-2387AEE5A1F6}">
      <dsp:nvSpPr>
        <dsp:cNvPr id="0" name=""/>
        <dsp:cNvSpPr/>
      </dsp:nvSpPr>
      <dsp:spPr>
        <a:xfrm>
          <a:off x="0" y="3143095"/>
          <a:ext cx="10576558" cy="103163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ru-RU" sz="1600" b="0" i="0" kern="1200"/>
            <a:t>Вбивая в адресную строку URL-адрес http://website.com/something, мы на самом деле идем на сервер website.com и запрашиваем ресурс под названием /something. «Пойди вот туда, принеси мне вот то» — и есть HTTP-запрос.</a:t>
          </a:r>
          <a:endParaRPr lang="en-US" sz="1600" kern="1200"/>
        </a:p>
      </dsp:txBody>
      <dsp:txXfrm>
        <a:off x="0" y="3143095"/>
        <a:ext cx="10576558" cy="1031634"/>
      </dsp:txXfrm>
    </dsp:sp>
    <dsp:sp modelId="{18A27056-8CBC-43CA-BEBE-6A5590815AC8}">
      <dsp:nvSpPr>
        <dsp:cNvPr id="0" name=""/>
        <dsp:cNvSpPr/>
      </dsp:nvSpPr>
      <dsp:spPr>
        <a:xfrm rot="10800000">
          <a:off x="0" y="1571916"/>
          <a:ext cx="10576558" cy="1586653"/>
        </a:xfrm>
        <a:prstGeom prst="upArrowCallout">
          <a:avLst/>
        </a:prstGeom>
        <a:solidFill>
          <a:schemeClr val="accent2">
            <a:hueOff val="1264967"/>
            <a:satOff val="-23931"/>
            <a:lumOff val="-1667"/>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ru-RU" sz="1600" b="0" i="0" kern="1200"/>
            <a:t>HTTP довольно прост. Посмотрим на его работу на примере. Допустим, есть адрес http://website.com/something. Он состоит из двух частей: первая — это адрес сайта или сервера, то есть http://website.com. Вторая — адрес ресурса на удаленном сервере, в данном примере — /something.</a:t>
          </a:r>
          <a:endParaRPr lang="en-US" sz="1600" kern="1200"/>
        </a:p>
      </dsp:txBody>
      <dsp:txXfrm rot="10800000">
        <a:off x="0" y="1571916"/>
        <a:ext cx="10576558" cy="1030960"/>
      </dsp:txXfrm>
    </dsp:sp>
    <dsp:sp modelId="{EE49640E-62C6-4485-B353-7C06B1211544}">
      <dsp:nvSpPr>
        <dsp:cNvPr id="0" name=""/>
        <dsp:cNvSpPr/>
      </dsp:nvSpPr>
      <dsp:spPr>
        <a:xfrm rot="10800000">
          <a:off x="0" y="738"/>
          <a:ext cx="10576558" cy="1586653"/>
        </a:xfrm>
        <a:prstGeom prst="upArrowCallout">
          <a:avLst/>
        </a:prstGeom>
        <a:solidFill>
          <a:schemeClr val="accent2">
            <a:hueOff val="2529934"/>
            <a:satOff val="-47862"/>
            <a:lumOff val="-3334"/>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ru-RU" sz="1600" b="0" i="0" kern="1200"/>
            <a:t>REST API позволяет использовать для общения между программами </a:t>
          </a:r>
          <a:r>
            <a:rPr lang="ru-RU" sz="1600" b="1" i="0" kern="1200"/>
            <a:t>протокол HTTP</a:t>
          </a:r>
          <a:r>
            <a:rPr lang="ru-RU" sz="1600" b="0" i="0" kern="1200"/>
            <a:t> (зашифрованная версия — HTTPS), с помощью которого мы получаем и отправляем большую часть информации в интернете.</a:t>
          </a:r>
          <a:endParaRPr lang="en-US" sz="1600" kern="1200"/>
        </a:p>
      </dsp:txBody>
      <dsp:txXfrm rot="10800000">
        <a:off x="0" y="738"/>
        <a:ext cx="10576558" cy="10309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2A76F12D-2985-47C3-A07C-9F03DD159D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a:p>
        </p:txBody>
      </p:sp>
      <p:sp>
        <p:nvSpPr>
          <p:cNvPr id="3" name="Дата 2">
            <a:extLst>
              <a:ext uri="{FF2B5EF4-FFF2-40B4-BE49-F238E27FC236}">
                <a16:creationId xmlns:a16="http://schemas.microsoft.com/office/drawing/2014/main" id="{24F83A19-1DC2-46DB-B3A1-ECF7C417E9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9919E1-43AC-4CED-9500-DF4C100BDBF7}" type="datetimeFigureOut">
              <a:rPr lang="ru-RU" smtClean="0"/>
              <a:t>31.03.2022</a:t>
            </a:fld>
            <a:endParaRPr lang="ru-RU"/>
          </a:p>
        </p:txBody>
      </p:sp>
      <p:sp>
        <p:nvSpPr>
          <p:cNvPr id="4" name="Нижний колонтитул 3">
            <a:extLst>
              <a:ext uri="{FF2B5EF4-FFF2-40B4-BE49-F238E27FC236}">
                <a16:creationId xmlns:a16="http://schemas.microsoft.com/office/drawing/2014/main" id="{6A3D6289-F1C3-4041-A186-E428808BD1C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a:p>
        </p:txBody>
      </p:sp>
      <p:sp>
        <p:nvSpPr>
          <p:cNvPr id="5" name="Номер слайда 4">
            <a:extLst>
              <a:ext uri="{FF2B5EF4-FFF2-40B4-BE49-F238E27FC236}">
                <a16:creationId xmlns:a16="http://schemas.microsoft.com/office/drawing/2014/main" id="{CE17ECA2-D3CC-4290-9914-977FED6D365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0D98A85-43CB-4CDC-8FF1-647F52B29F1B}" type="slidenum">
              <a:rPr lang="ru-RU" smtClean="0"/>
              <a:t>‹#›</a:t>
            </a:fld>
            <a:endParaRPr lang="ru-RU"/>
          </a:p>
        </p:txBody>
      </p:sp>
    </p:spTree>
    <p:extLst>
      <p:ext uri="{BB962C8B-B14F-4D97-AF65-F5344CB8AC3E}">
        <p14:creationId xmlns:p14="http://schemas.microsoft.com/office/powerpoint/2010/main" val="28210913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49B7A66-B7EB-42C9-B5DD-873741A09959}" type="datetimeFigureOut">
              <a:rPr lang="ru-RU" noProof="0" smtClean="0"/>
              <a:t>31.03.2022</a:t>
            </a:fld>
            <a:endParaRPr lang="ru-RU" noProof="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F3B4569-3B6E-468D-B981-DA515F47BCE4}" type="slidenum">
              <a:rPr lang="ru-RU" noProof="0" smtClean="0"/>
              <a:t>‹#›</a:t>
            </a:fld>
            <a:endParaRPr lang="ru-RU" noProof="0"/>
          </a:p>
        </p:txBody>
      </p:sp>
    </p:spTree>
    <p:extLst>
      <p:ext uri="{BB962C8B-B14F-4D97-AF65-F5344CB8AC3E}">
        <p14:creationId xmlns:p14="http://schemas.microsoft.com/office/powerpoint/2010/main" val="23382088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CF3B4569-3B6E-468D-B981-DA515F47BCE4}" type="slidenum">
              <a:rPr lang="ru-RU" smtClean="0"/>
              <a:t>1</a:t>
            </a:fld>
            <a:endParaRPr lang="ru-RU"/>
          </a:p>
        </p:txBody>
      </p:sp>
    </p:spTree>
    <p:extLst>
      <p:ext uri="{BB962C8B-B14F-4D97-AF65-F5344CB8AC3E}">
        <p14:creationId xmlns:p14="http://schemas.microsoft.com/office/powerpoint/2010/main" val="3406569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grpSp>
        <p:nvGrpSpPr>
          <p:cNvPr id="89" name="Группа 88"/>
          <p:cNvGrpSpPr/>
          <p:nvPr/>
        </p:nvGrpSpPr>
        <p:grpSpPr>
          <a:xfrm>
            <a:off x="-329674" y="-59376"/>
            <a:ext cx="12515851" cy="6934071"/>
            <a:chOff x="-329674" y="-51881"/>
            <a:chExt cx="12515851" cy="6934071"/>
          </a:xfrm>
        </p:grpSpPr>
        <p:sp>
          <p:nvSpPr>
            <p:cNvPr id="90" name="Полилиния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Полилиния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Полилиния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Полилиния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Полилиния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Полилиния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Полилиния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Полилиния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Полилиния 18"/>
            <p:cNvSpPr/>
            <p:nvPr/>
          </p:nvSpPr>
          <p:spPr bwMode="auto">
            <a:xfrm>
              <a:off x="6463239" y="15853"/>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Полилиния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Полилиния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Полилиния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Полилиния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Полилиния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Группа 8"/>
          <p:cNvGrpSpPr/>
          <p:nvPr/>
        </p:nvGrpSpPr>
        <p:grpSpPr>
          <a:xfrm>
            <a:off x="1669293" y="1186483"/>
            <a:ext cx="8848345" cy="4477933"/>
            <a:chOff x="1669293" y="1186483"/>
            <a:chExt cx="8848345" cy="4477933"/>
          </a:xfrm>
        </p:grpSpPr>
        <p:sp>
          <p:nvSpPr>
            <p:cNvPr id="39" name="Прямоугольник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Равнобедренный треугольник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Прямоугольник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ctrTitle"/>
          </p:nvPr>
        </p:nvSpPr>
        <p:spPr>
          <a:xfrm>
            <a:off x="1759236" y="2075504"/>
            <a:ext cx="8679915" cy="1748729"/>
          </a:xfrm>
        </p:spPr>
        <p:txBody>
          <a:bodyPr bIns="0" rtlCol="0" anchor="b">
            <a:normAutofit/>
          </a:bodyPr>
          <a:lstStyle>
            <a:lvl1pPr algn="ctr">
              <a:lnSpc>
                <a:spcPct val="80000"/>
              </a:lnSpc>
              <a:defRPr sz="5400" spc="-150">
                <a:solidFill>
                  <a:srgbClr val="FFFEFF"/>
                </a:solidFill>
              </a:defRPr>
            </a:lvl1pPr>
          </a:lstStyle>
          <a:p>
            <a:pPr rtl="0"/>
            <a:r>
              <a:rPr lang="ru-RU" noProof="0" dirty="0"/>
              <a:t>Образец заголовка</a:t>
            </a:r>
          </a:p>
        </p:txBody>
      </p:sp>
      <p:sp>
        <p:nvSpPr>
          <p:cNvPr id="3" name="Подзаголовок 2"/>
          <p:cNvSpPr>
            <a:spLocks noGrp="1"/>
          </p:cNvSpPr>
          <p:nvPr>
            <p:ph type="subTitle" idx="1"/>
          </p:nvPr>
        </p:nvSpPr>
        <p:spPr>
          <a:xfrm>
            <a:off x="1759237" y="3906266"/>
            <a:ext cx="8673427" cy="1322587"/>
          </a:xfrm>
        </p:spPr>
        <p:txBody>
          <a:bodyPr tIns="0" rtlCol="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dirty="0"/>
              <a:t>Образец подзаголовка</a:t>
            </a:r>
          </a:p>
        </p:txBody>
      </p:sp>
      <p:sp>
        <p:nvSpPr>
          <p:cNvPr id="4" name="Дата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pPr rtl="0"/>
            <a:fld id="{E81FEBEC-0E4D-417F-96B2-1EBBD7D3DB90}" type="datetime1">
              <a:rPr lang="ru-RU" noProof="0" smtClean="0"/>
              <a:t>31.03.2022</a:t>
            </a:fld>
            <a:endParaRPr lang="ru-RU" noProof="0" dirty="0"/>
          </a:p>
        </p:txBody>
      </p:sp>
      <p:sp>
        <p:nvSpPr>
          <p:cNvPr id="5" name="Нижний колонтитул 4"/>
          <p:cNvSpPr>
            <a:spLocks noGrp="1"/>
          </p:cNvSpPr>
          <p:nvPr>
            <p:ph type="ftr" sz="quarter" idx="11"/>
          </p:nvPr>
        </p:nvSpPr>
        <p:spPr>
          <a:xfrm>
            <a:off x="804672" y="6227064"/>
            <a:ext cx="10588752" cy="320040"/>
          </a:xfrm>
        </p:spPr>
        <p:txBody>
          <a:bodyPr rtlCol="0"/>
          <a:lstStyle>
            <a:lvl1pPr algn="ctr">
              <a:defRPr/>
            </a:lvl1pPr>
          </a:lstStyle>
          <a:p>
            <a:pPr rtl="0"/>
            <a:endParaRPr lang="ru-RU" noProof="0" dirty="0"/>
          </a:p>
        </p:txBody>
      </p:sp>
      <p:sp>
        <p:nvSpPr>
          <p:cNvPr id="6" name="Номер слайда 5"/>
          <p:cNvSpPr>
            <a:spLocks noGrp="1"/>
          </p:cNvSpPr>
          <p:nvPr>
            <p:ph type="sldNum" sz="quarter" idx="12"/>
          </p:nvPr>
        </p:nvSpPr>
        <p:spPr>
          <a:xfrm>
            <a:off x="10469880" y="320040"/>
            <a:ext cx="914400" cy="320040"/>
          </a:xfrm>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grpSp>
        <p:nvGrpSpPr>
          <p:cNvPr id="80" name="Группа 79"/>
          <p:cNvGrpSpPr/>
          <p:nvPr/>
        </p:nvGrpSpPr>
        <p:grpSpPr>
          <a:xfrm>
            <a:off x="-417513" y="0"/>
            <a:ext cx="12584114" cy="6853238"/>
            <a:chOff x="-417513" y="0"/>
            <a:chExt cx="12584114" cy="6853238"/>
          </a:xfrm>
        </p:grpSpPr>
        <p:sp>
          <p:nvSpPr>
            <p:cNvPr id="81" name="Полилиния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Полилиния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Полилиния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Полилиния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Полилиния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Полилиния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Полилиния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Полилиния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Полилиния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Полилиния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Полилиния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Полилиния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Полилиния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Полилиния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Полилиния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Полилиния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Группа 26"/>
          <p:cNvGrpSpPr/>
          <p:nvPr/>
        </p:nvGrpSpPr>
        <p:grpSpPr>
          <a:xfrm>
            <a:off x="800144" y="1699589"/>
            <a:ext cx="3674476" cy="3470421"/>
            <a:chOff x="697883" y="1816768"/>
            <a:chExt cx="3674476" cy="3470421"/>
          </a:xfrm>
        </p:grpSpPr>
        <p:sp>
          <p:nvSpPr>
            <p:cNvPr id="28" name="Прямоугольник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Равнобедренный треугольник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Прямоугольник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title"/>
          </p:nvPr>
        </p:nvSpPr>
        <p:spPr>
          <a:xfrm>
            <a:off x="888631" y="2349925"/>
            <a:ext cx="3498979" cy="2456442"/>
          </a:xfrm>
        </p:spPr>
        <p:txBody>
          <a:bodyPr rtlCol="0"/>
          <a:lstStyle>
            <a:lvl1pPr>
              <a:defRPr>
                <a:solidFill>
                  <a:srgbClr val="FFFEFF"/>
                </a:solidFill>
              </a:defRPr>
            </a:lvl1pPr>
          </a:lstStyle>
          <a:p>
            <a:pPr rtl="0"/>
            <a:r>
              <a:rPr lang="ru-RU" noProof="0" dirty="0"/>
              <a:t>Образец заголовка</a:t>
            </a:r>
          </a:p>
        </p:txBody>
      </p:sp>
      <p:sp>
        <p:nvSpPr>
          <p:cNvPr id="3" name="Объект 2"/>
          <p:cNvSpPr>
            <a:spLocks noGrp="1"/>
          </p:cNvSpPr>
          <p:nvPr>
            <p:ph idx="1"/>
          </p:nvPr>
        </p:nvSpPr>
        <p:spPr>
          <a:xfrm>
            <a:off x="5118447" y="803186"/>
            <a:ext cx="6281873" cy="5248622"/>
          </a:xfrm>
        </p:spPr>
        <p:txBody>
          <a:bodyPr rtlCol="0" anchor="ct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p:cNvSpPr>
            <a:spLocks noGrp="1"/>
          </p:cNvSpPr>
          <p:nvPr>
            <p:ph type="dt" sz="half" idx="10"/>
          </p:nvPr>
        </p:nvSpPr>
        <p:spPr/>
        <p:txBody>
          <a:bodyPr rtlCol="0"/>
          <a:lstStyle/>
          <a:p>
            <a:pPr rtl="0"/>
            <a:fld id="{CEE7E6F6-A2E1-4052-8194-01765484777A}" type="datetime1">
              <a:rPr lang="ru-RU" noProof="0" smtClean="0"/>
              <a:t>31.03.2022</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grpSp>
        <p:nvGrpSpPr>
          <p:cNvPr id="77" name="Группа 76"/>
          <p:cNvGrpSpPr/>
          <p:nvPr/>
        </p:nvGrpSpPr>
        <p:grpSpPr>
          <a:xfrm>
            <a:off x="-329674" y="-59376"/>
            <a:ext cx="12515851" cy="6923798"/>
            <a:chOff x="-329674" y="-51881"/>
            <a:chExt cx="12515851" cy="6923798"/>
          </a:xfrm>
        </p:grpSpPr>
        <p:sp>
          <p:nvSpPr>
            <p:cNvPr id="78" name="Полилиния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Полилиния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Полилиния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Полилиния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Полилиния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Полилиния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Полилиния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Полилиния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Полилиния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Полилиния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Полилиния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Полилиния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Полилиния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Полилиния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Группа 8"/>
          <p:cNvGrpSpPr/>
          <p:nvPr/>
        </p:nvGrpSpPr>
        <p:grpSpPr>
          <a:xfrm>
            <a:off x="3259545" y="1186483"/>
            <a:ext cx="5666145" cy="4477933"/>
            <a:chOff x="3259545" y="1186483"/>
            <a:chExt cx="5666145" cy="4477933"/>
          </a:xfrm>
        </p:grpSpPr>
        <p:sp>
          <p:nvSpPr>
            <p:cNvPr id="99" name="Прямоугольник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Равнобедренный треугольник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Прямоугольник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title"/>
          </p:nvPr>
        </p:nvSpPr>
        <p:spPr>
          <a:xfrm>
            <a:off x="3344216" y="2074730"/>
            <a:ext cx="5490224" cy="1689390"/>
          </a:xfrm>
        </p:spPr>
        <p:txBody>
          <a:bodyPr bIns="0" rtlCol="0" anchor="b">
            <a:normAutofit/>
          </a:bodyPr>
          <a:lstStyle>
            <a:lvl1pPr algn="ctr">
              <a:defRPr sz="4400">
                <a:solidFill>
                  <a:srgbClr val="FFFEFF"/>
                </a:solidFill>
              </a:defRPr>
            </a:lvl1pPr>
          </a:lstStyle>
          <a:p>
            <a:pPr rtl="0"/>
            <a:r>
              <a:rPr lang="ru-RU" noProof="0" dirty="0"/>
              <a:t>Образец заголовка</a:t>
            </a:r>
          </a:p>
        </p:txBody>
      </p:sp>
      <p:sp>
        <p:nvSpPr>
          <p:cNvPr id="3" name="Текст 2"/>
          <p:cNvSpPr>
            <a:spLocks noGrp="1"/>
          </p:cNvSpPr>
          <p:nvPr>
            <p:ph type="body" idx="1"/>
          </p:nvPr>
        </p:nvSpPr>
        <p:spPr>
          <a:xfrm>
            <a:off x="3344215" y="3846851"/>
            <a:ext cx="5490223" cy="1383770"/>
          </a:xfrm>
        </p:spPr>
        <p:txBody>
          <a:bodyPr tIns="0" rtlCol="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ru-RU" noProof="0" dirty="0"/>
              <a:t>Образец текста</a:t>
            </a:r>
          </a:p>
        </p:txBody>
      </p:sp>
      <p:sp>
        <p:nvSpPr>
          <p:cNvPr id="4" name="Дата 3"/>
          <p:cNvSpPr>
            <a:spLocks noGrp="1"/>
          </p:cNvSpPr>
          <p:nvPr>
            <p:ph type="dt" sz="half" idx="10"/>
          </p:nvPr>
        </p:nvSpPr>
        <p:spPr>
          <a:xfrm>
            <a:off x="804672" y="320040"/>
            <a:ext cx="3657600" cy="320040"/>
          </a:xfrm>
        </p:spPr>
        <p:txBody>
          <a:bodyPr rtlCol="0"/>
          <a:lstStyle/>
          <a:p>
            <a:pPr rtl="0"/>
            <a:fld id="{22AD9F5C-1D60-4849-AD34-9D3410DAF6D8}" type="datetime1">
              <a:rPr lang="ru-RU" noProof="0" smtClean="0"/>
              <a:t>31.03.2022</a:t>
            </a:fld>
            <a:endParaRPr lang="ru-RU" noProof="0" dirty="0"/>
          </a:p>
        </p:txBody>
      </p:sp>
      <p:sp>
        <p:nvSpPr>
          <p:cNvPr id="5" name="Нижний колонтитул 4"/>
          <p:cNvSpPr>
            <a:spLocks noGrp="1"/>
          </p:cNvSpPr>
          <p:nvPr>
            <p:ph type="ftr" sz="quarter" idx="11"/>
          </p:nvPr>
        </p:nvSpPr>
        <p:spPr>
          <a:xfrm>
            <a:off x="804672" y="6227064"/>
            <a:ext cx="10588752" cy="320040"/>
          </a:xfrm>
        </p:spPr>
        <p:txBody>
          <a:bodyPr rtlCol="0"/>
          <a:lstStyle>
            <a:lvl1pPr algn="ctr">
              <a:defRPr/>
            </a:lvl1pPr>
          </a:lstStyle>
          <a:p>
            <a:pPr rtl="0"/>
            <a:endParaRPr lang="ru-RU" noProof="0" dirty="0"/>
          </a:p>
        </p:txBody>
      </p:sp>
      <p:sp>
        <p:nvSpPr>
          <p:cNvPr id="6" name="Номер слайда 5"/>
          <p:cNvSpPr>
            <a:spLocks noGrp="1"/>
          </p:cNvSpPr>
          <p:nvPr>
            <p:ph type="sldNum" sz="quarter" idx="12"/>
          </p:nvPr>
        </p:nvSpPr>
        <p:spPr>
          <a:xfrm>
            <a:off x="10469880" y="320040"/>
            <a:ext cx="914400" cy="320040"/>
          </a:xfrm>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grpSp>
        <p:nvGrpSpPr>
          <p:cNvPr id="37" name="Группа 36"/>
          <p:cNvGrpSpPr/>
          <p:nvPr/>
        </p:nvGrpSpPr>
        <p:grpSpPr>
          <a:xfrm>
            <a:off x="-417513" y="0"/>
            <a:ext cx="12584114" cy="6853238"/>
            <a:chOff x="-417513" y="0"/>
            <a:chExt cx="12584114" cy="6853238"/>
          </a:xfrm>
        </p:grpSpPr>
        <p:sp>
          <p:nvSpPr>
            <p:cNvPr id="38" name="Полилиния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Полилиния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Полилиния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Полилиния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Полилиния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Полилиния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Полилиния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Полилиния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Полилиния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Полилиния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Полилиния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Полилиния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Полилиния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Полилиния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Полилиния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Полилиния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Полилиния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Полилиния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Полилиния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Полилиния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Полилиния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Группа 58"/>
          <p:cNvGrpSpPr/>
          <p:nvPr/>
        </p:nvGrpSpPr>
        <p:grpSpPr>
          <a:xfrm>
            <a:off x="800144" y="1699589"/>
            <a:ext cx="3674476" cy="3470421"/>
            <a:chOff x="697883" y="1816768"/>
            <a:chExt cx="3674476" cy="3470421"/>
          </a:xfrm>
        </p:grpSpPr>
        <p:sp>
          <p:nvSpPr>
            <p:cNvPr id="60" name="Прямоугольник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Равнобедренный треугольник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Прямоугольник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title"/>
          </p:nvPr>
        </p:nvSpPr>
        <p:spPr>
          <a:xfrm>
            <a:off x="889000" y="2339669"/>
            <a:ext cx="3500828" cy="2470065"/>
          </a:xfrm>
        </p:spPr>
        <p:txBody>
          <a:bodyPr lIns="91440" tIns="91440" rIns="91440" bIns="91440" rtlCol="0"/>
          <a:lstStyle>
            <a:lvl1pPr>
              <a:defRPr>
                <a:solidFill>
                  <a:srgbClr val="FFFEFF"/>
                </a:solidFill>
              </a:defRPr>
            </a:lvl1pPr>
          </a:lstStyle>
          <a:p>
            <a:pPr rtl="0"/>
            <a:r>
              <a:rPr lang="ru-RU" noProof="0" dirty="0"/>
              <a:t>Образец заголовка</a:t>
            </a:r>
          </a:p>
        </p:txBody>
      </p:sp>
      <p:sp>
        <p:nvSpPr>
          <p:cNvPr id="3" name="Объект 2"/>
          <p:cNvSpPr>
            <a:spLocks noGrp="1"/>
          </p:cNvSpPr>
          <p:nvPr>
            <p:ph sz="half" idx="1"/>
          </p:nvPr>
        </p:nvSpPr>
        <p:spPr>
          <a:xfrm>
            <a:off x="5120878" y="803187"/>
            <a:ext cx="6269591" cy="2382651"/>
          </a:xfrm>
        </p:spPr>
        <p:txBody>
          <a:bodyPr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Объект 3"/>
          <p:cNvSpPr>
            <a:spLocks noGrp="1"/>
          </p:cNvSpPr>
          <p:nvPr>
            <p:ph sz="half" idx="2"/>
          </p:nvPr>
        </p:nvSpPr>
        <p:spPr>
          <a:xfrm>
            <a:off x="5118447" y="3672162"/>
            <a:ext cx="6272022" cy="2383586"/>
          </a:xfrm>
        </p:spPr>
        <p:txBody>
          <a:bodyPr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Дата 4"/>
          <p:cNvSpPr>
            <a:spLocks noGrp="1"/>
          </p:cNvSpPr>
          <p:nvPr>
            <p:ph type="dt" sz="half" idx="10"/>
          </p:nvPr>
        </p:nvSpPr>
        <p:spPr>
          <a:xfrm>
            <a:off x="804672" y="320040"/>
            <a:ext cx="3657600" cy="320040"/>
          </a:xfrm>
        </p:spPr>
        <p:txBody>
          <a:bodyPr rtlCol="0"/>
          <a:lstStyle/>
          <a:p>
            <a:pPr rtl="0"/>
            <a:fld id="{4813F36F-146A-4E5F-BC3B-45E286E927E4}" type="datetime1">
              <a:rPr lang="ru-RU" noProof="0" smtClean="0"/>
              <a:t>31.03.2022</a:t>
            </a:fld>
            <a:endParaRPr lang="ru-RU" noProof="0" dirty="0"/>
          </a:p>
        </p:txBody>
      </p:sp>
      <p:sp>
        <p:nvSpPr>
          <p:cNvPr id="6" name="Нижний колонтитул 5"/>
          <p:cNvSpPr>
            <a:spLocks noGrp="1"/>
          </p:cNvSpPr>
          <p:nvPr>
            <p:ph type="ftr" sz="quarter" idx="11"/>
          </p:nvPr>
        </p:nvSpPr>
        <p:spPr>
          <a:xfrm>
            <a:off x="804672" y="6227064"/>
            <a:ext cx="10588752" cy="320040"/>
          </a:xfrm>
        </p:spPr>
        <p:txBody>
          <a:bodyPr rtlCol="0"/>
          <a:lstStyle/>
          <a:p>
            <a:pPr rtl="0"/>
            <a:endParaRPr lang="ru-RU" noProof="0" dirty="0"/>
          </a:p>
        </p:txBody>
      </p:sp>
      <p:sp>
        <p:nvSpPr>
          <p:cNvPr id="7" name="Номер слайда 6"/>
          <p:cNvSpPr>
            <a:spLocks noGrp="1"/>
          </p:cNvSpPr>
          <p:nvPr>
            <p:ph type="sldNum" sz="quarter" idx="12"/>
          </p:nvPr>
        </p:nvSpPr>
        <p:spPr>
          <a:xfrm>
            <a:off x="10469880" y="320040"/>
            <a:ext cx="914400" cy="320040"/>
          </a:xfrm>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grpSp>
        <p:nvGrpSpPr>
          <p:cNvPr id="39" name="Группа 38"/>
          <p:cNvGrpSpPr/>
          <p:nvPr/>
        </p:nvGrpSpPr>
        <p:grpSpPr>
          <a:xfrm>
            <a:off x="-417513" y="0"/>
            <a:ext cx="12584114" cy="6853238"/>
            <a:chOff x="-417513" y="0"/>
            <a:chExt cx="12584114" cy="6853238"/>
          </a:xfrm>
        </p:grpSpPr>
        <p:sp>
          <p:nvSpPr>
            <p:cNvPr id="40" name="Полилиния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Полилиния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Полилиния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Полилиния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Полилиния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Полилиния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Полилиния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Полилиния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Полилиния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Полилиния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Полилиния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Полилиния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Полилиния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Полилиния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Полилиния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Полилиния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Полилиния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Полилиния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Полилиния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Полилиния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Полилиния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Группа 60"/>
          <p:cNvGrpSpPr/>
          <p:nvPr/>
        </p:nvGrpSpPr>
        <p:grpSpPr>
          <a:xfrm>
            <a:off x="800144" y="1699589"/>
            <a:ext cx="3674476" cy="3470421"/>
            <a:chOff x="697883" y="1816768"/>
            <a:chExt cx="3674476" cy="3470421"/>
          </a:xfrm>
        </p:grpSpPr>
        <p:sp>
          <p:nvSpPr>
            <p:cNvPr id="62" name="Прямоугольник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Равнобедренный треугольник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Прямоугольник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title"/>
          </p:nvPr>
        </p:nvSpPr>
        <p:spPr>
          <a:xfrm>
            <a:off x="889001" y="2363915"/>
            <a:ext cx="3500828" cy="2460497"/>
          </a:xfrm>
        </p:spPr>
        <p:txBody>
          <a:bodyPr lIns="91440" tIns="91440" rIns="91440" bIns="91440" rtlCol="0"/>
          <a:lstStyle>
            <a:lvl1pPr>
              <a:defRPr>
                <a:solidFill>
                  <a:srgbClr val="FFFEFF"/>
                </a:solidFill>
              </a:defRPr>
            </a:lvl1pPr>
          </a:lstStyle>
          <a:p>
            <a:pPr rtl="0"/>
            <a:r>
              <a:rPr lang="ru-RU" noProof="0" dirty="0"/>
              <a:t>Образец заголовка</a:t>
            </a:r>
          </a:p>
        </p:txBody>
      </p:sp>
      <p:sp>
        <p:nvSpPr>
          <p:cNvPr id="3" name="Текст 2"/>
          <p:cNvSpPr>
            <a:spLocks noGrp="1"/>
          </p:cNvSpPr>
          <p:nvPr>
            <p:ph type="body" idx="1"/>
          </p:nvPr>
        </p:nvSpPr>
        <p:spPr>
          <a:xfrm>
            <a:off x="5125137" y="803185"/>
            <a:ext cx="6265088" cy="685800"/>
          </a:xfrm>
        </p:spPr>
        <p:txBody>
          <a:bodyPr rtlCol="0"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dirty="0"/>
              <a:t>Образец текста</a:t>
            </a:r>
          </a:p>
        </p:txBody>
      </p:sp>
      <p:sp>
        <p:nvSpPr>
          <p:cNvPr id="4" name="Объект 3"/>
          <p:cNvSpPr>
            <a:spLocks noGrp="1"/>
          </p:cNvSpPr>
          <p:nvPr>
            <p:ph sz="half" idx="2"/>
          </p:nvPr>
        </p:nvSpPr>
        <p:spPr>
          <a:xfrm>
            <a:off x="5125305" y="1488985"/>
            <a:ext cx="6264350" cy="1696853"/>
          </a:xfrm>
        </p:spPr>
        <p:txBody>
          <a:bodyPr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5" name="Текст 4"/>
          <p:cNvSpPr>
            <a:spLocks noGrp="1"/>
          </p:cNvSpPr>
          <p:nvPr>
            <p:ph type="body" sz="quarter" idx="3"/>
          </p:nvPr>
        </p:nvSpPr>
        <p:spPr>
          <a:xfrm>
            <a:off x="5118653" y="3665887"/>
            <a:ext cx="6264414" cy="685800"/>
          </a:xfrm>
        </p:spPr>
        <p:txBody>
          <a:bodyPr rtlCol="0"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dirty="0"/>
              <a:t>Образец текста</a:t>
            </a:r>
          </a:p>
        </p:txBody>
      </p:sp>
      <p:sp>
        <p:nvSpPr>
          <p:cNvPr id="6" name="Объект 5"/>
          <p:cNvSpPr>
            <a:spLocks noGrp="1"/>
          </p:cNvSpPr>
          <p:nvPr>
            <p:ph sz="quarter" idx="4"/>
          </p:nvPr>
        </p:nvSpPr>
        <p:spPr>
          <a:xfrm>
            <a:off x="5118447" y="4351687"/>
            <a:ext cx="6265588" cy="1704060"/>
          </a:xfrm>
        </p:spPr>
        <p:txBody>
          <a:bodyPr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7" name="Дата 6"/>
          <p:cNvSpPr>
            <a:spLocks noGrp="1"/>
          </p:cNvSpPr>
          <p:nvPr>
            <p:ph type="dt" sz="half" idx="10"/>
          </p:nvPr>
        </p:nvSpPr>
        <p:spPr>
          <a:xfrm>
            <a:off x="804672" y="320040"/>
            <a:ext cx="3657600" cy="320040"/>
          </a:xfrm>
        </p:spPr>
        <p:txBody>
          <a:bodyPr rtlCol="0"/>
          <a:lstStyle/>
          <a:p>
            <a:pPr rtl="0"/>
            <a:fld id="{8FBBF843-B0CA-4446-A60E-DC95B69C153C}" type="datetime1">
              <a:rPr lang="ru-RU" noProof="0" smtClean="0"/>
              <a:t>31.03.2022</a:t>
            </a:fld>
            <a:endParaRPr lang="ru-RU" noProof="0" dirty="0"/>
          </a:p>
        </p:txBody>
      </p:sp>
      <p:sp>
        <p:nvSpPr>
          <p:cNvPr id="8" name="Нижний колонтитул 7"/>
          <p:cNvSpPr>
            <a:spLocks noGrp="1"/>
          </p:cNvSpPr>
          <p:nvPr>
            <p:ph type="ftr" sz="quarter" idx="11"/>
          </p:nvPr>
        </p:nvSpPr>
        <p:spPr>
          <a:xfrm>
            <a:off x="804672" y="6227064"/>
            <a:ext cx="10588752" cy="320040"/>
          </a:xfrm>
        </p:spPr>
        <p:txBody>
          <a:bodyPr rtlCol="0"/>
          <a:lstStyle/>
          <a:p>
            <a:pPr rtl="0"/>
            <a:endParaRPr lang="ru-RU" noProof="0" dirty="0"/>
          </a:p>
        </p:txBody>
      </p:sp>
      <p:sp>
        <p:nvSpPr>
          <p:cNvPr id="9" name="Номер слайда 8"/>
          <p:cNvSpPr>
            <a:spLocks noGrp="1"/>
          </p:cNvSpPr>
          <p:nvPr>
            <p:ph type="sldNum" sz="quarter" idx="12"/>
          </p:nvPr>
        </p:nvSpPr>
        <p:spPr>
          <a:xfrm>
            <a:off x="10469880" y="320040"/>
            <a:ext cx="914400" cy="320040"/>
          </a:xfrm>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grpSp>
        <p:nvGrpSpPr>
          <p:cNvPr id="77" name="Группа 76"/>
          <p:cNvGrpSpPr/>
          <p:nvPr/>
        </p:nvGrpSpPr>
        <p:grpSpPr>
          <a:xfrm>
            <a:off x="-417513" y="0"/>
            <a:ext cx="12584114" cy="6853238"/>
            <a:chOff x="-417513" y="0"/>
            <a:chExt cx="12584114" cy="6853238"/>
          </a:xfrm>
        </p:grpSpPr>
        <p:sp>
          <p:nvSpPr>
            <p:cNvPr id="78" name="Полилиния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Полилиния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Полилиния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Полилиния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Полилиния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Полилиния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Полилиния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Полилиния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Полилиния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Полилиния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Полилиния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Полилиния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Полилиния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Полилиния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Полилиния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Полилиния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Группа 23"/>
          <p:cNvGrpSpPr/>
          <p:nvPr/>
        </p:nvGrpSpPr>
        <p:grpSpPr>
          <a:xfrm>
            <a:off x="800144" y="1699589"/>
            <a:ext cx="3674476" cy="3470421"/>
            <a:chOff x="697883" y="1816768"/>
            <a:chExt cx="3674476" cy="3470421"/>
          </a:xfrm>
        </p:grpSpPr>
        <p:sp>
          <p:nvSpPr>
            <p:cNvPr id="25" name="Прямоугольник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Равнобедренный треугольник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Прямоугольник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title"/>
          </p:nvPr>
        </p:nvSpPr>
        <p:spPr>
          <a:xfrm>
            <a:off x="888632" y="2349925"/>
            <a:ext cx="3501196" cy="2456442"/>
          </a:xfrm>
        </p:spPr>
        <p:txBody>
          <a:bodyPr rtlCol="0"/>
          <a:lstStyle>
            <a:lvl1pPr>
              <a:defRPr>
                <a:solidFill>
                  <a:srgbClr val="FFFEFF"/>
                </a:solidFill>
              </a:defRPr>
            </a:lvl1pPr>
          </a:lstStyle>
          <a:p>
            <a:pPr rtl="0"/>
            <a:r>
              <a:rPr lang="ru-RU" noProof="0" dirty="0"/>
              <a:t>Образец заголовка</a:t>
            </a:r>
          </a:p>
        </p:txBody>
      </p:sp>
      <p:sp>
        <p:nvSpPr>
          <p:cNvPr id="3" name="Дата 2"/>
          <p:cNvSpPr>
            <a:spLocks noGrp="1"/>
          </p:cNvSpPr>
          <p:nvPr>
            <p:ph type="dt" sz="half" idx="10"/>
          </p:nvPr>
        </p:nvSpPr>
        <p:spPr/>
        <p:txBody>
          <a:bodyPr rtlCol="0"/>
          <a:lstStyle/>
          <a:p>
            <a:pPr rtl="0"/>
            <a:fld id="{85A83785-F1AB-448A-A86F-0048DCE04F5B}" type="datetime1">
              <a:rPr lang="ru-RU" noProof="0" smtClean="0"/>
              <a:t>31.03.2022</a:t>
            </a:fld>
            <a:endParaRPr lang="ru-RU" noProof="0" dirty="0"/>
          </a:p>
        </p:txBody>
      </p:sp>
      <p:sp>
        <p:nvSpPr>
          <p:cNvPr id="4" name="Нижний колонтитул 3"/>
          <p:cNvSpPr>
            <a:spLocks noGrp="1"/>
          </p:cNvSpPr>
          <p:nvPr>
            <p:ph type="ftr" sz="quarter" idx="11"/>
          </p:nvPr>
        </p:nvSpPr>
        <p:spPr/>
        <p:txBody>
          <a:bodyPr rtlCol="0"/>
          <a:lstStyle/>
          <a:p>
            <a:pPr rtl="0"/>
            <a:endParaRPr lang="ru-RU" noProof="0" dirty="0"/>
          </a:p>
        </p:txBody>
      </p:sp>
      <p:sp>
        <p:nvSpPr>
          <p:cNvPr id="5" name="Номер слайда 4"/>
          <p:cNvSpPr>
            <a:spLocks noGrp="1"/>
          </p:cNvSpPr>
          <p:nvPr>
            <p:ph type="sldNum" sz="quarter" idx="12"/>
          </p:nvPr>
        </p:nvSpPr>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804672" y="320040"/>
            <a:ext cx="3657600" cy="320040"/>
          </a:xfrm>
        </p:spPr>
        <p:txBody>
          <a:bodyPr rtlCol="0"/>
          <a:lstStyle/>
          <a:p>
            <a:pPr rtl="0"/>
            <a:fld id="{10F0D946-AC7A-4E44-9554-2F490A4FB81D}" type="datetime1">
              <a:rPr lang="ru-RU" noProof="0" smtClean="0"/>
              <a:t>31.03.2022</a:t>
            </a:fld>
            <a:endParaRPr lang="ru-RU" noProof="0"/>
          </a:p>
        </p:txBody>
      </p:sp>
      <p:sp>
        <p:nvSpPr>
          <p:cNvPr id="3" name="Нижний колонтитул 2"/>
          <p:cNvSpPr>
            <a:spLocks noGrp="1"/>
          </p:cNvSpPr>
          <p:nvPr>
            <p:ph type="ftr" sz="quarter" idx="11"/>
          </p:nvPr>
        </p:nvSpPr>
        <p:spPr>
          <a:xfrm>
            <a:off x="804672" y="6227064"/>
            <a:ext cx="10588752" cy="320040"/>
          </a:xfrm>
        </p:spPr>
        <p:txBody>
          <a:bodyPr rtlCol="0"/>
          <a:lstStyle/>
          <a:p>
            <a:pPr rtl="0"/>
            <a:endParaRPr lang="ru-RU" noProof="0"/>
          </a:p>
        </p:txBody>
      </p:sp>
      <p:sp>
        <p:nvSpPr>
          <p:cNvPr id="4" name="Номер слайда 3"/>
          <p:cNvSpPr>
            <a:spLocks noGrp="1"/>
          </p:cNvSpPr>
          <p:nvPr>
            <p:ph type="sldNum" sz="quarter" idx="12"/>
          </p:nvPr>
        </p:nvSpPr>
        <p:spPr>
          <a:xfrm>
            <a:off x="10469880" y="320040"/>
            <a:ext cx="914400" cy="320040"/>
          </a:xfrm>
        </p:spPr>
        <p:txBody>
          <a:bodyPr rtlCol="0"/>
          <a:lstStyle/>
          <a:p>
            <a:pPr rtl="0"/>
            <a:fld id="{6D22F896-40B5-4ADD-8801-0D06FADFA095}" type="slidenum">
              <a:rPr lang="ru-RU" noProof="0" smtClean="0"/>
              <a:t>‹#›</a:t>
            </a:fld>
            <a:endParaRPr lang="ru-RU"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grpSp>
        <p:nvGrpSpPr>
          <p:cNvPr id="74" name="Группа 73"/>
          <p:cNvGrpSpPr/>
          <p:nvPr/>
        </p:nvGrpSpPr>
        <p:grpSpPr>
          <a:xfrm>
            <a:off x="-417513" y="0"/>
            <a:ext cx="12584114" cy="6853238"/>
            <a:chOff x="-417513" y="0"/>
            <a:chExt cx="12584114" cy="6853238"/>
          </a:xfrm>
        </p:grpSpPr>
        <p:sp>
          <p:nvSpPr>
            <p:cNvPr id="75" name="Полилиния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Полилиния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Полилиния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Полилиния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Полилиния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Полилиния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Полилиния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Полилиния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Полилиния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Полилиния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Полилиния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Полилиния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Полилиния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Полилиния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Полилиния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Полилиния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Группа 20"/>
          <p:cNvGrpSpPr/>
          <p:nvPr/>
        </p:nvGrpSpPr>
        <p:grpSpPr>
          <a:xfrm>
            <a:off x="800144" y="1699589"/>
            <a:ext cx="3674476" cy="3470421"/>
            <a:chOff x="697883" y="1816768"/>
            <a:chExt cx="3674476" cy="3470421"/>
          </a:xfrm>
        </p:grpSpPr>
        <p:sp>
          <p:nvSpPr>
            <p:cNvPr id="22" name="Прямоугольник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Равнобедренный треугольник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Прямоугольник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title"/>
          </p:nvPr>
        </p:nvSpPr>
        <p:spPr>
          <a:xfrm>
            <a:off x="888631" y="2352026"/>
            <a:ext cx="3501197" cy="1223298"/>
          </a:xfrm>
        </p:spPr>
        <p:txBody>
          <a:bodyPr bIns="0" rtlCol="0" anchor="b">
            <a:noAutofit/>
          </a:bodyPr>
          <a:lstStyle>
            <a:lvl1pPr algn="ctr">
              <a:defRPr sz="3200">
                <a:solidFill>
                  <a:srgbClr val="FFFEFF"/>
                </a:solidFill>
              </a:defRPr>
            </a:lvl1pPr>
          </a:lstStyle>
          <a:p>
            <a:pPr rtl="0"/>
            <a:r>
              <a:rPr lang="ru-RU" noProof="0" dirty="0"/>
              <a:t>Образец заголовка</a:t>
            </a:r>
          </a:p>
        </p:txBody>
      </p:sp>
      <p:sp>
        <p:nvSpPr>
          <p:cNvPr id="3" name="Объект 2"/>
          <p:cNvSpPr>
            <a:spLocks noGrp="1"/>
          </p:cNvSpPr>
          <p:nvPr>
            <p:ph idx="1"/>
          </p:nvPr>
        </p:nvSpPr>
        <p:spPr>
          <a:xfrm>
            <a:off x="5109983" y="802809"/>
            <a:ext cx="6275035" cy="5249940"/>
          </a:xfrm>
        </p:spPr>
        <p:txBody>
          <a:bodyPr rtlCol="0" anchor="ctr"/>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Текст 3"/>
          <p:cNvSpPr>
            <a:spLocks noGrp="1"/>
          </p:cNvSpPr>
          <p:nvPr>
            <p:ph type="body" sz="half" idx="2"/>
          </p:nvPr>
        </p:nvSpPr>
        <p:spPr>
          <a:xfrm>
            <a:off x="888631" y="3580186"/>
            <a:ext cx="3501197" cy="1221164"/>
          </a:xfrm>
        </p:spPr>
        <p:txBody>
          <a:bodyPr rtlCol="0"/>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dirty="0"/>
              <a:t>Образец текста</a:t>
            </a:r>
          </a:p>
        </p:txBody>
      </p:sp>
      <p:sp>
        <p:nvSpPr>
          <p:cNvPr id="5" name="Дата 4"/>
          <p:cNvSpPr>
            <a:spLocks noGrp="1"/>
          </p:cNvSpPr>
          <p:nvPr>
            <p:ph type="dt" sz="half" idx="10"/>
          </p:nvPr>
        </p:nvSpPr>
        <p:spPr/>
        <p:txBody>
          <a:bodyPr rtlCol="0"/>
          <a:lstStyle/>
          <a:p>
            <a:pPr rtl="0"/>
            <a:fld id="{AF074218-797F-4171-A47D-77582954ACF4}" type="datetime1">
              <a:rPr lang="ru-RU" noProof="0" smtClean="0"/>
              <a:t>31.03.2022</a:t>
            </a:fld>
            <a:endParaRPr lang="ru-RU" noProof="0" dirty="0"/>
          </a:p>
        </p:txBody>
      </p:sp>
      <p:sp>
        <p:nvSpPr>
          <p:cNvPr id="6" name="Нижний колонтитул 5"/>
          <p:cNvSpPr>
            <a:spLocks noGrp="1"/>
          </p:cNvSpPr>
          <p:nvPr>
            <p:ph type="ftr" sz="quarter" idx="11"/>
          </p:nvPr>
        </p:nvSpPr>
        <p:spPr/>
        <p:txBody>
          <a:bodyPr rtlCol="0"/>
          <a:lstStyle/>
          <a:p>
            <a:pPr rtl="0"/>
            <a:endParaRPr lang="ru-RU" noProof="0" dirty="0"/>
          </a:p>
        </p:txBody>
      </p:sp>
      <p:sp>
        <p:nvSpPr>
          <p:cNvPr id="7" name="Номер слайда 6"/>
          <p:cNvSpPr>
            <a:spLocks noGrp="1"/>
          </p:cNvSpPr>
          <p:nvPr>
            <p:ph type="sldNum" sz="quarter" idx="12"/>
          </p:nvPr>
        </p:nvSpPr>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grpSp>
        <p:nvGrpSpPr>
          <p:cNvPr id="73" name="Группа 72"/>
          <p:cNvGrpSpPr/>
          <p:nvPr/>
        </p:nvGrpSpPr>
        <p:grpSpPr>
          <a:xfrm>
            <a:off x="-329674" y="-59376"/>
            <a:ext cx="12515851" cy="6923798"/>
            <a:chOff x="-329674" y="-51881"/>
            <a:chExt cx="12515851" cy="6923798"/>
          </a:xfrm>
        </p:grpSpPr>
        <p:sp>
          <p:nvSpPr>
            <p:cNvPr id="81" name="Полилиния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Полилиния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Полилиния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Полилиния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Полилиния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Полилиния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Полилиния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Полилиния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Полилиния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Полилиния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Полилиния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Полилиния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Полилиния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Полилиния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Группа 75"/>
          <p:cNvGrpSpPr/>
          <p:nvPr/>
        </p:nvGrpSpPr>
        <p:grpSpPr>
          <a:xfrm>
            <a:off x="805336" y="1698331"/>
            <a:ext cx="5941540" cy="3470421"/>
            <a:chOff x="805336" y="1698331"/>
            <a:chExt cx="5941540" cy="3470421"/>
          </a:xfrm>
        </p:grpSpPr>
        <p:sp>
          <p:nvSpPr>
            <p:cNvPr id="77" name="Прямоугольник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Равнобедренный треугольник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Прямоугольник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Рисунок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rtlCol="0"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dirty="0"/>
              <a:t>Щелкните значок, чтобы добавить фото</a:t>
            </a:r>
          </a:p>
        </p:txBody>
      </p:sp>
      <p:sp>
        <p:nvSpPr>
          <p:cNvPr id="2" name="Заголовок 1"/>
          <p:cNvSpPr>
            <a:spLocks noGrp="1"/>
          </p:cNvSpPr>
          <p:nvPr>
            <p:ph type="title"/>
          </p:nvPr>
        </p:nvSpPr>
        <p:spPr>
          <a:xfrm>
            <a:off x="885443" y="2360255"/>
            <a:ext cx="5776646" cy="1178032"/>
          </a:xfrm>
        </p:spPr>
        <p:txBody>
          <a:bodyPr bIns="0" rtlCol="0" anchor="b">
            <a:normAutofit/>
          </a:bodyPr>
          <a:lstStyle>
            <a:lvl1pPr>
              <a:defRPr sz="3600">
                <a:solidFill>
                  <a:srgbClr val="FFFEFF"/>
                </a:solidFill>
              </a:defRPr>
            </a:lvl1pPr>
          </a:lstStyle>
          <a:p>
            <a:pPr rtl="0"/>
            <a:r>
              <a:rPr lang="ru-RU" noProof="0" dirty="0"/>
              <a:t>Образец заголовка</a:t>
            </a:r>
          </a:p>
        </p:txBody>
      </p:sp>
      <p:sp>
        <p:nvSpPr>
          <p:cNvPr id="4" name="Текст 3"/>
          <p:cNvSpPr>
            <a:spLocks noGrp="1"/>
          </p:cNvSpPr>
          <p:nvPr>
            <p:ph type="body" sz="half" idx="2"/>
          </p:nvPr>
        </p:nvSpPr>
        <p:spPr>
          <a:xfrm>
            <a:off x="885443" y="3545012"/>
            <a:ext cx="5776646" cy="1274198"/>
          </a:xfrm>
        </p:spPr>
        <p:txBody>
          <a:bodyPr rtlCol="0">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dirty="0"/>
              <a:t>Образец текста</a:t>
            </a:r>
          </a:p>
        </p:txBody>
      </p:sp>
      <p:sp>
        <p:nvSpPr>
          <p:cNvPr id="5" name="Дата 4"/>
          <p:cNvSpPr>
            <a:spLocks noGrp="1"/>
          </p:cNvSpPr>
          <p:nvPr>
            <p:ph type="dt" sz="half" idx="10"/>
          </p:nvPr>
        </p:nvSpPr>
        <p:spPr>
          <a:xfrm>
            <a:off x="804672" y="320040"/>
            <a:ext cx="3657600" cy="320040"/>
          </a:xfrm>
        </p:spPr>
        <p:txBody>
          <a:bodyPr rtlCol="0"/>
          <a:lstStyle/>
          <a:p>
            <a:pPr rtl="0"/>
            <a:fld id="{CA1CB0BC-A581-4572-BEFB-66BC9ED119FD}" type="datetime1">
              <a:rPr lang="ru-RU" noProof="0" smtClean="0"/>
              <a:t>31.03.2022</a:t>
            </a:fld>
            <a:endParaRPr lang="ru-RU" noProof="0" dirty="0"/>
          </a:p>
        </p:txBody>
      </p:sp>
      <p:sp>
        <p:nvSpPr>
          <p:cNvPr id="6" name="Нижний колонтитул 5"/>
          <p:cNvSpPr>
            <a:spLocks noGrp="1"/>
          </p:cNvSpPr>
          <p:nvPr>
            <p:ph type="ftr" sz="quarter" idx="11"/>
          </p:nvPr>
        </p:nvSpPr>
        <p:spPr>
          <a:xfrm>
            <a:off x="804672" y="6227064"/>
            <a:ext cx="5942203" cy="320040"/>
          </a:xfrm>
        </p:spPr>
        <p:txBody>
          <a:bodyPr rtlCol="0"/>
          <a:lstStyle/>
          <a:p>
            <a:pPr rtl="0"/>
            <a:endParaRPr lang="ru-RU" noProof="0" dirty="0"/>
          </a:p>
        </p:txBody>
      </p:sp>
      <p:sp>
        <p:nvSpPr>
          <p:cNvPr id="7" name="Номер слайда 6"/>
          <p:cNvSpPr>
            <a:spLocks noGrp="1"/>
          </p:cNvSpPr>
          <p:nvPr>
            <p:ph type="sldNum" sz="quarter" idx="12"/>
          </p:nvPr>
        </p:nvSpPr>
        <p:spPr>
          <a:xfrm>
            <a:off x="5828377" y="320040"/>
            <a:ext cx="914400" cy="320040"/>
          </a:xfrm>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grpSp>
        <p:nvGrpSpPr>
          <p:cNvPr id="75" name="Группа 74"/>
          <p:cNvGrpSpPr/>
          <p:nvPr/>
        </p:nvGrpSpPr>
        <p:grpSpPr>
          <a:xfrm>
            <a:off x="-417513" y="0"/>
            <a:ext cx="12584114" cy="6853238"/>
            <a:chOff x="-417513" y="0"/>
            <a:chExt cx="12584114" cy="6853238"/>
          </a:xfrm>
        </p:grpSpPr>
        <p:sp>
          <p:nvSpPr>
            <p:cNvPr id="76" name="Полилиния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Полилиния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Полилиния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Полилиния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Полилиния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Полилиния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Полилиния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Полилиния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Полилиния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Полилиния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Полилиния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Полилиния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Полилиния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Полилиния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Полилиния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Полилиния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Группа 21"/>
          <p:cNvGrpSpPr/>
          <p:nvPr/>
        </p:nvGrpSpPr>
        <p:grpSpPr>
          <a:xfrm>
            <a:off x="800144" y="1699589"/>
            <a:ext cx="3674476" cy="3470421"/>
            <a:chOff x="697883" y="1816768"/>
            <a:chExt cx="3674476" cy="3470421"/>
          </a:xfrm>
        </p:grpSpPr>
        <p:sp>
          <p:nvSpPr>
            <p:cNvPr id="23" name="Прямоугольник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Равнобедренный треугольник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Прямоугольник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Заголовок 1"/>
          <p:cNvSpPr>
            <a:spLocks noGrp="1"/>
          </p:cNvSpPr>
          <p:nvPr>
            <p:ph type="title"/>
          </p:nvPr>
        </p:nvSpPr>
        <p:spPr>
          <a:xfrm>
            <a:off x="888632" y="2349925"/>
            <a:ext cx="3501196" cy="2456441"/>
          </a:xfrm>
        </p:spPr>
        <p:txBody>
          <a:bodyPr rtlCol="0"/>
          <a:lstStyle>
            <a:lvl1pPr>
              <a:defRPr>
                <a:solidFill>
                  <a:srgbClr val="FFFEFF"/>
                </a:solidFill>
              </a:defRPr>
            </a:lvl1pPr>
          </a:lstStyle>
          <a:p>
            <a:pPr rtl="0"/>
            <a:r>
              <a:rPr lang="ru-RU" noProof="0" dirty="0"/>
              <a:t>Образец заголовка</a:t>
            </a:r>
          </a:p>
        </p:txBody>
      </p:sp>
      <p:sp>
        <p:nvSpPr>
          <p:cNvPr id="3" name="Вертикальный текст 2"/>
          <p:cNvSpPr>
            <a:spLocks noGrp="1"/>
          </p:cNvSpPr>
          <p:nvPr>
            <p:ph type="body" orient="vert" idx="1"/>
          </p:nvPr>
        </p:nvSpPr>
        <p:spPr>
          <a:xfrm>
            <a:off x="5109983" y="794719"/>
            <a:ext cx="6275035" cy="5257090"/>
          </a:xfrm>
        </p:spPr>
        <p:txBody>
          <a:bodyPr vert="eaVert"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p:cNvSpPr>
            <a:spLocks noGrp="1"/>
          </p:cNvSpPr>
          <p:nvPr>
            <p:ph type="dt" sz="half" idx="10"/>
          </p:nvPr>
        </p:nvSpPr>
        <p:spPr/>
        <p:txBody>
          <a:bodyPr rtlCol="0"/>
          <a:lstStyle/>
          <a:p>
            <a:pPr rtl="0"/>
            <a:fld id="{01C76B42-9BB5-4912-9BE0-12B2605ACE4B}" type="datetime1">
              <a:rPr lang="ru-RU" noProof="0" smtClean="0"/>
              <a:t>31.03.2022</a:t>
            </a:fld>
            <a:endParaRPr lang="ru-RU" noProof="0" dirty="0"/>
          </a:p>
        </p:txBody>
      </p:sp>
      <p:sp>
        <p:nvSpPr>
          <p:cNvPr id="5" name="Нижний колонтитул 4"/>
          <p:cNvSpPr>
            <a:spLocks noGrp="1"/>
          </p:cNvSpPr>
          <p:nvPr>
            <p:ph type="ftr" sz="quarter" idx="11"/>
          </p:nvPr>
        </p:nvSpPr>
        <p:spPr/>
        <p:txBody>
          <a:bodyPr rtlCol="0"/>
          <a:lstStyle/>
          <a:p>
            <a:pPr rtl="0"/>
            <a:endParaRPr lang="ru-RU" noProof="0" dirty="0"/>
          </a:p>
        </p:txBody>
      </p:sp>
      <p:sp>
        <p:nvSpPr>
          <p:cNvPr id="6" name="Номер слайда 5"/>
          <p:cNvSpPr>
            <a:spLocks noGrp="1"/>
          </p:cNvSpPr>
          <p:nvPr>
            <p:ph type="sldNum" sz="quarter" idx="12"/>
          </p:nvPr>
        </p:nvSpPr>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grpSp>
        <p:nvGrpSpPr>
          <p:cNvPr id="75" name="Группа 74"/>
          <p:cNvGrpSpPr/>
          <p:nvPr/>
        </p:nvGrpSpPr>
        <p:grpSpPr>
          <a:xfrm flipH="1">
            <a:off x="0" y="0"/>
            <a:ext cx="12584114" cy="6853238"/>
            <a:chOff x="-417513" y="0"/>
            <a:chExt cx="12584114" cy="6853238"/>
          </a:xfrm>
        </p:grpSpPr>
        <p:sp>
          <p:nvSpPr>
            <p:cNvPr id="76" name="Полилиния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Полилиния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Полилиния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Полилиния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Полилиния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Полилиния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Полилиния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Полилиния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Полилиния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Полилиния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Полилиния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Полилиния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Полилиния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Полилиния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Полилиния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Полилиния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Полилиния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Полилиния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Полилиния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Полилиния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Полилиния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Группа 21"/>
          <p:cNvGrpSpPr/>
          <p:nvPr/>
        </p:nvGrpSpPr>
        <p:grpSpPr>
          <a:xfrm>
            <a:off x="7718948" y="1699589"/>
            <a:ext cx="3674476" cy="3470421"/>
            <a:chOff x="697883" y="1816768"/>
            <a:chExt cx="3674476" cy="3470421"/>
          </a:xfrm>
        </p:grpSpPr>
        <p:sp>
          <p:nvSpPr>
            <p:cNvPr id="23" name="Прямоугольник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Равнобедренный треугольник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Прямоугольник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Вертикальный заголовок 1"/>
          <p:cNvSpPr>
            <a:spLocks noGrp="1"/>
          </p:cNvSpPr>
          <p:nvPr>
            <p:ph type="title" orient="vert"/>
          </p:nvPr>
        </p:nvSpPr>
        <p:spPr>
          <a:xfrm>
            <a:off x="7807437" y="2349925"/>
            <a:ext cx="3501195" cy="2456442"/>
          </a:xfrm>
        </p:spPr>
        <p:txBody>
          <a:bodyPr vert="eaVert" rtlCol="0"/>
          <a:lstStyle>
            <a:lvl1pPr algn="l">
              <a:lnSpc>
                <a:spcPct val="80000"/>
              </a:lnSpc>
              <a:defRPr>
                <a:solidFill>
                  <a:srgbClr val="FFFEFF"/>
                </a:solidFill>
              </a:defRPr>
            </a:lvl1pPr>
          </a:lstStyle>
          <a:p>
            <a:pPr rtl="0"/>
            <a:r>
              <a:rPr lang="ru-RU" noProof="0" dirty="0"/>
              <a:t>Образец заголовка</a:t>
            </a:r>
          </a:p>
        </p:txBody>
      </p:sp>
      <p:sp>
        <p:nvSpPr>
          <p:cNvPr id="3" name="Вертикальный текст 2"/>
          <p:cNvSpPr>
            <a:spLocks noGrp="1"/>
          </p:cNvSpPr>
          <p:nvPr>
            <p:ph type="body" orient="vert" idx="1"/>
          </p:nvPr>
        </p:nvSpPr>
        <p:spPr>
          <a:xfrm>
            <a:off x="802747" y="798444"/>
            <a:ext cx="6268622" cy="5257303"/>
          </a:xfrm>
        </p:spPr>
        <p:txBody>
          <a:bodyPr vert="eaVert" rtlCol="0"/>
          <a:lstStyle/>
          <a:p>
            <a:pPr lvl="0" rtl="0"/>
            <a:r>
              <a:rPr lang="ru-RU" noProof="0" dirty="0"/>
              <a:t>Образец текста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p:cNvSpPr>
            <a:spLocks noGrp="1"/>
          </p:cNvSpPr>
          <p:nvPr>
            <p:ph type="dt" sz="half" idx="10"/>
          </p:nvPr>
        </p:nvSpPr>
        <p:spPr>
          <a:xfrm>
            <a:off x="804672" y="320040"/>
            <a:ext cx="3657600" cy="320040"/>
          </a:xfrm>
        </p:spPr>
        <p:txBody>
          <a:bodyPr rtlCol="0"/>
          <a:lstStyle/>
          <a:p>
            <a:pPr rtl="0"/>
            <a:fld id="{A6229618-A820-49E7-83B9-AFDBC07D54DF}" type="datetime1">
              <a:rPr lang="ru-RU" noProof="0" smtClean="0"/>
              <a:t>31.03.2022</a:t>
            </a:fld>
            <a:endParaRPr lang="ru-RU" noProof="0" dirty="0"/>
          </a:p>
        </p:txBody>
      </p:sp>
      <p:sp>
        <p:nvSpPr>
          <p:cNvPr id="5" name="Нижний колонтитул 4"/>
          <p:cNvSpPr>
            <a:spLocks noGrp="1"/>
          </p:cNvSpPr>
          <p:nvPr>
            <p:ph type="ftr" sz="quarter" idx="11"/>
          </p:nvPr>
        </p:nvSpPr>
        <p:spPr>
          <a:xfrm>
            <a:off x="804672" y="6227064"/>
            <a:ext cx="10588752" cy="320040"/>
          </a:xfrm>
        </p:spPr>
        <p:txBody>
          <a:bodyPr rtlCol="0"/>
          <a:lstStyle/>
          <a:p>
            <a:pPr rtl="0"/>
            <a:endParaRPr lang="ru-RU" noProof="0" dirty="0"/>
          </a:p>
        </p:txBody>
      </p:sp>
      <p:sp>
        <p:nvSpPr>
          <p:cNvPr id="6" name="Номер слайда 5"/>
          <p:cNvSpPr>
            <a:spLocks noGrp="1"/>
          </p:cNvSpPr>
          <p:nvPr>
            <p:ph type="sldNum" sz="quarter" idx="12"/>
          </p:nvPr>
        </p:nvSpPr>
        <p:spPr>
          <a:xfrm>
            <a:off x="10469880" y="320040"/>
            <a:ext cx="914400" cy="320040"/>
          </a:xfrm>
        </p:spPr>
        <p:txBody>
          <a:bodyPr rtlCol="0"/>
          <a:lstStyle/>
          <a:p>
            <a:pPr rtl="0"/>
            <a:fld id="{6D22F896-40B5-4ADD-8801-0D06FADFA095}" type="slidenum">
              <a:rPr lang="ru-RU" noProof="0" smtClean="0"/>
              <a:t>‹#›</a:t>
            </a:fld>
            <a:endParaRPr lang="ru-RU" noProof="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pPr rtl="0"/>
            <a:r>
              <a:rPr lang="ru-RU" noProof="0"/>
              <a:t>Образец заголовка</a:t>
            </a:r>
          </a:p>
        </p:txBody>
      </p:sp>
      <p:sp>
        <p:nvSpPr>
          <p:cNvPr id="3" name="Текст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a:p>
            <a:pPr lvl="5" rtl="0"/>
            <a:r>
              <a:rPr lang="ru-RU" noProof="0"/>
              <a:t>6</a:t>
            </a:r>
          </a:p>
          <a:p>
            <a:pPr lvl="6" rtl="0"/>
            <a:r>
              <a:rPr lang="ru-RU" noProof="0"/>
              <a:t>7</a:t>
            </a:r>
          </a:p>
          <a:p>
            <a:pPr lvl="7" rtl="0"/>
            <a:r>
              <a:rPr lang="ru-RU" noProof="0"/>
              <a:t>8</a:t>
            </a:r>
          </a:p>
          <a:p>
            <a:pPr lvl="8" rtl="0"/>
            <a:r>
              <a:rPr lang="ru-RU" noProof="0"/>
              <a:t>9</a:t>
            </a:r>
          </a:p>
        </p:txBody>
      </p:sp>
      <p:sp>
        <p:nvSpPr>
          <p:cNvPr id="4" name="Дата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latin typeface="Times New Roman" panose="02020603050405020304" pitchFamily="18" charset="0"/>
                <a:cs typeface="Times New Roman" panose="02020603050405020304" pitchFamily="18" charset="0"/>
              </a:defRPr>
            </a:lvl1pPr>
          </a:lstStyle>
          <a:p>
            <a:fld id="{EB230A24-FD00-4970-A245-302D7645A250}" type="datetime1">
              <a:rPr lang="ru-RU" noProof="0" smtClean="0"/>
              <a:t>31.03.2022</a:t>
            </a:fld>
            <a:endParaRPr lang="ru-RU" noProof="0">
              <a:latin typeface="Times New Roman" panose="02020603050405020304" pitchFamily="18" charset="0"/>
              <a:cs typeface="Times New Roman" panose="02020603050405020304" pitchFamily="18" charset="0"/>
            </a:endParaRPr>
          </a:p>
        </p:txBody>
      </p:sp>
      <p:sp>
        <p:nvSpPr>
          <p:cNvPr id="5" name="Нижний колонтитул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latin typeface="Times New Roman" panose="02020603050405020304" pitchFamily="18" charset="0"/>
                <a:cs typeface="Times New Roman" panose="02020603050405020304" pitchFamily="18" charset="0"/>
              </a:defRPr>
            </a:lvl1pPr>
          </a:lstStyle>
          <a:p>
            <a:endParaRPr lang="ru-RU" noProof="0">
              <a:latin typeface="Times New Roman" panose="02020603050405020304" pitchFamily="18" charset="0"/>
              <a:cs typeface="Times New Roman" panose="02020603050405020304" pitchFamily="18" charset="0"/>
            </a:endParaRPr>
          </a:p>
        </p:txBody>
      </p:sp>
      <p:sp>
        <p:nvSpPr>
          <p:cNvPr id="6" name="Номер слайда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latin typeface="Times New Roman" panose="02020603050405020304" pitchFamily="18" charset="0"/>
                <a:cs typeface="Times New Roman" panose="02020603050405020304" pitchFamily="18" charset="0"/>
              </a:defRPr>
            </a:lvl1pPr>
          </a:lstStyle>
          <a:p>
            <a:fld id="{6D22F896-40B5-4ADD-8801-0D06FADFA095}" type="slidenum">
              <a:rPr lang="ru-RU" noProof="0" smtClean="0"/>
              <a:pPr/>
              <a:t>‹#›</a:t>
            </a:fld>
            <a:endParaRPr lang="ru-RU" noProof="0">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ibm.com/ru-ru/cloud/learn/rest-apis" TargetMode="External"/><Relationship Id="rId2" Type="http://schemas.openxmlformats.org/officeDocument/2006/relationships/hyperlink" Target="https://habr.com/ru/post/590679/" TargetMode="External"/><Relationship Id="rId1" Type="http://schemas.openxmlformats.org/officeDocument/2006/relationships/slideLayout" Target="../slideLayouts/slideLayout2.xml"/><Relationship Id="rId4" Type="http://schemas.openxmlformats.org/officeDocument/2006/relationships/hyperlink" Target="https://habr.com/ru/company/custis/blog/5020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752FD7-76EF-4EBF-8807-5A08A9C8EA09}"/>
              </a:ext>
            </a:extLst>
          </p:cNvPr>
          <p:cNvSpPr>
            <a:spLocks noGrp="1"/>
          </p:cNvSpPr>
          <p:nvPr>
            <p:ph type="ctrTitle"/>
          </p:nvPr>
        </p:nvSpPr>
        <p:spPr/>
        <p:txBody>
          <a:bodyPr rtlCol="0">
            <a:normAutofit/>
          </a:bodyPr>
          <a:lstStyle/>
          <a:p>
            <a:r>
              <a:rPr lang="ru-RU" dirty="0">
                <a:cs typeface="Calibri Light"/>
              </a:rPr>
              <a:t>Oracle </a:t>
            </a:r>
            <a:r>
              <a:rPr lang="ru-RU" dirty="0" err="1">
                <a:cs typeface="Calibri Light"/>
              </a:rPr>
              <a:t>Rest</a:t>
            </a:r>
            <a:r>
              <a:rPr lang="ru-RU" dirty="0">
                <a:cs typeface="Calibri Light"/>
              </a:rPr>
              <a:t> Data Service(ORDS)</a:t>
            </a:r>
            <a:br>
              <a:rPr lang="ru-RU" dirty="0">
                <a:cs typeface="Calibri Light"/>
              </a:rPr>
            </a:br>
            <a:r>
              <a:rPr lang="ru-RU" dirty="0" err="1">
                <a:cs typeface="Calibri Light"/>
              </a:rPr>
              <a:t>Rest</a:t>
            </a:r>
            <a:r>
              <a:rPr lang="ru-RU" dirty="0">
                <a:cs typeface="Calibri Light"/>
              </a:rPr>
              <a:t> </a:t>
            </a:r>
            <a:r>
              <a:rPr lang="ru-RU" dirty="0" err="1">
                <a:cs typeface="Calibri Light"/>
              </a:rPr>
              <a:t>Api</a:t>
            </a:r>
            <a:endParaRPr lang="ru-RU" dirty="0" err="1"/>
          </a:p>
        </p:txBody>
      </p:sp>
      <p:sp>
        <p:nvSpPr>
          <p:cNvPr id="3" name="Подзаголовок 2">
            <a:extLst>
              <a:ext uri="{FF2B5EF4-FFF2-40B4-BE49-F238E27FC236}">
                <a16:creationId xmlns:a16="http://schemas.microsoft.com/office/drawing/2014/main" id="{F4C8D8C1-1062-49B2-BB56-D9F8E5DA6EB6}"/>
              </a:ext>
            </a:extLst>
          </p:cNvPr>
          <p:cNvSpPr>
            <a:spLocks noGrp="1"/>
          </p:cNvSpPr>
          <p:nvPr>
            <p:ph type="subTitle" idx="1"/>
          </p:nvPr>
        </p:nvSpPr>
        <p:spPr/>
        <p:txBody>
          <a:bodyPr vert="horz" lIns="91440" tIns="0" rIns="91440" bIns="45720" rtlCol="0" anchor="t">
            <a:normAutofit/>
          </a:bodyPr>
          <a:lstStyle/>
          <a:p>
            <a:r>
              <a:rPr lang="ru-RU" dirty="0">
                <a:latin typeface="Times New Roman"/>
                <a:cs typeface="Times New Roman"/>
              </a:rPr>
              <a:t>Описание технологии </a:t>
            </a:r>
            <a:r>
              <a:rPr lang="ru-RU" dirty="0" err="1">
                <a:latin typeface="Times New Roman"/>
                <a:cs typeface="Times New Roman"/>
              </a:rPr>
              <a:t>Rest</a:t>
            </a:r>
            <a:r>
              <a:rPr lang="ru-RU" dirty="0">
                <a:latin typeface="Times New Roman"/>
                <a:cs typeface="Times New Roman"/>
              </a:rPr>
              <a:t> и развертывание веб сервиса ORDS в </a:t>
            </a:r>
            <a:r>
              <a:rPr lang="ru-RU" dirty="0" err="1">
                <a:latin typeface="Times New Roman"/>
                <a:cs typeface="Times New Roman"/>
              </a:rPr>
              <a:t>oracle</a:t>
            </a:r>
            <a:endParaRPr lang="ru-RU" dirty="0" err="1"/>
          </a:p>
        </p:txBody>
      </p:sp>
    </p:spTree>
    <p:extLst>
      <p:ext uri="{BB962C8B-B14F-4D97-AF65-F5344CB8AC3E}">
        <p14:creationId xmlns:p14="http://schemas.microsoft.com/office/powerpoint/2010/main" val="42628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0E29DEA-6E2A-1D10-EDCC-A5B1BCD7269A}"/>
              </a:ext>
            </a:extLst>
          </p:cNvPr>
          <p:cNvSpPr>
            <a:spLocks noGrp="1"/>
          </p:cNvSpPr>
          <p:nvPr>
            <p:ph type="title"/>
          </p:nvPr>
        </p:nvSpPr>
        <p:spPr>
          <a:xfrm>
            <a:off x="2880485" y="841375"/>
            <a:ext cx="6230857" cy="1230570"/>
          </a:xfrm>
        </p:spPr>
        <p:txBody>
          <a:bodyPr anchor="t">
            <a:normAutofit/>
          </a:bodyPr>
          <a:lstStyle/>
          <a:p>
            <a:pPr algn="l"/>
            <a:r>
              <a:rPr lang="ru-RU" sz="3600">
                <a:solidFill>
                  <a:schemeClr val="accent1"/>
                </a:solidFill>
                <a:cs typeface="Calibri Light"/>
              </a:rPr>
              <a:t>REST </a:t>
            </a:r>
            <a:endParaRPr lang="ru-RU" sz="3600">
              <a:solidFill>
                <a:schemeClr val="accent1"/>
              </a:solidFill>
              <a:ea typeface="Calibri Light"/>
              <a:cs typeface="Calibri Light"/>
            </a:endParaRPr>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Объект 2">
            <a:extLst>
              <a:ext uri="{FF2B5EF4-FFF2-40B4-BE49-F238E27FC236}">
                <a16:creationId xmlns:a16="http://schemas.microsoft.com/office/drawing/2014/main" id="{F9D0649A-9E29-A4DE-A24E-8761833DB933}"/>
              </a:ext>
            </a:extLst>
          </p:cNvPr>
          <p:cNvSpPr>
            <a:spLocks noGrp="1"/>
          </p:cNvSpPr>
          <p:nvPr>
            <p:ph idx="1"/>
          </p:nvPr>
        </p:nvSpPr>
        <p:spPr>
          <a:xfrm>
            <a:off x="2880487" y="2249046"/>
            <a:ext cx="6123783" cy="3802762"/>
          </a:xfrm>
        </p:spPr>
        <p:txBody>
          <a:bodyPr anchor="t">
            <a:normAutofit/>
          </a:bodyPr>
          <a:lstStyle/>
          <a:p>
            <a:r>
              <a:rPr lang="ru-RU" sz="1600">
                <a:latin typeface="Times New Roman"/>
                <a:cs typeface="Times New Roman"/>
              </a:rPr>
              <a:t>REST расшифровывается как REpresentational State Transfer. Это был термин, первоначально введен Роем Филдингом (Roy Fielding), который также был одним из создателей протокола HTTP. Отличительной особенностью сервисов REST является то, что они позволяют наилучшим образом использовать протокол HTTP.</a:t>
            </a:r>
            <a:endParaRPr lang="en-US" sz="1600">
              <a:latin typeface="Times New Roman"/>
              <a:cs typeface="Times New Roman"/>
            </a:endParaRPr>
          </a:p>
          <a:p>
            <a:endParaRPr lang="ru-RU" sz="1600">
              <a:latin typeface="Times New Roman"/>
              <a:cs typeface="Times New Roman"/>
            </a:endParaRPr>
          </a:p>
        </p:txBody>
      </p:sp>
    </p:spTree>
    <p:extLst>
      <p:ext uri="{BB962C8B-B14F-4D97-AF65-F5344CB8AC3E}">
        <p14:creationId xmlns:p14="http://schemas.microsoft.com/office/powerpoint/2010/main" val="3622641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38"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1"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D4B6CCB-5ABC-4261-8A72-D1F5F28AC924}"/>
              </a:ext>
            </a:extLst>
          </p:cNvPr>
          <p:cNvSpPr>
            <a:spLocks noGrp="1"/>
          </p:cNvSpPr>
          <p:nvPr>
            <p:ph type="title"/>
          </p:nvPr>
        </p:nvSpPr>
        <p:spPr>
          <a:xfrm>
            <a:off x="2880485" y="841375"/>
            <a:ext cx="6230857" cy="1230570"/>
          </a:xfrm>
        </p:spPr>
        <p:txBody>
          <a:bodyPr anchor="t">
            <a:normAutofit/>
          </a:bodyPr>
          <a:lstStyle/>
          <a:p>
            <a:pPr algn="l"/>
            <a:r>
              <a:rPr lang="en-US" sz="3600">
                <a:solidFill>
                  <a:schemeClr val="accent1"/>
                </a:solidFill>
              </a:rPr>
              <a:t>API</a:t>
            </a:r>
            <a:endParaRPr lang="ru-RU" sz="3600">
              <a:solidFill>
                <a:schemeClr val="accent1"/>
              </a:solidFill>
            </a:endParaRPr>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2" name="Объект 2">
            <a:extLst>
              <a:ext uri="{FF2B5EF4-FFF2-40B4-BE49-F238E27FC236}">
                <a16:creationId xmlns:a16="http://schemas.microsoft.com/office/drawing/2014/main" id="{179257DB-722F-4FB2-93B7-A3AAEEEA2280}"/>
              </a:ext>
            </a:extLst>
          </p:cNvPr>
          <p:cNvSpPr>
            <a:spLocks noGrp="1"/>
          </p:cNvSpPr>
          <p:nvPr>
            <p:ph idx="1"/>
          </p:nvPr>
        </p:nvSpPr>
        <p:spPr>
          <a:xfrm>
            <a:off x="2880487" y="2249046"/>
            <a:ext cx="6123783" cy="3802762"/>
          </a:xfrm>
        </p:spPr>
        <p:txBody>
          <a:bodyPr anchor="t">
            <a:normAutofit/>
          </a:bodyPr>
          <a:lstStyle/>
          <a:p>
            <a:r>
              <a:rPr lang="ru-RU" sz="1600" b="1" i="0">
                <a:effectLst/>
                <a:latin typeface="TT Norms Pro"/>
              </a:rPr>
              <a:t>Application Programming Interface (API)</a:t>
            </a:r>
            <a:r>
              <a:rPr lang="ru-RU" sz="1600" b="0" i="0">
                <a:effectLst/>
                <a:latin typeface="TT Norms Pro"/>
              </a:rPr>
              <a:t>, или программный интерфейс приложения — это набор инструментов, который позволяет одним программам работать с другими. API предусматривает, что программы могут работать в том числе и на разных компьютерах. В этом случае требуется организовать интерфейс API так, чтобы ПО могло запрашивать функции друг друга через сеть.</a:t>
            </a:r>
          </a:p>
          <a:p>
            <a:r>
              <a:rPr lang="ru-RU" sz="1600" b="0" i="0">
                <a:effectLst/>
                <a:latin typeface="TT Norms Pro"/>
              </a:rPr>
              <a:t>Также API должно учитывать, что программы могут быть написаны на различных языках программирования и работать в разных операционных системах.</a:t>
            </a:r>
          </a:p>
          <a:p>
            <a:endParaRPr lang="ru-RU" sz="1600"/>
          </a:p>
        </p:txBody>
      </p:sp>
    </p:spTree>
    <p:extLst>
      <p:ext uri="{BB962C8B-B14F-4D97-AF65-F5344CB8AC3E}">
        <p14:creationId xmlns:p14="http://schemas.microsoft.com/office/powerpoint/2010/main" val="3573538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5" name="Заголовок 4">
            <a:extLst>
              <a:ext uri="{FF2B5EF4-FFF2-40B4-BE49-F238E27FC236}">
                <a16:creationId xmlns:a16="http://schemas.microsoft.com/office/drawing/2014/main" id="{A86AF220-4AD1-4073-AC47-D3051398B7F8}"/>
              </a:ext>
            </a:extLst>
          </p:cNvPr>
          <p:cNvSpPr>
            <a:spLocks noGrp="1"/>
          </p:cNvSpPr>
          <p:nvPr>
            <p:ph type="title"/>
          </p:nvPr>
        </p:nvSpPr>
        <p:spPr>
          <a:xfrm>
            <a:off x="1759287" y="798881"/>
            <a:ext cx="8673427" cy="1048945"/>
          </a:xfrm>
        </p:spPr>
        <p:txBody>
          <a:bodyPr>
            <a:normAutofit/>
          </a:bodyPr>
          <a:lstStyle/>
          <a:p>
            <a:r>
              <a:rPr lang="en-US">
                <a:solidFill>
                  <a:schemeClr val="tx1"/>
                </a:solidFill>
              </a:rPr>
              <a:t>REST API</a:t>
            </a:r>
            <a:endParaRPr lang="ru-RU">
              <a:solidFill>
                <a:schemeClr val="tx1"/>
              </a:solidFill>
            </a:endParaRPr>
          </a:p>
        </p:txBody>
      </p:sp>
      <p:graphicFrame>
        <p:nvGraphicFramePr>
          <p:cNvPr id="7" name="Объект 2">
            <a:extLst>
              <a:ext uri="{FF2B5EF4-FFF2-40B4-BE49-F238E27FC236}">
                <a16:creationId xmlns:a16="http://schemas.microsoft.com/office/drawing/2014/main" id="{C8BB53A4-CC4B-9F8A-FFF9-11ED001D266D}"/>
              </a:ext>
            </a:extLst>
          </p:cNvPr>
          <p:cNvGraphicFramePr>
            <a:graphicFrameLocks noGrp="1"/>
          </p:cNvGraphicFramePr>
          <p:nvPr>
            <p:ph idx="1"/>
            <p:extLst>
              <p:ext uri="{D42A27DB-BD31-4B8C-83A1-F6EECF244321}">
                <p14:modId xmlns:p14="http://schemas.microsoft.com/office/powerpoint/2010/main" val="23423874"/>
              </p:ext>
            </p:extLst>
          </p:nvPr>
        </p:nvGraphicFramePr>
        <p:xfrm>
          <a:off x="807722" y="1990976"/>
          <a:ext cx="10576558" cy="4175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1721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19DF739-9D04-4F28-B49A-30AF66C6198E}"/>
              </a:ext>
            </a:extLst>
          </p:cNvPr>
          <p:cNvSpPr>
            <a:spLocks noGrp="1"/>
          </p:cNvSpPr>
          <p:nvPr>
            <p:ph type="title"/>
          </p:nvPr>
        </p:nvSpPr>
        <p:spPr>
          <a:xfrm>
            <a:off x="2880485" y="841375"/>
            <a:ext cx="6230857" cy="1230570"/>
          </a:xfrm>
        </p:spPr>
        <p:txBody>
          <a:bodyPr anchor="t">
            <a:normAutofit/>
          </a:bodyPr>
          <a:lstStyle/>
          <a:p>
            <a:pPr algn="l"/>
            <a:r>
              <a:rPr lang="ru-RU" sz="3600">
                <a:solidFill>
                  <a:schemeClr val="accent1"/>
                </a:solidFill>
                <a:ea typeface="Calibri Light"/>
                <a:cs typeface="Calibri Light"/>
              </a:rPr>
              <a:t>Применение REST</a:t>
            </a:r>
            <a:endParaRPr lang="ru-RU" sz="3600">
              <a:solidFill>
                <a:schemeClr val="accent1"/>
              </a:solidFill>
            </a:endParaRPr>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Объект 2">
            <a:extLst>
              <a:ext uri="{FF2B5EF4-FFF2-40B4-BE49-F238E27FC236}">
                <a16:creationId xmlns:a16="http://schemas.microsoft.com/office/drawing/2014/main" id="{6B3C0B5A-4A08-4FD7-8AFF-1646E1B56AD0}"/>
              </a:ext>
            </a:extLst>
          </p:cNvPr>
          <p:cNvSpPr>
            <a:spLocks noGrp="1"/>
          </p:cNvSpPr>
          <p:nvPr>
            <p:ph idx="1"/>
          </p:nvPr>
        </p:nvSpPr>
        <p:spPr>
          <a:xfrm>
            <a:off x="2880487" y="2249046"/>
            <a:ext cx="6123783" cy="3802762"/>
          </a:xfrm>
        </p:spPr>
        <p:txBody>
          <a:bodyPr anchor="t">
            <a:normAutofit/>
          </a:bodyPr>
          <a:lstStyle/>
          <a:p>
            <a:pPr marL="0" indent="0">
              <a:buNone/>
            </a:pPr>
            <a:r>
              <a:rPr lang="ru-RU" sz="1600" b="1" i="0">
                <a:effectLst/>
              </a:rPr>
              <a:t>Чаще всего REST API применяют:</a:t>
            </a:r>
            <a:endParaRPr lang="ru-RU" sz="1600" b="0" i="0">
              <a:effectLst/>
            </a:endParaRPr>
          </a:p>
          <a:p>
            <a:r>
              <a:rPr lang="ru-RU" sz="1600" b="0" i="0">
                <a:effectLst/>
              </a:rPr>
              <a:t>Для связи мобильных приложений с серверными.</a:t>
            </a:r>
          </a:p>
          <a:p>
            <a:r>
              <a:rPr lang="ru-RU" sz="1600" b="0" i="0">
                <a:effectLst/>
              </a:rPr>
              <a:t>Для построения микросервисных серверных приложений. Это архитектурный подход, при котором большие приложения разбиваются на много маленьких частей.</a:t>
            </a:r>
          </a:p>
          <a:p>
            <a:r>
              <a:rPr lang="ru-RU" sz="1600" b="0" i="0">
                <a:effectLst/>
              </a:rPr>
              <a:t>Для предоставления доступа к программам сторонних разработчиков. Например, Stripe API позволяет программистам встраивать обработку платежей в свои приложения.</a:t>
            </a:r>
          </a:p>
          <a:p>
            <a:endParaRPr lang="ru-RU" sz="1600"/>
          </a:p>
        </p:txBody>
      </p:sp>
    </p:spTree>
    <p:extLst>
      <p:ext uri="{BB962C8B-B14F-4D97-AF65-F5344CB8AC3E}">
        <p14:creationId xmlns:p14="http://schemas.microsoft.com/office/powerpoint/2010/main" val="230355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28D1E49-2A21-4A83-A0E0-FB1597B4B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088B852E-5494-418B-A833-75CF016A9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4" name="Freeform 5">
              <a:extLst>
                <a:ext uri="{FF2B5EF4-FFF2-40B4-BE49-F238E27FC236}">
                  <a16:creationId xmlns:a16="http://schemas.microsoft.com/office/drawing/2014/main" id="{DF31E3C1-1A46-4329-9F80-B576692FEE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6">
              <a:extLst>
                <a:ext uri="{FF2B5EF4-FFF2-40B4-BE49-F238E27FC236}">
                  <a16:creationId xmlns:a16="http://schemas.microsoft.com/office/drawing/2014/main" id="{294B4592-99CA-47B1-816F-CE2D44F65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7">
              <a:extLst>
                <a:ext uri="{FF2B5EF4-FFF2-40B4-BE49-F238E27FC236}">
                  <a16:creationId xmlns:a16="http://schemas.microsoft.com/office/drawing/2014/main" id="{BF690E4C-72F8-4AC5-AF99-562763CC67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8">
              <a:extLst>
                <a:ext uri="{FF2B5EF4-FFF2-40B4-BE49-F238E27FC236}">
                  <a16:creationId xmlns:a16="http://schemas.microsoft.com/office/drawing/2014/main" id="{F834CDD4-CAB8-4ACC-9AAC-5399C743DE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9">
              <a:extLst>
                <a:ext uri="{FF2B5EF4-FFF2-40B4-BE49-F238E27FC236}">
                  <a16:creationId xmlns:a16="http://schemas.microsoft.com/office/drawing/2014/main" id="{1AEB045A-6821-475B-A28E-047437ABEF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0">
              <a:extLst>
                <a:ext uri="{FF2B5EF4-FFF2-40B4-BE49-F238E27FC236}">
                  <a16:creationId xmlns:a16="http://schemas.microsoft.com/office/drawing/2014/main" id="{D9B790C0-3D34-4626-BAFB-6EB473F40C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11">
              <a:extLst>
                <a:ext uri="{FF2B5EF4-FFF2-40B4-BE49-F238E27FC236}">
                  <a16:creationId xmlns:a16="http://schemas.microsoft.com/office/drawing/2014/main" id="{EDA4D87F-91A4-4628-9A6E-F01820A7EE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2">
              <a:extLst>
                <a:ext uri="{FF2B5EF4-FFF2-40B4-BE49-F238E27FC236}">
                  <a16:creationId xmlns:a16="http://schemas.microsoft.com/office/drawing/2014/main" id="{045DAB88-124C-459C-A889-DAE9C9BE285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13">
              <a:extLst>
                <a:ext uri="{FF2B5EF4-FFF2-40B4-BE49-F238E27FC236}">
                  <a16:creationId xmlns:a16="http://schemas.microsoft.com/office/drawing/2014/main" id="{85D44010-1DAA-4CAC-B83F-7E3E8C455D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14">
              <a:extLst>
                <a:ext uri="{FF2B5EF4-FFF2-40B4-BE49-F238E27FC236}">
                  <a16:creationId xmlns:a16="http://schemas.microsoft.com/office/drawing/2014/main" id="{E8C01D66-5C93-4A2E-AA74-DE97574EA4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15">
              <a:extLst>
                <a:ext uri="{FF2B5EF4-FFF2-40B4-BE49-F238E27FC236}">
                  <a16:creationId xmlns:a16="http://schemas.microsoft.com/office/drawing/2014/main" id="{E2E1A6E1-6C4A-47D3-81E2-9F8624F1BB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3E849CB5-4526-49DC-B77B-A20FDB7FFD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7">
              <a:extLst>
                <a:ext uri="{FF2B5EF4-FFF2-40B4-BE49-F238E27FC236}">
                  <a16:creationId xmlns:a16="http://schemas.microsoft.com/office/drawing/2014/main" id="{5A18C8A4-FB2A-44C1-93D3-26C6DDFE0C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18">
              <a:extLst>
                <a:ext uri="{FF2B5EF4-FFF2-40B4-BE49-F238E27FC236}">
                  <a16:creationId xmlns:a16="http://schemas.microsoft.com/office/drawing/2014/main" id="{85D014FD-8C5A-4071-B19E-4910AAB618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Freeform 19">
              <a:extLst>
                <a:ext uri="{FF2B5EF4-FFF2-40B4-BE49-F238E27FC236}">
                  <a16:creationId xmlns:a16="http://schemas.microsoft.com/office/drawing/2014/main" id="{A37D7262-3596-4026-9AD4-E94332E526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20">
              <a:extLst>
                <a:ext uri="{FF2B5EF4-FFF2-40B4-BE49-F238E27FC236}">
                  <a16:creationId xmlns:a16="http://schemas.microsoft.com/office/drawing/2014/main" id="{187E37E0-AAC3-4B33-AF36-334ACCBD33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21">
              <a:extLst>
                <a:ext uri="{FF2B5EF4-FFF2-40B4-BE49-F238E27FC236}">
                  <a16:creationId xmlns:a16="http://schemas.microsoft.com/office/drawing/2014/main" id="{409758BB-8A0E-4BEB-BC0C-F410AD98C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22">
              <a:extLst>
                <a:ext uri="{FF2B5EF4-FFF2-40B4-BE49-F238E27FC236}">
                  <a16:creationId xmlns:a16="http://schemas.microsoft.com/office/drawing/2014/main" id="{97C4EFE2-9D25-4978-BD9A-873B492702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23">
              <a:extLst>
                <a:ext uri="{FF2B5EF4-FFF2-40B4-BE49-F238E27FC236}">
                  <a16:creationId xmlns:a16="http://schemas.microsoft.com/office/drawing/2014/main" id="{9CCAF82A-A0E0-4B55-A97B-EFFAE79AF7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24">
              <a:extLst>
                <a:ext uri="{FF2B5EF4-FFF2-40B4-BE49-F238E27FC236}">
                  <a16:creationId xmlns:a16="http://schemas.microsoft.com/office/drawing/2014/main" id="{4F800DD8-3954-4F73-8807-16F1CFAC1E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Freeform 25">
              <a:extLst>
                <a:ext uri="{FF2B5EF4-FFF2-40B4-BE49-F238E27FC236}">
                  <a16:creationId xmlns:a16="http://schemas.microsoft.com/office/drawing/2014/main" id="{84E1C91A-4B06-4852-918C-6380FA986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Заголовок 1">
            <a:extLst>
              <a:ext uri="{FF2B5EF4-FFF2-40B4-BE49-F238E27FC236}">
                <a16:creationId xmlns:a16="http://schemas.microsoft.com/office/drawing/2014/main" id="{6C9DE65B-AB41-4E7A-B429-88B6D3480E45}"/>
              </a:ext>
            </a:extLst>
          </p:cNvPr>
          <p:cNvSpPr>
            <a:spLocks noGrp="1"/>
          </p:cNvSpPr>
          <p:nvPr>
            <p:ph type="title"/>
          </p:nvPr>
        </p:nvSpPr>
        <p:spPr>
          <a:xfrm>
            <a:off x="904877" y="795527"/>
            <a:ext cx="10488547" cy="1190912"/>
          </a:xfrm>
        </p:spPr>
        <p:txBody>
          <a:bodyPr>
            <a:normAutofit/>
          </a:bodyPr>
          <a:lstStyle/>
          <a:p>
            <a:r>
              <a:rPr lang="ru-RU">
                <a:solidFill>
                  <a:schemeClr val="tx2"/>
                </a:solidFill>
              </a:rPr>
              <a:t>Пример</a:t>
            </a:r>
          </a:p>
        </p:txBody>
      </p:sp>
      <p:sp>
        <p:nvSpPr>
          <p:cNvPr id="96" name="Rectangle 95">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030" y="2250281"/>
            <a:ext cx="4959318" cy="3678237"/>
          </a:xfrm>
          <a:prstGeom prst="rect">
            <a:avLst/>
          </a:prstGeom>
          <a:solidFill>
            <a:schemeClr val="bg1"/>
          </a:solidFill>
          <a:ln w="19050">
            <a:solidFill>
              <a:srgbClr val="00C4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BEFE6A1C-F8DF-4CD8-8ED2-40AC339587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8" r="3279" b="-3"/>
          <a:stretch/>
        </p:blipFill>
        <p:spPr bwMode="auto">
          <a:xfrm>
            <a:off x="1103257" y="2416047"/>
            <a:ext cx="4626864" cy="3346704"/>
          </a:xfrm>
          <a:prstGeom prst="rect">
            <a:avLst/>
          </a:prstGeom>
          <a:noFill/>
          <a:ln w="12700">
            <a:noFill/>
          </a:ln>
          <a:extLst>
            <a:ext uri="{909E8E84-426E-40DD-AFC4-6F175D3DCCD1}">
              <a14:hiddenFill xmlns:a14="http://schemas.microsoft.com/office/drawing/2010/main">
                <a:solidFill>
                  <a:srgbClr val="FFFFFF"/>
                </a:solidFill>
              </a14:hiddenFill>
            </a:ext>
          </a:extLst>
        </p:spPr>
      </p:pic>
      <p:sp>
        <p:nvSpPr>
          <p:cNvPr id="3" name="Объект 2">
            <a:extLst>
              <a:ext uri="{FF2B5EF4-FFF2-40B4-BE49-F238E27FC236}">
                <a16:creationId xmlns:a16="http://schemas.microsoft.com/office/drawing/2014/main" id="{732BDADA-DE4A-4570-A6FF-26CB525A3942}"/>
              </a:ext>
            </a:extLst>
          </p:cNvPr>
          <p:cNvSpPr>
            <a:spLocks noGrp="1"/>
          </p:cNvSpPr>
          <p:nvPr>
            <p:ph idx="1"/>
          </p:nvPr>
        </p:nvSpPr>
        <p:spPr>
          <a:xfrm>
            <a:off x="6380703" y="2228850"/>
            <a:ext cx="5028928" cy="3699669"/>
          </a:xfrm>
        </p:spPr>
        <p:txBody>
          <a:bodyPr>
            <a:normAutofit/>
          </a:bodyPr>
          <a:lstStyle/>
          <a:p>
            <a:pPr marL="0" indent="0">
              <a:buClr>
                <a:srgbClr val="00C4FF"/>
              </a:buClr>
              <a:buNone/>
            </a:pPr>
            <a:r>
              <a:rPr lang="ru-RU" b="0" i="0">
                <a:effectLst/>
                <a:latin typeface="TT Norms Pro"/>
              </a:rPr>
              <a:t>Бухгалтерское приложение для выставления счетов. Счета хранятся на сервере: мобильное приложение обращается к нему через API и показывает на экране то, что нужно.</a:t>
            </a:r>
          </a:p>
          <a:p>
            <a:pPr marL="0" indent="0">
              <a:buClr>
                <a:srgbClr val="00C4FF"/>
              </a:buClr>
              <a:buNone/>
            </a:pPr>
            <a:endParaRPr lang="ru-RU">
              <a:latin typeface="TT Norms Pro"/>
            </a:endParaRPr>
          </a:p>
          <a:p>
            <a:pPr marL="0" indent="0">
              <a:buClr>
                <a:srgbClr val="00C4FF"/>
              </a:buClr>
              <a:buNone/>
            </a:pPr>
            <a:endParaRPr lang="ru-RU">
              <a:latin typeface="TT Norms Pro"/>
            </a:endParaRPr>
          </a:p>
          <a:p>
            <a:pPr marL="0" indent="0">
              <a:buClr>
                <a:srgbClr val="00C4FF"/>
              </a:buClr>
              <a:buNone/>
            </a:pPr>
            <a:endParaRPr lang="ru-RU">
              <a:latin typeface="TT Norms Pro"/>
            </a:endParaRPr>
          </a:p>
          <a:p>
            <a:pPr marL="0" indent="0">
              <a:buClr>
                <a:srgbClr val="00C4FF"/>
              </a:buClr>
              <a:buNone/>
            </a:pPr>
            <a:endParaRPr lang="ru-RU">
              <a:latin typeface="TT Norms Pro"/>
            </a:endParaRPr>
          </a:p>
          <a:p>
            <a:pPr marL="0" indent="0">
              <a:buClr>
                <a:srgbClr val="00C4FF"/>
              </a:buClr>
              <a:buNone/>
            </a:pPr>
            <a:endParaRPr lang="ru-RU">
              <a:latin typeface="TT Norms Pro"/>
            </a:endParaRPr>
          </a:p>
          <a:p>
            <a:pPr marL="0" indent="0">
              <a:buClr>
                <a:srgbClr val="00C4FF"/>
              </a:buClr>
              <a:buNone/>
            </a:pPr>
            <a:endParaRPr lang="ru-RU">
              <a:latin typeface="TT Norms Pro"/>
            </a:endParaRPr>
          </a:p>
          <a:p>
            <a:pPr marL="0" indent="0">
              <a:buClr>
                <a:srgbClr val="00C4FF"/>
              </a:buClr>
              <a:buNone/>
            </a:pPr>
            <a:endParaRPr lang="ru-RU"/>
          </a:p>
        </p:txBody>
      </p:sp>
    </p:spTree>
    <p:extLst>
      <p:ext uri="{BB962C8B-B14F-4D97-AF65-F5344CB8AC3E}">
        <p14:creationId xmlns:p14="http://schemas.microsoft.com/office/powerpoint/2010/main" val="1557446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40E397B-C468-0B2D-4DCF-08E5D7712081}"/>
              </a:ext>
            </a:extLst>
          </p:cNvPr>
          <p:cNvSpPr>
            <a:spLocks noGrp="1"/>
          </p:cNvSpPr>
          <p:nvPr>
            <p:ph type="title"/>
          </p:nvPr>
        </p:nvSpPr>
        <p:spPr>
          <a:xfrm>
            <a:off x="2880485" y="841375"/>
            <a:ext cx="6230857" cy="1230570"/>
          </a:xfrm>
        </p:spPr>
        <p:txBody>
          <a:bodyPr anchor="t">
            <a:normAutofit/>
          </a:bodyPr>
          <a:lstStyle/>
          <a:p>
            <a:pPr algn="l"/>
            <a:r>
              <a:rPr lang="ru-RU" sz="2800" dirty="0">
                <a:solidFill>
                  <a:schemeClr val="accent1"/>
                </a:solidFill>
                <a:ea typeface="Calibri Light"/>
                <a:cs typeface="Calibri Light"/>
              </a:rPr>
              <a:t>Свойства</a:t>
            </a:r>
            <a:br>
              <a:rPr lang="ru-RU" sz="2800" dirty="0">
                <a:solidFill>
                  <a:schemeClr val="accent1"/>
                </a:solidFill>
                <a:ea typeface="Calibri Light"/>
                <a:cs typeface="Calibri Light"/>
              </a:rPr>
            </a:br>
            <a:r>
              <a:rPr lang="ru-RU" sz="2800" dirty="0">
                <a:solidFill>
                  <a:schemeClr val="accent1"/>
                </a:solidFill>
                <a:ea typeface="Calibri Light"/>
                <a:cs typeface="Calibri Light"/>
              </a:rPr>
              <a:t> REST</a:t>
            </a:r>
            <a:endParaRPr lang="ru-RU" sz="2800" dirty="0">
              <a:solidFill>
                <a:schemeClr val="accent1"/>
              </a:solidFill>
            </a:endParaRPr>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Объект 2">
            <a:extLst>
              <a:ext uri="{FF2B5EF4-FFF2-40B4-BE49-F238E27FC236}">
                <a16:creationId xmlns:a16="http://schemas.microsoft.com/office/drawing/2014/main" id="{947561C0-AC45-DCDB-30BA-216ECAF46DE5}"/>
              </a:ext>
            </a:extLst>
          </p:cNvPr>
          <p:cNvSpPr>
            <a:spLocks noGrp="1"/>
          </p:cNvSpPr>
          <p:nvPr>
            <p:ph idx="1"/>
          </p:nvPr>
        </p:nvSpPr>
        <p:spPr>
          <a:xfrm>
            <a:off x="2880487" y="2249046"/>
            <a:ext cx="7014736" cy="4459254"/>
          </a:xfrm>
        </p:spPr>
        <p:txBody>
          <a:bodyPr anchor="t">
            <a:normAutofit/>
          </a:bodyPr>
          <a:lstStyle/>
          <a:p>
            <a:pPr>
              <a:lnSpc>
                <a:spcPct val="110000"/>
              </a:lnSpc>
            </a:pPr>
            <a:r>
              <a:rPr lang="ru-RU" sz="1600" b="1" dirty="0" err="1">
                <a:latin typeface="Times New Roman"/>
                <a:cs typeface="Times New Roman"/>
              </a:rPr>
              <a:t>Representational</a:t>
            </a:r>
            <a:r>
              <a:rPr lang="ru-RU" sz="1600" b="1" dirty="0">
                <a:latin typeface="Times New Roman"/>
                <a:cs typeface="Times New Roman"/>
              </a:rPr>
              <a:t> State Transfer</a:t>
            </a:r>
            <a:r>
              <a:rPr lang="ru-RU" sz="1600" dirty="0">
                <a:latin typeface="Times New Roman"/>
                <a:cs typeface="Times New Roman"/>
              </a:rPr>
              <a:t> — это архитектурный стиль взаимодействия компонентов распределённого приложения в сети. Архитектурный стиль – это набор согласованных ограничений и принципов проектирования, позволяющий добиться определённых свойств системы.</a:t>
            </a:r>
          </a:p>
          <a:p>
            <a:pPr>
              <a:lnSpc>
                <a:spcPct val="110000"/>
              </a:lnSpc>
            </a:pPr>
            <a:r>
              <a:rPr lang="ru-RU" sz="1600" dirty="0">
                <a:latin typeface="Times New Roman"/>
                <a:cs typeface="Times New Roman"/>
              </a:rPr>
              <a:t> назначение REST в том, чтобы придать проектируемой системе такие свойства как:</a:t>
            </a:r>
          </a:p>
          <a:p>
            <a:pPr>
              <a:lnSpc>
                <a:spcPct val="110000"/>
              </a:lnSpc>
            </a:pPr>
            <a:r>
              <a:rPr lang="ru-RU" sz="1600" dirty="0">
                <a:latin typeface="Times New Roman"/>
                <a:cs typeface="Times New Roman"/>
              </a:rPr>
              <a:t>Производительность,</a:t>
            </a:r>
          </a:p>
          <a:p>
            <a:pPr>
              <a:lnSpc>
                <a:spcPct val="110000"/>
              </a:lnSpc>
            </a:pPr>
            <a:r>
              <a:rPr lang="ru-RU" sz="1600" dirty="0">
                <a:latin typeface="Times New Roman"/>
                <a:cs typeface="Times New Roman"/>
              </a:rPr>
              <a:t>Масштабируемость,</a:t>
            </a:r>
          </a:p>
          <a:p>
            <a:pPr>
              <a:lnSpc>
                <a:spcPct val="110000"/>
              </a:lnSpc>
            </a:pPr>
            <a:r>
              <a:rPr lang="ru-RU" sz="1600" dirty="0">
                <a:latin typeface="Times New Roman"/>
                <a:cs typeface="Times New Roman"/>
              </a:rPr>
              <a:t>Гибкость к изменениям,</a:t>
            </a:r>
          </a:p>
          <a:p>
            <a:pPr>
              <a:lnSpc>
                <a:spcPct val="110000"/>
              </a:lnSpc>
            </a:pPr>
            <a:r>
              <a:rPr lang="ru-RU" sz="1600" dirty="0">
                <a:latin typeface="Times New Roman"/>
                <a:cs typeface="Times New Roman"/>
              </a:rPr>
              <a:t>Отказоустойчивость,</a:t>
            </a:r>
          </a:p>
          <a:p>
            <a:pPr>
              <a:lnSpc>
                <a:spcPct val="110000"/>
              </a:lnSpc>
            </a:pPr>
            <a:r>
              <a:rPr lang="ru-RU" sz="1600" dirty="0">
                <a:latin typeface="Times New Roman"/>
                <a:cs typeface="Times New Roman"/>
              </a:rPr>
              <a:t>Простота поддержки.</a:t>
            </a:r>
          </a:p>
          <a:p>
            <a:pPr>
              <a:lnSpc>
                <a:spcPct val="110000"/>
              </a:lnSpc>
            </a:pPr>
            <a:endParaRPr lang="ru-RU" sz="1400" dirty="0"/>
          </a:p>
        </p:txBody>
      </p:sp>
    </p:spTree>
    <p:extLst>
      <p:ext uri="{BB962C8B-B14F-4D97-AF65-F5344CB8AC3E}">
        <p14:creationId xmlns:p14="http://schemas.microsoft.com/office/powerpoint/2010/main" val="215928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82BB258-8850-71AB-E4F2-CE660FC3E40E}"/>
              </a:ext>
            </a:extLst>
          </p:cNvPr>
          <p:cNvSpPr>
            <a:spLocks noGrp="1"/>
          </p:cNvSpPr>
          <p:nvPr>
            <p:ph type="title"/>
          </p:nvPr>
        </p:nvSpPr>
        <p:spPr>
          <a:xfrm>
            <a:off x="645459" y="960120"/>
            <a:ext cx="3865695" cy="4171278"/>
          </a:xfrm>
        </p:spPr>
        <p:txBody>
          <a:bodyPr>
            <a:normAutofit/>
          </a:bodyPr>
          <a:lstStyle/>
          <a:p>
            <a:pPr algn="r"/>
            <a:r>
              <a:rPr lang="ru-RU" sz="4400" dirty="0">
                <a:solidFill>
                  <a:schemeClr val="tx1"/>
                </a:solidFill>
                <a:ea typeface="Calibri Light"/>
                <a:cs typeface="Calibri Light"/>
              </a:rPr>
              <a:t>6 Принципов REST</a:t>
            </a:r>
            <a:endParaRPr lang="ru-RU" sz="4400" dirty="0">
              <a:solidFill>
                <a:schemeClr val="tx1"/>
              </a:solidFill>
            </a:endParaRP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Объект 2">
            <a:extLst>
              <a:ext uri="{FF2B5EF4-FFF2-40B4-BE49-F238E27FC236}">
                <a16:creationId xmlns:a16="http://schemas.microsoft.com/office/drawing/2014/main" id="{42AC1EFD-A3B9-359A-81DE-F7FBE2423E05}"/>
              </a:ext>
            </a:extLst>
          </p:cNvPr>
          <p:cNvSpPr>
            <a:spLocks noGrp="1"/>
          </p:cNvSpPr>
          <p:nvPr>
            <p:ph idx="1"/>
          </p:nvPr>
        </p:nvSpPr>
        <p:spPr>
          <a:xfrm>
            <a:off x="4983164" y="960120"/>
            <a:ext cx="5511800" cy="4171278"/>
          </a:xfrm>
        </p:spPr>
        <p:txBody>
          <a:bodyPr>
            <a:normAutofit/>
          </a:bodyPr>
          <a:lstStyle/>
          <a:p>
            <a:r>
              <a:rPr lang="ru-RU" dirty="0">
                <a:latin typeface="Times New Roman"/>
                <a:cs typeface="Times New Roman"/>
              </a:rPr>
              <a:t>Для достижения вышеупомянутых свойств, существует 6 принципов REST - Ограничений позволяющих достичь желаемого результата:</a:t>
            </a:r>
          </a:p>
          <a:p>
            <a:r>
              <a:rPr lang="ru-RU" dirty="0">
                <a:latin typeface="Times New Roman"/>
                <a:cs typeface="Times New Roman"/>
              </a:rPr>
              <a:t>Клиент-серверная архитектура</a:t>
            </a:r>
          </a:p>
          <a:p>
            <a:r>
              <a:rPr lang="ru-RU" dirty="0" err="1">
                <a:latin typeface="Times New Roman"/>
                <a:cs typeface="Times New Roman"/>
              </a:rPr>
              <a:t>Stateless</a:t>
            </a:r>
          </a:p>
          <a:p>
            <a:r>
              <a:rPr lang="ru-RU" dirty="0">
                <a:latin typeface="Times New Roman"/>
                <a:cs typeface="Times New Roman"/>
              </a:rPr>
              <a:t>Кэширование</a:t>
            </a:r>
          </a:p>
          <a:p>
            <a:r>
              <a:rPr lang="ru-RU" dirty="0">
                <a:latin typeface="Times New Roman"/>
                <a:cs typeface="Times New Roman"/>
              </a:rPr>
              <a:t>Единообразие интерфейса</a:t>
            </a:r>
          </a:p>
          <a:p>
            <a:r>
              <a:rPr lang="ru-RU" dirty="0" err="1">
                <a:latin typeface="Times New Roman"/>
                <a:cs typeface="Times New Roman"/>
              </a:rPr>
              <a:t>Layered</a:t>
            </a:r>
            <a:r>
              <a:rPr lang="ru-RU" dirty="0">
                <a:latin typeface="Times New Roman"/>
                <a:cs typeface="Times New Roman"/>
              </a:rPr>
              <a:t> </a:t>
            </a:r>
            <a:r>
              <a:rPr lang="ru-RU" dirty="0" err="1">
                <a:latin typeface="Times New Roman"/>
                <a:cs typeface="Times New Roman"/>
              </a:rPr>
              <a:t>system</a:t>
            </a:r>
          </a:p>
          <a:p>
            <a:r>
              <a:rPr lang="ru-RU" dirty="0">
                <a:latin typeface="Times New Roman"/>
                <a:cs typeface="Times New Roman"/>
              </a:rPr>
              <a:t>Code </a:t>
            </a:r>
            <a:r>
              <a:rPr lang="ru-RU" dirty="0" err="1">
                <a:latin typeface="Times New Roman"/>
                <a:cs typeface="Times New Roman"/>
              </a:rPr>
              <a:t>on</a:t>
            </a:r>
            <a:r>
              <a:rPr lang="ru-RU" dirty="0">
                <a:latin typeface="Times New Roman"/>
                <a:cs typeface="Times New Roman"/>
              </a:rPr>
              <a:t> </a:t>
            </a:r>
            <a:r>
              <a:rPr lang="ru-RU" dirty="0" err="1">
                <a:latin typeface="Times New Roman"/>
                <a:cs typeface="Times New Roman"/>
              </a:rPr>
              <a:t>demand</a:t>
            </a:r>
          </a:p>
          <a:p>
            <a:pPr marL="0" indent="0">
              <a:buNone/>
            </a:pPr>
            <a:endParaRPr lang="ru-RU" dirty="0"/>
          </a:p>
        </p:txBody>
      </p:sp>
    </p:spTree>
    <p:extLst>
      <p:ext uri="{BB962C8B-B14F-4D97-AF65-F5344CB8AC3E}">
        <p14:creationId xmlns:p14="http://schemas.microsoft.com/office/powerpoint/2010/main" val="390422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C6FCF6-7684-4B2E-3838-3456A58DFC41}"/>
              </a:ext>
            </a:extLst>
          </p:cNvPr>
          <p:cNvSpPr>
            <a:spLocks noGrp="1"/>
          </p:cNvSpPr>
          <p:nvPr>
            <p:ph type="title"/>
          </p:nvPr>
        </p:nvSpPr>
        <p:spPr/>
        <p:txBody>
          <a:bodyPr>
            <a:normAutofit/>
          </a:bodyPr>
          <a:lstStyle/>
          <a:p>
            <a:r>
              <a:rPr lang="ru-RU" dirty="0"/>
              <a:t>Клиент-серверная архитектура</a:t>
            </a:r>
          </a:p>
          <a:p>
            <a:endParaRPr lang="ru-RU" dirty="0">
              <a:ea typeface="Calibri Light"/>
              <a:cs typeface="Calibri Light"/>
            </a:endParaRPr>
          </a:p>
        </p:txBody>
      </p:sp>
      <p:sp>
        <p:nvSpPr>
          <p:cNvPr id="3" name="Объект 2">
            <a:extLst>
              <a:ext uri="{FF2B5EF4-FFF2-40B4-BE49-F238E27FC236}">
                <a16:creationId xmlns:a16="http://schemas.microsoft.com/office/drawing/2014/main" id="{36700B77-9188-50FE-6DDE-74D9C7A092D5}"/>
              </a:ext>
            </a:extLst>
          </p:cNvPr>
          <p:cNvSpPr>
            <a:spLocks noGrp="1"/>
          </p:cNvSpPr>
          <p:nvPr>
            <p:ph idx="1"/>
          </p:nvPr>
        </p:nvSpPr>
        <p:spPr>
          <a:xfrm>
            <a:off x="4848815" y="-380844"/>
            <a:ext cx="6281873" cy="5248622"/>
          </a:xfrm>
        </p:spPr>
        <p:txBody>
          <a:bodyPr/>
          <a:lstStyle/>
          <a:p>
            <a:r>
              <a:rPr lang="ru-RU" dirty="0">
                <a:latin typeface="Times New Roman"/>
                <a:cs typeface="Times New Roman"/>
              </a:rPr>
              <a:t>Сама концепция клиент-серверной архитектуры заключается в разделении некоторых зон ответственности: в разделении функций клиента и сервера. </a:t>
            </a:r>
            <a:endParaRPr lang="ru-RU">
              <a:latin typeface="Times New Roman"/>
              <a:cs typeface="Times New Roman"/>
            </a:endParaRPr>
          </a:p>
          <a:p>
            <a:r>
              <a:rPr lang="ru-RU" dirty="0">
                <a:latin typeface="Times New Roman"/>
                <a:cs typeface="Times New Roman"/>
              </a:rPr>
              <a:t>Например, мы разделяем нашу систему так, что клиент (допустим, это мобильное приложение) реализует только функциональное взаимодействие с сервером. При этом сервер реализует в себе логику хранения данных, сложные взаимодействия со смежными системами и т.д.</a:t>
            </a:r>
          </a:p>
          <a:p>
            <a:endParaRPr lang="ru-RU" dirty="0"/>
          </a:p>
        </p:txBody>
      </p:sp>
      <p:pic>
        <p:nvPicPr>
          <p:cNvPr id="4" name="Рисунок 4">
            <a:extLst>
              <a:ext uri="{FF2B5EF4-FFF2-40B4-BE49-F238E27FC236}">
                <a16:creationId xmlns:a16="http://schemas.microsoft.com/office/drawing/2014/main" id="{D26A0D99-6D4C-6CC6-BA98-B7A54CF8273D}"/>
              </a:ext>
            </a:extLst>
          </p:cNvPr>
          <p:cNvPicPr>
            <a:picLocks noChangeAspect="1"/>
          </p:cNvPicPr>
          <p:nvPr/>
        </p:nvPicPr>
        <p:blipFill>
          <a:blip r:embed="rId2"/>
          <a:stretch>
            <a:fillRect/>
          </a:stretch>
        </p:blipFill>
        <p:spPr>
          <a:xfrm>
            <a:off x="4642338" y="3520353"/>
            <a:ext cx="6271846" cy="3123203"/>
          </a:xfrm>
          <a:prstGeom prst="rect">
            <a:avLst/>
          </a:prstGeom>
        </p:spPr>
      </p:pic>
    </p:spTree>
    <p:extLst>
      <p:ext uri="{BB962C8B-B14F-4D97-AF65-F5344CB8AC3E}">
        <p14:creationId xmlns:p14="http://schemas.microsoft.com/office/powerpoint/2010/main" val="1932231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AB64E0-FBBE-16DB-F27D-345EBDEDEA7F}"/>
              </a:ext>
            </a:extLst>
          </p:cNvPr>
          <p:cNvSpPr>
            <a:spLocks noGrp="1"/>
          </p:cNvSpPr>
          <p:nvPr>
            <p:ph type="title"/>
          </p:nvPr>
        </p:nvSpPr>
        <p:spPr/>
        <p:txBody>
          <a:bodyPr>
            <a:normAutofit/>
          </a:bodyPr>
          <a:lstStyle/>
          <a:p>
            <a:r>
              <a:rPr lang="ru-RU" dirty="0"/>
              <a:t>Code </a:t>
            </a:r>
            <a:r>
              <a:rPr lang="ru-RU" dirty="0" err="1"/>
              <a:t>on</a:t>
            </a:r>
            <a:r>
              <a:rPr lang="ru-RU" dirty="0"/>
              <a:t> </a:t>
            </a:r>
            <a:r>
              <a:rPr lang="ru-RU" dirty="0" err="1"/>
              <a:t>done</a:t>
            </a:r>
            <a:r>
              <a:rPr lang="ru-RU" dirty="0"/>
              <a:t> (код по требованию)</a:t>
            </a:r>
          </a:p>
          <a:p>
            <a:endParaRPr lang="ru-RU" dirty="0">
              <a:ea typeface="Calibri Light"/>
              <a:cs typeface="Calibri Light"/>
            </a:endParaRPr>
          </a:p>
        </p:txBody>
      </p:sp>
      <p:sp>
        <p:nvSpPr>
          <p:cNvPr id="3" name="Объект 2">
            <a:extLst>
              <a:ext uri="{FF2B5EF4-FFF2-40B4-BE49-F238E27FC236}">
                <a16:creationId xmlns:a16="http://schemas.microsoft.com/office/drawing/2014/main" id="{AE8B6827-1461-109E-9419-A00F7CD7A62C}"/>
              </a:ext>
            </a:extLst>
          </p:cNvPr>
          <p:cNvSpPr>
            <a:spLocks noGrp="1"/>
          </p:cNvSpPr>
          <p:nvPr>
            <p:ph idx="1"/>
          </p:nvPr>
        </p:nvSpPr>
        <p:spPr/>
        <p:txBody>
          <a:bodyPr/>
          <a:lstStyle/>
          <a:p>
            <a:r>
              <a:rPr lang="ru-RU" dirty="0">
                <a:latin typeface="Times New Roman"/>
                <a:cs typeface="Times New Roman"/>
              </a:rPr>
              <a:t>Идея передачи некоторого исполняемого кода (по сути какой-то программы) от сервера клиенту.</a:t>
            </a:r>
          </a:p>
          <a:p>
            <a:endParaRPr lang="ru-RU" dirty="0"/>
          </a:p>
        </p:txBody>
      </p:sp>
      <p:pic>
        <p:nvPicPr>
          <p:cNvPr id="4" name="Рисунок 4">
            <a:extLst>
              <a:ext uri="{FF2B5EF4-FFF2-40B4-BE49-F238E27FC236}">
                <a16:creationId xmlns:a16="http://schemas.microsoft.com/office/drawing/2014/main" id="{E717F815-D3FC-6BFA-4031-5DF5DD023726}"/>
              </a:ext>
            </a:extLst>
          </p:cNvPr>
          <p:cNvPicPr>
            <a:picLocks noChangeAspect="1"/>
          </p:cNvPicPr>
          <p:nvPr/>
        </p:nvPicPr>
        <p:blipFill>
          <a:blip r:embed="rId2"/>
          <a:stretch>
            <a:fillRect/>
          </a:stretch>
        </p:blipFill>
        <p:spPr>
          <a:xfrm>
            <a:off x="5052646" y="3760649"/>
            <a:ext cx="6131169" cy="2701226"/>
          </a:xfrm>
          <a:prstGeom prst="rect">
            <a:avLst/>
          </a:prstGeom>
        </p:spPr>
      </p:pic>
    </p:spTree>
    <p:extLst>
      <p:ext uri="{BB962C8B-B14F-4D97-AF65-F5344CB8AC3E}">
        <p14:creationId xmlns:p14="http://schemas.microsoft.com/office/powerpoint/2010/main" val="3149617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F767C3E-DACE-91CD-CD0F-CAD35FAD9575}"/>
              </a:ext>
            </a:extLst>
          </p:cNvPr>
          <p:cNvSpPr>
            <a:spLocks noGrp="1"/>
          </p:cNvSpPr>
          <p:nvPr>
            <p:ph type="title"/>
          </p:nvPr>
        </p:nvSpPr>
        <p:spPr>
          <a:xfrm>
            <a:off x="2533530" y="339051"/>
            <a:ext cx="6230857" cy="735147"/>
          </a:xfrm>
        </p:spPr>
        <p:txBody>
          <a:bodyPr anchor="t">
            <a:normAutofit fontScale="90000"/>
          </a:bodyPr>
          <a:lstStyle/>
          <a:p>
            <a:pPr algn="l"/>
            <a:r>
              <a:rPr lang="ru-RU" sz="2800" dirty="0">
                <a:solidFill>
                  <a:schemeClr val="accent1"/>
                </a:solidFill>
              </a:rPr>
              <a:t>Отправка запросов</a:t>
            </a:r>
          </a:p>
          <a:p>
            <a:pPr algn="l"/>
            <a:endParaRPr lang="ru-RU" sz="2800" dirty="0">
              <a:solidFill>
                <a:schemeClr val="accent1"/>
              </a:solidFill>
              <a:ea typeface="Calibri Light"/>
              <a:cs typeface="Calibri Light"/>
            </a:endParaRPr>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Объект 2">
            <a:extLst>
              <a:ext uri="{FF2B5EF4-FFF2-40B4-BE49-F238E27FC236}">
                <a16:creationId xmlns:a16="http://schemas.microsoft.com/office/drawing/2014/main" id="{687E889C-29B7-EF45-FE15-E6CA6E0017C3}"/>
              </a:ext>
            </a:extLst>
          </p:cNvPr>
          <p:cNvSpPr>
            <a:spLocks noGrp="1"/>
          </p:cNvSpPr>
          <p:nvPr>
            <p:ph idx="1"/>
          </p:nvPr>
        </p:nvSpPr>
        <p:spPr>
          <a:xfrm>
            <a:off x="2425211" y="1207549"/>
            <a:ext cx="8549176" cy="5211006"/>
          </a:xfrm>
        </p:spPr>
        <p:txBody>
          <a:bodyPr anchor="t">
            <a:normAutofit/>
          </a:bodyPr>
          <a:lstStyle/>
          <a:p>
            <a:pPr marL="0" indent="0">
              <a:buNone/>
            </a:pPr>
            <a:r>
              <a:rPr lang="ru-RU" sz="1600" b="0" i="0" dirty="0">
                <a:solidFill>
                  <a:srgbClr val="0F1111"/>
                </a:solidFill>
                <a:effectLst/>
                <a:latin typeface="Inter"/>
              </a:rPr>
              <a:t>REST требует, чтобы клиент сделал запрос на сервер для получения или изменения данных на сервере. Запрос обычно состоит из:</a:t>
            </a:r>
          </a:p>
          <a:p>
            <a:pPr algn="l">
              <a:buFont typeface="Arial" panose="020B0604020202020204" pitchFamily="34" charset="0"/>
              <a:buChar char="•"/>
            </a:pPr>
            <a:r>
              <a:rPr lang="ru-RU" sz="1600" b="0" i="0" dirty="0">
                <a:solidFill>
                  <a:srgbClr val="0F1111"/>
                </a:solidFill>
                <a:effectLst/>
                <a:latin typeface="Inter"/>
              </a:rPr>
              <a:t>НТТР-метода, который определяет вид операции;</a:t>
            </a:r>
          </a:p>
          <a:p>
            <a:pPr algn="l">
              <a:buFont typeface="Arial" panose="020B0604020202020204" pitchFamily="34" charset="0"/>
              <a:buChar char="•"/>
            </a:pPr>
            <a:r>
              <a:rPr lang="ru-RU" sz="1600" b="0" i="0" dirty="0">
                <a:solidFill>
                  <a:srgbClr val="0F1111"/>
                </a:solidFill>
                <a:effectLst/>
                <a:latin typeface="Inter"/>
              </a:rPr>
              <a:t>заголовка, который позволяет клиенту передавать информацию о запросе;</a:t>
            </a:r>
          </a:p>
          <a:p>
            <a:pPr algn="l">
              <a:buFont typeface="Arial" panose="020B0604020202020204" pitchFamily="34" charset="0"/>
              <a:buChar char="•"/>
            </a:pPr>
            <a:r>
              <a:rPr lang="ru-RU" sz="1600" b="0" i="0" dirty="0">
                <a:solidFill>
                  <a:srgbClr val="0F1111"/>
                </a:solidFill>
                <a:effectLst/>
                <a:latin typeface="Inter"/>
              </a:rPr>
              <a:t>пути к ресурсу;</a:t>
            </a:r>
          </a:p>
          <a:p>
            <a:pPr algn="l">
              <a:buFont typeface="Arial" panose="020B0604020202020204" pitchFamily="34" charset="0"/>
              <a:buChar char="•"/>
            </a:pPr>
            <a:r>
              <a:rPr lang="ru-RU" sz="1600" b="0" i="0" dirty="0">
                <a:solidFill>
                  <a:srgbClr val="0F1111"/>
                </a:solidFill>
                <a:effectLst/>
                <a:latin typeface="Inter"/>
              </a:rPr>
              <a:t>необязательного тела сообщения, содержащего данные.</a:t>
            </a:r>
          </a:p>
          <a:p>
            <a:pPr marL="0" indent="0" algn="l">
              <a:buNone/>
            </a:pPr>
            <a:r>
              <a:rPr lang="ru-RU" sz="1600" b="0" i="0" dirty="0">
                <a:solidFill>
                  <a:srgbClr val="0F1111"/>
                </a:solidFill>
                <a:effectLst/>
                <a:latin typeface="Inter"/>
              </a:rPr>
              <a:t>Существует 4 основных метода НТТР, которые мы используем в запросах для взаимодействия с ресурсами в системе REST:</a:t>
            </a:r>
          </a:p>
          <a:p>
            <a:pPr algn="l">
              <a:buFont typeface="Arial" panose="020B0604020202020204" pitchFamily="34" charset="0"/>
              <a:buChar char="•"/>
            </a:pPr>
            <a:r>
              <a:rPr lang="ru-RU" sz="1600" b="0" i="0" dirty="0">
                <a:solidFill>
                  <a:srgbClr val="0F1111"/>
                </a:solidFill>
                <a:effectLst/>
                <a:latin typeface="Inter"/>
              </a:rPr>
              <a:t>GET — получение конкретного ресурса (по </a:t>
            </a:r>
            <a:r>
              <a:rPr lang="ru-RU" sz="1600" b="0" i="0" dirty="0" err="1">
                <a:solidFill>
                  <a:srgbClr val="0F1111"/>
                </a:solidFill>
                <a:effectLst/>
                <a:latin typeface="Inter"/>
              </a:rPr>
              <a:t>id</a:t>
            </a:r>
            <a:r>
              <a:rPr lang="ru-RU" sz="1600" b="0" i="0" dirty="0">
                <a:solidFill>
                  <a:srgbClr val="0F1111"/>
                </a:solidFill>
                <a:effectLst/>
                <a:latin typeface="Inter"/>
              </a:rPr>
              <a:t>) или коллекцию ресурсов;</a:t>
            </a:r>
          </a:p>
          <a:p>
            <a:pPr algn="l">
              <a:buFont typeface="Arial" panose="020B0604020202020204" pitchFamily="34" charset="0"/>
              <a:buChar char="•"/>
            </a:pPr>
            <a:r>
              <a:rPr lang="ru-RU" sz="1600" b="0" i="0" dirty="0">
                <a:solidFill>
                  <a:srgbClr val="0F1111"/>
                </a:solidFill>
                <a:effectLst/>
                <a:latin typeface="Inter"/>
              </a:rPr>
              <a:t>POST — создание нового ресурса;</a:t>
            </a:r>
          </a:p>
          <a:p>
            <a:pPr algn="l">
              <a:buFont typeface="Arial" panose="020B0604020202020204" pitchFamily="34" charset="0"/>
              <a:buChar char="•"/>
            </a:pPr>
            <a:r>
              <a:rPr lang="ru-RU" sz="1600" b="0" i="0" dirty="0">
                <a:solidFill>
                  <a:srgbClr val="0F1111"/>
                </a:solidFill>
                <a:effectLst/>
                <a:latin typeface="Inter"/>
              </a:rPr>
              <a:t>PUT — обновление конкретного ресурса (по </a:t>
            </a:r>
            <a:r>
              <a:rPr lang="ru-RU" sz="1600" b="0" i="0" dirty="0" err="1">
                <a:solidFill>
                  <a:srgbClr val="0F1111"/>
                </a:solidFill>
                <a:effectLst/>
                <a:latin typeface="Inter"/>
              </a:rPr>
              <a:t>id</a:t>
            </a:r>
            <a:r>
              <a:rPr lang="ru-RU" sz="1600" b="0" i="0" dirty="0">
                <a:solidFill>
                  <a:srgbClr val="0F1111"/>
                </a:solidFill>
                <a:effectLst/>
                <a:latin typeface="Inter"/>
              </a:rPr>
              <a:t>);</a:t>
            </a:r>
          </a:p>
          <a:p>
            <a:pPr algn="l">
              <a:buFont typeface="Arial" panose="020B0604020202020204" pitchFamily="34" charset="0"/>
              <a:buChar char="•"/>
            </a:pPr>
            <a:r>
              <a:rPr lang="ru-RU" sz="1600" b="0" i="0" dirty="0">
                <a:solidFill>
                  <a:srgbClr val="0F1111"/>
                </a:solidFill>
                <a:effectLst/>
                <a:latin typeface="Inter"/>
              </a:rPr>
              <a:t>DELETE — удаление конкретного ресурса по </a:t>
            </a:r>
            <a:r>
              <a:rPr lang="ru-RU" sz="1600" b="0" i="0" dirty="0" err="1">
                <a:solidFill>
                  <a:srgbClr val="0F1111"/>
                </a:solidFill>
                <a:effectLst/>
                <a:latin typeface="Inter"/>
              </a:rPr>
              <a:t>id</a:t>
            </a:r>
            <a:r>
              <a:rPr lang="ru-RU" sz="1600" b="0" i="0" dirty="0">
                <a:solidFill>
                  <a:srgbClr val="0F1111"/>
                </a:solidFill>
                <a:effectLst/>
                <a:latin typeface="Inter"/>
              </a:rPr>
              <a:t>;</a:t>
            </a:r>
          </a:p>
          <a:p>
            <a:pPr marL="0" indent="0">
              <a:buNone/>
            </a:pPr>
            <a:endParaRPr lang="ru-RU" sz="1600" dirty="0"/>
          </a:p>
        </p:txBody>
      </p:sp>
    </p:spTree>
    <p:extLst>
      <p:ext uri="{BB962C8B-B14F-4D97-AF65-F5344CB8AC3E}">
        <p14:creationId xmlns:p14="http://schemas.microsoft.com/office/powerpoint/2010/main" val="3769855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B25E8E5-BF3D-AC21-1909-9700F10BAF0F}"/>
              </a:ext>
            </a:extLst>
          </p:cNvPr>
          <p:cNvSpPr>
            <a:spLocks noGrp="1"/>
          </p:cNvSpPr>
          <p:nvPr>
            <p:ph type="title"/>
          </p:nvPr>
        </p:nvSpPr>
        <p:spPr>
          <a:xfrm>
            <a:off x="3108366" y="1018476"/>
            <a:ext cx="6230857" cy="1230570"/>
          </a:xfrm>
        </p:spPr>
        <p:txBody>
          <a:bodyPr anchor="t">
            <a:normAutofit/>
          </a:bodyPr>
          <a:lstStyle/>
          <a:p>
            <a:pPr algn="l"/>
            <a:r>
              <a:rPr lang="ru-RU" sz="3200" dirty="0">
                <a:solidFill>
                  <a:schemeClr val="accent1"/>
                </a:solidFill>
                <a:ea typeface="+mj-lt"/>
                <a:cs typeface="+mj-lt"/>
              </a:rPr>
              <a:t>Принцип работы </a:t>
            </a:r>
            <a:r>
              <a:rPr lang="en-US" sz="3200" dirty="0" err="1">
                <a:solidFill>
                  <a:schemeClr val="accent1"/>
                </a:solidFill>
                <a:ea typeface="+mj-lt"/>
                <a:cs typeface="+mj-lt"/>
              </a:rPr>
              <a:t>RestAPI</a:t>
            </a:r>
            <a:endParaRPr lang="en-US" sz="3200" dirty="0">
              <a:solidFill>
                <a:schemeClr val="accent1"/>
              </a:solidFill>
              <a:ea typeface="+mj-lt"/>
              <a:cs typeface="+mj-lt"/>
            </a:endParaRPr>
          </a:p>
          <a:p>
            <a:pPr algn="l"/>
            <a:endParaRPr lang="ru-RU" sz="1700" dirty="0">
              <a:solidFill>
                <a:schemeClr val="accent1"/>
              </a:solidFill>
              <a:ea typeface="+mj-lt"/>
              <a:cs typeface="+mj-lt"/>
            </a:endParaRPr>
          </a:p>
          <a:p>
            <a:pPr algn="l"/>
            <a:endParaRPr lang="ru-RU" sz="1700" dirty="0">
              <a:solidFill>
                <a:schemeClr val="accent1"/>
              </a:solidFill>
              <a:ea typeface="Calibri Light"/>
              <a:cs typeface="Calibri Light"/>
            </a:endParaRPr>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Объект 2">
            <a:extLst>
              <a:ext uri="{FF2B5EF4-FFF2-40B4-BE49-F238E27FC236}">
                <a16:creationId xmlns:a16="http://schemas.microsoft.com/office/drawing/2014/main" id="{1DD0ED92-491E-5E3A-9E4B-01E770A4D0FA}"/>
              </a:ext>
            </a:extLst>
          </p:cNvPr>
          <p:cNvSpPr>
            <a:spLocks noGrp="1"/>
          </p:cNvSpPr>
          <p:nvPr>
            <p:ph idx="1"/>
          </p:nvPr>
        </p:nvSpPr>
        <p:spPr>
          <a:xfrm>
            <a:off x="2880487" y="2249046"/>
            <a:ext cx="6123783" cy="3802762"/>
          </a:xfrm>
        </p:spPr>
        <p:txBody>
          <a:bodyPr anchor="t">
            <a:normAutofit fontScale="92500" lnSpcReduction="20000"/>
          </a:bodyPr>
          <a:lstStyle/>
          <a:p>
            <a:r>
              <a:rPr lang="ru-RU" sz="1700" dirty="0">
                <a:latin typeface="Times New Roman"/>
                <a:cs typeface="Times New Roman"/>
              </a:rPr>
              <a:t>Состояние ресурса в любой момент времени («отметка времени») называется представлением ресурса. Эта информация может быть предоставлена клиенту практически в любом формате, включая JavaScript Object </a:t>
            </a:r>
            <a:r>
              <a:rPr lang="ru-RU" sz="1700" dirty="0" err="1">
                <a:latin typeface="Times New Roman"/>
                <a:cs typeface="Times New Roman"/>
              </a:rPr>
              <a:t>Notation</a:t>
            </a:r>
            <a:r>
              <a:rPr lang="ru-RU" sz="1700" dirty="0">
                <a:latin typeface="Times New Roman"/>
                <a:cs typeface="Times New Roman"/>
              </a:rPr>
              <a:t> (JSON), HTML, XLT, Python, PHP или текстовом формате. Популярность JSON обусловлена тем, что данный формат не зависит от языка программирования и понятен как человеку, так и компьютеру.</a:t>
            </a:r>
            <a:endParaRPr lang="en-US" sz="1700" dirty="0">
              <a:latin typeface="Times New Roman"/>
              <a:cs typeface="Times New Roman"/>
            </a:endParaRPr>
          </a:p>
          <a:p>
            <a:r>
              <a:rPr lang="ru-RU" sz="1700" dirty="0">
                <a:latin typeface="Times New Roman"/>
                <a:cs typeface="Times New Roman"/>
              </a:rPr>
              <a:t>Важную роль в вызовах REST API также играют заголовки и параметры запросов, поскольку они содержат такую важную информацию, как метаданные, разрешения, универсальные коды ресурсов (URI), сведения о кэшировании, файлы </a:t>
            </a:r>
            <a:r>
              <a:rPr lang="ru-RU" sz="1700" dirty="0" err="1">
                <a:latin typeface="Times New Roman"/>
                <a:cs typeface="Times New Roman"/>
              </a:rPr>
              <a:t>cookie</a:t>
            </a:r>
            <a:r>
              <a:rPr lang="ru-RU" sz="1700" dirty="0">
                <a:latin typeface="Times New Roman"/>
                <a:cs typeface="Times New Roman"/>
              </a:rPr>
              <a:t> и многое другое. Заголовки запросов и ответов применяются в хорошо продуманных REST API вместе с обычными кодами состояния HTTP.</a:t>
            </a:r>
            <a:endParaRPr lang="en-US" sz="1700" dirty="0">
              <a:latin typeface="Times New Roman"/>
              <a:cs typeface="Times New Roman"/>
            </a:endParaRPr>
          </a:p>
          <a:p>
            <a:endParaRPr lang="ru-RU" sz="1500" dirty="0"/>
          </a:p>
        </p:txBody>
      </p:sp>
    </p:spTree>
    <p:extLst>
      <p:ext uri="{BB962C8B-B14F-4D97-AF65-F5344CB8AC3E}">
        <p14:creationId xmlns:p14="http://schemas.microsoft.com/office/powerpoint/2010/main" val="10118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244016-274C-4A10-8919-71CE65F2398B}"/>
              </a:ext>
            </a:extLst>
          </p:cNvPr>
          <p:cNvSpPr>
            <a:spLocks noGrp="1"/>
          </p:cNvSpPr>
          <p:nvPr>
            <p:ph type="title"/>
          </p:nvPr>
        </p:nvSpPr>
        <p:spPr>
          <a:xfrm>
            <a:off x="870875" y="2323291"/>
            <a:ext cx="3498979" cy="2456442"/>
          </a:xfrm>
        </p:spPr>
        <p:txBody>
          <a:bodyPr/>
          <a:lstStyle/>
          <a:p>
            <a:r>
              <a:rPr lang="ru-RU" dirty="0"/>
              <a:t>Пример</a:t>
            </a:r>
          </a:p>
        </p:txBody>
      </p:sp>
      <p:sp>
        <p:nvSpPr>
          <p:cNvPr id="3" name="Объект 2">
            <a:extLst>
              <a:ext uri="{FF2B5EF4-FFF2-40B4-BE49-F238E27FC236}">
                <a16:creationId xmlns:a16="http://schemas.microsoft.com/office/drawing/2014/main" id="{8B8D3B88-1556-497E-904F-8292AE7B251C}"/>
              </a:ext>
            </a:extLst>
          </p:cNvPr>
          <p:cNvSpPr>
            <a:spLocks noGrp="1"/>
          </p:cNvSpPr>
          <p:nvPr>
            <p:ph idx="1"/>
          </p:nvPr>
        </p:nvSpPr>
        <p:spPr>
          <a:xfrm>
            <a:off x="4962617" y="949910"/>
            <a:ext cx="6437703" cy="5101897"/>
          </a:xfrm>
        </p:spPr>
        <p:txBody>
          <a:bodyPr/>
          <a:lstStyle/>
          <a:p>
            <a:pPr marL="0" indent="0">
              <a:buNone/>
            </a:pPr>
            <a:r>
              <a:rPr lang="ru-RU" b="0" i="0" dirty="0">
                <a:solidFill>
                  <a:srgbClr val="0F1111"/>
                </a:solidFill>
                <a:effectLst/>
                <a:latin typeface="Inter"/>
              </a:rPr>
              <a:t>Например, клиент, имеющий доступ к ресурсу с идентификатором 123 в ресурсе статей на сервере, может отправить запрос GET следующим образом:</a:t>
            </a:r>
          </a:p>
          <a:p>
            <a:pPr marL="0" indent="0">
              <a:buNone/>
            </a:pPr>
            <a:endParaRPr lang="ru-RU" b="0" i="0" dirty="0">
              <a:solidFill>
                <a:srgbClr val="0F1111"/>
              </a:solidFill>
              <a:effectLst/>
              <a:latin typeface="Inter"/>
            </a:endParaRPr>
          </a:p>
          <a:p>
            <a:pPr marL="0" indent="0">
              <a:buNone/>
            </a:pPr>
            <a:endParaRPr lang="ru-RU" b="0" i="0" dirty="0">
              <a:solidFill>
                <a:srgbClr val="0F1111"/>
              </a:solidFill>
              <a:effectLst/>
              <a:latin typeface="Inter"/>
            </a:endParaRPr>
          </a:p>
          <a:p>
            <a:pPr marL="0" indent="0">
              <a:buNone/>
            </a:pPr>
            <a:r>
              <a:rPr lang="ru-RU" b="0" i="0" dirty="0">
                <a:solidFill>
                  <a:srgbClr val="0F1111"/>
                </a:solidFill>
                <a:effectLst/>
                <a:latin typeface="Inter"/>
              </a:rPr>
              <a:t>Сервер должен отправить обратно контент с заголовком ответа:</a:t>
            </a:r>
          </a:p>
          <a:p>
            <a:pPr marL="0" indent="0">
              <a:buNone/>
            </a:pPr>
            <a:endParaRPr lang="ru-RU" dirty="0"/>
          </a:p>
        </p:txBody>
      </p:sp>
      <p:pic>
        <p:nvPicPr>
          <p:cNvPr id="10" name="Рисунок 9">
            <a:extLst>
              <a:ext uri="{FF2B5EF4-FFF2-40B4-BE49-F238E27FC236}">
                <a16:creationId xmlns:a16="http://schemas.microsoft.com/office/drawing/2014/main" id="{A512A58E-8843-4DE4-9C7E-7BE69031375E}"/>
              </a:ext>
            </a:extLst>
          </p:cNvPr>
          <p:cNvPicPr>
            <a:picLocks noChangeAspect="1"/>
          </p:cNvPicPr>
          <p:nvPr/>
        </p:nvPicPr>
        <p:blipFill>
          <a:blip r:embed="rId2"/>
          <a:stretch>
            <a:fillRect/>
          </a:stretch>
        </p:blipFill>
        <p:spPr>
          <a:xfrm>
            <a:off x="4962617" y="3090777"/>
            <a:ext cx="6729274" cy="820161"/>
          </a:xfrm>
          <a:prstGeom prst="rect">
            <a:avLst/>
          </a:prstGeom>
        </p:spPr>
      </p:pic>
      <p:pic>
        <p:nvPicPr>
          <p:cNvPr id="12" name="Рисунок 11">
            <a:extLst>
              <a:ext uri="{FF2B5EF4-FFF2-40B4-BE49-F238E27FC236}">
                <a16:creationId xmlns:a16="http://schemas.microsoft.com/office/drawing/2014/main" id="{78BCFE55-44D9-4576-BA99-9194BCDBBE2F}"/>
              </a:ext>
            </a:extLst>
          </p:cNvPr>
          <p:cNvPicPr>
            <a:picLocks noChangeAspect="1"/>
          </p:cNvPicPr>
          <p:nvPr/>
        </p:nvPicPr>
        <p:blipFill>
          <a:blip r:embed="rId3"/>
          <a:stretch>
            <a:fillRect/>
          </a:stretch>
        </p:blipFill>
        <p:spPr>
          <a:xfrm>
            <a:off x="4962617" y="4779733"/>
            <a:ext cx="4708690" cy="820161"/>
          </a:xfrm>
          <a:prstGeom prst="rect">
            <a:avLst/>
          </a:prstGeom>
        </p:spPr>
      </p:pic>
    </p:spTree>
    <p:extLst>
      <p:ext uri="{BB962C8B-B14F-4D97-AF65-F5344CB8AC3E}">
        <p14:creationId xmlns:p14="http://schemas.microsoft.com/office/powerpoint/2010/main" val="4134629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4B9F15-9F28-4F32-B773-703933D1027B}"/>
              </a:ext>
            </a:extLst>
          </p:cNvPr>
          <p:cNvSpPr>
            <a:spLocks noGrp="1"/>
          </p:cNvSpPr>
          <p:nvPr>
            <p:ph type="title"/>
          </p:nvPr>
        </p:nvSpPr>
        <p:spPr/>
        <p:txBody>
          <a:bodyPr/>
          <a:lstStyle/>
          <a:p>
            <a:r>
              <a:rPr lang="ru-RU" dirty="0"/>
              <a:t>Коды ответов</a:t>
            </a:r>
          </a:p>
        </p:txBody>
      </p:sp>
      <p:sp>
        <p:nvSpPr>
          <p:cNvPr id="3" name="Объект 2">
            <a:extLst>
              <a:ext uri="{FF2B5EF4-FFF2-40B4-BE49-F238E27FC236}">
                <a16:creationId xmlns:a16="http://schemas.microsoft.com/office/drawing/2014/main" id="{6C3FCE52-9F07-49F2-A256-48C53FE64209}"/>
              </a:ext>
            </a:extLst>
          </p:cNvPr>
          <p:cNvSpPr>
            <a:spLocks noGrp="1"/>
          </p:cNvSpPr>
          <p:nvPr>
            <p:ph idx="1"/>
          </p:nvPr>
        </p:nvSpPr>
        <p:spPr/>
        <p:txBody>
          <a:bodyPr/>
          <a:lstStyle/>
          <a:p>
            <a:pPr marL="0" indent="0" algn="l">
              <a:buNone/>
            </a:pPr>
            <a:r>
              <a:rPr lang="ru-RU" b="0" i="0" dirty="0">
                <a:solidFill>
                  <a:srgbClr val="0F1111"/>
                </a:solidFill>
                <a:effectLst/>
                <a:latin typeface="Inter"/>
              </a:rPr>
              <a:t>Ответы от сервера содержат коды состояния для оповещения клиента об успехе операции. Как разработчику вам не нужно знать каждый код состояния (их много), но вы должны знать самые распространённые и то, как они используются.</a:t>
            </a:r>
          </a:p>
          <a:p>
            <a:pPr marL="0" indent="0" algn="l">
              <a:buNone/>
            </a:pPr>
            <a:r>
              <a:rPr lang="ru-RU" b="0" i="0" dirty="0">
                <a:solidFill>
                  <a:srgbClr val="0F1111"/>
                </a:solidFill>
                <a:effectLst/>
                <a:latin typeface="Inter"/>
              </a:rPr>
              <a:t>Для каждого метода НТТР ожидаются коды статуса, которые сервер должен вернуть в случае успеха:</a:t>
            </a:r>
          </a:p>
          <a:p>
            <a:pPr algn="l">
              <a:buFont typeface="Arial" panose="020B0604020202020204" pitchFamily="34" charset="0"/>
              <a:buChar char="•"/>
            </a:pPr>
            <a:r>
              <a:rPr lang="ru-RU" b="0" i="0" dirty="0">
                <a:solidFill>
                  <a:srgbClr val="0F1111"/>
                </a:solidFill>
                <a:effectLst/>
                <a:latin typeface="Inter"/>
              </a:rPr>
              <a:t>GET — </a:t>
            </a:r>
            <a:r>
              <a:rPr lang="ru-RU" b="0" i="0" dirty="0" err="1">
                <a:solidFill>
                  <a:srgbClr val="0F1111"/>
                </a:solidFill>
                <a:effectLst/>
                <a:latin typeface="Inter"/>
              </a:rPr>
              <a:t>return</a:t>
            </a:r>
            <a:r>
              <a:rPr lang="ru-RU" b="0" i="0" dirty="0">
                <a:solidFill>
                  <a:srgbClr val="0F1111"/>
                </a:solidFill>
                <a:effectLst/>
                <a:latin typeface="Inter"/>
              </a:rPr>
              <a:t> 200 (OK)</a:t>
            </a:r>
          </a:p>
          <a:p>
            <a:pPr algn="l">
              <a:buFont typeface="Arial" panose="020B0604020202020204" pitchFamily="34" charset="0"/>
              <a:buChar char="•"/>
            </a:pPr>
            <a:r>
              <a:rPr lang="ru-RU" b="0" i="0" dirty="0">
                <a:solidFill>
                  <a:srgbClr val="0F1111"/>
                </a:solidFill>
                <a:effectLst/>
                <a:latin typeface="Inter"/>
              </a:rPr>
              <a:t>POST — </a:t>
            </a:r>
            <a:r>
              <a:rPr lang="ru-RU" b="0" i="0" dirty="0" err="1">
                <a:solidFill>
                  <a:srgbClr val="0F1111"/>
                </a:solidFill>
                <a:effectLst/>
                <a:latin typeface="Inter"/>
              </a:rPr>
              <a:t>return</a:t>
            </a:r>
            <a:r>
              <a:rPr lang="ru-RU" b="0" i="0" dirty="0">
                <a:solidFill>
                  <a:srgbClr val="0F1111"/>
                </a:solidFill>
                <a:effectLst/>
                <a:latin typeface="Inter"/>
              </a:rPr>
              <a:t> 201 (CREATED)</a:t>
            </a:r>
          </a:p>
          <a:p>
            <a:pPr algn="l">
              <a:buFont typeface="Arial" panose="020B0604020202020204" pitchFamily="34" charset="0"/>
              <a:buChar char="•"/>
            </a:pPr>
            <a:r>
              <a:rPr lang="ru-RU" b="0" i="0" dirty="0">
                <a:solidFill>
                  <a:srgbClr val="0F1111"/>
                </a:solidFill>
                <a:effectLst/>
                <a:latin typeface="Inter"/>
              </a:rPr>
              <a:t>PUT — </a:t>
            </a:r>
            <a:r>
              <a:rPr lang="ru-RU" b="0" i="0" dirty="0" err="1">
                <a:solidFill>
                  <a:srgbClr val="0F1111"/>
                </a:solidFill>
                <a:effectLst/>
                <a:latin typeface="Inter"/>
              </a:rPr>
              <a:t>return</a:t>
            </a:r>
            <a:r>
              <a:rPr lang="ru-RU" b="0" i="0" dirty="0">
                <a:solidFill>
                  <a:srgbClr val="0F1111"/>
                </a:solidFill>
                <a:effectLst/>
                <a:latin typeface="Inter"/>
              </a:rPr>
              <a:t> 200 (OK)</a:t>
            </a:r>
          </a:p>
          <a:p>
            <a:pPr algn="l">
              <a:buFont typeface="Arial" panose="020B0604020202020204" pitchFamily="34" charset="0"/>
              <a:buChar char="•"/>
            </a:pPr>
            <a:r>
              <a:rPr lang="ru-RU" b="0" i="0" dirty="0">
                <a:solidFill>
                  <a:srgbClr val="0F1111"/>
                </a:solidFill>
                <a:effectLst/>
                <a:latin typeface="Inter"/>
              </a:rPr>
              <a:t>DELETE — </a:t>
            </a:r>
            <a:r>
              <a:rPr lang="ru-RU" b="0" i="0" dirty="0" err="1">
                <a:solidFill>
                  <a:srgbClr val="0F1111"/>
                </a:solidFill>
                <a:effectLst/>
                <a:latin typeface="Inter"/>
              </a:rPr>
              <a:t>return</a:t>
            </a:r>
            <a:r>
              <a:rPr lang="ru-RU" b="0" i="0" dirty="0">
                <a:solidFill>
                  <a:srgbClr val="0F1111"/>
                </a:solidFill>
                <a:effectLst/>
                <a:latin typeface="Inter"/>
              </a:rPr>
              <a:t> 204 (NO CONTENT)</a:t>
            </a:r>
          </a:p>
          <a:p>
            <a:endParaRPr lang="ru-RU" dirty="0"/>
          </a:p>
        </p:txBody>
      </p:sp>
    </p:spTree>
    <p:extLst>
      <p:ext uri="{BB962C8B-B14F-4D97-AF65-F5344CB8AC3E}">
        <p14:creationId xmlns:p14="http://schemas.microsoft.com/office/powerpoint/2010/main" val="1414488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EBB9AF-B895-50E0-6FBE-F3F305BB66E4}"/>
              </a:ext>
            </a:extLst>
          </p:cNvPr>
          <p:cNvSpPr>
            <a:spLocks noGrp="1"/>
          </p:cNvSpPr>
          <p:nvPr>
            <p:ph type="title"/>
          </p:nvPr>
        </p:nvSpPr>
        <p:spPr/>
        <p:txBody>
          <a:bodyPr/>
          <a:lstStyle/>
          <a:p>
            <a:r>
              <a:rPr lang="ru-RU" dirty="0">
                <a:ea typeface="Calibri Light"/>
                <a:cs typeface="Calibri Light"/>
              </a:rPr>
              <a:t>ORDS</a:t>
            </a:r>
            <a:endParaRPr lang="ru-RU" dirty="0"/>
          </a:p>
        </p:txBody>
      </p:sp>
      <p:sp>
        <p:nvSpPr>
          <p:cNvPr id="3" name="Объект 2">
            <a:extLst>
              <a:ext uri="{FF2B5EF4-FFF2-40B4-BE49-F238E27FC236}">
                <a16:creationId xmlns:a16="http://schemas.microsoft.com/office/drawing/2014/main" id="{445D81A6-658C-70FB-8106-BC3DA4B5F4F0}"/>
              </a:ext>
            </a:extLst>
          </p:cNvPr>
          <p:cNvSpPr>
            <a:spLocks noGrp="1"/>
          </p:cNvSpPr>
          <p:nvPr>
            <p:ph idx="1"/>
          </p:nvPr>
        </p:nvSpPr>
        <p:spPr/>
        <p:txBody>
          <a:bodyPr/>
          <a:lstStyle/>
          <a:p>
            <a:r>
              <a:rPr lang="ru-RU" dirty="0">
                <a:latin typeface="Times New Roman"/>
                <a:cs typeface="Times New Roman"/>
              </a:rPr>
              <a:t>ORDS или Oracle </a:t>
            </a:r>
            <a:r>
              <a:rPr lang="ru-RU" dirty="0" err="1">
                <a:latin typeface="Times New Roman"/>
                <a:cs typeface="Times New Roman"/>
              </a:rPr>
              <a:t>Rest</a:t>
            </a:r>
            <a:r>
              <a:rPr lang="ru-RU" dirty="0">
                <a:latin typeface="Times New Roman"/>
                <a:cs typeface="Times New Roman"/>
              </a:rPr>
              <a:t> Data Service — это Java-приложение, которое позволяет создавать </a:t>
            </a:r>
            <a:r>
              <a:rPr lang="ru-RU" dirty="0" err="1">
                <a:latin typeface="Times New Roman"/>
                <a:cs typeface="Times New Roman"/>
              </a:rPr>
              <a:t>RESTful</a:t>
            </a:r>
            <a:r>
              <a:rPr lang="ru-RU" dirty="0">
                <a:latin typeface="Times New Roman"/>
                <a:cs typeface="Times New Roman"/>
              </a:rPr>
              <a:t> API для базы данных Oracle, используя SQL и PL/SQL. Является альтернативой использованию Oracle HTTP Server и </a:t>
            </a:r>
            <a:r>
              <a:rPr lang="ru-RU" dirty="0" err="1">
                <a:latin typeface="Times New Roman"/>
                <a:cs typeface="Times New Roman"/>
              </a:rPr>
              <a:t>mod_plsql</a:t>
            </a:r>
            <a:r>
              <a:rPr lang="ru-RU" dirty="0">
                <a:latin typeface="Times New Roman"/>
                <a:cs typeface="Times New Roman"/>
              </a:rPr>
              <a:t>. По сути ORDS — это HTTP-интерфейс между внешним миром и БД Oracle. Этот интерфейс позволяет замкнуть входящие HTTP-запросы на какой-либо объект базы данных — таблицу или PL/SQL-процедуру.</a:t>
            </a:r>
          </a:p>
        </p:txBody>
      </p:sp>
    </p:spTree>
    <p:extLst>
      <p:ext uri="{BB962C8B-B14F-4D97-AF65-F5344CB8AC3E}">
        <p14:creationId xmlns:p14="http://schemas.microsoft.com/office/powerpoint/2010/main" val="3444034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F56324-2125-0F13-D992-3A38B824114B}"/>
              </a:ext>
            </a:extLst>
          </p:cNvPr>
          <p:cNvSpPr>
            <a:spLocks noGrp="1"/>
          </p:cNvSpPr>
          <p:nvPr>
            <p:ph type="title"/>
          </p:nvPr>
        </p:nvSpPr>
        <p:spPr/>
        <p:txBody>
          <a:bodyPr/>
          <a:lstStyle/>
          <a:p>
            <a:endParaRPr lang="ru-RU"/>
          </a:p>
        </p:txBody>
      </p:sp>
      <p:pic>
        <p:nvPicPr>
          <p:cNvPr id="7" name="Рисунок 7">
            <a:extLst>
              <a:ext uri="{FF2B5EF4-FFF2-40B4-BE49-F238E27FC236}">
                <a16:creationId xmlns:a16="http://schemas.microsoft.com/office/drawing/2014/main" id="{0FF962D6-477D-8145-4469-594116020E8B}"/>
              </a:ext>
            </a:extLst>
          </p:cNvPr>
          <p:cNvPicPr>
            <a:picLocks noGrp="1" noChangeAspect="1"/>
          </p:cNvPicPr>
          <p:nvPr>
            <p:ph idx="1"/>
          </p:nvPr>
        </p:nvPicPr>
        <p:blipFill>
          <a:blip r:embed="rId2"/>
          <a:stretch>
            <a:fillRect/>
          </a:stretch>
        </p:blipFill>
        <p:spPr>
          <a:xfrm>
            <a:off x="3652" y="42775"/>
            <a:ext cx="12701461" cy="7145224"/>
          </a:xfrm>
        </p:spPr>
      </p:pic>
      <p:sp>
        <p:nvSpPr>
          <p:cNvPr id="8" name="TextBox 7">
            <a:extLst>
              <a:ext uri="{FF2B5EF4-FFF2-40B4-BE49-F238E27FC236}">
                <a16:creationId xmlns:a16="http://schemas.microsoft.com/office/drawing/2014/main" id="{7B7E7C35-D414-37C7-41BA-C4C21B5FD9B7}"/>
              </a:ext>
            </a:extLst>
          </p:cNvPr>
          <p:cNvSpPr txBox="1"/>
          <p:nvPr/>
        </p:nvSpPr>
        <p:spPr>
          <a:xfrm>
            <a:off x="7250482" y="997907"/>
            <a:ext cx="293109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dirty="0"/>
              <a:t>После успешной установки ORDS, перед нами возникает приятный и интуитивно понятный интерфейс, в котором можно совершать различные действия с настоящей схемой из </a:t>
            </a:r>
            <a:r>
              <a:rPr lang="ru-RU" dirty="0" err="1"/>
              <a:t>oracle</a:t>
            </a:r>
            <a:r>
              <a:rPr lang="ru-RU" dirty="0"/>
              <a:t> </a:t>
            </a:r>
            <a:r>
              <a:rPr lang="ru-RU" dirty="0" err="1"/>
              <a:t>sql</a:t>
            </a:r>
            <a:r>
              <a:rPr lang="ru-RU" dirty="0"/>
              <a:t> </a:t>
            </a:r>
            <a:r>
              <a:rPr lang="ru-RU" dirty="0" err="1"/>
              <a:t>developer</a:t>
            </a:r>
            <a:r>
              <a:rPr lang="ru-RU" dirty="0"/>
              <a:t>  </a:t>
            </a:r>
          </a:p>
          <a:p>
            <a:endParaRPr lang="ru-RU"/>
          </a:p>
          <a:p>
            <a:r>
              <a:rPr lang="ru-RU" dirty="0"/>
              <a:t>создавать модули с методами </a:t>
            </a:r>
          </a:p>
          <a:p>
            <a:r>
              <a:rPr lang="ru-RU" dirty="0"/>
              <a:t>GET,POST,DELETE,PUT</a:t>
            </a:r>
          </a:p>
          <a:p>
            <a:endParaRPr lang="ru-RU" dirty="0"/>
          </a:p>
          <a:p>
            <a:r>
              <a:rPr lang="ru-RU" dirty="0"/>
              <a:t>Составлять схемы БД</a:t>
            </a:r>
          </a:p>
          <a:p>
            <a:endParaRPr lang="ru-RU" dirty="0"/>
          </a:p>
          <a:p>
            <a:r>
              <a:rPr lang="ru-RU" dirty="0"/>
              <a:t>Выполнять запросы SQL</a:t>
            </a:r>
          </a:p>
          <a:p>
            <a:endParaRPr lang="ru-RU" dirty="0"/>
          </a:p>
          <a:p>
            <a:r>
              <a:rPr lang="ru-RU" dirty="0"/>
              <a:t>Составлять диаграммы на основе вашей </a:t>
            </a:r>
            <a:r>
              <a:rPr lang="ru-RU" dirty="0" err="1"/>
              <a:t>бд</a:t>
            </a:r>
          </a:p>
        </p:txBody>
      </p:sp>
    </p:spTree>
    <p:extLst>
      <p:ext uri="{BB962C8B-B14F-4D97-AF65-F5344CB8AC3E}">
        <p14:creationId xmlns:p14="http://schemas.microsoft.com/office/powerpoint/2010/main" val="353445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39">
            <a:extLst>
              <a:ext uri="{FF2B5EF4-FFF2-40B4-BE49-F238E27FC236}">
                <a16:creationId xmlns:a16="http://schemas.microsoft.com/office/drawing/2014/main" id="{828D1E49-2A21-4A83-A0E0-FB1597B4B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41">
            <a:extLst>
              <a:ext uri="{FF2B5EF4-FFF2-40B4-BE49-F238E27FC236}">
                <a16:creationId xmlns:a16="http://schemas.microsoft.com/office/drawing/2014/main" id="{088B852E-5494-418B-A833-75CF016A9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DF31E3C1-1A46-4329-9F80-B576692FEE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Freeform 6">
              <a:extLst>
                <a:ext uri="{FF2B5EF4-FFF2-40B4-BE49-F238E27FC236}">
                  <a16:creationId xmlns:a16="http://schemas.microsoft.com/office/drawing/2014/main" id="{294B4592-99CA-47B1-816F-CE2D44F65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7">
              <a:extLst>
                <a:ext uri="{FF2B5EF4-FFF2-40B4-BE49-F238E27FC236}">
                  <a16:creationId xmlns:a16="http://schemas.microsoft.com/office/drawing/2014/main" id="{BF690E4C-72F8-4AC5-AF99-562763CC67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Freeform 8">
              <a:extLst>
                <a:ext uri="{FF2B5EF4-FFF2-40B4-BE49-F238E27FC236}">
                  <a16:creationId xmlns:a16="http://schemas.microsoft.com/office/drawing/2014/main" id="{F834CDD4-CAB8-4ACC-9AAC-5399C743DE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9">
              <a:extLst>
                <a:ext uri="{FF2B5EF4-FFF2-40B4-BE49-F238E27FC236}">
                  <a16:creationId xmlns:a16="http://schemas.microsoft.com/office/drawing/2014/main" id="{1AEB045A-6821-475B-A28E-047437ABEF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10">
              <a:extLst>
                <a:ext uri="{FF2B5EF4-FFF2-40B4-BE49-F238E27FC236}">
                  <a16:creationId xmlns:a16="http://schemas.microsoft.com/office/drawing/2014/main" id="{D9B790C0-3D34-4626-BAFB-6EB473F40C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11">
              <a:extLst>
                <a:ext uri="{FF2B5EF4-FFF2-40B4-BE49-F238E27FC236}">
                  <a16:creationId xmlns:a16="http://schemas.microsoft.com/office/drawing/2014/main" id="{EDA4D87F-91A4-4628-9A6E-F01820A7EE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12">
              <a:extLst>
                <a:ext uri="{FF2B5EF4-FFF2-40B4-BE49-F238E27FC236}">
                  <a16:creationId xmlns:a16="http://schemas.microsoft.com/office/drawing/2014/main" id="{045DAB88-124C-459C-A889-DAE9C9BE285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13">
              <a:extLst>
                <a:ext uri="{FF2B5EF4-FFF2-40B4-BE49-F238E27FC236}">
                  <a16:creationId xmlns:a16="http://schemas.microsoft.com/office/drawing/2014/main" id="{85D44010-1DAA-4CAC-B83F-7E3E8C455D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14">
              <a:extLst>
                <a:ext uri="{FF2B5EF4-FFF2-40B4-BE49-F238E27FC236}">
                  <a16:creationId xmlns:a16="http://schemas.microsoft.com/office/drawing/2014/main" id="{E8C01D66-5C93-4A2E-AA74-DE97574EA4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15">
              <a:extLst>
                <a:ext uri="{FF2B5EF4-FFF2-40B4-BE49-F238E27FC236}">
                  <a16:creationId xmlns:a16="http://schemas.microsoft.com/office/drawing/2014/main" id="{E2E1A6E1-6C4A-47D3-81E2-9F8624F1BB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3E849CB5-4526-49DC-B77B-A20FDB7FFD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17">
              <a:extLst>
                <a:ext uri="{FF2B5EF4-FFF2-40B4-BE49-F238E27FC236}">
                  <a16:creationId xmlns:a16="http://schemas.microsoft.com/office/drawing/2014/main" id="{5A18C8A4-FB2A-44C1-93D3-26C6DDFE0C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Freeform 18">
              <a:extLst>
                <a:ext uri="{FF2B5EF4-FFF2-40B4-BE49-F238E27FC236}">
                  <a16:creationId xmlns:a16="http://schemas.microsoft.com/office/drawing/2014/main" id="{85D014FD-8C5A-4071-B19E-4910AAB618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19">
              <a:extLst>
                <a:ext uri="{FF2B5EF4-FFF2-40B4-BE49-F238E27FC236}">
                  <a16:creationId xmlns:a16="http://schemas.microsoft.com/office/drawing/2014/main" id="{A37D7262-3596-4026-9AD4-E94332E526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20">
              <a:extLst>
                <a:ext uri="{FF2B5EF4-FFF2-40B4-BE49-F238E27FC236}">
                  <a16:creationId xmlns:a16="http://schemas.microsoft.com/office/drawing/2014/main" id="{187E37E0-AAC3-4B33-AF36-334ACCBD33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21">
              <a:extLst>
                <a:ext uri="{FF2B5EF4-FFF2-40B4-BE49-F238E27FC236}">
                  <a16:creationId xmlns:a16="http://schemas.microsoft.com/office/drawing/2014/main" id="{409758BB-8A0E-4BEB-BC0C-F410AD98C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22">
              <a:extLst>
                <a:ext uri="{FF2B5EF4-FFF2-40B4-BE49-F238E27FC236}">
                  <a16:creationId xmlns:a16="http://schemas.microsoft.com/office/drawing/2014/main" id="{97C4EFE2-9D25-4978-BD9A-873B492702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23">
              <a:extLst>
                <a:ext uri="{FF2B5EF4-FFF2-40B4-BE49-F238E27FC236}">
                  <a16:creationId xmlns:a16="http://schemas.microsoft.com/office/drawing/2014/main" id="{9CCAF82A-A0E0-4B55-A97B-EFFAE79AF7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24">
              <a:extLst>
                <a:ext uri="{FF2B5EF4-FFF2-40B4-BE49-F238E27FC236}">
                  <a16:creationId xmlns:a16="http://schemas.microsoft.com/office/drawing/2014/main" id="{4F800DD8-3954-4F73-8807-16F1CFAC1E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25">
              <a:extLst>
                <a:ext uri="{FF2B5EF4-FFF2-40B4-BE49-F238E27FC236}">
                  <a16:creationId xmlns:a16="http://schemas.microsoft.com/office/drawing/2014/main" id="{84E1C91A-4B06-4852-918C-6380FA986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Заголовок 1">
            <a:extLst>
              <a:ext uri="{FF2B5EF4-FFF2-40B4-BE49-F238E27FC236}">
                <a16:creationId xmlns:a16="http://schemas.microsoft.com/office/drawing/2014/main" id="{2532C5BE-0985-4A9D-A0AF-37C577D7CBC5}"/>
              </a:ext>
            </a:extLst>
          </p:cNvPr>
          <p:cNvSpPr>
            <a:spLocks noGrp="1"/>
          </p:cNvSpPr>
          <p:nvPr>
            <p:ph type="title"/>
          </p:nvPr>
        </p:nvSpPr>
        <p:spPr>
          <a:xfrm>
            <a:off x="904877" y="795527"/>
            <a:ext cx="10488547" cy="1190912"/>
          </a:xfrm>
        </p:spPr>
        <p:txBody>
          <a:bodyPr vert="horz" lIns="228600" tIns="228600" rIns="228600" bIns="228600" rtlCol="0" anchor="ctr">
            <a:normAutofit/>
          </a:bodyPr>
          <a:lstStyle/>
          <a:p>
            <a:r>
              <a:rPr lang="en-US" dirty="0">
                <a:solidFill>
                  <a:schemeClr val="tx2"/>
                </a:solidFill>
                <a:ea typeface="Calibri Light"/>
                <a:cs typeface="Calibri Light"/>
              </a:rPr>
              <a:t>REST </a:t>
            </a:r>
            <a:r>
              <a:rPr lang="en-US" dirty="0" err="1">
                <a:solidFill>
                  <a:schemeClr val="tx2"/>
                </a:solidFill>
                <a:ea typeface="Calibri Light"/>
                <a:cs typeface="Calibri Light"/>
              </a:rPr>
              <a:t>Модули</a:t>
            </a:r>
            <a:endParaRPr lang="en-US" dirty="0" err="1">
              <a:solidFill>
                <a:schemeClr val="tx2"/>
              </a:solidFill>
            </a:endParaRPr>
          </a:p>
        </p:txBody>
      </p:sp>
      <p:sp>
        <p:nvSpPr>
          <p:cNvPr id="65" name="Rectangle 64">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030" y="2250281"/>
            <a:ext cx="4959318" cy="3678237"/>
          </a:xfrm>
          <a:prstGeom prst="rect">
            <a:avLst/>
          </a:prstGeom>
          <a:solidFill>
            <a:schemeClr val="bg1"/>
          </a:solidFill>
          <a:ln w="19050">
            <a:solidFill>
              <a:srgbClr val="2D38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Рисунок 4" descr="Изображение выглядит как текст&#10;&#10;Автоматически созданное описание">
            <a:extLst>
              <a:ext uri="{FF2B5EF4-FFF2-40B4-BE49-F238E27FC236}">
                <a16:creationId xmlns:a16="http://schemas.microsoft.com/office/drawing/2014/main" id="{128D44C2-8DB4-81D1-C965-A0273FC27F5F}"/>
              </a:ext>
            </a:extLst>
          </p:cNvPr>
          <p:cNvPicPr>
            <a:picLocks noGrp="1" noChangeAspect="1"/>
          </p:cNvPicPr>
          <p:nvPr>
            <p:ph idx="1"/>
          </p:nvPr>
        </p:nvPicPr>
        <p:blipFill>
          <a:blip r:embed="rId2"/>
          <a:stretch>
            <a:fillRect/>
          </a:stretch>
        </p:blipFill>
        <p:spPr>
          <a:xfrm>
            <a:off x="921801" y="2728535"/>
            <a:ext cx="4959318" cy="2789615"/>
          </a:xfrm>
          <a:prstGeom prst="rect">
            <a:avLst/>
          </a:prstGeom>
          <a:ln w="12700">
            <a:noFill/>
          </a:ln>
        </p:spPr>
      </p:pic>
      <p:sp>
        <p:nvSpPr>
          <p:cNvPr id="5" name="TextBox 4">
            <a:extLst>
              <a:ext uri="{FF2B5EF4-FFF2-40B4-BE49-F238E27FC236}">
                <a16:creationId xmlns:a16="http://schemas.microsoft.com/office/drawing/2014/main" id="{B8B54A78-9EC8-C364-5413-B870F1A137A1}"/>
              </a:ext>
            </a:extLst>
          </p:cNvPr>
          <p:cNvSpPr txBox="1"/>
          <p:nvPr/>
        </p:nvSpPr>
        <p:spPr>
          <a:xfrm>
            <a:off x="6380703" y="2228850"/>
            <a:ext cx="5028928" cy="369966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defTabSz="914400">
              <a:lnSpc>
                <a:spcPct val="120000"/>
              </a:lnSpc>
              <a:spcAft>
                <a:spcPts val="600"/>
              </a:spcAft>
              <a:buClr>
                <a:srgbClr val="2D38FF"/>
              </a:buClr>
              <a:buSzPct val="110000"/>
              <a:buFont typeface="Wingdings" panose="05000000000000000000" pitchFamily="2" charset="2"/>
              <a:buChar char="§"/>
            </a:pPr>
            <a:r>
              <a:rPr lang="en-US"/>
              <a:t>В этом разделе можно создавать обработчики с методами </a:t>
            </a:r>
          </a:p>
          <a:p>
            <a:pPr indent="-228600" defTabSz="914400">
              <a:lnSpc>
                <a:spcPct val="120000"/>
              </a:lnSpc>
              <a:spcAft>
                <a:spcPts val="600"/>
              </a:spcAft>
              <a:buClr>
                <a:srgbClr val="2D38FF"/>
              </a:buClr>
              <a:buSzPct val="110000"/>
              <a:buFont typeface="Wingdings" panose="05000000000000000000" pitchFamily="2" charset="2"/>
              <a:buChar char="§"/>
            </a:pPr>
            <a:r>
              <a:rPr lang="en-US"/>
              <a:t>GET</a:t>
            </a:r>
          </a:p>
          <a:p>
            <a:pPr indent="-228600" defTabSz="914400">
              <a:lnSpc>
                <a:spcPct val="120000"/>
              </a:lnSpc>
              <a:spcAft>
                <a:spcPts val="600"/>
              </a:spcAft>
              <a:buClr>
                <a:srgbClr val="2D38FF"/>
              </a:buClr>
              <a:buSzPct val="110000"/>
              <a:buFont typeface="Wingdings" panose="05000000000000000000" pitchFamily="2" charset="2"/>
              <a:buChar char="§"/>
            </a:pPr>
            <a:r>
              <a:rPr lang="en-US"/>
              <a:t>POST</a:t>
            </a:r>
          </a:p>
          <a:p>
            <a:pPr indent="-228600" defTabSz="914400">
              <a:lnSpc>
                <a:spcPct val="120000"/>
              </a:lnSpc>
              <a:spcAft>
                <a:spcPts val="600"/>
              </a:spcAft>
              <a:buClr>
                <a:srgbClr val="2D38FF"/>
              </a:buClr>
              <a:buSzPct val="110000"/>
              <a:buFont typeface="Wingdings" panose="05000000000000000000" pitchFamily="2" charset="2"/>
              <a:buChar char="§"/>
            </a:pPr>
            <a:r>
              <a:rPr lang="en-US"/>
              <a:t>PUT</a:t>
            </a:r>
          </a:p>
          <a:p>
            <a:pPr indent="-228600" defTabSz="914400">
              <a:lnSpc>
                <a:spcPct val="120000"/>
              </a:lnSpc>
              <a:spcAft>
                <a:spcPts val="600"/>
              </a:spcAft>
              <a:buClr>
                <a:srgbClr val="2D38FF"/>
              </a:buClr>
              <a:buSzPct val="110000"/>
              <a:buFont typeface="Wingdings" panose="05000000000000000000" pitchFamily="2" charset="2"/>
              <a:buChar char="§"/>
            </a:pPr>
            <a:r>
              <a:rPr lang="en-US"/>
              <a:t>DELETE</a:t>
            </a:r>
          </a:p>
          <a:p>
            <a:pPr indent="-228600" defTabSz="914400">
              <a:lnSpc>
                <a:spcPct val="120000"/>
              </a:lnSpc>
              <a:spcAft>
                <a:spcPts val="600"/>
              </a:spcAft>
              <a:buClr>
                <a:srgbClr val="2D38FF"/>
              </a:buClr>
              <a:buSzPct val="110000"/>
              <a:buFont typeface="Wingdings" panose="05000000000000000000" pitchFamily="2" charset="2"/>
              <a:buChar char="§"/>
            </a:pPr>
            <a:r>
              <a:rPr lang="en-US"/>
              <a:t>Запускать и свободно их редактировать</a:t>
            </a:r>
          </a:p>
          <a:p>
            <a:pPr indent="-228600" defTabSz="914400">
              <a:lnSpc>
                <a:spcPct val="120000"/>
              </a:lnSpc>
              <a:spcAft>
                <a:spcPts val="600"/>
              </a:spcAft>
              <a:buClr>
                <a:srgbClr val="2D38FF"/>
              </a:buClr>
              <a:buSzPct val="110000"/>
              <a:buFont typeface="Wingdings" panose="05000000000000000000" pitchFamily="2" charset="2"/>
              <a:buChar char="§"/>
            </a:pPr>
            <a:r>
              <a:rPr lang="en-US"/>
              <a:t>Разберем пример с методом PUT</a:t>
            </a:r>
          </a:p>
        </p:txBody>
      </p:sp>
    </p:spTree>
    <p:extLst>
      <p:ext uri="{BB962C8B-B14F-4D97-AF65-F5344CB8AC3E}">
        <p14:creationId xmlns:p14="http://schemas.microsoft.com/office/powerpoint/2010/main" val="978980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9"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2"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9"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0"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1"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7"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Заголовок 1">
            <a:extLst>
              <a:ext uri="{FF2B5EF4-FFF2-40B4-BE49-F238E27FC236}">
                <a16:creationId xmlns:a16="http://schemas.microsoft.com/office/drawing/2014/main" id="{76CFF9E2-8AA4-692E-A9C5-5AC663A272FF}"/>
              </a:ext>
            </a:extLst>
          </p:cNvPr>
          <p:cNvSpPr>
            <a:spLocks noGrp="1"/>
          </p:cNvSpPr>
          <p:nvPr>
            <p:ph type="title"/>
          </p:nvPr>
        </p:nvSpPr>
        <p:spPr>
          <a:xfrm>
            <a:off x="888630" y="4770570"/>
            <a:ext cx="5137458" cy="1767391"/>
          </a:xfrm>
        </p:spPr>
        <p:txBody>
          <a:bodyPr>
            <a:normAutofit/>
          </a:bodyPr>
          <a:lstStyle/>
          <a:p>
            <a:pPr algn="r"/>
            <a:r>
              <a:rPr lang="ru-RU" dirty="0">
                <a:solidFill>
                  <a:schemeClr val="tx1"/>
                </a:solidFill>
                <a:ea typeface="Calibri Light"/>
                <a:cs typeface="Calibri Light"/>
              </a:rPr>
              <a:t>Пример с методом GET</a:t>
            </a:r>
          </a:p>
        </p:txBody>
      </p:sp>
      <p:sp>
        <p:nvSpPr>
          <p:cNvPr id="69" name="Freeform: Shape 68">
            <a:extLst>
              <a:ext uri="{FF2B5EF4-FFF2-40B4-BE49-F238E27FC236}">
                <a16:creationId xmlns:a16="http://schemas.microsoft.com/office/drawing/2014/main" id="{44C110BA-81E8-4247-853A-5F2B93E9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4" name="Рисунок 4" descr="Изображение выглядит как текст&#10;&#10;Автоматически созданное описание">
            <a:extLst>
              <a:ext uri="{FF2B5EF4-FFF2-40B4-BE49-F238E27FC236}">
                <a16:creationId xmlns:a16="http://schemas.microsoft.com/office/drawing/2014/main" id="{3673FAAB-DDB3-9B69-46AE-E15A2E620F1D}"/>
              </a:ext>
            </a:extLst>
          </p:cNvPr>
          <p:cNvPicPr>
            <a:picLocks noChangeAspect="1"/>
          </p:cNvPicPr>
          <p:nvPr/>
        </p:nvPicPr>
        <p:blipFill rotWithShape="1">
          <a:blip r:embed="rId2"/>
          <a:srcRect r="-3" b="16204"/>
          <a:stretch/>
        </p:blipFill>
        <p:spPr>
          <a:xfrm>
            <a:off x="648910" y="1091119"/>
            <a:ext cx="5286224" cy="2491599"/>
          </a:xfrm>
          <a:prstGeom prst="rect">
            <a:avLst/>
          </a:prstGeom>
        </p:spPr>
      </p:pic>
      <p:pic>
        <p:nvPicPr>
          <p:cNvPr id="5" name="Рисунок 5" descr="Изображение выглядит как текст&#10;&#10;Автоматически созданное описание">
            <a:extLst>
              <a:ext uri="{FF2B5EF4-FFF2-40B4-BE49-F238E27FC236}">
                <a16:creationId xmlns:a16="http://schemas.microsoft.com/office/drawing/2014/main" id="{F9E95FB9-A44E-F91D-8FAE-14C6ADE973A0}"/>
              </a:ext>
            </a:extLst>
          </p:cNvPr>
          <p:cNvPicPr>
            <a:picLocks noChangeAspect="1"/>
          </p:cNvPicPr>
          <p:nvPr/>
        </p:nvPicPr>
        <p:blipFill>
          <a:blip r:embed="rId3"/>
          <a:stretch>
            <a:fillRect/>
          </a:stretch>
        </p:blipFill>
        <p:spPr>
          <a:xfrm>
            <a:off x="6256867" y="847739"/>
            <a:ext cx="5300659" cy="2981620"/>
          </a:xfrm>
          <a:prstGeom prst="rect">
            <a:avLst/>
          </a:prstGeom>
        </p:spPr>
      </p:pic>
      <p:sp>
        <p:nvSpPr>
          <p:cNvPr id="43" name="Content Placeholder 42">
            <a:extLst>
              <a:ext uri="{FF2B5EF4-FFF2-40B4-BE49-F238E27FC236}">
                <a16:creationId xmlns:a16="http://schemas.microsoft.com/office/drawing/2014/main" id="{7ACAE63F-2361-8F42-EDA8-78682B303CA1}"/>
              </a:ext>
            </a:extLst>
          </p:cNvPr>
          <p:cNvSpPr>
            <a:spLocks noGrp="1"/>
          </p:cNvSpPr>
          <p:nvPr>
            <p:ph idx="1"/>
          </p:nvPr>
        </p:nvSpPr>
        <p:spPr>
          <a:xfrm>
            <a:off x="6324600" y="4767660"/>
            <a:ext cx="5075720" cy="1770300"/>
          </a:xfrm>
        </p:spPr>
        <p:txBody>
          <a:bodyPr>
            <a:normAutofit fontScale="92500" lnSpcReduction="20000"/>
          </a:bodyPr>
          <a:lstStyle/>
          <a:p>
            <a:r>
              <a:rPr lang="ru-RU" dirty="0">
                <a:latin typeface="Times New Roman"/>
                <a:ea typeface="Calibri Light"/>
                <a:cs typeface="Times New Roman"/>
              </a:rPr>
              <a:t>Мы можем получить данные с таблицы в виде </a:t>
            </a:r>
            <a:r>
              <a:rPr lang="ru-RU" dirty="0" err="1">
                <a:latin typeface="Times New Roman"/>
                <a:ea typeface="Calibri Light"/>
                <a:cs typeface="Times New Roman"/>
              </a:rPr>
              <a:t>Json</a:t>
            </a:r>
            <a:r>
              <a:rPr lang="ru-RU" dirty="0">
                <a:latin typeface="Times New Roman"/>
                <a:ea typeface="Calibri Light"/>
                <a:cs typeface="Times New Roman"/>
              </a:rPr>
              <a:t>, чтобы использовать их в приложении, в этом нам помогает создание нового обработчика с методом GET и любым </a:t>
            </a:r>
            <a:r>
              <a:rPr lang="ru-RU" dirty="0" err="1">
                <a:latin typeface="Times New Roman"/>
                <a:ea typeface="Calibri Light"/>
                <a:cs typeface="Times New Roman"/>
              </a:rPr>
              <a:t>sql</a:t>
            </a:r>
            <a:r>
              <a:rPr lang="ru-RU" dirty="0">
                <a:latin typeface="Times New Roman"/>
                <a:ea typeface="Calibri Light"/>
                <a:cs typeface="Times New Roman"/>
              </a:rPr>
              <a:t> запросом который нам необходим(можно также вручную вводить данные для поиска)</a:t>
            </a:r>
            <a:r>
              <a:rPr lang="ru-RU" dirty="0">
                <a:latin typeface="Calibri Light"/>
                <a:ea typeface="Calibri Light"/>
                <a:cs typeface="Calibri Light"/>
              </a:rPr>
              <a:t> </a:t>
            </a:r>
            <a:endParaRPr lang="en-US" dirty="0"/>
          </a:p>
          <a:p>
            <a:endParaRPr lang="en-US" dirty="0"/>
          </a:p>
        </p:txBody>
      </p:sp>
      <p:pic>
        <p:nvPicPr>
          <p:cNvPr id="3" name="Рисунок 5" descr="Изображение выглядит как текст&#10;&#10;Автоматически созданное описание">
            <a:extLst>
              <a:ext uri="{FF2B5EF4-FFF2-40B4-BE49-F238E27FC236}">
                <a16:creationId xmlns:a16="http://schemas.microsoft.com/office/drawing/2014/main" id="{386994A4-D3DB-0049-1927-14F097534634}"/>
              </a:ext>
            </a:extLst>
          </p:cNvPr>
          <p:cNvPicPr>
            <a:picLocks noChangeAspect="1"/>
          </p:cNvPicPr>
          <p:nvPr/>
        </p:nvPicPr>
        <p:blipFill>
          <a:blip r:embed="rId4"/>
          <a:stretch>
            <a:fillRect/>
          </a:stretch>
        </p:blipFill>
        <p:spPr>
          <a:xfrm>
            <a:off x="643002" y="851640"/>
            <a:ext cx="5311036" cy="2993981"/>
          </a:xfrm>
          <a:prstGeom prst="rect">
            <a:avLst/>
          </a:prstGeom>
        </p:spPr>
      </p:pic>
      <p:pic>
        <p:nvPicPr>
          <p:cNvPr id="6" name="Рисунок 6" descr="Изображение выглядит как текст&#10;&#10;Автоматически созданное описание">
            <a:extLst>
              <a:ext uri="{FF2B5EF4-FFF2-40B4-BE49-F238E27FC236}">
                <a16:creationId xmlns:a16="http://schemas.microsoft.com/office/drawing/2014/main" id="{F98B577B-9CE4-BD3A-0511-32C888A9D6CE}"/>
              </a:ext>
            </a:extLst>
          </p:cNvPr>
          <p:cNvPicPr>
            <a:picLocks noChangeAspect="1"/>
          </p:cNvPicPr>
          <p:nvPr/>
        </p:nvPicPr>
        <p:blipFill>
          <a:blip r:embed="rId5"/>
          <a:stretch>
            <a:fillRect/>
          </a:stretch>
        </p:blipFill>
        <p:spPr>
          <a:xfrm>
            <a:off x="6258838" y="851639"/>
            <a:ext cx="5300597" cy="2993981"/>
          </a:xfrm>
          <a:prstGeom prst="rect">
            <a:avLst/>
          </a:prstGeom>
        </p:spPr>
      </p:pic>
    </p:spTree>
    <p:extLst>
      <p:ext uri="{BB962C8B-B14F-4D97-AF65-F5344CB8AC3E}">
        <p14:creationId xmlns:p14="http://schemas.microsoft.com/office/powerpoint/2010/main" val="3585936993"/>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9"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2"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9"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0"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1"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7"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Заголовок 1">
            <a:extLst>
              <a:ext uri="{FF2B5EF4-FFF2-40B4-BE49-F238E27FC236}">
                <a16:creationId xmlns:a16="http://schemas.microsoft.com/office/drawing/2014/main" id="{76CFF9E2-8AA4-692E-A9C5-5AC663A272FF}"/>
              </a:ext>
            </a:extLst>
          </p:cNvPr>
          <p:cNvSpPr>
            <a:spLocks noGrp="1"/>
          </p:cNvSpPr>
          <p:nvPr>
            <p:ph type="title"/>
          </p:nvPr>
        </p:nvSpPr>
        <p:spPr>
          <a:xfrm>
            <a:off x="690302" y="4770570"/>
            <a:ext cx="5335786" cy="1767391"/>
          </a:xfrm>
        </p:spPr>
        <p:txBody>
          <a:bodyPr>
            <a:normAutofit/>
          </a:bodyPr>
          <a:lstStyle/>
          <a:p>
            <a:pPr algn="r"/>
            <a:r>
              <a:rPr lang="ru-RU" dirty="0">
                <a:solidFill>
                  <a:schemeClr val="tx1"/>
                </a:solidFill>
                <a:ea typeface="Calibri Light"/>
                <a:cs typeface="Calibri Light"/>
              </a:rPr>
              <a:t>Пример с методом POST</a:t>
            </a:r>
          </a:p>
        </p:txBody>
      </p:sp>
      <p:sp>
        <p:nvSpPr>
          <p:cNvPr id="69" name="Freeform: Shape 68">
            <a:extLst>
              <a:ext uri="{FF2B5EF4-FFF2-40B4-BE49-F238E27FC236}">
                <a16:creationId xmlns:a16="http://schemas.microsoft.com/office/drawing/2014/main" id="{44C110BA-81E8-4247-853A-5F2B93E9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4" name="Рисунок 4" descr="Изображение выглядит как текст&#10;&#10;Автоматически созданное описание">
            <a:extLst>
              <a:ext uri="{FF2B5EF4-FFF2-40B4-BE49-F238E27FC236}">
                <a16:creationId xmlns:a16="http://schemas.microsoft.com/office/drawing/2014/main" id="{3673FAAB-DDB3-9B69-46AE-E15A2E620F1D}"/>
              </a:ext>
            </a:extLst>
          </p:cNvPr>
          <p:cNvPicPr>
            <a:picLocks noChangeAspect="1"/>
          </p:cNvPicPr>
          <p:nvPr/>
        </p:nvPicPr>
        <p:blipFill rotWithShape="1">
          <a:blip r:embed="rId2"/>
          <a:srcRect r="-3" b="16204"/>
          <a:stretch/>
        </p:blipFill>
        <p:spPr>
          <a:xfrm>
            <a:off x="648910" y="1091119"/>
            <a:ext cx="5286224" cy="2491599"/>
          </a:xfrm>
          <a:prstGeom prst="rect">
            <a:avLst/>
          </a:prstGeom>
        </p:spPr>
      </p:pic>
      <p:pic>
        <p:nvPicPr>
          <p:cNvPr id="5" name="Рисунок 5" descr="Изображение выглядит как текст&#10;&#10;Автоматически созданное описание">
            <a:extLst>
              <a:ext uri="{FF2B5EF4-FFF2-40B4-BE49-F238E27FC236}">
                <a16:creationId xmlns:a16="http://schemas.microsoft.com/office/drawing/2014/main" id="{F9E95FB9-A44E-F91D-8FAE-14C6ADE973A0}"/>
              </a:ext>
            </a:extLst>
          </p:cNvPr>
          <p:cNvPicPr>
            <a:picLocks noChangeAspect="1"/>
          </p:cNvPicPr>
          <p:nvPr/>
        </p:nvPicPr>
        <p:blipFill>
          <a:blip r:embed="rId3"/>
          <a:stretch>
            <a:fillRect/>
          </a:stretch>
        </p:blipFill>
        <p:spPr>
          <a:xfrm>
            <a:off x="6256867" y="847739"/>
            <a:ext cx="5300659" cy="2981620"/>
          </a:xfrm>
          <a:prstGeom prst="rect">
            <a:avLst/>
          </a:prstGeom>
        </p:spPr>
      </p:pic>
      <p:sp>
        <p:nvSpPr>
          <p:cNvPr id="43" name="Content Placeholder 42">
            <a:extLst>
              <a:ext uri="{FF2B5EF4-FFF2-40B4-BE49-F238E27FC236}">
                <a16:creationId xmlns:a16="http://schemas.microsoft.com/office/drawing/2014/main" id="{7ACAE63F-2361-8F42-EDA8-78682B303CA1}"/>
              </a:ext>
            </a:extLst>
          </p:cNvPr>
          <p:cNvSpPr>
            <a:spLocks noGrp="1"/>
          </p:cNvSpPr>
          <p:nvPr>
            <p:ph idx="1"/>
          </p:nvPr>
        </p:nvSpPr>
        <p:spPr>
          <a:xfrm>
            <a:off x="6324600" y="4767660"/>
            <a:ext cx="5075720" cy="1770300"/>
          </a:xfrm>
        </p:spPr>
        <p:txBody>
          <a:bodyPr>
            <a:normAutofit/>
          </a:bodyPr>
          <a:lstStyle/>
          <a:p>
            <a:r>
              <a:rPr lang="ru-RU" dirty="0">
                <a:latin typeface="Times New Roman"/>
                <a:cs typeface="Times New Roman"/>
              </a:rPr>
              <a:t>С помощью этого метода мы можем добавлять в </a:t>
            </a:r>
            <a:r>
              <a:rPr lang="ru-RU" dirty="0" err="1">
                <a:latin typeface="Times New Roman"/>
                <a:cs typeface="Times New Roman"/>
              </a:rPr>
              <a:t>бд</a:t>
            </a:r>
            <a:r>
              <a:rPr lang="ru-RU" dirty="0">
                <a:latin typeface="Times New Roman"/>
                <a:cs typeface="Times New Roman"/>
              </a:rPr>
              <a:t> данные с помощью  ручного ввода </a:t>
            </a:r>
            <a:endParaRPr lang="ru-RU" dirty="0"/>
          </a:p>
          <a:p>
            <a:endParaRPr lang="en-US" dirty="0"/>
          </a:p>
        </p:txBody>
      </p:sp>
      <p:pic>
        <p:nvPicPr>
          <p:cNvPr id="3" name="Рисунок 5" descr="Изображение выглядит как текст&#10;&#10;Автоматически созданное описание">
            <a:extLst>
              <a:ext uri="{FF2B5EF4-FFF2-40B4-BE49-F238E27FC236}">
                <a16:creationId xmlns:a16="http://schemas.microsoft.com/office/drawing/2014/main" id="{386994A4-D3DB-0049-1927-14F097534634}"/>
              </a:ext>
            </a:extLst>
          </p:cNvPr>
          <p:cNvPicPr>
            <a:picLocks noChangeAspect="1"/>
          </p:cNvPicPr>
          <p:nvPr/>
        </p:nvPicPr>
        <p:blipFill>
          <a:blip r:embed="rId4"/>
          <a:stretch>
            <a:fillRect/>
          </a:stretch>
        </p:blipFill>
        <p:spPr>
          <a:xfrm>
            <a:off x="643002" y="851640"/>
            <a:ext cx="5311036" cy="2993981"/>
          </a:xfrm>
          <a:prstGeom prst="rect">
            <a:avLst/>
          </a:prstGeom>
        </p:spPr>
      </p:pic>
      <p:pic>
        <p:nvPicPr>
          <p:cNvPr id="6" name="Рисунок 6" descr="Изображение выглядит как текст&#10;&#10;Автоматически созданное описание">
            <a:extLst>
              <a:ext uri="{FF2B5EF4-FFF2-40B4-BE49-F238E27FC236}">
                <a16:creationId xmlns:a16="http://schemas.microsoft.com/office/drawing/2014/main" id="{F98B577B-9CE4-BD3A-0511-32C888A9D6CE}"/>
              </a:ext>
            </a:extLst>
          </p:cNvPr>
          <p:cNvPicPr>
            <a:picLocks noChangeAspect="1"/>
          </p:cNvPicPr>
          <p:nvPr/>
        </p:nvPicPr>
        <p:blipFill>
          <a:blip r:embed="rId5"/>
          <a:stretch>
            <a:fillRect/>
          </a:stretch>
        </p:blipFill>
        <p:spPr>
          <a:xfrm>
            <a:off x="6258838" y="851639"/>
            <a:ext cx="5300597" cy="2993981"/>
          </a:xfrm>
          <a:prstGeom prst="rect">
            <a:avLst/>
          </a:prstGeom>
        </p:spPr>
      </p:pic>
      <p:pic>
        <p:nvPicPr>
          <p:cNvPr id="8" name="Рисунок 8" descr="Изображение выглядит как текст&#10;&#10;Автоматически созданное описание">
            <a:extLst>
              <a:ext uri="{FF2B5EF4-FFF2-40B4-BE49-F238E27FC236}">
                <a16:creationId xmlns:a16="http://schemas.microsoft.com/office/drawing/2014/main" id="{88E90B35-61A9-74AF-5F5C-857B3B6BAC17}"/>
              </a:ext>
            </a:extLst>
          </p:cNvPr>
          <p:cNvPicPr>
            <a:picLocks noChangeAspect="1"/>
          </p:cNvPicPr>
          <p:nvPr/>
        </p:nvPicPr>
        <p:blipFill>
          <a:blip r:embed="rId6"/>
          <a:stretch>
            <a:fillRect/>
          </a:stretch>
        </p:blipFill>
        <p:spPr>
          <a:xfrm>
            <a:off x="643003" y="851639"/>
            <a:ext cx="5352789" cy="2993981"/>
          </a:xfrm>
          <a:prstGeom prst="rect">
            <a:avLst/>
          </a:prstGeom>
        </p:spPr>
      </p:pic>
      <p:pic>
        <p:nvPicPr>
          <p:cNvPr id="9" name="Рисунок 9">
            <a:extLst>
              <a:ext uri="{FF2B5EF4-FFF2-40B4-BE49-F238E27FC236}">
                <a16:creationId xmlns:a16="http://schemas.microsoft.com/office/drawing/2014/main" id="{0D7DD17B-1540-2511-1AB1-30D70649E117}"/>
              </a:ext>
            </a:extLst>
          </p:cNvPr>
          <p:cNvPicPr>
            <a:picLocks noChangeAspect="1"/>
          </p:cNvPicPr>
          <p:nvPr/>
        </p:nvPicPr>
        <p:blipFill>
          <a:blip r:embed="rId7"/>
          <a:stretch>
            <a:fillRect/>
          </a:stretch>
        </p:blipFill>
        <p:spPr>
          <a:xfrm>
            <a:off x="6258838" y="851639"/>
            <a:ext cx="5300597" cy="2993981"/>
          </a:xfrm>
          <a:prstGeom prst="rect">
            <a:avLst/>
          </a:prstGeom>
        </p:spPr>
      </p:pic>
    </p:spTree>
    <p:extLst>
      <p:ext uri="{BB962C8B-B14F-4D97-AF65-F5344CB8AC3E}">
        <p14:creationId xmlns:p14="http://schemas.microsoft.com/office/powerpoint/2010/main" val="1422415246"/>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9"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2"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9"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0"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1"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7"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Заголовок 1">
            <a:extLst>
              <a:ext uri="{FF2B5EF4-FFF2-40B4-BE49-F238E27FC236}">
                <a16:creationId xmlns:a16="http://schemas.microsoft.com/office/drawing/2014/main" id="{76CFF9E2-8AA4-692E-A9C5-5AC663A272FF}"/>
              </a:ext>
            </a:extLst>
          </p:cNvPr>
          <p:cNvSpPr>
            <a:spLocks noGrp="1"/>
          </p:cNvSpPr>
          <p:nvPr>
            <p:ph type="title"/>
          </p:nvPr>
        </p:nvSpPr>
        <p:spPr>
          <a:xfrm>
            <a:off x="888630" y="4770570"/>
            <a:ext cx="5137458" cy="1767391"/>
          </a:xfrm>
        </p:spPr>
        <p:txBody>
          <a:bodyPr>
            <a:normAutofit/>
          </a:bodyPr>
          <a:lstStyle/>
          <a:p>
            <a:pPr algn="r"/>
            <a:r>
              <a:rPr lang="ru-RU" dirty="0">
                <a:solidFill>
                  <a:schemeClr val="tx1"/>
                </a:solidFill>
                <a:ea typeface="Calibri Light"/>
                <a:cs typeface="Calibri Light"/>
              </a:rPr>
              <a:t>Пример с методом PUT</a:t>
            </a:r>
          </a:p>
        </p:txBody>
      </p:sp>
      <p:sp>
        <p:nvSpPr>
          <p:cNvPr id="69" name="Freeform: Shape 68">
            <a:extLst>
              <a:ext uri="{FF2B5EF4-FFF2-40B4-BE49-F238E27FC236}">
                <a16:creationId xmlns:a16="http://schemas.microsoft.com/office/drawing/2014/main" id="{44C110BA-81E8-4247-853A-5F2B93E9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4" name="Рисунок 4" descr="Изображение выглядит как текст&#10;&#10;Автоматически созданное описание">
            <a:extLst>
              <a:ext uri="{FF2B5EF4-FFF2-40B4-BE49-F238E27FC236}">
                <a16:creationId xmlns:a16="http://schemas.microsoft.com/office/drawing/2014/main" id="{3673FAAB-DDB3-9B69-46AE-E15A2E620F1D}"/>
              </a:ext>
            </a:extLst>
          </p:cNvPr>
          <p:cNvPicPr>
            <a:picLocks noChangeAspect="1"/>
          </p:cNvPicPr>
          <p:nvPr/>
        </p:nvPicPr>
        <p:blipFill rotWithShape="1">
          <a:blip r:embed="rId2"/>
          <a:srcRect r="-3" b="16204"/>
          <a:stretch/>
        </p:blipFill>
        <p:spPr>
          <a:xfrm>
            <a:off x="648910" y="1091119"/>
            <a:ext cx="5286224" cy="2491599"/>
          </a:xfrm>
          <a:prstGeom prst="rect">
            <a:avLst/>
          </a:prstGeom>
        </p:spPr>
      </p:pic>
      <p:pic>
        <p:nvPicPr>
          <p:cNvPr id="5" name="Рисунок 5" descr="Изображение выглядит как текст&#10;&#10;Автоматически созданное описание">
            <a:extLst>
              <a:ext uri="{FF2B5EF4-FFF2-40B4-BE49-F238E27FC236}">
                <a16:creationId xmlns:a16="http://schemas.microsoft.com/office/drawing/2014/main" id="{F9E95FB9-A44E-F91D-8FAE-14C6ADE973A0}"/>
              </a:ext>
            </a:extLst>
          </p:cNvPr>
          <p:cNvPicPr>
            <a:picLocks noChangeAspect="1"/>
          </p:cNvPicPr>
          <p:nvPr/>
        </p:nvPicPr>
        <p:blipFill>
          <a:blip r:embed="rId3"/>
          <a:stretch>
            <a:fillRect/>
          </a:stretch>
        </p:blipFill>
        <p:spPr>
          <a:xfrm>
            <a:off x="6256867" y="847739"/>
            <a:ext cx="5300659" cy="2981620"/>
          </a:xfrm>
          <a:prstGeom prst="rect">
            <a:avLst/>
          </a:prstGeom>
        </p:spPr>
      </p:pic>
      <p:sp>
        <p:nvSpPr>
          <p:cNvPr id="43" name="Content Placeholder 42">
            <a:extLst>
              <a:ext uri="{FF2B5EF4-FFF2-40B4-BE49-F238E27FC236}">
                <a16:creationId xmlns:a16="http://schemas.microsoft.com/office/drawing/2014/main" id="{7ACAE63F-2361-8F42-EDA8-78682B303CA1}"/>
              </a:ext>
            </a:extLst>
          </p:cNvPr>
          <p:cNvSpPr>
            <a:spLocks noGrp="1"/>
          </p:cNvSpPr>
          <p:nvPr>
            <p:ph idx="1"/>
          </p:nvPr>
        </p:nvSpPr>
        <p:spPr>
          <a:xfrm>
            <a:off x="6324600" y="4767660"/>
            <a:ext cx="5075720" cy="1770300"/>
          </a:xfrm>
        </p:spPr>
        <p:txBody>
          <a:bodyPr>
            <a:normAutofit/>
          </a:bodyPr>
          <a:lstStyle/>
          <a:p>
            <a:r>
              <a:rPr lang="ru-RU" dirty="0">
                <a:latin typeface="Calibri Light"/>
                <a:ea typeface="Calibri Light"/>
                <a:cs typeface="Calibri Light"/>
              </a:rPr>
              <a:t>здесь используется метод PUT позволяющий редактировать таблицу (можно использовать массивные </a:t>
            </a:r>
            <a:r>
              <a:rPr lang="ru-RU" dirty="0" err="1">
                <a:latin typeface="Calibri Light"/>
                <a:ea typeface="Calibri Light"/>
                <a:cs typeface="Calibri Light"/>
              </a:rPr>
              <a:t>pl</a:t>
            </a:r>
            <a:r>
              <a:rPr lang="ru-RU" dirty="0">
                <a:latin typeface="Calibri Light"/>
                <a:ea typeface="Calibri Light"/>
                <a:cs typeface="Calibri Light"/>
              </a:rPr>
              <a:t>/</a:t>
            </a:r>
            <a:r>
              <a:rPr lang="ru-RU" dirty="0" err="1">
                <a:latin typeface="Calibri Light"/>
                <a:ea typeface="Calibri Light"/>
                <a:cs typeface="Calibri Light"/>
              </a:rPr>
              <a:t>sql</a:t>
            </a:r>
            <a:r>
              <a:rPr lang="ru-RU" dirty="0">
                <a:latin typeface="Calibri Light"/>
                <a:ea typeface="Calibri Light"/>
                <a:cs typeface="Calibri Light"/>
              </a:rPr>
              <a:t> блоки) а также вводить определенные данные вручную </a:t>
            </a:r>
            <a:endParaRPr lang="en-US" dirty="0"/>
          </a:p>
          <a:p>
            <a:endParaRPr lang="en-US" dirty="0"/>
          </a:p>
        </p:txBody>
      </p:sp>
    </p:spTree>
    <p:extLst>
      <p:ext uri="{BB962C8B-B14F-4D97-AF65-F5344CB8AC3E}">
        <p14:creationId xmlns:p14="http://schemas.microsoft.com/office/powerpoint/2010/main" val="4198426868"/>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3"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2"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3"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4"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5"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1"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Заголовок 1">
            <a:extLst>
              <a:ext uri="{FF2B5EF4-FFF2-40B4-BE49-F238E27FC236}">
                <a16:creationId xmlns:a16="http://schemas.microsoft.com/office/drawing/2014/main" id="{B79B66CE-1E1A-E2CD-AED8-0F4DBE383C93}"/>
              </a:ext>
            </a:extLst>
          </p:cNvPr>
          <p:cNvSpPr>
            <a:spLocks noGrp="1"/>
          </p:cNvSpPr>
          <p:nvPr>
            <p:ph type="title"/>
          </p:nvPr>
        </p:nvSpPr>
        <p:spPr>
          <a:xfrm>
            <a:off x="888629" y="4770570"/>
            <a:ext cx="10139749" cy="1767391"/>
          </a:xfrm>
        </p:spPr>
        <p:txBody>
          <a:bodyPr>
            <a:normAutofit fontScale="90000"/>
          </a:bodyPr>
          <a:lstStyle/>
          <a:p>
            <a:pPr algn="r"/>
            <a:r>
              <a:rPr lang="ru-RU" dirty="0">
                <a:solidFill>
                  <a:schemeClr val="tx1"/>
                </a:solidFill>
                <a:ea typeface="Calibri Light"/>
                <a:cs typeface="Calibri Light"/>
              </a:rPr>
              <a:t>Пример получения доступа стороннего приложения к БД через </a:t>
            </a:r>
            <a:r>
              <a:rPr lang="en-US" dirty="0">
                <a:solidFill>
                  <a:schemeClr val="tx1"/>
                </a:solidFill>
                <a:ea typeface="Calibri Light"/>
                <a:cs typeface="Calibri Light"/>
              </a:rPr>
              <a:t>API</a:t>
            </a:r>
            <a:r>
              <a:rPr lang="ru-RU" dirty="0">
                <a:solidFill>
                  <a:schemeClr val="tx1"/>
                </a:solidFill>
                <a:ea typeface="Calibri Light"/>
                <a:cs typeface="Calibri Light"/>
              </a:rPr>
              <a:t> через библиотеку </a:t>
            </a:r>
            <a:r>
              <a:rPr lang="en-US" dirty="0">
                <a:solidFill>
                  <a:schemeClr val="tx1"/>
                </a:solidFill>
                <a:ea typeface="Calibri Light"/>
                <a:cs typeface="Calibri Light"/>
              </a:rPr>
              <a:t>‘Requests’- </a:t>
            </a:r>
            <a:r>
              <a:rPr lang="ru-RU" dirty="0">
                <a:solidFill>
                  <a:schemeClr val="tx1"/>
                </a:solidFill>
                <a:ea typeface="Calibri Light"/>
                <a:cs typeface="Calibri Light"/>
              </a:rPr>
              <a:t>(</a:t>
            </a:r>
            <a:r>
              <a:rPr lang="en-US" dirty="0">
                <a:solidFill>
                  <a:schemeClr val="tx1"/>
                </a:solidFill>
                <a:ea typeface="Calibri Light"/>
                <a:cs typeface="Calibri Light"/>
              </a:rPr>
              <a:t>Python</a:t>
            </a:r>
            <a:r>
              <a:rPr lang="ru-RU" dirty="0">
                <a:solidFill>
                  <a:schemeClr val="tx1"/>
                </a:solidFill>
                <a:ea typeface="Calibri Light"/>
                <a:cs typeface="Calibri Light"/>
              </a:rPr>
              <a:t>)</a:t>
            </a:r>
            <a:r>
              <a:rPr lang="en-US" dirty="0">
                <a:solidFill>
                  <a:schemeClr val="tx1"/>
                </a:solidFill>
                <a:ea typeface="Calibri Light"/>
                <a:cs typeface="Calibri Light"/>
              </a:rPr>
              <a:t> </a:t>
            </a:r>
            <a:endParaRPr lang="ru-RU" dirty="0">
              <a:solidFill>
                <a:schemeClr val="tx1"/>
              </a:solidFill>
            </a:endParaRPr>
          </a:p>
        </p:txBody>
      </p:sp>
      <p:sp>
        <p:nvSpPr>
          <p:cNvPr id="33" name="Freeform: Shape 32">
            <a:extLst>
              <a:ext uri="{FF2B5EF4-FFF2-40B4-BE49-F238E27FC236}">
                <a16:creationId xmlns:a16="http://schemas.microsoft.com/office/drawing/2014/main" id="{44C110BA-81E8-4247-853A-5F2B93E9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8" name="Рисунок 7">
            <a:extLst>
              <a:ext uri="{FF2B5EF4-FFF2-40B4-BE49-F238E27FC236}">
                <a16:creationId xmlns:a16="http://schemas.microsoft.com/office/drawing/2014/main" id="{96A1EA69-C9A8-44F7-B767-B66EBC088B07}"/>
              </a:ext>
            </a:extLst>
          </p:cNvPr>
          <p:cNvPicPr>
            <a:picLocks noChangeAspect="1"/>
          </p:cNvPicPr>
          <p:nvPr/>
        </p:nvPicPr>
        <p:blipFill>
          <a:blip r:embed="rId2"/>
          <a:stretch>
            <a:fillRect/>
          </a:stretch>
        </p:blipFill>
        <p:spPr>
          <a:xfrm>
            <a:off x="1056214" y="1409020"/>
            <a:ext cx="9934606" cy="2866287"/>
          </a:xfrm>
          <a:prstGeom prst="rect">
            <a:avLst/>
          </a:prstGeom>
        </p:spPr>
      </p:pic>
      <p:sp>
        <p:nvSpPr>
          <p:cNvPr id="34" name="Объект 2">
            <a:extLst>
              <a:ext uri="{FF2B5EF4-FFF2-40B4-BE49-F238E27FC236}">
                <a16:creationId xmlns:a16="http://schemas.microsoft.com/office/drawing/2014/main" id="{FB05EE6F-A530-49FC-B68F-4331C5DC3EEC}"/>
              </a:ext>
            </a:extLst>
          </p:cNvPr>
          <p:cNvSpPr txBox="1">
            <a:spLocks/>
          </p:cNvSpPr>
          <p:nvPr/>
        </p:nvSpPr>
        <p:spPr>
          <a:xfrm>
            <a:off x="1423789" y="480137"/>
            <a:ext cx="9686061" cy="99112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9pPr>
          </a:lstStyle>
          <a:p>
            <a:pPr marL="0" indent="0">
              <a:lnSpc>
                <a:spcPct val="110000"/>
              </a:lnSpc>
              <a:buNone/>
            </a:pPr>
            <a:r>
              <a:rPr lang="ru-RU" sz="2400" dirty="0">
                <a:solidFill>
                  <a:schemeClr val="bg1">
                    <a:lumMod val="85000"/>
                    <a:lumOff val="15000"/>
                  </a:schemeClr>
                </a:solidFill>
              </a:rPr>
              <a:t>Получаем информацию</a:t>
            </a:r>
            <a:r>
              <a:rPr lang="en-US" sz="2400" dirty="0">
                <a:solidFill>
                  <a:schemeClr val="bg1">
                    <a:lumMod val="85000"/>
                    <a:lumOff val="15000"/>
                  </a:schemeClr>
                </a:solidFill>
              </a:rPr>
              <a:t> </a:t>
            </a:r>
            <a:r>
              <a:rPr lang="ru-RU" sz="2400" dirty="0">
                <a:solidFill>
                  <a:schemeClr val="bg1">
                    <a:lumMod val="85000"/>
                    <a:lumOff val="15000"/>
                  </a:schemeClr>
                </a:solidFill>
              </a:rPr>
              <a:t>по идентификатору </a:t>
            </a:r>
            <a:r>
              <a:rPr lang="en-US" sz="2400" dirty="0">
                <a:solidFill>
                  <a:schemeClr val="bg1">
                    <a:lumMod val="85000"/>
                    <a:lumOff val="15000"/>
                  </a:schemeClr>
                </a:solidFill>
              </a:rPr>
              <a:t>‘name : Bearer’ </a:t>
            </a:r>
            <a:endParaRPr lang="ru-RU" sz="2400" dirty="0">
              <a:solidFill>
                <a:schemeClr val="bg1">
                  <a:lumMod val="85000"/>
                  <a:lumOff val="15000"/>
                </a:schemeClr>
              </a:solidFill>
            </a:endParaRPr>
          </a:p>
          <a:p>
            <a:pPr marL="0" indent="0">
              <a:lnSpc>
                <a:spcPct val="110000"/>
              </a:lnSpc>
              <a:buNone/>
            </a:pPr>
            <a:r>
              <a:rPr lang="ru-RU" sz="2400" dirty="0">
                <a:solidFill>
                  <a:schemeClr val="bg1">
                    <a:lumMod val="85000"/>
                    <a:lumOff val="15000"/>
                  </a:schemeClr>
                </a:solidFill>
              </a:rPr>
              <a:t> из </a:t>
            </a:r>
            <a:r>
              <a:rPr lang="en-US" sz="2400" dirty="0">
                <a:solidFill>
                  <a:schemeClr val="bg1">
                    <a:lumMod val="85000"/>
                    <a:lumOff val="15000"/>
                  </a:schemeClr>
                </a:solidFill>
              </a:rPr>
              <a:t>API ‘https://example.com’  </a:t>
            </a:r>
            <a:endParaRPr lang="ru-RU" sz="2400" dirty="0">
              <a:solidFill>
                <a:schemeClr val="bg1">
                  <a:lumMod val="85000"/>
                  <a:lumOff val="15000"/>
                </a:schemeClr>
              </a:solidFill>
            </a:endParaRPr>
          </a:p>
        </p:txBody>
      </p:sp>
    </p:spTree>
    <p:extLst>
      <p:ext uri="{BB962C8B-B14F-4D97-AF65-F5344CB8AC3E}">
        <p14:creationId xmlns:p14="http://schemas.microsoft.com/office/powerpoint/2010/main" val="359481717"/>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2">
            <a:extLst>
              <a:ext uri="{FF2B5EF4-FFF2-40B4-BE49-F238E27FC236}">
                <a16:creationId xmlns:a16="http://schemas.microsoft.com/office/drawing/2014/main" id="{0CECBB9C-78AB-447F-92F6-0BDF6C32061D}"/>
              </a:ext>
            </a:extLst>
          </p:cNvPr>
          <p:cNvSpPr txBox="1">
            <a:spLocks/>
          </p:cNvSpPr>
          <p:nvPr/>
        </p:nvSpPr>
        <p:spPr>
          <a:xfrm>
            <a:off x="1047565" y="967666"/>
            <a:ext cx="9836459" cy="2412075"/>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9pPr>
          </a:lstStyle>
          <a:p>
            <a:pPr marL="0" indent="0">
              <a:lnSpc>
                <a:spcPct val="110000"/>
              </a:lnSpc>
              <a:buNone/>
            </a:pPr>
            <a:r>
              <a:rPr lang="ru-RU" sz="1600" b="1" i="0" dirty="0" err="1">
                <a:effectLst/>
              </a:rPr>
              <a:t>OAuth</a:t>
            </a:r>
            <a:r>
              <a:rPr lang="ru-RU" sz="1600" b="1" i="0" dirty="0">
                <a:effectLst/>
              </a:rPr>
              <a:t> 2.0</a:t>
            </a:r>
            <a:r>
              <a:rPr lang="en-US" sz="1600" b="1" i="0" dirty="0">
                <a:effectLst/>
              </a:rPr>
              <a:t> </a:t>
            </a:r>
            <a:r>
              <a:rPr lang="en-US" sz="1600" b="0" i="0" dirty="0">
                <a:effectLst/>
              </a:rPr>
              <a:t>-</a:t>
            </a:r>
            <a:r>
              <a:rPr lang="ru-RU" sz="1600" b="0" i="0" dirty="0">
                <a:effectLst/>
              </a:rPr>
              <a:t>протокол авторизации, позволяющий выдать одному сервису (приложению) права на доступ к ресурсам пользователя на другом сервисе. Протокол избавляет от необходимости доверять приложению логин и пароль, а также позволяет выдавать ограниченный набор прав, а не все сразу.</a:t>
            </a:r>
            <a:endParaRPr lang="en-US" sz="1600" b="0" i="0" dirty="0">
              <a:effectLst/>
            </a:endParaRPr>
          </a:p>
          <a:p>
            <a:pPr algn="l">
              <a:buFont typeface="Arial" panose="020B0604020202020204" pitchFamily="34" charset="0"/>
              <a:buChar char="•"/>
            </a:pPr>
            <a:r>
              <a:rPr lang="ru-RU" sz="1600" b="0" i="0" dirty="0">
                <a:effectLst/>
              </a:rPr>
              <a:t>Автор стороннего приложения должен зарегистрировать приложение, чтобы получить учетные данные клиента.</a:t>
            </a:r>
          </a:p>
          <a:p>
            <a:pPr algn="l">
              <a:buFont typeface="Arial" panose="020B0604020202020204" pitchFamily="34" charset="0"/>
              <a:buChar char="•"/>
            </a:pPr>
            <a:r>
              <a:rPr lang="ru-RU" sz="1600" b="0" i="0" dirty="0">
                <a:effectLst/>
              </a:rPr>
              <a:t>Используя учетные данные клиента, стороннее приложение запускает веб-поток, который запрашивает у конечного пользователя утверждение доступа.</a:t>
            </a:r>
          </a:p>
          <a:p>
            <a:pPr marL="0" indent="0">
              <a:lnSpc>
                <a:spcPct val="110000"/>
              </a:lnSpc>
              <a:buNone/>
            </a:pPr>
            <a:r>
              <a:rPr lang="ru-RU" sz="1600" b="0" i="0" dirty="0">
                <a:effectLst/>
              </a:rPr>
              <a:t>Таким образом, прежде чем стороннее приложение сможет получить доступ к REST API, оно должно быть зарегистрировано, и пользователь должен одобрить доступ. </a:t>
            </a:r>
            <a:endParaRPr lang="ru-RU" sz="1600" dirty="0"/>
          </a:p>
        </p:txBody>
      </p:sp>
      <p:sp>
        <p:nvSpPr>
          <p:cNvPr id="7" name="Объект 2">
            <a:extLst>
              <a:ext uri="{FF2B5EF4-FFF2-40B4-BE49-F238E27FC236}">
                <a16:creationId xmlns:a16="http://schemas.microsoft.com/office/drawing/2014/main" id="{63CEEF9A-A3B9-4231-983D-8EB7F329E6BE}"/>
              </a:ext>
            </a:extLst>
          </p:cNvPr>
          <p:cNvSpPr txBox="1">
            <a:spLocks/>
          </p:cNvSpPr>
          <p:nvPr/>
        </p:nvSpPr>
        <p:spPr>
          <a:xfrm>
            <a:off x="1047565" y="394691"/>
            <a:ext cx="9836459" cy="572975"/>
          </a:xfrm>
          <a:prstGeom prst="rect">
            <a:avLst/>
          </a:prstGeom>
        </p:spPr>
        <p:txBody>
          <a:bodyPr anchor="ctr">
            <a:norm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Times New Roman" panose="02020603050405020304" pitchFamily="18" charset="0"/>
                <a:ea typeface="+mn-ea"/>
                <a:cs typeface="Times New Roman" panose="02020603050405020304" pitchFamily="18" charset="0"/>
              </a:defRPr>
            </a:lvl9pPr>
          </a:lstStyle>
          <a:p>
            <a:pPr marL="0" indent="0">
              <a:buNone/>
            </a:pPr>
            <a:r>
              <a:rPr lang="ru-RU" sz="2000" b="1" dirty="0"/>
              <a:t>Защита </a:t>
            </a:r>
            <a:r>
              <a:rPr lang="en-US" sz="2000" b="1" dirty="0"/>
              <a:t>API </a:t>
            </a:r>
            <a:r>
              <a:rPr lang="ru-RU" sz="2000" b="1" dirty="0"/>
              <a:t>и ограничение доступа к данным</a:t>
            </a:r>
          </a:p>
        </p:txBody>
      </p:sp>
      <p:pic>
        <p:nvPicPr>
          <p:cNvPr id="9" name="Рисунок 8">
            <a:extLst>
              <a:ext uri="{FF2B5EF4-FFF2-40B4-BE49-F238E27FC236}">
                <a16:creationId xmlns:a16="http://schemas.microsoft.com/office/drawing/2014/main" id="{04CD4FD1-CEFE-4E35-8465-3B81C0CAC634}"/>
              </a:ext>
            </a:extLst>
          </p:cNvPr>
          <p:cNvPicPr>
            <a:picLocks noChangeAspect="1"/>
          </p:cNvPicPr>
          <p:nvPr/>
        </p:nvPicPr>
        <p:blipFill>
          <a:blip r:embed="rId2"/>
          <a:stretch>
            <a:fillRect/>
          </a:stretch>
        </p:blipFill>
        <p:spPr>
          <a:xfrm>
            <a:off x="5069148" y="3379741"/>
            <a:ext cx="6977849" cy="3351310"/>
          </a:xfrm>
          <a:prstGeom prst="rect">
            <a:avLst/>
          </a:prstGeom>
        </p:spPr>
      </p:pic>
      <p:pic>
        <p:nvPicPr>
          <p:cNvPr id="10" name="Рисунок 9">
            <a:extLst>
              <a:ext uri="{FF2B5EF4-FFF2-40B4-BE49-F238E27FC236}">
                <a16:creationId xmlns:a16="http://schemas.microsoft.com/office/drawing/2014/main" id="{E64BB743-3876-4952-AE5E-79E84AC3087B}"/>
              </a:ext>
            </a:extLst>
          </p:cNvPr>
          <p:cNvPicPr>
            <a:picLocks noChangeAspect="1"/>
          </p:cNvPicPr>
          <p:nvPr/>
        </p:nvPicPr>
        <p:blipFill>
          <a:blip r:embed="rId3"/>
          <a:stretch>
            <a:fillRect/>
          </a:stretch>
        </p:blipFill>
        <p:spPr>
          <a:xfrm>
            <a:off x="145002" y="3834813"/>
            <a:ext cx="4924145" cy="502964"/>
          </a:xfrm>
          <a:prstGeom prst="rect">
            <a:avLst/>
          </a:prstGeom>
        </p:spPr>
      </p:pic>
      <p:sp>
        <p:nvSpPr>
          <p:cNvPr id="11" name="TextBox 10">
            <a:extLst>
              <a:ext uri="{FF2B5EF4-FFF2-40B4-BE49-F238E27FC236}">
                <a16:creationId xmlns:a16="http://schemas.microsoft.com/office/drawing/2014/main" id="{C1E66092-C1F9-4428-B964-F96F6ADF954A}"/>
              </a:ext>
            </a:extLst>
          </p:cNvPr>
          <p:cNvSpPr txBox="1"/>
          <p:nvPr/>
        </p:nvSpPr>
        <p:spPr>
          <a:xfrm>
            <a:off x="296293" y="4623720"/>
            <a:ext cx="4684080" cy="92333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Для получения доступа к настройке </a:t>
            </a:r>
            <a:r>
              <a:rPr lang="en-US" dirty="0">
                <a:latin typeface="Times New Roman" panose="02020603050405020304" pitchFamily="18" charset="0"/>
                <a:cs typeface="Times New Roman" panose="02020603050405020304" pitchFamily="18" charset="0"/>
              </a:rPr>
              <a:t>OAuth 2.0 </a:t>
            </a:r>
            <a:r>
              <a:rPr lang="ru-RU" dirty="0">
                <a:latin typeface="Times New Roman" panose="02020603050405020304" pitchFamily="18" charset="0"/>
                <a:cs typeface="Times New Roman" panose="02020603050405020304" pitchFamily="18" charset="0"/>
              </a:rPr>
              <a:t>необходимо добавить </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oauth</a:t>
            </a:r>
            <a:r>
              <a:rPr lang="en-US" b="1" dirty="0">
                <a:latin typeface="Times New Roman" panose="02020603050405020304" pitchFamily="18" charset="0"/>
                <a:cs typeface="Times New Roman" panose="02020603050405020304" pitchFamily="18" charset="0"/>
              </a:rPr>
              <a:t>/clients/ </a:t>
            </a:r>
            <a:r>
              <a:rPr lang="ru-RU" dirty="0">
                <a:latin typeface="Times New Roman" panose="02020603050405020304" pitchFamily="18" charset="0"/>
                <a:cs typeface="Times New Roman" panose="02020603050405020304" pitchFamily="18" charset="0"/>
              </a:rPr>
              <a:t>к корню </a:t>
            </a:r>
            <a:r>
              <a:rPr lang="en-US" dirty="0">
                <a:latin typeface="Times New Roman" panose="02020603050405020304" pitchFamily="18" charset="0"/>
                <a:cs typeface="Times New Roman" panose="02020603050405020304" pitchFamily="18" charset="0"/>
              </a:rPr>
              <a:t>API</a:t>
            </a:r>
            <a:r>
              <a:rPr lang="ru-RU" dirty="0">
                <a:latin typeface="Times New Roman" panose="02020603050405020304" pitchFamily="18" charset="0"/>
                <a:cs typeface="Times New Roman" panose="02020603050405020304" pitchFamily="18" charset="0"/>
              </a:rPr>
              <a:t>.</a:t>
            </a:r>
            <a:endParaRPr lang="ru-RU" dirty="0"/>
          </a:p>
        </p:txBody>
      </p:sp>
    </p:spTree>
    <p:extLst>
      <p:ext uri="{BB962C8B-B14F-4D97-AF65-F5344CB8AC3E}">
        <p14:creationId xmlns:p14="http://schemas.microsoft.com/office/powerpoint/2010/main" val="4284404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Схема авторизации приложений, имеющих серверную часть">
            <a:extLst>
              <a:ext uri="{FF2B5EF4-FFF2-40B4-BE49-F238E27FC236}">
                <a16:creationId xmlns:a16="http://schemas.microsoft.com/office/drawing/2014/main" id="{2D0A3441-E268-4EFC-BC89-1175B3AD7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513" y="1327580"/>
            <a:ext cx="6199575" cy="58575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65FF6F-CBE3-4705-B3DC-CE590CB2FF04}"/>
              </a:ext>
            </a:extLst>
          </p:cNvPr>
          <p:cNvSpPr txBox="1"/>
          <p:nvPr/>
        </p:nvSpPr>
        <p:spPr>
          <a:xfrm>
            <a:off x="6216588" y="1851364"/>
            <a:ext cx="6094520" cy="2862322"/>
          </a:xfrm>
          <a:prstGeom prst="rect">
            <a:avLst/>
          </a:prstGeom>
          <a:noFill/>
        </p:spPr>
        <p:txBody>
          <a:bodyPr wrap="square">
            <a:spAutoFit/>
          </a:bodyPr>
          <a:lstStyle/>
          <a:p>
            <a:pPr algn="l"/>
            <a:r>
              <a:rPr lang="en-US" b="0" i="0" dirty="0">
                <a:effectLst/>
                <a:latin typeface="Times New Roman" panose="02020603050405020304" pitchFamily="18" charset="0"/>
                <a:cs typeface="Times New Roman" panose="02020603050405020304" pitchFamily="18" charset="0"/>
              </a:rPr>
              <a:t>1. </a:t>
            </a:r>
            <a:r>
              <a:rPr lang="ru-RU" b="0" i="0" dirty="0" err="1">
                <a:effectLst/>
                <a:latin typeface="Times New Roman" panose="02020603050405020304" pitchFamily="18" charset="0"/>
                <a:cs typeface="Times New Roman" panose="02020603050405020304" pitchFamily="18" charset="0"/>
              </a:rPr>
              <a:t>Редирект</a:t>
            </a:r>
            <a:r>
              <a:rPr lang="ru-RU" b="0" i="0" dirty="0">
                <a:effectLst/>
                <a:latin typeface="Times New Roman" panose="02020603050405020304" pitchFamily="18" charset="0"/>
                <a:cs typeface="Times New Roman" panose="02020603050405020304" pitchFamily="18" charset="0"/>
              </a:rPr>
              <a:t> на страницу авторизации</a:t>
            </a:r>
          </a:p>
          <a:p>
            <a:pPr algn="l"/>
            <a:r>
              <a:rPr lang="en-US" b="0" i="0" dirty="0">
                <a:effectLst/>
                <a:latin typeface="Times New Roman" panose="02020603050405020304" pitchFamily="18" charset="0"/>
                <a:cs typeface="Times New Roman" panose="02020603050405020304" pitchFamily="18" charset="0"/>
              </a:rPr>
              <a:t>2. </a:t>
            </a:r>
            <a:r>
              <a:rPr lang="ru-RU" b="0" i="0" dirty="0">
                <a:effectLst/>
                <a:latin typeface="Times New Roman" panose="02020603050405020304" pitchFamily="18" charset="0"/>
                <a:cs typeface="Times New Roman" panose="02020603050405020304" pitchFamily="18" charset="0"/>
              </a:rPr>
              <a:t>На странице авторизации у пользователя запрашивается подтверждение выдачи прав</a:t>
            </a:r>
          </a:p>
          <a:p>
            <a:pPr algn="l"/>
            <a:r>
              <a:rPr lang="en-US" b="0" i="0" dirty="0">
                <a:effectLst/>
                <a:latin typeface="Times New Roman" panose="02020603050405020304" pitchFamily="18" charset="0"/>
                <a:cs typeface="Times New Roman" panose="02020603050405020304" pitchFamily="18" charset="0"/>
              </a:rPr>
              <a:t>3. </a:t>
            </a:r>
            <a:r>
              <a:rPr lang="ru-RU" b="0" i="0" dirty="0">
                <a:effectLst/>
                <a:latin typeface="Times New Roman" panose="02020603050405020304" pitchFamily="18" charset="0"/>
                <a:cs typeface="Times New Roman" panose="02020603050405020304" pitchFamily="18" charset="0"/>
              </a:rPr>
              <a:t>В случае согласия пользователя, браузер </a:t>
            </a:r>
            <a:r>
              <a:rPr lang="ru-RU" b="0" i="0" dirty="0" err="1">
                <a:effectLst/>
                <a:latin typeface="Times New Roman" panose="02020603050405020304" pitchFamily="18" charset="0"/>
                <a:cs typeface="Times New Roman" panose="02020603050405020304" pitchFamily="18" charset="0"/>
              </a:rPr>
              <a:t>редиректится</a:t>
            </a:r>
            <a:r>
              <a:rPr lang="ru-RU" b="0" i="0" dirty="0">
                <a:effectLst/>
                <a:latin typeface="Times New Roman" panose="02020603050405020304" pitchFamily="18" charset="0"/>
                <a:cs typeface="Times New Roman" panose="02020603050405020304" pitchFamily="18" charset="0"/>
              </a:rPr>
              <a:t> на URL, указанный при открытии страницы авторизации, с добавлением в GET-параметры специального ключа — </a:t>
            </a:r>
            <a:r>
              <a:rPr lang="ru-RU" b="0" i="0" dirty="0" err="1">
                <a:effectLst/>
                <a:latin typeface="Times New Roman" panose="02020603050405020304" pitchFamily="18" charset="0"/>
                <a:cs typeface="Times New Roman" panose="02020603050405020304" pitchFamily="18" charset="0"/>
              </a:rPr>
              <a:t>authorization</a:t>
            </a:r>
            <a:r>
              <a:rPr lang="ru-RU" b="0" i="0" dirty="0">
                <a:effectLst/>
                <a:latin typeface="Times New Roman" panose="02020603050405020304" pitchFamily="18" charset="0"/>
                <a:cs typeface="Times New Roman" panose="02020603050405020304" pitchFamily="18" charset="0"/>
              </a:rPr>
              <a:t> </a:t>
            </a:r>
            <a:r>
              <a:rPr lang="ru-RU" b="0" i="0" dirty="0" err="1">
                <a:effectLst/>
                <a:latin typeface="Times New Roman" panose="02020603050405020304" pitchFamily="18" charset="0"/>
                <a:cs typeface="Times New Roman" panose="02020603050405020304" pitchFamily="18" charset="0"/>
              </a:rPr>
              <a:t>code</a:t>
            </a:r>
            <a:endParaRPr lang="ru-RU" b="0" i="0" dirty="0">
              <a:effectLst/>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4. </a:t>
            </a:r>
            <a:r>
              <a:rPr lang="ru-RU" b="0" i="0" dirty="0">
                <a:effectLst/>
                <a:latin typeface="Times New Roman" panose="02020603050405020304" pitchFamily="18" charset="0"/>
                <a:cs typeface="Times New Roman" panose="02020603050405020304" pitchFamily="18" charset="0"/>
              </a:rPr>
              <a:t>Сервер приложения выполняет POST-запрос с полученным </a:t>
            </a:r>
            <a:r>
              <a:rPr lang="ru-RU" b="0" i="0" dirty="0" err="1">
                <a:effectLst/>
                <a:latin typeface="Times New Roman" panose="02020603050405020304" pitchFamily="18" charset="0"/>
                <a:cs typeface="Times New Roman" panose="02020603050405020304" pitchFamily="18" charset="0"/>
              </a:rPr>
              <a:t>authorization</a:t>
            </a:r>
            <a:r>
              <a:rPr lang="ru-RU" b="0" i="0" dirty="0">
                <a:effectLst/>
                <a:latin typeface="Times New Roman" panose="02020603050405020304" pitchFamily="18" charset="0"/>
                <a:cs typeface="Times New Roman" panose="02020603050405020304" pitchFamily="18" charset="0"/>
              </a:rPr>
              <a:t> </a:t>
            </a:r>
            <a:r>
              <a:rPr lang="ru-RU" b="0" i="0" dirty="0" err="1">
                <a:effectLst/>
                <a:latin typeface="Times New Roman" panose="02020603050405020304" pitchFamily="18" charset="0"/>
                <a:cs typeface="Times New Roman" panose="02020603050405020304" pitchFamily="18" charset="0"/>
              </a:rPr>
              <a:t>code</a:t>
            </a:r>
            <a:r>
              <a:rPr lang="ru-RU" b="0" i="0" dirty="0">
                <a:effectLst/>
                <a:latin typeface="Times New Roman" panose="02020603050405020304" pitchFamily="18" charset="0"/>
                <a:cs typeface="Times New Roman" panose="02020603050405020304" pitchFamily="18" charset="0"/>
              </a:rPr>
              <a:t> в качестве параметра. В результате этого запроса возвращается </a:t>
            </a:r>
            <a:r>
              <a:rPr lang="ru-RU" b="0" i="0" dirty="0" err="1">
                <a:effectLst/>
                <a:latin typeface="Times New Roman" panose="02020603050405020304" pitchFamily="18" charset="0"/>
                <a:cs typeface="Times New Roman" panose="02020603050405020304" pitchFamily="18" charset="0"/>
              </a:rPr>
              <a:t>access</a:t>
            </a:r>
            <a:r>
              <a:rPr lang="ru-RU" b="0" i="0" dirty="0">
                <a:effectLst/>
                <a:latin typeface="Times New Roman" panose="02020603050405020304" pitchFamily="18" charset="0"/>
                <a:cs typeface="Times New Roman" panose="02020603050405020304" pitchFamily="18" charset="0"/>
              </a:rPr>
              <a:t> </a:t>
            </a:r>
            <a:r>
              <a:rPr lang="ru-RU" b="0" i="0" dirty="0" err="1">
                <a:effectLst/>
                <a:latin typeface="Times New Roman" panose="02020603050405020304" pitchFamily="18" charset="0"/>
                <a:cs typeface="Times New Roman" panose="02020603050405020304" pitchFamily="18" charset="0"/>
              </a:rPr>
              <a:t>token</a:t>
            </a:r>
            <a:endParaRPr lang="ru-RU" b="0" i="0" dirty="0">
              <a:effectLst/>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8F13452-106B-4A10-886C-6D1B3DED5E37}"/>
              </a:ext>
            </a:extLst>
          </p:cNvPr>
          <p:cNvSpPr txBox="1"/>
          <p:nvPr/>
        </p:nvSpPr>
        <p:spPr>
          <a:xfrm>
            <a:off x="519343" y="368754"/>
            <a:ext cx="8411593" cy="461665"/>
          </a:xfrm>
          <a:prstGeom prst="rect">
            <a:avLst/>
          </a:prstGeom>
          <a:noFill/>
        </p:spPr>
        <p:txBody>
          <a:bodyPr wrap="square">
            <a:spAutoFit/>
          </a:bodyPr>
          <a:lstStyle/>
          <a:p>
            <a:pPr algn="l"/>
            <a:r>
              <a:rPr lang="ru-RU" sz="2400" b="0" i="0" dirty="0">
                <a:effectLst/>
                <a:latin typeface="Times New Roman" panose="02020603050405020304" pitchFamily="18" charset="0"/>
                <a:cs typeface="Times New Roman" panose="02020603050405020304" pitchFamily="18" charset="0"/>
              </a:rPr>
              <a:t>Авторизация для приложений, имеющих серверную часть</a:t>
            </a:r>
          </a:p>
        </p:txBody>
      </p:sp>
    </p:spTree>
    <p:extLst>
      <p:ext uri="{BB962C8B-B14F-4D97-AF65-F5344CB8AC3E}">
        <p14:creationId xmlns:p14="http://schemas.microsoft.com/office/powerpoint/2010/main" val="3855063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B4298B-514D-4087-BFCF-5E0B7C9A9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4250D78-05C1-41CC-8744-FF36129625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488B658F-163C-450C-B32C-2385E374B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5AE85F6C-45F9-4F00-8AA8-52BD51059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4B0E90C3-F098-46CE-B1D9-44EDE9C6E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FFF59D4E-9109-4D0A-8064-9C534CCFB9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4B8AAA4-1840-48B9-A1E7-8CE75F873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5A87B14D-183F-429F-849A-A6DC957B0B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accent1">
                  <a:alpha val="18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1C261938-CF78-4843-9295-A20FD1591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70557A9F-9800-4BDA-8EA5-312FBB056F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55443555-50A7-490F-A7BD-C3761876B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0E25D709-0236-44C4-9AD0-23C27FFB64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52D3488E-C376-4058-9B14-3E67ECCF40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29C0577D-AE94-4E3E-AFE9-87D6F505C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accent1">
                  <a:alpha val="1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28A3D14-A3AE-415B-81C0-10DABBD63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7722035-1059-41F4-801E-F6C3F4383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accent1">
                  <a:alpha val="12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98275878-64ED-413C-B1B9-654EE17C5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6BE90BD7-1A14-43A3-8CD4-8D181EE63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accent1">
                  <a:alpha val="12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8609B6EC-0BA4-4C45-B9CA-311B34B83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accent1">
                  <a:alpha val="12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BA3962A2-D76B-4346-9535-356648073A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28CBAD67-783A-4EFF-852A-40CD9D58C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accent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780BC275-9329-40AA-849F-7B258245E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55DA4B63-E5E4-49C5-BC03-E5A312146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Заголовок 1">
            <a:extLst>
              <a:ext uri="{FF2B5EF4-FFF2-40B4-BE49-F238E27FC236}">
                <a16:creationId xmlns:a16="http://schemas.microsoft.com/office/drawing/2014/main" id="{6E04E229-6176-BB2E-E1FD-1FE79653C510}"/>
              </a:ext>
            </a:extLst>
          </p:cNvPr>
          <p:cNvSpPr>
            <a:spLocks noGrp="1"/>
          </p:cNvSpPr>
          <p:nvPr>
            <p:ph type="title"/>
          </p:nvPr>
        </p:nvSpPr>
        <p:spPr>
          <a:xfrm>
            <a:off x="4067177" y="630936"/>
            <a:ext cx="6677553" cy="1353310"/>
          </a:xfrm>
        </p:spPr>
        <p:txBody>
          <a:bodyPr anchor="b">
            <a:normAutofit/>
          </a:bodyPr>
          <a:lstStyle/>
          <a:p>
            <a:pPr algn="l"/>
            <a:r>
              <a:rPr lang="ru-RU" sz="3600" dirty="0">
                <a:solidFill>
                  <a:schemeClr val="tx1"/>
                </a:solidFill>
                <a:ea typeface="Calibri Light"/>
                <a:cs typeface="Calibri Light"/>
              </a:rPr>
              <a:t>Источники:</a:t>
            </a:r>
            <a:endParaRPr lang="ru-RU" sz="3600" dirty="0">
              <a:solidFill>
                <a:schemeClr val="tx1"/>
              </a:solidFill>
            </a:endParaRPr>
          </a:p>
        </p:txBody>
      </p:sp>
      <p:sp>
        <p:nvSpPr>
          <p:cNvPr id="3" name="Объект 2">
            <a:extLst>
              <a:ext uri="{FF2B5EF4-FFF2-40B4-BE49-F238E27FC236}">
                <a16:creationId xmlns:a16="http://schemas.microsoft.com/office/drawing/2014/main" id="{39ACB24D-A4AA-87DF-076D-1B625FB9B9FF}"/>
              </a:ext>
            </a:extLst>
          </p:cNvPr>
          <p:cNvSpPr>
            <a:spLocks noGrp="1"/>
          </p:cNvSpPr>
          <p:nvPr>
            <p:ph idx="1"/>
          </p:nvPr>
        </p:nvSpPr>
        <p:spPr>
          <a:xfrm>
            <a:off x="4067177" y="2161348"/>
            <a:ext cx="6677551" cy="3890460"/>
          </a:xfrm>
        </p:spPr>
        <p:txBody>
          <a:bodyPr anchor="ctr">
            <a:normAutofit/>
          </a:bodyPr>
          <a:lstStyle/>
          <a:p>
            <a:r>
              <a:rPr lang="ru-RU" sz="1600" u="sng" dirty="0">
                <a:solidFill>
                  <a:schemeClr val="accent1">
                    <a:lumMod val="60000"/>
                    <a:lumOff val="40000"/>
                  </a:schemeClr>
                </a:solidFill>
                <a:hlinkClick r:id="rId2">
                  <a:extLst>
                    <a:ext uri="{A12FA001-AC4F-418D-AE19-62706E023703}">
                      <ahyp:hlinkClr xmlns:ahyp="http://schemas.microsoft.com/office/drawing/2018/hyperlinkcolor" val="tx"/>
                    </a:ext>
                  </a:extLst>
                </a:hlinkClick>
              </a:rPr>
              <a:t>https://habr.com/ru/post/590679/</a:t>
            </a:r>
          </a:p>
          <a:p>
            <a:r>
              <a:rPr lang="ru-RU" sz="1600" u="sng" dirty="0">
                <a:solidFill>
                  <a:schemeClr val="accent1">
                    <a:lumMod val="60000"/>
                    <a:lumOff val="40000"/>
                  </a:schemeClr>
                </a:solidFill>
                <a:hlinkClick r:id="rId3">
                  <a:extLst>
                    <a:ext uri="{A12FA001-AC4F-418D-AE19-62706E023703}">
                      <ahyp:hlinkClr xmlns:ahyp="http://schemas.microsoft.com/office/drawing/2018/hyperlinkcolor" val="tx"/>
                    </a:ext>
                  </a:extLst>
                </a:hlinkClick>
              </a:rPr>
              <a:t>https://www.ibm.com/ru-ru/cloud/learn/rest-apis</a:t>
            </a:r>
          </a:p>
          <a:p>
            <a:r>
              <a:rPr lang="ru-RU" sz="1600" dirty="0">
                <a:solidFill>
                  <a:srgbClr val="FC5A1A"/>
                </a:solidFill>
                <a:hlinkClick r:id="rId4">
                  <a:extLst>
                    <a:ext uri="{A12FA001-AC4F-418D-AE19-62706E023703}">
                      <ahyp:hlinkClr xmlns:ahyp="http://schemas.microsoft.com/office/drawing/2018/hyperlinkcolor" val="tx"/>
                    </a:ext>
                  </a:extLst>
                </a:hlinkClick>
              </a:rPr>
              <a:t>https://habr.com/ru/company/custis/blog/502030</a:t>
            </a:r>
            <a:r>
              <a:rPr lang="ru-RU" sz="1600" dirty="0">
                <a:solidFill>
                  <a:schemeClr val="accent1">
                    <a:lumMod val="60000"/>
                    <a:lumOff val="40000"/>
                  </a:schemeClr>
                </a:solidFill>
                <a:hlinkClick r:id="rId4">
                  <a:extLst>
                    <a:ext uri="{A12FA001-AC4F-418D-AE19-62706E023703}">
                      <ahyp:hlinkClr xmlns:ahyp="http://schemas.microsoft.com/office/drawing/2018/hyperlinkcolor" val="tx"/>
                    </a:ext>
                  </a:extLst>
                </a:hlinkClick>
              </a:rPr>
              <a:t>/</a:t>
            </a:r>
            <a:endParaRPr lang="ru-RU" sz="1600" dirty="0">
              <a:solidFill>
                <a:schemeClr val="accent1">
                  <a:lumMod val="60000"/>
                  <a:lumOff val="40000"/>
                </a:schemeClr>
              </a:solidFill>
            </a:endParaRPr>
          </a:p>
          <a:p>
            <a:r>
              <a:rPr lang="en-US" sz="1600" u="sng" dirty="0">
                <a:solidFill>
                  <a:schemeClr val="accent1">
                    <a:lumMod val="60000"/>
                    <a:lumOff val="40000"/>
                  </a:schemeClr>
                </a:solidFill>
              </a:rPr>
              <a:t>https://tproger.ru/articles/osnovy-rest-teorija-i-praktika/</a:t>
            </a:r>
            <a:endParaRPr lang="ru-RU" sz="1600" u="sng" dirty="0">
              <a:solidFill>
                <a:schemeClr val="accent1">
                  <a:lumMod val="60000"/>
                  <a:lumOff val="40000"/>
                </a:schemeClr>
              </a:solidFill>
            </a:endParaRPr>
          </a:p>
        </p:txBody>
      </p:sp>
    </p:spTree>
    <p:extLst>
      <p:ext uri="{BB962C8B-B14F-4D97-AF65-F5344CB8AC3E}">
        <p14:creationId xmlns:p14="http://schemas.microsoft.com/office/powerpoint/2010/main" val="3921583368"/>
      </p:ext>
    </p:extLst>
  </p:cSld>
  <p:clrMapOvr>
    <a:masterClrMapping/>
  </p:clrMapOvr>
</p:sld>
</file>

<file path=ppt/theme/theme1.xml><?xml version="1.0" encoding="utf-8"?>
<a:theme xmlns:a="http://schemas.openxmlformats.org/drawingml/2006/main" name="Атлас">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239BB0-53B8-40A5-8BB9-15D2ED1AEBC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E480F86-A978-4060-BF60-56AAB322FD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C683C-DA35-4A0E-ADD0-CC297892D8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Atlas</Template>
  <TotalTime>94</TotalTime>
  <Words>1384</Words>
  <Application>Microsoft Office PowerPoint</Application>
  <PresentationFormat>Широкоэкранный</PresentationFormat>
  <Paragraphs>114</Paragraphs>
  <Slides>24</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24</vt:i4>
      </vt:variant>
    </vt:vector>
  </HeadingPairs>
  <TitlesOfParts>
    <vt:vector size="25" baseType="lpstr">
      <vt:lpstr>Атлас</vt:lpstr>
      <vt:lpstr>Oracle Rest Data Service(ORDS) Rest Api</vt:lpstr>
      <vt:lpstr>REST </vt:lpstr>
      <vt:lpstr>API</vt:lpstr>
      <vt:lpstr>REST API</vt:lpstr>
      <vt:lpstr>Применение REST</vt:lpstr>
      <vt:lpstr>Пример</vt:lpstr>
      <vt:lpstr>Свойства  REST</vt:lpstr>
      <vt:lpstr>6 Принципов REST</vt:lpstr>
      <vt:lpstr>Клиент-серверная архитектура </vt:lpstr>
      <vt:lpstr>Code on done (код по требованию) </vt:lpstr>
      <vt:lpstr>Отправка запросов </vt:lpstr>
      <vt:lpstr>Принцип работы RestAPI  </vt:lpstr>
      <vt:lpstr>Пример</vt:lpstr>
      <vt:lpstr>Коды ответов</vt:lpstr>
      <vt:lpstr>ORDS</vt:lpstr>
      <vt:lpstr>Презентация PowerPoint</vt:lpstr>
      <vt:lpstr>REST Модули</vt:lpstr>
      <vt:lpstr>Пример с методом GET</vt:lpstr>
      <vt:lpstr>Пример с методом POST</vt:lpstr>
      <vt:lpstr>Пример с методом PUT</vt:lpstr>
      <vt:lpstr>Пример получения доступа стороннего приложения к БД через API через библиотеку ‘Requests’- (Python) </vt:lpstr>
      <vt:lpstr>Презентация PowerPoint</vt:lpstr>
      <vt:lpstr>Презентация PowerPoint</vt:lpstr>
      <vt:lpstr>Источники: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
  <cp:lastModifiedBy>Andrey Tokarchuk</cp:lastModifiedBy>
  <cp:revision>390</cp:revision>
  <dcterms:created xsi:type="dcterms:W3CDTF">2022-03-27T14:04:06Z</dcterms:created>
  <dcterms:modified xsi:type="dcterms:W3CDTF">2022-03-31T15:32:20Z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