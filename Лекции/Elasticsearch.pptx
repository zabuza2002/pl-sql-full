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57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7A435A7-C635-4C8D-8838-9A91C9B1F5CF}">
          <p14:sldIdLst>
            <p14:sldId id="256"/>
            <p14:sldId id="266"/>
            <p14:sldId id="267"/>
            <p14:sldId id="257"/>
            <p14:sldId id="268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35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87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71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63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33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25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94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51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6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88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2886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628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464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713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640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80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9DAEE-5218-4975-8BF7-695AEB227CCD}" type="datetimeFigureOut">
              <a:rPr lang="ru-RU" smtClean="0"/>
              <a:t>06.04.2022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02BE746-0CE8-446F-9FC8-A24D21DEE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10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95F23-D041-49E6-9C09-75071705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080621"/>
            <a:ext cx="8915399" cy="933169"/>
          </a:xfrm>
        </p:spPr>
        <p:txBody>
          <a:bodyPr>
            <a:normAutofit fontScale="90000"/>
          </a:bodyPr>
          <a:lstStyle/>
          <a:p>
            <a:r>
              <a:rPr lang="en-US" sz="5400" spc="-150" dirty="0">
                <a:solidFill>
                  <a:srgbClr val="FFFEFF"/>
                </a:solidFill>
                <a:latin typeface="+mj-lt"/>
                <a:ea typeface="+mj-ea"/>
                <a:cs typeface="+mj-cs"/>
              </a:rPr>
              <a:t>`</a:t>
            </a:r>
            <a:br>
              <a:rPr lang="en-US" sz="5400" spc="-150" dirty="0">
                <a:solidFill>
                  <a:srgbClr val="FFFEFF"/>
                </a:solidFill>
                <a:latin typeface="+mj-lt"/>
                <a:ea typeface="+mj-ea"/>
                <a:cs typeface="+mj-cs"/>
              </a:rPr>
            </a:br>
            <a:r>
              <a:rPr lang="en-US" sz="5400" spc="-150" dirty="0">
                <a:solidFill>
                  <a:schemeClr val="tx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Elasticsearch</a:t>
            </a:r>
            <a:endParaRPr lang="ru-RU" dirty="0">
              <a:solidFill>
                <a:schemeClr val="tx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B538DC-A3D7-47FB-B513-987BBE972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153747"/>
            <a:ext cx="8915399" cy="3004457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Elasticsearch — это высоко масштабируемая распределенная поисковая система полнотекстового поиска и анализа данных с веб-интерфейсом, REST API и неформализованными JSON-</a:t>
            </a:r>
            <a:r>
              <a:rPr lang="en-US" sz="2000" b="0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документами</a:t>
            </a:r>
            <a:r>
              <a:rPr lang="en-US" sz="20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которая разработана на базе полнотекстового поиска Lucene и работает в режиме реального времени. Кроме того, Elasticsearch — это не реляционное хранилище документов в формате JSON, которое разработано на Java и выпущено как проект с открытым исходным кодом в соответствии с условиями лицензии Apache.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24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C82FD06-DC4A-4952-8D22-0ED30A43B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6996"/>
            <a:ext cx="8915400" cy="4754226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>
                <a:latin typeface="Calibri" panose="020F0502020204030204" pitchFamily="34" charset="0"/>
                <a:cs typeface="Calibri" panose="020F0502020204030204" pitchFamily="34" charset="0"/>
              </a:rPr>
              <a:t>Преимущества / Недостатки 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Продвинутые возможности поиска 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Расширяемость, плагины и т.д. 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Независимость, отдельный компонент 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Nosql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, произвольная структура данных. 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Производительность - время отклика 10 - 100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мс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Масштабируемость,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Кластеризация</a:t>
            </a:r>
          </a:p>
        </p:txBody>
      </p:sp>
    </p:spTree>
    <p:extLst>
      <p:ext uri="{BB962C8B-B14F-4D97-AF65-F5344CB8AC3E}">
        <p14:creationId xmlns:p14="http://schemas.microsoft.com/office/powerpoint/2010/main" val="395906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4B8F923-3F90-42EA-92DF-857E86AED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06286"/>
            <a:ext cx="8915400" cy="4604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latin typeface="Calibri" panose="020F0502020204030204" pitchFamily="34" charset="0"/>
                <a:cs typeface="Calibri" panose="020F0502020204030204" pitchFamily="34" charset="0"/>
              </a:rPr>
              <a:t>Преимущества / Недостатки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+ Использует Lucene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+ Полнотекстовый поиск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+ Документно-ориентированная БД, произвольная схема данных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+ Встроенное REST API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+ Расширяемость, плагины и т.д.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+ Производительность, масштабируемость, кластеризация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Только JSON, Достаточно сложные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Иногда непредсказуемые результаты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Не очень удобен именно для хранения данных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Безопасность по-умолчанию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363758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2183B59-B831-4CD2-830A-985044DC7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139" y="4711958"/>
            <a:ext cx="9666482" cy="1207911"/>
          </a:xfrm>
        </p:spPr>
        <p:txBody>
          <a:bodyPr/>
          <a:lstStyle/>
          <a:p>
            <a:r>
              <a:rPr lang="en-US" sz="1800" b="0" i="0" dirty="0">
                <a:latin typeface="Calibri" panose="020F0502020204030204" pitchFamily="34" charset="0"/>
                <a:cs typeface="Calibri" panose="020F0502020204030204" pitchFamily="34" charset="0"/>
              </a:rPr>
              <a:t>Elasticsearch —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Использует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полнотекстовый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индекс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поиска.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Он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в режиме реального времени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ищет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совпадения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словам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различных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ресурсах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выдает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результате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поиска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наиболее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подходящие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варианты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/>
          </a:p>
        </p:txBody>
      </p:sp>
      <p:pic>
        <p:nvPicPr>
          <p:cNvPr id="4" name="Рисунок 3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36AEF743-F1BA-42B9-B465-D3FBED597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26" y="687611"/>
            <a:ext cx="6792685" cy="38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8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2284C-3E27-4E89-8723-0255A4C96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9" y="624110"/>
            <a:ext cx="11056743" cy="57954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Синонимы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2ABCE30-9BCE-4BC0-8356-F5F9A5B96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96547"/>
            <a:ext cx="12192000" cy="329370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8FF600-9507-45AD-B857-79B1164E4576}"/>
              </a:ext>
            </a:extLst>
          </p:cNvPr>
          <p:cNvSpPr txBox="1"/>
          <p:nvPr/>
        </p:nvSpPr>
        <p:spPr>
          <a:xfrm>
            <a:off x="893405" y="1488433"/>
            <a:ext cx="89597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Равнозначные слова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законный -&gt; легальный, автомобиль -&gt; машина и т.д.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• Задаются при создании индекса</a:t>
            </a:r>
          </a:p>
        </p:txBody>
      </p:sp>
    </p:spTree>
    <p:extLst>
      <p:ext uri="{BB962C8B-B14F-4D97-AF65-F5344CB8AC3E}">
        <p14:creationId xmlns:p14="http://schemas.microsoft.com/office/powerpoint/2010/main" val="2046929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050F2-DDE6-4DA9-854A-4A7F1982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194" y="409506"/>
            <a:ext cx="4106455" cy="738159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Пример поиска</a:t>
            </a:r>
          </a:p>
        </p:txBody>
      </p:sp>
      <p:pic>
        <p:nvPicPr>
          <p:cNvPr id="6" name="Объект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15DDAE2-EBF4-4956-AF4F-6F95A91C4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482" y="1269843"/>
            <a:ext cx="6137987" cy="3810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63792-1BAD-428D-AEED-01868BCF22BC}"/>
              </a:ext>
            </a:extLst>
          </p:cNvPr>
          <p:cNvSpPr txBox="1"/>
          <p:nvPr/>
        </p:nvSpPr>
        <p:spPr>
          <a:xfrm>
            <a:off x="709127" y="5267950"/>
            <a:ext cx="10543591" cy="99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Если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ввести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любом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поисковике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какой-либо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запрос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(в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нашем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случае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это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яндекс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то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поисковик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начнет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выдавать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наиболее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совпадающие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варианты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заголовке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или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теле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поста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Также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подходящие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слова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будут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подсвечены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таким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образом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можно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понять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в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подходящем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ли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контексте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выдались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результаты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581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513F6-E6B2-4ED7-9037-89550EB4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946778"/>
            <a:ext cx="8911687" cy="812804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Сферы использования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Elasticsearch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DD52C-12C7-4895-88CE-E45357CFB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Данный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поисковый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движок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может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быть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использован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на 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самых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разных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приложениях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например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Интернет-магазины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Мессенджеры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др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Везде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где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нужно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что-то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найти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среди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большого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колличества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информации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этот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движок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необходим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 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Прочие поисковые системы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6721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3ACCA-3A5D-4497-8EF4-A0EB319D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5094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Стек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технологий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ELK: Logstash,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ElasticSearch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, Kibana, beats;</a:t>
            </a:r>
            <a:b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B57C93-281F-4239-8AF4-EC3E6A9C05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02954"/>
            <a:ext cx="1695270" cy="16989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7A5106-C374-4692-89E7-041D2C4DA8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600" y="2519198"/>
            <a:ext cx="3917400" cy="17826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825BCD-776C-40E8-9036-8E7C8A70C4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13" y="2602954"/>
            <a:ext cx="1701466" cy="170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28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37DDF9-4B7B-487D-8932-1DEE2ECB1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765110"/>
            <a:ext cx="8915400" cy="578498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ELK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состоит из трех основных компонентов с открытым исходным кодом, выпущенным компанией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“Elastic” (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бывшая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Elasticsearch)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 =&gt; Elasticsearch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Масштабируемое хранилище данных с широкими возможностями поиска)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 =&gt; Logstash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Инструмент для сбора, обогащения, фильтрации и маршрутизации данных, например журналов приложений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 =&gt; Kibana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Инструмент для исследования и визуализации данных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1883DA4-9D67-450B-BCEC-86F6D7495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696" y="4817892"/>
            <a:ext cx="1674143" cy="1253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EA8780E2-5767-401C-B6F1-C608C7CC0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89" y="5046995"/>
            <a:ext cx="495965" cy="79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0CB2AE4-BB80-4F51-911D-0F230BE001D5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988839" y="5444888"/>
            <a:ext cx="8532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9">
            <a:extLst>
              <a:ext uri="{FF2B5EF4-FFF2-40B4-BE49-F238E27FC236}">
                <a16:creationId xmlns:a16="http://schemas.microsoft.com/office/drawing/2014/main" id="{0388107A-D3B6-499B-B1DB-FFAF3342F147}"/>
              </a:ext>
            </a:extLst>
          </p:cNvPr>
          <p:cNvCxnSpPr>
            <a:stCxn id="5" idx="3"/>
          </p:cNvCxnSpPr>
          <p:nvPr/>
        </p:nvCxnSpPr>
        <p:spPr>
          <a:xfrm>
            <a:off x="6338054" y="5444888"/>
            <a:ext cx="64098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13">
            <a:extLst>
              <a:ext uri="{FF2B5EF4-FFF2-40B4-BE49-F238E27FC236}">
                <a16:creationId xmlns:a16="http://schemas.microsoft.com/office/drawing/2014/main" id="{9D3A4CB6-9586-4E5D-80A4-8B6477BC0A22}"/>
              </a:ext>
            </a:extLst>
          </p:cNvPr>
          <p:cNvCxnSpPr/>
          <p:nvPr/>
        </p:nvCxnSpPr>
        <p:spPr>
          <a:xfrm>
            <a:off x="8015457" y="5444889"/>
            <a:ext cx="7637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97F729-578F-4272-9692-E06EB64A6C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562" y="5081031"/>
            <a:ext cx="738925" cy="7405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B3CDD8-53B4-457B-9AA5-B48A6B361A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04" y="5015897"/>
            <a:ext cx="850953" cy="85277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AF89C30-C731-4BE7-A8C3-DCED9C993C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6549" y="5258899"/>
            <a:ext cx="857053" cy="371976"/>
          </a:xfrm>
          <a:prstGeom prst="rect">
            <a:avLst/>
          </a:prstGeom>
        </p:spPr>
      </p:pic>
      <p:sp>
        <p:nvSpPr>
          <p:cNvPr id="15" name="Textfeld 15">
            <a:extLst>
              <a:ext uri="{FF2B5EF4-FFF2-40B4-BE49-F238E27FC236}">
                <a16:creationId xmlns:a16="http://schemas.microsoft.com/office/drawing/2014/main" id="{132A7617-B9CD-4FE9-9197-4D4B19E76793}"/>
              </a:ext>
            </a:extLst>
          </p:cNvPr>
          <p:cNvSpPr txBox="1"/>
          <p:nvPr/>
        </p:nvSpPr>
        <p:spPr>
          <a:xfrm>
            <a:off x="5538881" y="589711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Logstash</a:t>
            </a:r>
          </a:p>
        </p:txBody>
      </p:sp>
      <p:sp>
        <p:nvSpPr>
          <p:cNvPr id="16" name="Textfeld 16">
            <a:extLst>
              <a:ext uri="{FF2B5EF4-FFF2-40B4-BE49-F238E27FC236}">
                <a16:creationId xmlns:a16="http://schemas.microsoft.com/office/drawing/2014/main" id="{FD5FC600-0536-4FF3-A7E4-AF80E848565C}"/>
              </a:ext>
            </a:extLst>
          </p:cNvPr>
          <p:cNvSpPr txBox="1"/>
          <p:nvPr/>
        </p:nvSpPr>
        <p:spPr>
          <a:xfrm>
            <a:off x="3882697" y="608189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Данные</a:t>
            </a:r>
            <a:endParaRPr lang="en-US" dirty="0"/>
          </a:p>
        </p:txBody>
      </p:sp>
      <p:sp>
        <p:nvSpPr>
          <p:cNvPr id="17" name="Textfeld 17">
            <a:extLst>
              <a:ext uri="{FF2B5EF4-FFF2-40B4-BE49-F238E27FC236}">
                <a16:creationId xmlns:a16="http://schemas.microsoft.com/office/drawing/2014/main" id="{58967A90-5751-4F43-8A5E-EFBAE150DE72}"/>
              </a:ext>
            </a:extLst>
          </p:cNvPr>
          <p:cNvSpPr txBox="1"/>
          <p:nvPr/>
        </p:nvSpPr>
        <p:spPr>
          <a:xfrm>
            <a:off x="9211289" y="602685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Kibana</a:t>
            </a:r>
          </a:p>
        </p:txBody>
      </p:sp>
    </p:spTree>
    <p:extLst>
      <p:ext uri="{BB962C8B-B14F-4D97-AF65-F5344CB8AC3E}">
        <p14:creationId xmlns:p14="http://schemas.microsoft.com/office/powerpoint/2010/main" val="393743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44DDB9B3-24AB-416A-838E-30DD30CD0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3322" y="4336966"/>
            <a:ext cx="9247835" cy="206383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Запрос PUT вставляет полезную нагрузку JSON в индекс с именем «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megacorp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» в качестве объекта типа «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»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Схема для типа может быть явно определена (во время создания индекса или автоматически)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Текстовое поле (например, «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») будет проанализировано, если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для этого поля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настроены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анализаторы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 URL запроса указан идентификатор «1» для записи объекта в индекс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4A4790D-5609-40E3-813B-CB9AA7DBA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921" y="305142"/>
            <a:ext cx="3527058" cy="49593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ElasticSearch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40D57-8D84-402F-818F-0539F3FF96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617"/>
            <a:ext cx="2657052" cy="2662741"/>
          </a:xfrm>
          <a:prstGeom prst="rect">
            <a:avLst/>
          </a:prstGeom>
        </p:spPr>
      </p:pic>
      <p:sp>
        <p:nvSpPr>
          <p:cNvPr id="7" name="Объект 4">
            <a:extLst>
              <a:ext uri="{FF2B5EF4-FFF2-40B4-BE49-F238E27FC236}">
                <a16:creationId xmlns:a16="http://schemas.microsoft.com/office/drawing/2014/main" id="{8BA701F2-F4FA-4E03-8839-B00AAA621C04}"/>
              </a:ext>
            </a:extLst>
          </p:cNvPr>
          <p:cNvSpPr txBox="1">
            <a:spLocks/>
          </p:cNvSpPr>
          <p:nvPr/>
        </p:nvSpPr>
        <p:spPr>
          <a:xfrm>
            <a:off x="2903626" y="801075"/>
            <a:ext cx="8582525" cy="49593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 API</a:t>
            </a:r>
            <a:endParaRPr lang="ru-RU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D230EA-B538-414D-AE45-884FCC258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621" y="1228649"/>
            <a:ext cx="8454321" cy="301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708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769863FA-5419-4F02-BFDB-434A3E0E9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537" y="5377944"/>
            <a:ext cx="8667536" cy="1114926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Вызов «GET» API REST с «/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megacorp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/1» извлечет запись с идентификатором 1 как объект JSON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A44B296-0159-4AF8-A9EE-FC0B992E7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6" y="2933067"/>
            <a:ext cx="3062512" cy="495933"/>
          </a:xfrm>
        </p:spPr>
        <p:txBody>
          <a:bodyPr>
            <a:normAutofit fontScale="90000"/>
          </a:bodyPr>
          <a:lstStyle/>
          <a:p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ElasticSearch</a:t>
            </a:r>
            <a:endParaRPr lang="ru-RU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C32FE99C-65EE-4E98-9A2D-E5FB1628065D}"/>
              </a:ext>
            </a:extLst>
          </p:cNvPr>
          <p:cNvSpPr txBox="1">
            <a:spLocks/>
          </p:cNvSpPr>
          <p:nvPr/>
        </p:nvSpPr>
        <p:spPr>
          <a:xfrm>
            <a:off x="2903626" y="801075"/>
            <a:ext cx="8582525" cy="49593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REST API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: получение записи из индекса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feld 4">
            <a:extLst>
              <a:ext uri="{FF2B5EF4-FFF2-40B4-BE49-F238E27FC236}">
                <a16:creationId xmlns:a16="http://schemas.microsoft.com/office/drawing/2014/main" id="{E94917B2-3501-45CB-96E2-FBA77D1CE721}"/>
              </a:ext>
            </a:extLst>
          </p:cNvPr>
          <p:cNvSpPr txBox="1"/>
          <p:nvPr/>
        </p:nvSpPr>
        <p:spPr>
          <a:xfrm>
            <a:off x="2818619" y="1168244"/>
            <a:ext cx="3733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/</a:t>
            </a:r>
            <a:r>
              <a:rPr lang="de-DE" sz="24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megacorp</a:t>
            </a:r>
            <a:r>
              <a:rPr lang="de-DE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DE" sz="24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de-DE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/1</a:t>
            </a:r>
            <a:endParaRPr lang="en-US" sz="2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0ED7080-37AB-456C-9D49-F2E00210A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422" y="1686375"/>
            <a:ext cx="6217602" cy="3635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37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2A973FCA-A6DD-4DD5-B5EC-0C49B14E6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621" y="1395663"/>
            <a:ext cx="3761874" cy="4688579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/</a:t>
            </a:r>
            <a:r>
              <a:rPr lang="en-US" sz="20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megacorp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/employee/_search</a:t>
            </a:r>
            <a:endParaRPr lang="ru-RU" sz="2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2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GET запрос с «_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» в конце URL выполняет запрос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поиска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Результаты поиска возвращаются в ответе JSON в виде массива «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hits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»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Другие метаданные содержат количество результатов поиска («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total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») и 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max_score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E683083-CCC5-4C8E-A440-C4233B27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365130"/>
            <a:ext cx="10910756" cy="49593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ElasticSearch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631BE3-0C28-46A6-ABB7-1A58033CF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4" y="2097629"/>
            <a:ext cx="2657052" cy="2662741"/>
          </a:xfrm>
          <a:prstGeom prst="rect">
            <a:avLst/>
          </a:prstGeom>
        </p:spPr>
      </p:pic>
      <p:sp>
        <p:nvSpPr>
          <p:cNvPr id="7" name="Объект 4">
            <a:extLst>
              <a:ext uri="{FF2B5EF4-FFF2-40B4-BE49-F238E27FC236}">
                <a16:creationId xmlns:a16="http://schemas.microsoft.com/office/drawing/2014/main" id="{EBA73C75-98E0-4448-914B-D2D00898A67F}"/>
              </a:ext>
            </a:extLst>
          </p:cNvPr>
          <p:cNvSpPr txBox="1">
            <a:spLocks/>
          </p:cNvSpPr>
          <p:nvPr/>
        </p:nvSpPr>
        <p:spPr>
          <a:xfrm>
            <a:off x="3911332" y="899730"/>
            <a:ext cx="2754163" cy="49593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Простой запрос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9CF2955-6695-4950-892C-2EE21BF6C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249" y="-1"/>
            <a:ext cx="5044751" cy="684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350358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1812</TotalTime>
  <Words>540</Words>
  <Application>Microsoft Office PowerPoint</Application>
  <PresentationFormat>Широкоэкранный</PresentationFormat>
  <Paragraphs>59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Bahnschrift Light</vt:lpstr>
      <vt:lpstr>Calibri</vt:lpstr>
      <vt:lpstr>Century Gothic</vt:lpstr>
      <vt:lpstr>Wingdings</vt:lpstr>
      <vt:lpstr>Wingdings 3</vt:lpstr>
      <vt:lpstr>Легкий дым</vt:lpstr>
      <vt:lpstr>` Elasticsearch</vt:lpstr>
      <vt:lpstr>Презентация PowerPoint</vt:lpstr>
      <vt:lpstr>Презентация PowerPoint</vt:lpstr>
      <vt:lpstr>Презентация PowerPoint</vt:lpstr>
      <vt:lpstr>Синонимы</vt:lpstr>
      <vt:lpstr>Пример поиска</vt:lpstr>
      <vt:lpstr>Сферы использования Elasticsearch</vt:lpstr>
      <vt:lpstr>Стек технологий ELK: Logstash, ElasticSearch, Kibana, beats; </vt:lpstr>
      <vt:lpstr>Презентация PowerPoint</vt:lpstr>
      <vt:lpstr>ElasticSearch</vt:lpstr>
      <vt:lpstr>ElasticSearch</vt:lpstr>
      <vt:lpstr>ElasticSearch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` Elasticsearch</dc:title>
  <dc:creator>Andrey Tokarchuk</dc:creator>
  <cp:lastModifiedBy>Andrey Tokarchuk</cp:lastModifiedBy>
  <cp:revision>5</cp:revision>
  <dcterms:created xsi:type="dcterms:W3CDTF">2022-04-06T09:06:40Z</dcterms:created>
  <dcterms:modified xsi:type="dcterms:W3CDTF">2022-04-07T17:03:26Z</dcterms:modified>
</cp:coreProperties>
</file>