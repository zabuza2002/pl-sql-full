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2" r:id="rId5"/>
    <p:sldId id="263" r:id="rId6"/>
    <p:sldId id="266" r:id="rId7"/>
    <p:sldId id="267" r:id="rId8"/>
    <p:sldId id="268" r:id="rId9"/>
    <p:sldId id="269" r:id="rId10"/>
    <p:sldId id="270" r:id="rId11"/>
    <p:sldId id="259" r:id="rId12"/>
    <p:sldId id="260" r:id="rId13"/>
    <p:sldId id="261" r:id="rId14"/>
    <p:sldId id="264" r:id="rId15"/>
    <p:sldId id="271" r:id="rId16"/>
    <p:sldId id="272"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0000"/>
    <a:srgbClr val="5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autoAdjust="0"/>
    <p:restoredTop sz="94660"/>
  </p:normalViewPr>
  <p:slideViewPr>
    <p:cSldViewPr snapToGrid="0">
      <p:cViewPr varScale="1">
        <p:scale>
          <a:sx n="95" d="100"/>
          <a:sy n="95" d="100"/>
        </p:scale>
        <p:origin x="33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4A6AD6-E778-4DFA-9F5F-9E12A08FE9B1}"/>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1BFBF79-4B0E-4E83-86F8-F181A53F8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2E8D359-26F1-49FE-884C-DE4F1D1613A0}"/>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24B27F90-CA0D-4DCC-83D0-5CFE4E286AC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FD701F3-83A0-455F-8706-1F8ACC6A6854}"/>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385591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3ED328-3976-48A5-9F9D-5C2D3F68637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7EAD3D6-AABC-4B6B-BF41-301E4F13F506}"/>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AC36FDD-4A7A-4A5E-8E27-38AB1B75F5C4}"/>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F726C4D7-8DE3-4F35-AE75-0E78F591048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D55BE63-A28B-4AC5-8ED3-F6657B51901E}"/>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322120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BC7792-9E5B-465B-931E-E49CCEEC5C10}"/>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0326CF3-A2E9-4502-BE89-A30D70026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B6C7A00-4889-4869-969F-D1DED1FA7116}"/>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89BCC7F1-FEAD-44CE-A934-9C825C4605B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331354A-6412-4134-8237-B9A16BE40337}"/>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1466377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65AF41-4A5F-42AF-8BD8-26E83741B56D}"/>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556156A-1768-4F4C-8648-0B8C6BDEBED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FC06BDE4-83A1-42E2-9A5C-3049DD517BB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04B24E9F-B3F2-4F8A-BB35-3BD639397DFF}"/>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6" name="Нижний колонтитул 5">
            <a:extLst>
              <a:ext uri="{FF2B5EF4-FFF2-40B4-BE49-F238E27FC236}">
                <a16:creationId xmlns:a16="http://schemas.microsoft.com/office/drawing/2014/main" id="{7C289C2A-82F1-4D63-9A27-A5600CBF253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9AB138B-3CA6-4AE3-8307-2F1632A0E177}"/>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1937548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C4507C-BA9B-4D51-98A5-AFC3B5CBEB9F}"/>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50BECB2-4130-430A-927F-A878F61C6E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69B4D5F4-5685-4941-B781-97F832C70C34}"/>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4ED02EB-DB0B-41E3-886E-A1D2CF0A51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522F6BF-1DDD-436F-ABA8-4DB9F0C14E0E}"/>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6D9FE12-010B-4334-8D3A-5BF1A2A83C2A}"/>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8" name="Нижний колонтитул 7">
            <a:extLst>
              <a:ext uri="{FF2B5EF4-FFF2-40B4-BE49-F238E27FC236}">
                <a16:creationId xmlns:a16="http://schemas.microsoft.com/office/drawing/2014/main" id="{D6835BA5-59C1-4955-AC83-26B8518BDD3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3257095D-3A0C-4E4E-9B12-08AFBE620E3B}"/>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46776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388EF8-C774-49F8-B191-CAFF9986ABA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59215F63-5045-4467-9BA4-B0E14D731D56}"/>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4" name="Нижний колонтитул 3">
            <a:extLst>
              <a:ext uri="{FF2B5EF4-FFF2-40B4-BE49-F238E27FC236}">
                <a16:creationId xmlns:a16="http://schemas.microsoft.com/office/drawing/2014/main" id="{A3E0AB33-3B56-4AC5-B2EB-B19C5B2A16A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A837428-D53F-462C-9873-5A61C528D734}"/>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399883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07526BEE-3D6B-40EE-AB42-06D5CED91604}"/>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3" name="Нижний колонтитул 2">
            <a:extLst>
              <a:ext uri="{FF2B5EF4-FFF2-40B4-BE49-F238E27FC236}">
                <a16:creationId xmlns:a16="http://schemas.microsoft.com/office/drawing/2014/main" id="{F9EEDCD7-D7D7-41CD-B512-E64E92E628D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7D1B540-3909-40CD-8383-0F85C26431F6}"/>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801185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F55950-FEFD-428C-A9FE-7F356EBE1B7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DB729B6-007F-4127-86E7-26CF2DEB1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1E96B6A4-E35B-43FF-81B7-E68AACA4D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66BA9F7-ABB1-4E73-9D5D-1C8B3B0FAEDD}"/>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6" name="Нижний колонтитул 5">
            <a:extLst>
              <a:ext uri="{FF2B5EF4-FFF2-40B4-BE49-F238E27FC236}">
                <a16:creationId xmlns:a16="http://schemas.microsoft.com/office/drawing/2014/main" id="{AC5AE895-5B85-4A39-BBE8-EBB08EF5036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7BE4570-0D70-4361-B21A-0807464F58F4}"/>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77632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1E1B60-BBCD-407E-92DC-13EB3F77CD7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677D5B2-F08A-4B16-AE7F-A104FC6D8C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46DC6A5-2E28-4E69-B1D1-D7C269B61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21432AE-86D9-40EE-9246-36F5787473DD}"/>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6" name="Нижний колонтитул 5">
            <a:extLst>
              <a:ext uri="{FF2B5EF4-FFF2-40B4-BE49-F238E27FC236}">
                <a16:creationId xmlns:a16="http://schemas.microsoft.com/office/drawing/2014/main" id="{6D461CE0-8CD8-455F-B8AB-C7709778B08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B89F5B2-E3F0-4251-A8B8-0BE67213BAE3}"/>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3367220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51A83C-CC36-4E9A-BB54-7C48264440D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0786C030-0B8B-4273-A458-A2268ABC09F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AE040DA-CCF1-415F-AF1D-741008587FAE}"/>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6CDFEF7B-43B8-4D5E-A38E-43304588B53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E1090EB-75A2-4B90-BAA1-79D7C6ED8FBC}"/>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1671341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502385C-2ADC-4C4D-AE4E-9EB44306E3B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D42A320-9CC7-44DD-9398-E8B2E76D664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35DB969-F71C-4364-BF70-A5894459B041}"/>
              </a:ext>
            </a:extLst>
          </p:cNvPr>
          <p:cNvSpPr>
            <a:spLocks noGrp="1"/>
          </p:cNvSpPr>
          <p:nvPr>
            <p:ph type="dt" sz="half" idx="10"/>
          </p:nvPr>
        </p:nvSpPr>
        <p:spPr/>
        <p:txBody>
          <a:body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0156D2EF-7B73-492F-A706-11765BBDDA5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EB17469-B220-42A4-910A-31BB16270D61}"/>
              </a:ext>
            </a:extLst>
          </p:cNvPr>
          <p:cNvSpPr>
            <a:spLocks noGrp="1"/>
          </p:cNvSpPr>
          <p:nvPr>
            <p:ph type="sldNum" sz="quarter" idx="12"/>
          </p:nvPr>
        </p:nvSpPr>
        <p:spPr/>
        <p:txBody>
          <a:bodyPr/>
          <a:lstStyle/>
          <a:p>
            <a:fld id="{1B896200-E8C7-4610-9EBD-59C75D7AA3A3}" type="slidenum">
              <a:rPr lang="ru-RU" smtClean="0"/>
              <a:t>‹#›</a:t>
            </a:fld>
            <a:endParaRPr lang="ru-RU"/>
          </a:p>
        </p:txBody>
      </p:sp>
    </p:spTree>
    <p:extLst>
      <p:ext uri="{BB962C8B-B14F-4D97-AF65-F5344CB8AC3E}">
        <p14:creationId xmlns:p14="http://schemas.microsoft.com/office/powerpoint/2010/main" val="297175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1FC68B-7504-49E4-B61E-B86BA8A4A4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9F2B7D4B-6B4F-4ECA-B397-72CC843E09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91D0933-6458-4B8E-8A89-EA11E37848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76823B-B49E-4AF9-97E6-A99339FA29EB}" type="datetimeFigureOut">
              <a:rPr lang="ru-RU" smtClean="0"/>
              <a:t>24.02.2022</a:t>
            </a:fld>
            <a:endParaRPr lang="ru-RU"/>
          </a:p>
        </p:txBody>
      </p:sp>
      <p:sp>
        <p:nvSpPr>
          <p:cNvPr id="5" name="Нижний колонтитул 4">
            <a:extLst>
              <a:ext uri="{FF2B5EF4-FFF2-40B4-BE49-F238E27FC236}">
                <a16:creationId xmlns:a16="http://schemas.microsoft.com/office/drawing/2014/main" id="{689C0EEE-C42F-4D97-8A52-F2660E0B62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FBBE568D-FBAC-4E05-8C26-8D92BE0814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896200-E8C7-4610-9EBD-59C75D7AA3A3}" type="slidenum">
              <a:rPr lang="ru-RU" smtClean="0"/>
              <a:t>‹#›</a:t>
            </a:fld>
            <a:endParaRPr lang="ru-RU"/>
          </a:p>
        </p:txBody>
      </p:sp>
    </p:spTree>
    <p:extLst>
      <p:ext uri="{BB962C8B-B14F-4D97-AF65-F5344CB8AC3E}">
        <p14:creationId xmlns:p14="http://schemas.microsoft.com/office/powerpoint/2010/main" val="220658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28869BD2-EA5D-4598-B9D3-136D9E4E23A0}"/>
              </a:ext>
            </a:extLst>
          </p:cNvPr>
          <p:cNvSpPr>
            <a:spLocks noGrp="1"/>
          </p:cNvSpPr>
          <p:nvPr>
            <p:ph type="ctrTitle"/>
          </p:nvPr>
        </p:nvSpPr>
        <p:spPr bwMode="white">
          <a:xfrm>
            <a:off x="1524000" y="1652395"/>
            <a:ext cx="9144000" cy="2387600"/>
          </a:xfrm>
        </p:spPr>
        <p:txBody>
          <a:bodyPr/>
          <a:lstStyle/>
          <a:p>
            <a:r>
              <a:rPr lang="ru-RU" dirty="0">
                <a:latin typeface="Times New Roman" panose="02020603050405020304" pitchFamily="18" charset="0"/>
                <a:cs typeface="Times New Roman" panose="02020603050405020304" pitchFamily="18" charset="0"/>
              </a:rPr>
              <a:t>Индексы таблиц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PL/SQL</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72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A4D32A-B2AC-4BD8-B456-D0F06FD8AD8D}"/>
              </a:ext>
            </a:extLst>
          </p:cNvPr>
          <p:cNvSpPr>
            <a:spLocks noGrp="1"/>
          </p:cNvSpPr>
          <p:nvPr>
            <p:ph type="title"/>
          </p:nvPr>
        </p:nvSpPr>
        <p:spPr>
          <a:xfrm>
            <a:off x="838200" y="719068"/>
            <a:ext cx="10515600" cy="315912"/>
          </a:xfrm>
        </p:spPr>
        <p:txBody>
          <a:bodyPr>
            <a:normAutofit fontScale="90000"/>
          </a:bodyPr>
          <a:lstStyle/>
          <a:p>
            <a:r>
              <a:rPr lang="ru-RU" dirty="0">
                <a:latin typeface="Times New Roman" panose="02020603050405020304" pitchFamily="18" charset="0"/>
                <a:ea typeface="Calibri" panose="020F0502020204030204" pitchFamily="34" charset="0"/>
                <a:cs typeface="Times New Roman" panose="02020603050405020304" pitchFamily="18" charset="0"/>
              </a:rPr>
              <a:t>Проектирование индексов</a:t>
            </a:r>
            <a:endParaRPr lang="ru-RU" dirty="0"/>
          </a:p>
        </p:txBody>
      </p:sp>
      <p:sp>
        <p:nvSpPr>
          <p:cNvPr id="3" name="Объект 2">
            <a:extLst>
              <a:ext uri="{FF2B5EF4-FFF2-40B4-BE49-F238E27FC236}">
                <a16:creationId xmlns:a16="http://schemas.microsoft.com/office/drawing/2014/main" id="{BB400842-8B87-4965-82A2-8314BAEFFD95}"/>
              </a:ext>
            </a:extLst>
          </p:cNvPr>
          <p:cNvSpPr>
            <a:spLocks noGrp="1"/>
          </p:cNvSpPr>
          <p:nvPr>
            <p:ph idx="1"/>
          </p:nvPr>
        </p:nvSpPr>
        <p:spPr>
          <a:xfrm>
            <a:off x="838200" y="1034980"/>
            <a:ext cx="10515600" cy="5141983"/>
          </a:xfrm>
        </p:spPr>
        <p:txBody>
          <a:bodyPr/>
          <a:lstStyle/>
          <a:p>
            <a:pPr marL="0" indent="0">
              <a:lnSpc>
                <a:spcPct val="107000"/>
              </a:lnSpc>
              <a:spcAft>
                <a:spcPts val="800"/>
              </a:spcAft>
              <a:buNone/>
            </a:pPr>
            <a:endParaRPr lang="ru-RU" sz="18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ru-RU" sz="18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Индексы могут как улучшить, так и ухудшить производительность системы.</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rPr>
              <a:t>Насколько полезны индексы могут быть, настолько аккуратно они должны быть спроектированы. Поскольку индексы могут занимать значительное дисковое пространство, не рекомендуется создавать индексов больше, чем необходимо. В дополнение, индексы автоматически обновляются, когда сама строка с данными обновляется, что может привести к дополнительным накладным расходам ресурсов и падению производительности. </a:t>
            </a:r>
            <a:endParaRPr lang="ru-RU" dirty="0"/>
          </a:p>
        </p:txBody>
      </p:sp>
    </p:spTree>
    <p:extLst>
      <p:ext uri="{BB962C8B-B14F-4D97-AF65-F5344CB8AC3E}">
        <p14:creationId xmlns:p14="http://schemas.microsoft.com/office/powerpoint/2010/main" val="189453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ABF150-5E09-4465-9C14-DC0869FA65BB}"/>
              </a:ext>
            </a:extLst>
          </p:cNvPr>
          <p:cNvSpPr>
            <a:spLocks noGrp="1"/>
          </p:cNvSpPr>
          <p:nvPr>
            <p:ph type="title"/>
          </p:nvPr>
        </p:nvSpPr>
        <p:spPr>
          <a:xfrm>
            <a:off x="838200" y="365125"/>
            <a:ext cx="10647066" cy="448791"/>
          </a:xfrm>
        </p:spPr>
        <p:txBody>
          <a:bodyPr>
            <a:normAutofit fontScale="90000"/>
          </a:bodyPr>
          <a:lstStyle/>
          <a:p>
            <a:r>
              <a:rPr lang="ru-RU" sz="2800" dirty="0" err="1">
                <a:effectLst/>
                <a:latin typeface="Times New Roman" panose="02020603050405020304" pitchFamily="18" charset="0"/>
                <a:ea typeface="Times New Roman" panose="02020603050405020304" pitchFamily="18" charset="0"/>
                <a:cs typeface="Times New Roman" panose="02020603050405020304" pitchFamily="18" charset="0"/>
              </a:rPr>
              <a:t>Кластеризованные</a:t>
            </a:r>
            <a:r>
              <a:rPr lang="ru-RU"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ru-RU"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cs typeface="Times New Roman" panose="02020603050405020304" pitchFamily="18" charset="0"/>
              </a:rPr>
              <a:t>н</a:t>
            </a:r>
            <a:r>
              <a:rPr lang="ru-RU" sz="2800" dirty="0" err="1">
                <a:effectLst/>
                <a:latin typeface="Times New Roman" panose="02020603050405020304" pitchFamily="18" charset="0"/>
                <a:ea typeface="Times New Roman" panose="02020603050405020304" pitchFamily="18" charset="0"/>
                <a:cs typeface="Times New Roman" panose="02020603050405020304" pitchFamily="18" charset="0"/>
              </a:rPr>
              <a:t>екластеризованные</a:t>
            </a:r>
            <a:r>
              <a:rPr lang="ru-RU" sz="2800" dirty="0">
                <a:effectLst/>
                <a:latin typeface="Times New Roman" panose="02020603050405020304" pitchFamily="18" charset="0"/>
                <a:ea typeface="Times New Roman" panose="02020603050405020304" pitchFamily="18" charset="0"/>
                <a:cs typeface="Times New Roman" panose="02020603050405020304" pitchFamily="18" charset="0"/>
              </a:rPr>
              <a:t> индексы</a:t>
            </a:r>
            <a:endParaRPr lang="ru-RU" sz="2800" dirty="0"/>
          </a:p>
        </p:txBody>
      </p:sp>
      <p:sp>
        <p:nvSpPr>
          <p:cNvPr id="3" name="Объект 2">
            <a:extLst>
              <a:ext uri="{FF2B5EF4-FFF2-40B4-BE49-F238E27FC236}">
                <a16:creationId xmlns:a16="http://schemas.microsoft.com/office/drawing/2014/main" id="{7D4A4762-487E-4F3D-BAFE-D469DCB020CE}"/>
              </a:ext>
            </a:extLst>
          </p:cNvPr>
          <p:cNvSpPr>
            <a:spLocks noGrp="1"/>
          </p:cNvSpPr>
          <p:nvPr>
            <p:ph idx="1"/>
          </p:nvPr>
        </p:nvSpPr>
        <p:spPr>
          <a:xfrm>
            <a:off x="838200" y="984738"/>
            <a:ext cx="10456147" cy="5192225"/>
          </a:xfrm>
        </p:spPr>
        <p:txBody>
          <a:bodyPr>
            <a:normAutofit fontScale="92500" lnSpcReduction="20000"/>
          </a:bodyPr>
          <a:lstStyle/>
          <a:p>
            <a:pPr>
              <a:lnSpc>
                <a:spcPct val="110000"/>
              </a:lnSpc>
              <a:spcBef>
                <a:spcPts val="500"/>
              </a:spcBef>
            </a:pPr>
            <a:r>
              <a:rPr lang="ru-RU" sz="1800" i="1" dirty="0" err="1">
                <a:effectLst/>
                <a:latin typeface="Times New Roman" panose="02020603050405020304" pitchFamily="18" charset="0"/>
                <a:ea typeface="Times New Roman" panose="02020603050405020304" pitchFamily="18" charset="0"/>
              </a:rPr>
              <a:t>Кластеризованный</a:t>
            </a:r>
            <a:r>
              <a:rPr lang="ru-RU" sz="1800" i="1" dirty="0">
                <a:effectLst/>
                <a:latin typeface="Times New Roman" panose="02020603050405020304" pitchFamily="18" charset="0"/>
                <a:ea typeface="Times New Roman" panose="02020603050405020304" pitchFamily="18" charset="0"/>
              </a:rPr>
              <a:t> индекс </a:t>
            </a:r>
            <a:r>
              <a:rPr lang="ru-RU" sz="1600" dirty="0">
                <a:effectLst/>
                <a:latin typeface="Times New Roman" panose="02020603050405020304" pitchFamily="18" charset="0"/>
                <a:ea typeface="Times New Roman" panose="02020603050405020304" pitchFamily="18" charset="0"/>
              </a:rPr>
              <a:t>хранит реальные строки данных в листьях индекса. Важной характеристикой </a:t>
            </a:r>
            <a:r>
              <a:rPr lang="ru-RU" sz="1600" dirty="0" err="1">
                <a:effectLst/>
                <a:latin typeface="Times New Roman" panose="02020603050405020304" pitchFamily="18" charset="0"/>
                <a:ea typeface="Times New Roman" panose="02020603050405020304" pitchFamily="18" charset="0"/>
              </a:rPr>
              <a:t>кластеризованного</a:t>
            </a:r>
            <a:r>
              <a:rPr lang="ru-RU" sz="1600" dirty="0">
                <a:effectLst/>
                <a:latin typeface="Times New Roman" panose="02020603050405020304" pitchFamily="18" charset="0"/>
                <a:ea typeface="Times New Roman" panose="02020603050405020304" pitchFamily="18" charset="0"/>
              </a:rPr>
              <a:t> индекса является то, что </a:t>
            </a:r>
            <a:r>
              <a:rPr lang="ru-RU" sz="1600" u="sng" dirty="0">
                <a:effectLst/>
                <a:latin typeface="Times New Roman" panose="02020603050405020304" pitchFamily="18" charset="0"/>
                <a:ea typeface="Times New Roman" panose="02020603050405020304" pitchFamily="18" charset="0"/>
              </a:rPr>
              <a:t>все значения отсортированы </a:t>
            </a:r>
            <a:r>
              <a:rPr lang="ru-RU" sz="1600" dirty="0">
                <a:effectLst/>
                <a:latin typeface="Times New Roman" panose="02020603050405020304" pitchFamily="18" charset="0"/>
                <a:ea typeface="Times New Roman" panose="02020603050405020304" pitchFamily="18" charset="0"/>
              </a:rPr>
              <a:t>в определенном порядке либо возрастания, либо убывания. Таким образом, таблица или представление может иметь только один </a:t>
            </a:r>
            <a:r>
              <a:rPr lang="ru-RU" sz="1600" dirty="0" err="1">
                <a:effectLst/>
                <a:latin typeface="Times New Roman" panose="02020603050405020304" pitchFamily="18" charset="0"/>
                <a:ea typeface="Times New Roman" panose="02020603050405020304" pitchFamily="18" charset="0"/>
              </a:rPr>
              <a:t>кластеризованный</a:t>
            </a:r>
            <a:r>
              <a:rPr lang="ru-RU" sz="1600" dirty="0">
                <a:effectLst/>
                <a:latin typeface="Times New Roman" panose="02020603050405020304" pitchFamily="18" charset="0"/>
                <a:ea typeface="Times New Roman" panose="02020603050405020304" pitchFamily="18" charset="0"/>
              </a:rPr>
              <a:t> индекс.</a:t>
            </a:r>
          </a:p>
          <a:p>
            <a:pPr marL="0" indent="0">
              <a:lnSpc>
                <a:spcPct val="110000"/>
              </a:lnSpc>
              <a:spcBef>
                <a:spcPts val="500"/>
              </a:spcBef>
              <a:spcAft>
                <a:spcPts val="500"/>
              </a:spcAft>
              <a:buNone/>
            </a:pPr>
            <a:r>
              <a:rPr lang="ru-RU" sz="1600" dirty="0">
                <a:latin typeface="Times New Roman" panose="02020603050405020304" pitchFamily="18" charset="0"/>
                <a:ea typeface="Times New Roman" panose="02020603050405020304" pitchFamily="18" charset="0"/>
              </a:rPr>
              <a:t>Создание </a:t>
            </a:r>
            <a:r>
              <a:rPr lang="ru-RU" sz="1600" dirty="0" err="1">
                <a:latin typeface="Times New Roman" panose="02020603050405020304" pitchFamily="18" charset="0"/>
                <a:ea typeface="Times New Roman" panose="02020603050405020304" pitchFamily="18" charset="0"/>
              </a:rPr>
              <a:t>к</a:t>
            </a:r>
            <a:r>
              <a:rPr lang="ru-RU" sz="1600" dirty="0" err="1">
                <a:effectLst/>
                <a:latin typeface="Times New Roman" panose="02020603050405020304" pitchFamily="18" charset="0"/>
                <a:ea typeface="Times New Roman" panose="02020603050405020304" pitchFamily="18" charset="0"/>
              </a:rPr>
              <a:t>ластеризованного</a:t>
            </a:r>
            <a:r>
              <a:rPr lang="ru-RU" sz="1600" dirty="0">
                <a:effectLst/>
                <a:latin typeface="Times New Roman" panose="02020603050405020304" pitchFamily="18" charset="0"/>
                <a:ea typeface="Times New Roman" panose="02020603050405020304" pitchFamily="18" charset="0"/>
              </a:rPr>
              <a:t> индекса</a:t>
            </a:r>
          </a:p>
          <a:p>
            <a:pPr marL="0" indent="0">
              <a:lnSpc>
                <a:spcPct val="110000"/>
              </a:lnSpc>
              <a:spcBef>
                <a:spcPts val="500"/>
              </a:spcBef>
              <a:spcAft>
                <a:spcPts val="500"/>
              </a:spcAft>
              <a:buNone/>
            </a:pP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CREATE CLUSTERED INDEX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имя_индекса</a:t>
            </a:r>
            <a:r>
              <a:rPr lang="ru-RU" sz="1600" dirty="0">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ON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dbo.название_таблицы</a:t>
            </a:r>
            <a:r>
              <a:rPr lang="ru-RU" sz="1600" dirty="0">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столбец_таблицы</a:t>
            </a: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10000"/>
              </a:lnSpc>
              <a:spcBef>
                <a:spcPts val="500"/>
              </a:spcBef>
              <a:spcAft>
                <a:spcPts val="500"/>
              </a:spcAft>
              <a:buNone/>
            </a:pP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При запуске следующего скрипта все строки в таблице будут физически отсортированы сначала по столбцу </a:t>
            </a:r>
            <a:r>
              <a:rPr lang="ru-RU" sz="1600"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а затем по </a:t>
            </a:r>
            <a:r>
              <a:rPr lang="ru-RU" sz="1600" dirty="0" err="1">
                <a:effectLst/>
                <a:latin typeface="Times New Roman" panose="02020603050405020304" pitchFamily="18" charset="0"/>
                <a:ea typeface="Calibri" panose="020F0502020204030204" pitchFamily="34" charset="0"/>
                <a:cs typeface="Times New Roman" panose="02020603050405020304" pitchFamily="18" charset="0"/>
              </a:rPr>
              <a:t>LineID</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но сами данные останутся в единственном логическом блоке, в таблице. По этой причине нельзя создать два </a:t>
            </a:r>
            <a:r>
              <a:rPr lang="ru-RU" sz="16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кластеризованных</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индекса. Может быть только одна таблица с одними данными и эта таблица может быть отсортирована только один раз в определенном порядке.</a:t>
            </a:r>
          </a:p>
          <a:p>
            <a:pPr marL="0" indent="0">
              <a:lnSpc>
                <a:spcPct val="110000"/>
              </a:lnSpc>
              <a:spcBef>
                <a:spcPts val="500"/>
              </a:spcBef>
              <a:spcAft>
                <a:spcPts val="500"/>
              </a:spcAft>
              <a:buNone/>
            </a:pPr>
            <a:r>
              <a:rPr lang="ru-RU" sz="1600" b="1" i="0" dirty="0">
                <a:solidFill>
                  <a:srgbClr val="8959A8"/>
                </a:solidFill>
                <a:effectLst/>
                <a:latin typeface="Times New Roman" panose="02020603050405020304" pitchFamily="18" charset="0"/>
                <a:cs typeface="Times New Roman" panose="02020603050405020304" pitchFamily="18" charset="0"/>
              </a:rPr>
              <a:t>	</a:t>
            </a:r>
            <a:r>
              <a:rPr lang="en-US" sz="1600" b="1" i="0" dirty="0">
                <a:solidFill>
                  <a:srgbClr val="8959A8"/>
                </a:solidFill>
                <a:effectLst/>
                <a:latin typeface="Times New Roman" panose="02020603050405020304" pitchFamily="18" charset="0"/>
                <a:cs typeface="Times New Roman" panose="02020603050405020304" pitchFamily="18" charset="0"/>
              </a:rPr>
              <a:t>CREATE</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1" i="0" dirty="0">
                <a:solidFill>
                  <a:srgbClr val="8959A8"/>
                </a:solidFill>
                <a:effectLst/>
                <a:latin typeface="Times New Roman" panose="02020603050405020304" pitchFamily="18" charset="0"/>
                <a:cs typeface="Times New Roman" panose="02020603050405020304" pitchFamily="18" charset="0"/>
              </a:rPr>
              <a:t>UNIQUE</a:t>
            </a:r>
            <a:r>
              <a:rPr lang="en-US" sz="1600" b="0" i="0" dirty="0">
                <a:solidFill>
                  <a:srgbClr val="4D4D4C"/>
                </a:solidFill>
                <a:effectLst/>
                <a:latin typeface="Times New Roman" panose="02020603050405020304" pitchFamily="18" charset="0"/>
                <a:cs typeface="Times New Roman" panose="02020603050405020304" pitchFamily="18" charset="0"/>
              </a:rPr>
              <a:t> CLUSTERED </a:t>
            </a:r>
            <a:r>
              <a:rPr lang="en-US" sz="1600" b="1" i="0" dirty="0">
                <a:solidFill>
                  <a:srgbClr val="8959A8"/>
                </a:solidFill>
                <a:effectLst/>
                <a:latin typeface="Times New Roman" panose="02020603050405020304" pitchFamily="18" charset="0"/>
                <a:cs typeface="Times New Roman" panose="02020603050405020304" pitchFamily="18" charset="0"/>
              </a:rPr>
              <a:t>INDEX</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0" i="0" dirty="0" err="1">
                <a:solidFill>
                  <a:srgbClr val="4D4D4C"/>
                </a:solidFill>
                <a:effectLst/>
                <a:latin typeface="Times New Roman" panose="02020603050405020304" pitchFamily="18" charset="0"/>
                <a:cs typeface="Times New Roman" panose="02020603050405020304" pitchFamily="18" charset="0"/>
              </a:rPr>
              <a:t>ix_oriderid_lineid</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1" i="0" dirty="0">
                <a:solidFill>
                  <a:srgbClr val="8959A8"/>
                </a:solidFill>
                <a:effectLst/>
                <a:latin typeface="Times New Roman" panose="02020603050405020304" pitchFamily="18" charset="0"/>
                <a:cs typeface="Times New Roman" panose="02020603050405020304" pitchFamily="18" charset="0"/>
              </a:rPr>
              <a:t>ON</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0" i="0" dirty="0" err="1">
                <a:solidFill>
                  <a:srgbClr val="4D4D4C"/>
                </a:solidFill>
                <a:effectLst/>
                <a:latin typeface="Times New Roman" panose="02020603050405020304" pitchFamily="18" charset="0"/>
                <a:cs typeface="Times New Roman" panose="02020603050405020304" pitchFamily="18" charset="0"/>
              </a:rPr>
              <a:t>dbo.Sales</a:t>
            </a:r>
            <a:r>
              <a:rPr lang="en-US" sz="1600" b="0" i="0" dirty="0">
                <a:solidFill>
                  <a:srgbClr val="4D4D4C"/>
                </a:solidFill>
                <a:effectLst/>
                <a:latin typeface="Times New Roman" panose="02020603050405020304" pitchFamily="18" charset="0"/>
                <a:cs typeface="Times New Roman" panose="02020603050405020304" pitchFamily="18" charset="0"/>
              </a:rPr>
              <a:t>(</a:t>
            </a:r>
            <a:r>
              <a:rPr lang="en-US" sz="1600" b="0" i="0" dirty="0" err="1">
                <a:solidFill>
                  <a:srgbClr val="4D4D4C"/>
                </a:solidFill>
                <a:effectLst/>
                <a:latin typeface="Times New Roman" panose="02020603050405020304" pitchFamily="18" charset="0"/>
                <a:cs typeface="Times New Roman" panose="02020603050405020304" pitchFamily="18" charset="0"/>
              </a:rPr>
              <a:t>OrderID</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0" i="0" dirty="0" err="1">
                <a:solidFill>
                  <a:srgbClr val="4D4D4C"/>
                </a:solidFill>
                <a:effectLst/>
                <a:latin typeface="Times New Roman" panose="02020603050405020304" pitchFamily="18" charset="0"/>
                <a:cs typeface="Times New Roman" panose="02020603050405020304" pitchFamily="18" charset="0"/>
              </a:rPr>
              <a:t>LineID</a:t>
            </a:r>
            <a:r>
              <a:rPr lang="en-US" sz="1600" b="0" i="0" dirty="0">
                <a:solidFill>
                  <a:srgbClr val="4D4D4C"/>
                </a:solidFill>
                <a:effectLst/>
                <a:latin typeface="Times New Roman" panose="02020603050405020304" pitchFamily="18" charset="0"/>
                <a:cs typeface="Times New Roman" panose="02020603050405020304" pitchFamily="18" charset="0"/>
              </a:rPr>
              <a:t>);</a:t>
            </a:r>
            <a:endParaRPr lang="ru-RU" sz="1600" b="0" i="0" dirty="0">
              <a:solidFill>
                <a:srgbClr val="4D4D4C"/>
              </a:solidFill>
              <a:effectLst/>
              <a:latin typeface="Times New Roman" panose="02020603050405020304" pitchFamily="18" charset="0"/>
              <a:cs typeface="Times New Roman" panose="02020603050405020304" pitchFamily="18" charset="0"/>
            </a:endParaRPr>
          </a:p>
          <a:p>
            <a:pPr marL="0" indent="0">
              <a:lnSpc>
                <a:spcPct val="110000"/>
              </a:lnSpc>
              <a:spcBef>
                <a:spcPts val="500"/>
              </a:spcBef>
              <a:spcAft>
                <a:spcPts val="500"/>
              </a:spcAft>
              <a:buNone/>
            </a:pP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Таблица, не имеющая </a:t>
            </a: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кластеризованного</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индекса, называется </a:t>
            </a:r>
            <a:r>
              <a:rPr lang="ru-RU" sz="1600" i="1"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кучей</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spcBef>
                <a:spcPts val="500"/>
              </a:spcBef>
              <a:spcAft>
                <a:spcPts val="500"/>
              </a:spcAft>
            </a:pPr>
            <a:r>
              <a:rPr lang="ru-RU" sz="1800" i="1"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Некластеризованный</a:t>
            </a:r>
            <a:r>
              <a:rPr lang="ru-RU" sz="1800" i="1"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a:t>
            </a:r>
            <a:endParaRPr lang="ru-RU" sz="18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0000"/>
              </a:lnSpc>
              <a:spcBef>
                <a:spcPts val="500"/>
              </a:spcBef>
              <a:spcAft>
                <a:spcPts val="500"/>
              </a:spcAft>
              <a:buNone/>
            </a:pP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В отличие от </a:t>
            </a: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кластеризованного</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индекса, листья </a:t>
            </a: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некластеризованного</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индекса содержат только те столбцы, по которым определен данный индекс, а также содержит указатель на строки с реальными данными в таблице.</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0000"/>
              </a:lnSpc>
              <a:spcBef>
                <a:spcPts val="500"/>
              </a:spcBef>
              <a:spcAft>
                <a:spcPts val="500"/>
              </a:spcAft>
              <a:buNone/>
            </a:pP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Некластеризованные</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индексы не могут быть отсортированы в отличие от </a:t>
            </a: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кластеризованных</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однако можно создать более одного </a:t>
            </a:r>
            <a:r>
              <a:rPr lang="ru-RU" sz="1600" dirty="0" err="1">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некластеризованного</a:t>
            </a:r>
            <a:r>
              <a:rPr lang="ru-RU" sz="1600" dirty="0">
                <a:solidFill>
                  <a:srgbClr val="111111"/>
                </a:solidFill>
                <a:effectLst/>
                <a:latin typeface="Times New Roman" panose="02020603050405020304" pitchFamily="18" charset="0"/>
                <a:ea typeface="Times New Roman" panose="02020603050405020304" pitchFamily="18" charset="0"/>
                <a:cs typeface="Times New Roman" panose="02020603050405020304" pitchFamily="18" charset="0"/>
              </a:rPr>
              <a:t> индекса на таблице или представлении, вплоть до 999.</a:t>
            </a:r>
          </a:p>
          <a:p>
            <a:pPr marL="0" indent="0">
              <a:lnSpc>
                <a:spcPct val="110000"/>
              </a:lnSpc>
              <a:spcBef>
                <a:spcPts val="500"/>
              </a:spcBef>
              <a:spcAft>
                <a:spcPts val="500"/>
              </a:spcAft>
              <a:buNone/>
            </a:pPr>
            <a:r>
              <a:rPr lang="ru-RU" sz="1600" dirty="0">
                <a:latin typeface="Times New Roman" panose="02020603050405020304" pitchFamily="18" charset="0"/>
                <a:ea typeface="Times New Roman" panose="02020603050405020304" pitchFamily="18" charset="0"/>
              </a:rPr>
              <a:t>Создание </a:t>
            </a:r>
            <a:r>
              <a:rPr lang="ru-RU" sz="1600" dirty="0" err="1">
                <a:latin typeface="Times New Roman" panose="02020603050405020304" pitchFamily="18" charset="0"/>
                <a:ea typeface="Times New Roman" panose="02020603050405020304" pitchFamily="18" charset="0"/>
              </a:rPr>
              <a:t>нек</a:t>
            </a:r>
            <a:r>
              <a:rPr lang="ru-RU" sz="1600" dirty="0" err="1">
                <a:effectLst/>
                <a:latin typeface="Times New Roman" panose="02020603050405020304" pitchFamily="18" charset="0"/>
                <a:ea typeface="Times New Roman" panose="02020603050405020304" pitchFamily="18" charset="0"/>
              </a:rPr>
              <a:t>ластеризованного</a:t>
            </a:r>
            <a:r>
              <a:rPr lang="ru-RU" sz="1600" dirty="0">
                <a:effectLst/>
                <a:latin typeface="Times New Roman" panose="02020603050405020304" pitchFamily="18" charset="0"/>
                <a:ea typeface="Times New Roman" panose="02020603050405020304" pitchFamily="18" charset="0"/>
              </a:rPr>
              <a:t> индекса</a:t>
            </a:r>
          </a:p>
          <a:p>
            <a:pPr marL="0" indent="0">
              <a:lnSpc>
                <a:spcPct val="110000"/>
              </a:lnSpc>
              <a:spcBef>
                <a:spcPts val="500"/>
              </a:spcBef>
              <a:spcAft>
                <a:spcPts val="500"/>
              </a:spcAft>
              <a:buNone/>
            </a:pP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CREATE NONCLUSTERED INDEX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имя_индекса</a:t>
            </a:r>
            <a:r>
              <a:rPr lang="ru-RU" sz="1600" dirty="0">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ON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dbo.название_таблицы</a:t>
            </a:r>
            <a:r>
              <a:rPr lang="ru-RU" sz="1600" dirty="0">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600" dirty="0" err="1">
                <a:solidFill>
                  <a:schemeClr val="bg2">
                    <a:lumMod val="2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столбец_таблицы</a:t>
            </a:r>
            <a:r>
              <a:rPr lang="ru-RU" sz="16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6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654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8E561A-CCD2-4F25-B864-F630D304775D}"/>
              </a:ext>
            </a:extLst>
          </p:cNvPr>
          <p:cNvSpPr>
            <a:spLocks noGrp="1"/>
          </p:cNvSpPr>
          <p:nvPr>
            <p:ph type="title"/>
          </p:nvPr>
        </p:nvSpPr>
        <p:spPr>
          <a:xfrm>
            <a:off x="838200" y="365126"/>
            <a:ext cx="10515600" cy="519130"/>
          </a:xfrm>
        </p:spPr>
        <p:txBody>
          <a:bodyPr>
            <a:normAutofit/>
          </a:bodyPr>
          <a:lstStyle/>
          <a:p>
            <a:r>
              <a:rPr lang="ru-RU" sz="25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Кластеризованный</a:t>
            </a:r>
            <a:r>
              <a:rPr lang="ru-RU" sz="2500" dirty="0">
                <a:effectLst/>
                <a:latin typeface="Times New Roman" panose="02020603050405020304" pitchFamily="18" charset="0"/>
                <a:ea typeface="Calibri" panose="020F0502020204030204" pitchFamily="34" charset="0"/>
                <a:cs typeface="Times New Roman" panose="02020603050405020304" pitchFamily="18" charset="0"/>
              </a:rPr>
              <a:t> индекс на столбце, содержащем дубликаты</a:t>
            </a:r>
            <a:endParaRPr lang="ru-RU" sz="2500" dirty="0"/>
          </a:p>
        </p:txBody>
      </p:sp>
      <p:sp>
        <p:nvSpPr>
          <p:cNvPr id="3" name="Объект 2">
            <a:extLst>
              <a:ext uri="{FF2B5EF4-FFF2-40B4-BE49-F238E27FC236}">
                <a16:creationId xmlns:a16="http://schemas.microsoft.com/office/drawing/2014/main" id="{6C036C19-B77C-42B5-A6C1-B6B7D9BFB909}"/>
              </a:ext>
            </a:extLst>
          </p:cNvPr>
          <p:cNvSpPr>
            <a:spLocks noGrp="1"/>
          </p:cNvSpPr>
          <p:nvPr>
            <p:ph idx="1"/>
          </p:nvPr>
        </p:nvSpPr>
        <p:spPr>
          <a:xfrm>
            <a:off x="838200" y="1085222"/>
            <a:ext cx="10515600" cy="5091741"/>
          </a:xfrm>
        </p:spPr>
        <p:txBody>
          <a:bodyPr>
            <a:normAutofit fontScale="92500" lnSpcReduction="10000"/>
          </a:bodyPr>
          <a:lstStyle/>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С одной стороны, мы можем создать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кластеризованный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 на ключевом столбце, содержащем дубликаты значений. С другой стороны, значения ключевого столбца не смогут остаться в состоянии не уникальности. Поэтому, если создаётся неуникальный кластерный индекс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non-unique</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clustered</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index</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на столбце, то подсистема хранения данных добавляет к дублирующему значению целочисленное значение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uniquifier</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чтобы удостовериться в уникальности и, соответственно, обеспечить возможность идентифицировать каждую строку в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кластеризованной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таблице.</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К примеру, можно создать в таблице с данными о клиентах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кластеризованный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 по столбцу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LastName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хранящим фамилию. Столбец содержит такие значения как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Franklin</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Hancock</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Washington и Smith</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Затем в таблицу добавляются значения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Adams</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Hancock</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Smith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и снова </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Smith</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Но поскольку значения ключевого столбца обязательно должны быть уникальным, то подсистема хранения данных изменит значение дубликатов таким образом, что они будут выглядеть примерно так: </a:t>
            </a:r>
            <a:r>
              <a:rPr lang="ru-RU" sz="1800" u="sng"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Adams</a:t>
            </a:r>
            <a:r>
              <a:rPr lang="ru-RU" sz="1800" u="sng"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u="sng"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Franklin</a:t>
            </a:r>
            <a:r>
              <a:rPr lang="ru-RU" sz="1800" u="sng"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u="sng"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Hancock</a:t>
            </a:r>
            <a:r>
              <a:rPr lang="ru-RU" sz="1800" u="sng"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Hancock1234, Washington, Smith, Smith4567 </a:t>
            </a:r>
            <a:r>
              <a:rPr lang="ru-RU" sz="1800" u="sng" dirty="0">
                <a:effectLst/>
                <a:latin typeface="Times New Roman" panose="02020603050405020304" pitchFamily="18" charset="0"/>
                <a:ea typeface="Calibri" panose="020F0502020204030204" pitchFamily="34" charset="0"/>
                <a:cs typeface="Times New Roman" panose="02020603050405020304" pitchFamily="18" charset="0"/>
              </a:rPr>
              <a:t>и</a:t>
            </a:r>
            <a:r>
              <a:rPr lang="ru-RU" sz="1800" u="sng"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Smith5678.</a:t>
            </a:r>
            <a:endParaRPr lang="ru-RU" sz="18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На первый взгляд такой подход кажется нормальным, но целочисленное значение увеличивает размер ключа, что может стать проблемой при большом количестве дубликатов, а эти значения станут основой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некластеризованного</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индекса или ссылкой внешнего ключа. По этим причинам нужно стараться создавать уникальный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кластеризованный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unique</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clustered</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indexes</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при любой возможности. </a:t>
            </a:r>
            <a:endParaRPr lang="ru-RU" dirty="0"/>
          </a:p>
        </p:txBody>
      </p:sp>
    </p:spTree>
    <p:extLst>
      <p:ext uri="{BB962C8B-B14F-4D97-AF65-F5344CB8AC3E}">
        <p14:creationId xmlns:p14="http://schemas.microsoft.com/office/powerpoint/2010/main" val="540193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B36DB-3009-41C8-9137-05ADAF448B43}"/>
              </a:ext>
            </a:extLst>
          </p:cNvPr>
          <p:cNvSpPr>
            <a:spLocks noGrp="1"/>
          </p:cNvSpPr>
          <p:nvPr>
            <p:ph type="title"/>
          </p:nvPr>
        </p:nvSpPr>
        <p:spPr>
          <a:xfrm>
            <a:off x="838200" y="365126"/>
            <a:ext cx="10515600" cy="418646"/>
          </a:xfrm>
        </p:spPr>
        <p:txBody>
          <a:bodyPr>
            <a:normAutofit fontScale="90000"/>
          </a:bodyPr>
          <a:lstStyle/>
          <a:p>
            <a:r>
              <a:rPr lang="ru-RU" sz="2500" dirty="0">
                <a:effectLst/>
                <a:latin typeface="Times New Roman" panose="02020603050405020304" pitchFamily="18" charset="0"/>
                <a:ea typeface="Calibri" panose="020F0502020204030204" pitchFamily="34" charset="0"/>
                <a:cs typeface="Times New Roman" panose="02020603050405020304" pitchFamily="18" charset="0"/>
              </a:rPr>
              <a:t>Преимущества покрывающего индекса взамен составного</a:t>
            </a:r>
            <a:endParaRPr lang="ru-RU" sz="2500" dirty="0"/>
          </a:p>
        </p:txBody>
      </p:sp>
      <p:sp>
        <p:nvSpPr>
          <p:cNvPr id="3" name="Объект 2">
            <a:extLst>
              <a:ext uri="{FF2B5EF4-FFF2-40B4-BE49-F238E27FC236}">
                <a16:creationId xmlns:a16="http://schemas.microsoft.com/office/drawing/2014/main" id="{64711884-000B-400D-9E43-092C99478F63}"/>
              </a:ext>
            </a:extLst>
          </p:cNvPr>
          <p:cNvSpPr>
            <a:spLocks noGrp="1"/>
          </p:cNvSpPr>
          <p:nvPr>
            <p:ph idx="1"/>
          </p:nvPr>
        </p:nvSpPr>
        <p:spPr>
          <a:xfrm>
            <a:off x="838200" y="904352"/>
            <a:ext cx="10515600" cy="5466303"/>
          </a:xfrm>
        </p:spPr>
        <p:txBody>
          <a:bodyPr>
            <a:normAutofit fontScale="85000" lnSpcReduction="10000"/>
          </a:bodyPr>
          <a:lstStyle/>
          <a:p>
            <a:pPr marL="0" indent="0">
              <a:lnSpc>
                <a:spcPct val="107000"/>
              </a:lnSpc>
              <a:spcBef>
                <a:spcPts val="500"/>
              </a:spcBef>
              <a:spcAft>
                <a:spcPts val="500"/>
              </a:spcAft>
              <a:buNone/>
              <a:tabLst>
                <a:tab pos="1184910" algn="l"/>
              </a:tabLst>
            </a:pPr>
            <a:r>
              <a:rPr lang="ru-RU" sz="1800" i="1" dirty="0">
                <a:effectLst/>
                <a:latin typeface="Times New Roman" panose="02020603050405020304" pitchFamily="18" charset="0"/>
                <a:ea typeface="Calibri" panose="020F0502020204030204" pitchFamily="34" charset="0"/>
                <a:cs typeface="Times New Roman" panose="02020603050405020304" pitchFamily="18" charset="0"/>
              </a:rPr>
              <a:t>Составной индекс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содержит несколько ключевых столбцов. И чем их больше, тем менее эффективна работа этого индекса.</a:t>
            </a:r>
            <a:r>
              <a:rPr lang="ru-RU"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500"/>
              </a:spcBef>
              <a:spcAft>
                <a:spcPts val="500"/>
              </a:spcAft>
              <a:buNone/>
              <a:tabLst>
                <a:tab pos="1184910" algn="l"/>
              </a:tabLst>
            </a:pPr>
            <a:r>
              <a:rPr lang="ru-RU" sz="1800" i="1" dirty="0">
                <a:effectLst/>
                <a:latin typeface="Times New Roman" panose="02020603050405020304" pitchFamily="18" charset="0"/>
                <a:ea typeface="Calibri" panose="020F0502020204030204" pitchFamily="34" charset="0"/>
                <a:cs typeface="Times New Roman" panose="02020603050405020304" pitchFamily="18" charset="0"/>
              </a:rPr>
              <a:t>Покрывающий индекс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позволяет конкретному запросу сразу получить все необходимые данные с листьев индекса без дополнительных обращений к записям самой таблицы.</a:t>
            </a:r>
            <a:r>
              <a:rPr lang="ru-RU"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500"/>
              </a:spcBef>
              <a:spcAft>
                <a:spcPts val="500"/>
              </a:spcAft>
              <a:buNone/>
              <a:tabLst>
                <a:tab pos="118491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При определении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некластеризованного</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индекса можно указать дополнительные столбцы к нашим ключевым. </a:t>
            </a:r>
          </a:p>
          <a:p>
            <a:pPr marL="0" indent="0">
              <a:lnSpc>
                <a:spcPct val="107000"/>
              </a:lnSpc>
              <a:spcBef>
                <a:spcPts val="500"/>
              </a:spcBef>
              <a:spcAft>
                <a:spcPts val="500"/>
              </a:spcAft>
              <a:buNone/>
              <a:tabLst>
                <a:tab pos="118491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Например, необходимо часто запрашивать данные столбцов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OrderDate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в таблице Sales:</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500"/>
              </a:spcBef>
              <a:buNone/>
              <a:tabLst>
                <a:tab pos="1184910" algn="l"/>
              </a:tabLst>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SELECT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OrderID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OrderDate</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tabLst>
                <a:tab pos="1184910" algn="l"/>
              </a:tabLst>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FROM Sales</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tabLst>
                <a:tab pos="1184910" algn="l"/>
              </a:tabLst>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OrderID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 12345;</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118491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Можно  создать составной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некластеризованный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 на обоих столбцах, но столбец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OrderDate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только добавит накладных расходов на обслуживание индекса, но так и не сможет служить особо полезным ключевым столбцом. </a:t>
            </a:r>
          </a:p>
          <a:p>
            <a:pPr marL="0" indent="0">
              <a:lnSpc>
                <a:spcPct val="107000"/>
              </a:lnSpc>
              <a:spcAft>
                <a:spcPts val="800"/>
              </a:spcAft>
              <a:buNone/>
              <a:tabLst>
                <a:tab pos="118491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Лучше же создать покрывающий индекс с ключевым столбцом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OrderID</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 дополнительно включенным столбцом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OrderDate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tabLst>
                <a:tab pos="1184910" algn="l"/>
              </a:tabLst>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NONCLUSTERED INDEX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ix_orderid</a:t>
            </a:r>
            <a:r>
              <a:rPr lang="ru-RU" sz="1800" dirty="0">
                <a:solidFill>
                  <a:schemeClr val="accent1">
                    <a:lumMod val="50000"/>
                  </a:schemeClr>
                </a:solidFill>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ON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dbo.Sales</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OrderID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tabLst>
                <a:tab pos="1184910" algn="l"/>
              </a:tabLst>
            </a:pP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INCLUDE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OrderDate</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1184910" algn="l"/>
              </a:tabLst>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При этом получится избежать недостатков, возникающих при индексации излишних столбцов, и в то же время сохранить преимущества хранения данных на листьях при выполнении запросов. Включенный столбец не является частью ключа, но данные хранятся именно на конечном узле, листе индекса. Это может улучшить производительность выполнения запроса без каких-либо дополнительных расходов. К тому же, на столбцы, включенные в покрывающий индекс, накладывается меньше ограничений, нежели на ключевые столбцы индекса.</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773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AFB59C-94D3-4C2C-BE5A-A5EBBBDB2875}"/>
              </a:ext>
            </a:extLst>
          </p:cNvPr>
          <p:cNvSpPr>
            <a:spLocks noGrp="1"/>
          </p:cNvSpPr>
          <p:nvPr>
            <p:ph type="title"/>
          </p:nvPr>
        </p:nvSpPr>
        <p:spPr>
          <a:xfrm>
            <a:off x="838200" y="297916"/>
            <a:ext cx="10515600" cy="484886"/>
          </a:xfrm>
        </p:spPr>
        <p:txBody>
          <a:bodyPr>
            <a:normAutofit/>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Индексы с реверсированным ключом</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6073198E-4A8A-4C41-AB05-BC2869CBC9EC}"/>
              </a:ext>
            </a:extLst>
          </p:cNvPr>
          <p:cNvSpPr>
            <a:spLocks noGrp="1"/>
          </p:cNvSpPr>
          <p:nvPr>
            <p:ph idx="1"/>
          </p:nvPr>
        </p:nvSpPr>
        <p:spPr>
          <a:xfrm>
            <a:off x="838200" y="914400"/>
            <a:ext cx="10515600" cy="5094513"/>
          </a:xfrm>
        </p:spPr>
        <p:txBody>
          <a:bodyPr>
            <a:noAutofit/>
          </a:bodyPr>
          <a:lstStyle/>
          <a:p>
            <a:pPr marL="0" indent="0" algn="just">
              <a:lnSpc>
                <a:spcPct val="97000"/>
              </a:lnSpc>
              <a:spcBef>
                <a:spcPts val="500"/>
              </a:spcBef>
              <a:spcAft>
                <a:spcPts val="500"/>
              </a:spcAft>
              <a:buNone/>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Индексы с реверсированным ключом — это, по сути, то же самое, что и индексы B-деревьев, за исключением того, что байты данных ключевого столбца при индексации меняют порядок на противоположный. Порядок столбцов остается нетронутым</a:t>
            </a:r>
            <a:r>
              <a:rPr lang="ru-RU" sz="1700" dirty="0">
                <a:latin typeface="Times New Roman" panose="02020603050405020304" pitchFamily="18" charset="0"/>
                <a:ea typeface="Times New Roman" panose="02020603050405020304" pitchFamily="18" charset="0"/>
                <a:cs typeface="Times New Roman" panose="02020603050405020304" pitchFamily="18" charset="0"/>
              </a:rPr>
              <a:t>,</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меняется только порядок байтов. </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en-US" sz="17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en-US" sz="17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en-US" sz="17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en-US" sz="17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endParaRPr lang="ru-RU"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r>
              <a:rPr lang="ru-RU" sz="1700" b="0" i="0" dirty="0">
                <a:solidFill>
                  <a:srgbClr val="111111"/>
                </a:solidFill>
                <a:effectLst/>
                <a:latin typeface="Times New Roman" panose="02020603050405020304" pitchFamily="18" charset="0"/>
                <a:cs typeface="Times New Roman" panose="02020603050405020304" pitchFamily="18" charset="0"/>
              </a:rPr>
              <a:t>Такой индекс используется в основном для монотонно возрастающих значений (например, автоинкрементный идентификатор) с целью снятия конкуренции за последний листовой блок индекса, т.к. благодаря переворачиванию значения две соседние записи индекса попадают в разные блоки индекса. </a:t>
            </a:r>
          </a:p>
          <a:p>
            <a:pPr marL="0" indent="0" algn="just">
              <a:lnSpc>
                <a:spcPct val="97000"/>
              </a:lnSpc>
              <a:spcBef>
                <a:spcPts val="500"/>
              </a:spcBef>
              <a:spcAft>
                <a:spcPts val="500"/>
              </a:spcAft>
              <a:buNone/>
            </a:pPr>
            <a:r>
              <a:rPr lang="ru-RU" sz="1700" b="0" i="0" dirty="0">
                <a:solidFill>
                  <a:srgbClr val="111111"/>
                </a:solidFill>
                <a:effectLst/>
                <a:latin typeface="Times New Roman" panose="02020603050405020304" pitchFamily="18" charset="0"/>
                <a:cs typeface="Times New Roman" panose="02020603050405020304" pitchFamily="18" charset="0"/>
              </a:rPr>
              <a:t>Он не может использоваться для диапазонного поиска.</a:t>
            </a:r>
            <a:endParaRPr lang="ru-RU"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97000"/>
              </a:lnSpc>
              <a:spcBef>
                <a:spcPts val="500"/>
              </a:spcBef>
              <a:spcAft>
                <a:spcPts val="500"/>
              </a:spcAft>
              <a:buNone/>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Вот как создается индекс с реверсированным ключом: </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97000"/>
              </a:lnSpc>
              <a:spcBef>
                <a:spcPts val="500"/>
              </a:spcBef>
              <a:spcAft>
                <a:spcPts val="5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CREATE INDEX </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reverse_idx</a:t>
            </a: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ON </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employee</a:t>
            </a: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emp_id</a:t>
            </a: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REVERSE;</a:t>
            </a:r>
            <a:endParaRPr lang="ru-RU" sz="17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ru-RU" sz="1700" dirty="0">
              <a:latin typeface="Times New Roman" panose="02020603050405020304" pitchFamily="18" charset="0"/>
              <a:cs typeface="Times New Roman" panose="02020603050405020304" pitchFamily="18" charset="0"/>
            </a:endParaRPr>
          </a:p>
        </p:txBody>
      </p:sp>
      <p:graphicFrame>
        <p:nvGraphicFramePr>
          <p:cNvPr id="4" name="Таблица 3">
            <a:extLst>
              <a:ext uri="{FF2B5EF4-FFF2-40B4-BE49-F238E27FC236}">
                <a16:creationId xmlns:a16="http://schemas.microsoft.com/office/drawing/2014/main" id="{3F0F7EC4-07EB-4314-92E2-1EE4A4C1C651}"/>
              </a:ext>
            </a:extLst>
          </p:cNvPr>
          <p:cNvGraphicFramePr>
            <a:graphicFrameLocks noGrp="1"/>
          </p:cNvGraphicFramePr>
          <p:nvPr>
            <p:extLst>
              <p:ext uri="{D42A27DB-BD31-4B8C-83A1-F6EECF244321}">
                <p14:modId xmlns:p14="http://schemas.microsoft.com/office/powerpoint/2010/main" val="605667558"/>
              </p:ext>
            </p:extLst>
          </p:nvPr>
        </p:nvGraphicFramePr>
        <p:xfrm>
          <a:off x="1541584" y="1812341"/>
          <a:ext cx="6065018" cy="2200982"/>
        </p:xfrm>
        <a:graphic>
          <a:graphicData uri="http://schemas.openxmlformats.org/drawingml/2006/table">
            <a:tbl>
              <a:tblPr/>
              <a:tblGrid>
                <a:gridCol w="3032509">
                  <a:extLst>
                    <a:ext uri="{9D8B030D-6E8A-4147-A177-3AD203B41FA5}">
                      <a16:colId xmlns:a16="http://schemas.microsoft.com/office/drawing/2014/main" val="3140342139"/>
                    </a:ext>
                  </a:extLst>
                </a:gridCol>
                <a:gridCol w="3032509">
                  <a:extLst>
                    <a:ext uri="{9D8B030D-6E8A-4147-A177-3AD203B41FA5}">
                      <a16:colId xmlns:a16="http://schemas.microsoft.com/office/drawing/2014/main" val="3143271515"/>
                    </a:ext>
                  </a:extLst>
                </a:gridCol>
              </a:tblGrid>
              <a:tr h="368153">
                <a:tc>
                  <a:txBody>
                    <a:bodyPr/>
                    <a:lstStyle/>
                    <a:p>
                      <a:pPr fontAlgn="t"/>
                      <a:r>
                        <a:rPr lang="ru-RU" sz="1700" dirty="0">
                          <a:effectLst/>
                          <a:latin typeface="Times New Roman" panose="02020603050405020304" pitchFamily="18" charset="0"/>
                          <a:cs typeface="Times New Roman" panose="02020603050405020304" pitchFamily="18" charset="0"/>
                        </a:rPr>
                        <a:t>Поле в таблице(</a:t>
                      </a:r>
                      <a:r>
                        <a:rPr lang="en-US" sz="1700" dirty="0">
                          <a:effectLst/>
                          <a:latin typeface="Times New Roman" panose="02020603050405020304" pitchFamily="18" charset="0"/>
                          <a:cs typeface="Times New Roman" panose="02020603050405020304" pitchFamily="18" charset="0"/>
                        </a:rPr>
                        <a:t>bin)</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700" dirty="0">
                          <a:effectLst/>
                          <a:latin typeface="Times New Roman" panose="02020603050405020304" pitchFamily="18" charset="0"/>
                          <a:cs typeface="Times New Roman" panose="02020603050405020304" pitchFamily="18" charset="0"/>
                        </a:rPr>
                        <a:t>Ключ </a:t>
                      </a:r>
                      <a:r>
                        <a:rPr lang="en-US" sz="1700" dirty="0">
                          <a:effectLst/>
                          <a:latin typeface="Times New Roman" panose="02020603050405020304" pitchFamily="18" charset="0"/>
                          <a:cs typeface="Times New Roman" panose="02020603050405020304" pitchFamily="18" charset="0"/>
                        </a:rPr>
                        <a:t>reverse-</a:t>
                      </a:r>
                      <a:r>
                        <a:rPr lang="ru-RU" sz="1700" dirty="0">
                          <a:effectLst/>
                          <a:latin typeface="Times New Roman" panose="02020603050405020304" pitchFamily="18" charset="0"/>
                          <a:cs typeface="Times New Roman" panose="02020603050405020304" pitchFamily="18" charset="0"/>
                        </a:rPr>
                        <a:t>индекса(</a:t>
                      </a:r>
                      <a:r>
                        <a:rPr lang="en-US" sz="1700" dirty="0">
                          <a:effectLst/>
                          <a:latin typeface="Times New Roman" panose="02020603050405020304" pitchFamily="18" charset="0"/>
                          <a:cs typeface="Times New Roman" panose="02020603050405020304" pitchFamily="18" charset="0"/>
                        </a:rPr>
                        <a:t>bin)</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58726369"/>
                  </a:ext>
                </a:extLst>
              </a:tr>
              <a:tr h="0">
                <a:tc>
                  <a:txBody>
                    <a:bodyPr/>
                    <a:lstStyle/>
                    <a:p>
                      <a:pPr fontAlgn="t"/>
                      <a:r>
                        <a:rPr lang="ru-RU" sz="1400" dirty="0">
                          <a:effectLst/>
                          <a:latin typeface="Times New Roman" panose="02020603050405020304" pitchFamily="18" charset="0"/>
                          <a:cs typeface="Times New Roman" panose="02020603050405020304" pitchFamily="18" charset="0"/>
                        </a:rPr>
                        <a:t>00000001</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400">
                          <a:effectLst/>
                          <a:latin typeface="Times New Roman" panose="02020603050405020304" pitchFamily="18" charset="0"/>
                          <a:cs typeface="Times New Roman" panose="02020603050405020304" pitchFamily="18" charset="0"/>
                        </a:rPr>
                        <a:t>10000000</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4360346"/>
                  </a:ext>
                </a:extLst>
              </a:tr>
              <a:tr h="360698">
                <a:tc>
                  <a:txBody>
                    <a:bodyPr/>
                    <a:lstStyle/>
                    <a:p>
                      <a:pPr fontAlgn="t"/>
                      <a:r>
                        <a:rPr lang="ru-RU" sz="1400" dirty="0">
                          <a:effectLst/>
                          <a:latin typeface="Times New Roman" panose="02020603050405020304" pitchFamily="18" charset="0"/>
                          <a:cs typeface="Times New Roman" panose="02020603050405020304" pitchFamily="18" charset="0"/>
                        </a:rPr>
                        <a:t>…</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400">
                          <a:effectLst/>
                          <a:latin typeface="Times New Roman" panose="02020603050405020304" pitchFamily="18" charset="0"/>
                          <a:cs typeface="Times New Roman" panose="02020603050405020304" pitchFamily="18" charset="0"/>
                        </a:rPr>
                        <a:t>…</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9221834"/>
                  </a:ext>
                </a:extLst>
              </a:tr>
              <a:tr h="360698">
                <a:tc>
                  <a:txBody>
                    <a:bodyPr/>
                    <a:lstStyle/>
                    <a:p>
                      <a:pPr fontAlgn="t"/>
                      <a:r>
                        <a:rPr lang="ru-RU" sz="1400" dirty="0">
                          <a:effectLst/>
                          <a:latin typeface="Times New Roman" panose="02020603050405020304" pitchFamily="18" charset="0"/>
                          <a:cs typeface="Times New Roman" panose="02020603050405020304" pitchFamily="18" charset="0"/>
                        </a:rPr>
                        <a:t>00001001</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400">
                          <a:effectLst/>
                          <a:latin typeface="Times New Roman" panose="02020603050405020304" pitchFamily="18" charset="0"/>
                          <a:cs typeface="Times New Roman" panose="02020603050405020304" pitchFamily="18" charset="0"/>
                        </a:rPr>
                        <a:t>10010000</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62456655"/>
                  </a:ext>
                </a:extLst>
              </a:tr>
              <a:tr h="360698">
                <a:tc>
                  <a:txBody>
                    <a:bodyPr/>
                    <a:lstStyle/>
                    <a:p>
                      <a:pPr fontAlgn="t"/>
                      <a:r>
                        <a:rPr lang="ru-RU" sz="1400" dirty="0">
                          <a:effectLst/>
                          <a:latin typeface="Times New Roman" panose="02020603050405020304" pitchFamily="18" charset="0"/>
                          <a:cs typeface="Times New Roman" panose="02020603050405020304" pitchFamily="18" charset="0"/>
                        </a:rPr>
                        <a:t>00001010</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400" dirty="0">
                          <a:effectLst/>
                          <a:latin typeface="Times New Roman" panose="02020603050405020304" pitchFamily="18" charset="0"/>
                          <a:cs typeface="Times New Roman" panose="02020603050405020304" pitchFamily="18" charset="0"/>
                        </a:rPr>
                        <a:t>01010000</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03461102"/>
                  </a:ext>
                </a:extLst>
              </a:tr>
              <a:tr h="360698">
                <a:tc>
                  <a:txBody>
                    <a:bodyPr/>
                    <a:lstStyle/>
                    <a:p>
                      <a:pPr fontAlgn="t"/>
                      <a:r>
                        <a:rPr lang="ru-RU" sz="1400">
                          <a:effectLst/>
                          <a:latin typeface="Times New Roman" panose="02020603050405020304" pitchFamily="18" charset="0"/>
                          <a:cs typeface="Times New Roman" panose="02020603050405020304" pitchFamily="18" charset="0"/>
                        </a:rPr>
                        <a:t>00001011</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ru-RU" sz="1400" dirty="0">
                          <a:effectLst/>
                          <a:latin typeface="Times New Roman" panose="02020603050405020304" pitchFamily="18" charset="0"/>
                          <a:cs typeface="Times New Roman" panose="02020603050405020304" pitchFamily="18" charset="0"/>
                        </a:rPr>
                        <a:t>11010000</a:t>
                      </a:r>
                    </a:p>
                  </a:txBody>
                  <a:tcPr marL="114300" marR="114300" marT="5715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18213208"/>
                  </a:ext>
                </a:extLst>
              </a:tr>
            </a:tbl>
          </a:graphicData>
        </a:graphic>
      </p:graphicFrame>
    </p:spTree>
    <p:extLst>
      <p:ext uri="{BB962C8B-B14F-4D97-AF65-F5344CB8AC3E}">
        <p14:creationId xmlns:p14="http://schemas.microsoft.com/office/powerpoint/2010/main" val="1311496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AFB59C-94D3-4C2C-BE5A-A5EBBBDB2875}"/>
              </a:ext>
            </a:extLst>
          </p:cNvPr>
          <p:cNvSpPr>
            <a:spLocks noGrp="1"/>
          </p:cNvSpPr>
          <p:nvPr>
            <p:ph type="title"/>
          </p:nvPr>
        </p:nvSpPr>
        <p:spPr>
          <a:xfrm>
            <a:off x="838200" y="681038"/>
            <a:ext cx="10515600" cy="484886"/>
          </a:xfrm>
        </p:spPr>
        <p:txBody>
          <a:bodyPr>
            <a:normAutofit/>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Индексы со сжатым ключом</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6073198E-4A8A-4C41-AB05-BC2869CBC9EC}"/>
              </a:ext>
            </a:extLst>
          </p:cNvPr>
          <p:cNvSpPr>
            <a:spLocks noGrp="1"/>
          </p:cNvSpPr>
          <p:nvPr>
            <p:ph idx="1"/>
          </p:nvPr>
        </p:nvSpPr>
        <p:spPr>
          <a:xfrm>
            <a:off x="838200" y="1326381"/>
            <a:ext cx="10515600" cy="4850581"/>
          </a:xfrm>
        </p:spPr>
        <p:txBody>
          <a:bodyPr>
            <a:normAutofit/>
          </a:bodyPr>
          <a:lstStyle/>
          <a:p>
            <a:pPr marL="0" indent="0" algn="just">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Сэкономить пространство хранения индекса вместе с повышением производительности можно за счет создания индекса со сжатым ключом. Всякий раз, когда индексируемый ключ имеет повторяющийся компонент, или же создается уникальный </a:t>
            </a:r>
            <a:r>
              <a:rPr lang="ru-RU" sz="1800" dirty="0" err="1">
                <a:effectLst/>
                <a:latin typeface="Times New Roman" panose="02020603050405020304" pitchFamily="18" charset="0"/>
                <a:ea typeface="Times New Roman" panose="02020603050405020304" pitchFamily="18" charset="0"/>
                <a:cs typeface="Times New Roman" panose="02020603050405020304" pitchFamily="18" charset="0"/>
              </a:rPr>
              <a:t>многостолбцовый</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индекс, получается выигрыш от использования сжатия ключа. </a:t>
            </a:r>
          </a:p>
          <a:p>
            <a:pPr marL="0" indent="0" algn="just">
              <a:lnSpc>
                <a:spcPct val="107000"/>
              </a:lnSpc>
              <a:spcAft>
                <a:spcPts val="800"/>
              </a:spcAft>
              <a:buNone/>
            </a:pPr>
            <a:r>
              <a:rPr lang="ru-RU" sz="1800" dirty="0">
                <a:latin typeface="Times New Roman" panose="02020603050405020304" pitchFamily="18" charset="0"/>
                <a:ea typeface="Times New Roman" panose="02020603050405020304" pitchFamily="18" charset="0"/>
                <a:cs typeface="Times New Roman" panose="02020603050405020304" pitchFamily="18" charset="0"/>
              </a:rPr>
              <a:t>Например</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CREATE INDEX emp_indx1 ON </a:t>
            </a:r>
            <a:r>
              <a:rPr lang="ru-RU"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employees</a:t>
            </a: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ru-RU"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ename</a:t>
            </a: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just">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TABLESPACE </a:t>
            </a:r>
            <a:r>
              <a:rPr lang="ru-RU"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users</a:t>
            </a:r>
            <a:endPar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8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COMPRESS 1;</a:t>
            </a:r>
          </a:p>
          <a:p>
            <a:pPr marL="0" indent="0" algn="just">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Приведенный выше оператор сжимает все дублированные вхождения индексированного ключа в листовом блоке индекса (на уровне 1).</a:t>
            </a:r>
          </a:p>
        </p:txBody>
      </p:sp>
    </p:spTree>
    <p:extLst>
      <p:ext uri="{BB962C8B-B14F-4D97-AF65-F5344CB8AC3E}">
        <p14:creationId xmlns:p14="http://schemas.microsoft.com/office/powerpoint/2010/main" val="3028010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7E0286-EEDA-468E-A5BC-4505274EAFFD}"/>
              </a:ext>
            </a:extLst>
          </p:cNvPr>
          <p:cNvSpPr>
            <a:spLocks noGrp="1"/>
          </p:cNvSpPr>
          <p:nvPr>
            <p:ph type="title"/>
          </p:nvPr>
        </p:nvSpPr>
        <p:spPr>
          <a:xfrm>
            <a:off x="838200" y="676624"/>
            <a:ext cx="10515600" cy="619613"/>
          </a:xfrm>
        </p:spPr>
        <p:txBody>
          <a:bodyPr>
            <a:normAutofit/>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Индексы на основе функций</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2A8F9809-A0B8-4C1F-9187-A3EE0466886B}"/>
              </a:ext>
            </a:extLst>
          </p:cNvPr>
          <p:cNvSpPr>
            <a:spLocks noGrp="1"/>
          </p:cNvSpPr>
          <p:nvPr>
            <p:ph idx="1"/>
          </p:nvPr>
        </p:nvSpPr>
        <p:spPr>
          <a:xfrm>
            <a:off x="838200" y="1366786"/>
            <a:ext cx="10515600" cy="4351338"/>
          </a:xfrm>
        </p:spPr>
        <p:txBody>
          <a:bodyPr/>
          <a:lstStyle/>
          <a:p>
            <a:pPr marL="0" indent="0">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Индексы на основе функций предварительно вычисляют значения функций по заданному столбцу и сохраняют результат в индексе. Когда конструкция </a:t>
            </a:r>
            <a:r>
              <a:rPr lang="ru-RU" sz="1800" i="1" dirty="0" err="1">
                <a:effectLst/>
                <a:latin typeface="Times New Roman" panose="02020603050405020304" pitchFamily="18" charset="0"/>
                <a:ea typeface="Times New Roman" panose="02020603050405020304" pitchFamily="18" charset="0"/>
                <a:cs typeface="Times New Roman" panose="02020603050405020304" pitchFamily="18" charset="0"/>
              </a:rPr>
              <a:t>where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содержит вызовы функций, то основанные на функциях индексы являются идеальным способом индексирования столбца.</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Ниже показано, как создать индекс на основе функции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LOWER</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CREATE INDEX </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lastname_idx</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ON employees(LOWER(</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l_name</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Этот оператор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CREATE INDEX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создаст индекс по столбцу </a:t>
            </a:r>
            <a:r>
              <a:rPr lang="ru-RU" sz="1800" i="1" dirty="0" err="1">
                <a:effectLst/>
                <a:latin typeface="Times New Roman" panose="02020603050405020304" pitchFamily="18" charset="0"/>
                <a:ea typeface="Times New Roman" panose="02020603050405020304" pitchFamily="18" charset="0"/>
                <a:cs typeface="Times New Roman" panose="02020603050405020304" pitchFamily="18" charset="0"/>
              </a:rPr>
              <a:t>l_name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хранящему фамилии сотрудников в верхнем регистре. Однако этот индекс будет основан на функции, поскольку база данных создает его по столбцу </a:t>
            </a:r>
            <a:r>
              <a:rPr lang="ru-RU" sz="1800" i="1" dirty="0" err="1">
                <a:effectLst/>
                <a:latin typeface="Times New Roman" panose="02020603050405020304" pitchFamily="18" charset="0"/>
                <a:ea typeface="Times New Roman" panose="02020603050405020304" pitchFamily="18" charset="0"/>
                <a:cs typeface="Times New Roman" panose="02020603050405020304" pitchFamily="18" charset="0"/>
              </a:rPr>
              <a:t>l_name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применив к нему предварительно функцию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LOWER</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для преобразования его значения в нижний регистр.</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090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94C5A9-BD73-44B5-8365-358B086D1A84}"/>
              </a:ext>
            </a:extLst>
          </p:cNvPr>
          <p:cNvSpPr>
            <a:spLocks noGrp="1"/>
          </p:cNvSpPr>
          <p:nvPr>
            <p:ph type="title"/>
          </p:nvPr>
        </p:nvSpPr>
        <p:spPr>
          <a:xfrm>
            <a:off x="838200" y="365126"/>
            <a:ext cx="10515600" cy="629662"/>
          </a:xfrm>
        </p:spPr>
        <p:txBody>
          <a:bodyPr>
            <a:normAutofit/>
          </a:bodyPr>
          <a:lstStyle/>
          <a:p>
            <a:r>
              <a:rPr lang="ru-RU" sz="2500" dirty="0">
                <a:latin typeface="Times New Roman" panose="02020603050405020304" pitchFamily="18" charset="0"/>
                <a:cs typeface="Times New Roman" panose="02020603050405020304" pitchFamily="18" charset="0"/>
              </a:rPr>
              <a:t>Невидимые индексы</a:t>
            </a:r>
          </a:p>
        </p:txBody>
      </p:sp>
      <p:sp>
        <p:nvSpPr>
          <p:cNvPr id="3" name="Объект 2">
            <a:extLst>
              <a:ext uri="{FF2B5EF4-FFF2-40B4-BE49-F238E27FC236}">
                <a16:creationId xmlns:a16="http://schemas.microsoft.com/office/drawing/2014/main" id="{013D83DD-5CDF-43DB-933F-54BBDB04EA8B}"/>
              </a:ext>
            </a:extLst>
          </p:cNvPr>
          <p:cNvSpPr>
            <a:spLocks noGrp="1"/>
          </p:cNvSpPr>
          <p:nvPr>
            <p:ph idx="1"/>
          </p:nvPr>
        </p:nvSpPr>
        <p:spPr>
          <a:xfrm>
            <a:off x="838200" y="994788"/>
            <a:ext cx="10515600" cy="5182175"/>
          </a:xfrm>
        </p:spPr>
        <p:txBody>
          <a:bodyPr>
            <a:normAutofit lnSpcReduction="10000"/>
          </a:bodyPr>
          <a:lstStyle/>
          <a:p>
            <a:pPr marL="0" indent="0" algn="just">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По умолчанию оптимизатор “видит” все индексы. Тем не менее, можно создать невидимый индекс, который оптимизатор не обнаруживает и не принимает во внимание при создании плана выполнения оператора. Невидимый индекс можно применять в качестве временного индекса для определенных операций или его тестирования перед тем, как сделать его “официальным”. Вдобавок, иногда объявление индекса невидимым можно использовать в качестве альтернативы уничтожению индекса или объявлению его недоступным. Сделать индекс невидимым можно временно, чтобы протестировать эффект от его уничтожения.</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База данных поддерживает невидимый индекс точно так же, как и нормальный (видимый) индекс. После объявления индекса невидимым, его и все прочие невидимые индексы можно сделать вновь видимым для оптимизатора, установив значение параметра </a:t>
            </a:r>
            <a:r>
              <a:rPr lang="ru-RU" sz="1800" dirty="0" err="1">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optimizer_use_invisible_indexes</a:t>
            </a:r>
            <a:r>
              <a:rPr lang="ru-RU" sz="18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равным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TRUE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на уровне сеанса или всей системы. Значением этого параметра по умолчанию является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FALSE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а это означает, что оптимизатор по умолчанию не может использовать невидимые индексы.</a:t>
            </a:r>
          </a:p>
          <a:p>
            <a:pPr marL="0" indent="0" algn="just">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Чтобы сделать индекс невидимым, к оператору CREATE INDEX нужно добавить конструкцию INVISIBLE, как показано ниже:</a:t>
            </a: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CREATE INDEX </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test_idx</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ON test(</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tname</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TABLESPACE </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testdata</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INVISIBLE; </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Bef>
                <a:spcPts val="0"/>
              </a:spcBef>
              <a:buNone/>
            </a:pP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542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04189B-82AB-44FD-BEF7-81C2E2DFC29E}"/>
              </a:ext>
            </a:extLst>
          </p:cNvPr>
          <p:cNvSpPr>
            <a:spLocks noGrp="1"/>
          </p:cNvSpPr>
          <p:nvPr>
            <p:ph type="title"/>
          </p:nvPr>
        </p:nvSpPr>
        <p:spPr>
          <a:xfrm>
            <a:off x="838200" y="922198"/>
            <a:ext cx="10515600" cy="394451"/>
          </a:xfrm>
        </p:spPr>
        <p:txBody>
          <a:bodyPr>
            <a:normAutofit fontScale="90000"/>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Превращение индекса в невидимый</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0A65D258-C4A6-4E37-8F12-EAFB79AD436F}"/>
              </a:ext>
            </a:extLst>
          </p:cNvPr>
          <p:cNvSpPr>
            <a:spLocks noGrp="1"/>
          </p:cNvSpPr>
          <p:nvPr>
            <p:ph idx="1"/>
          </p:nvPr>
        </p:nvSpPr>
        <p:spPr>
          <a:xfrm>
            <a:off x="838200" y="1748413"/>
            <a:ext cx="10515600" cy="4187389"/>
          </a:xfrm>
        </p:spPr>
        <p:txBody>
          <a:bodyPr/>
          <a:lstStyle/>
          <a:p>
            <a:pPr marL="0" indent="0">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В дополнение к созданию невидимого индекса, с помощью команды</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 ALTER INDEX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можно превратить существующий индекс в невидимый:</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 INDEX </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test_idx</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INVISIBLE; </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Чтобы сделать невидимый индекс вновь видимым, используйте следующий оператор:</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 INDEX </a:t>
            </a:r>
            <a:r>
              <a:rPr lang="en-US" sz="18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test_idx</a:t>
            </a:r>
            <a:r>
              <a:rPr lang="en-US" sz="18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VISIBLE</a:t>
            </a:r>
            <a:r>
              <a:rPr lang="ru-RU" sz="1800" dirty="0">
                <a:solidFill>
                  <a:schemeClr val="accent1">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a:t>
            </a:r>
            <a:endParaRPr lang="ru-R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92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BFF178-4679-4F2F-BB79-AF01493AD685}"/>
              </a:ext>
            </a:extLst>
          </p:cNvPr>
          <p:cNvSpPr>
            <a:spLocks noGrp="1"/>
          </p:cNvSpPr>
          <p:nvPr>
            <p:ph type="title"/>
          </p:nvPr>
        </p:nvSpPr>
        <p:spPr>
          <a:xfrm>
            <a:off x="763675" y="365125"/>
            <a:ext cx="10590125" cy="589467"/>
          </a:xfrm>
        </p:spPr>
        <p:txBody>
          <a:bodyPr>
            <a:normAutofit/>
          </a:bodyPr>
          <a:lstStyle/>
          <a:p>
            <a:r>
              <a:rPr lang="ru-RU" sz="2500" dirty="0">
                <a:effectLst/>
                <a:latin typeface="Times New Roman" panose="02020603050405020304" pitchFamily="18" charset="0"/>
                <a:ea typeface="Calibri" panose="020F0502020204030204" pitchFamily="34" charset="0"/>
              </a:rPr>
              <a:t>Коэффициент заполнения индекса </a:t>
            </a:r>
            <a:endParaRPr lang="ru-RU" sz="2500" dirty="0"/>
          </a:p>
        </p:txBody>
      </p:sp>
      <p:sp>
        <p:nvSpPr>
          <p:cNvPr id="4" name="Объект 2">
            <a:extLst>
              <a:ext uri="{FF2B5EF4-FFF2-40B4-BE49-F238E27FC236}">
                <a16:creationId xmlns:a16="http://schemas.microsoft.com/office/drawing/2014/main" id="{5CCDBFE1-443B-4DD5-A75F-DE16E31C7C2E}"/>
              </a:ext>
            </a:extLst>
          </p:cNvPr>
          <p:cNvSpPr>
            <a:spLocks noGrp="1"/>
          </p:cNvSpPr>
          <p:nvPr>
            <p:ph idx="1"/>
          </p:nvPr>
        </p:nvSpPr>
        <p:spPr>
          <a:xfrm>
            <a:off x="763675" y="954591"/>
            <a:ext cx="10515600" cy="5538283"/>
          </a:xfrm>
        </p:spPr>
        <p:txBody>
          <a:bodyPr>
            <a:normAutofit fontScale="92500" lnSpcReduction="10000"/>
          </a:bodyPr>
          <a:lstStyle/>
          <a:p>
            <a:pPr marL="0" indent="0">
              <a:lnSpc>
                <a:spcPct val="107000"/>
              </a:lnSpc>
              <a:spcAft>
                <a:spcPts val="800"/>
              </a:spcAft>
              <a:buNone/>
            </a:pPr>
            <a:r>
              <a:rPr lang="ru-RU" sz="1800" i="1" dirty="0">
                <a:effectLst/>
                <a:latin typeface="Times New Roman" panose="02020603050405020304" pitchFamily="18" charset="0"/>
                <a:ea typeface="Calibri" panose="020F0502020204030204" pitchFamily="34" charset="0"/>
                <a:cs typeface="Times New Roman" panose="02020603050405020304" pitchFamily="18" charset="0"/>
              </a:rPr>
              <a:t>Коэффициент заполнения индекса </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определяет количество пространства на странице для хранения индекса на нижнем уровне (уровень листьев) перед тем как начать заполнять новую страницу. К примеру, если коэффициент выставлен в значение 90, то при росте индекс займет на странице 90%, а затем перейдет на следующую страницу.</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По умолчанию значение коэффициента заполнения индекса равно 0, что равнозначно значению 100. В результате все новые индексы автоматически наследуют эту настройки, если специально в коде не указать отличное от стандартного для системы значения или изменить поведение по умолчанию. </a:t>
            </a: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Для корректировки установленного по умолчанию значения можно запустить системную сохраненную процедуру </a:t>
            </a:r>
            <a:r>
              <a:rPr lang="ru-RU"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sp_configure</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Данный код устанавливает значение коэффициента равное 90</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600" b="0" i="0" dirty="0">
                <a:solidFill>
                  <a:srgbClr val="4D4D4C"/>
                </a:solidFill>
                <a:effectLst/>
                <a:latin typeface="Menlo"/>
              </a:rPr>
              <a:t>	</a:t>
            </a:r>
            <a:r>
              <a:rPr lang="en-US" sz="1600" b="0" i="0" dirty="0">
                <a:solidFill>
                  <a:srgbClr val="4D4D4C"/>
                </a:solidFill>
                <a:effectLst/>
                <a:latin typeface="Times New Roman" panose="02020603050405020304" pitchFamily="18" charset="0"/>
                <a:cs typeface="Times New Roman" panose="02020603050405020304" pitchFamily="18" charset="0"/>
              </a:rPr>
              <a:t>EXEC </a:t>
            </a:r>
            <a:r>
              <a:rPr lang="en-US" sz="1600" b="0" i="0" dirty="0" err="1">
                <a:solidFill>
                  <a:srgbClr val="4D4D4C"/>
                </a:solidFill>
                <a:effectLst/>
                <a:latin typeface="Times New Roman" panose="02020603050405020304" pitchFamily="18" charset="0"/>
                <a:cs typeface="Times New Roman" panose="02020603050405020304" pitchFamily="18" charset="0"/>
              </a:rPr>
              <a:t>sp_configure</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1" i="0" dirty="0">
                <a:solidFill>
                  <a:srgbClr val="8959A8"/>
                </a:solidFill>
                <a:effectLst/>
                <a:latin typeface="Times New Roman" panose="02020603050405020304" pitchFamily="18" charset="0"/>
                <a:cs typeface="Times New Roman" panose="02020603050405020304" pitchFamily="18" charset="0"/>
              </a:rPr>
              <a:t>show</a:t>
            </a:r>
            <a:r>
              <a:rPr lang="en-US" sz="1600" b="0" i="0" dirty="0">
                <a:solidFill>
                  <a:srgbClr val="4D4D4C"/>
                </a:solidFill>
                <a:effectLst/>
                <a:latin typeface="Times New Roman" panose="02020603050405020304" pitchFamily="18" charset="0"/>
                <a:cs typeface="Times New Roman" panose="02020603050405020304" pitchFamily="18" charset="0"/>
              </a:rPr>
              <a:t> </a:t>
            </a:r>
            <a:r>
              <a:rPr lang="en-US" sz="1600" b="1" i="0" dirty="0">
                <a:solidFill>
                  <a:srgbClr val="8959A8"/>
                </a:solidFill>
                <a:effectLst/>
                <a:latin typeface="Times New Roman" panose="02020603050405020304" pitchFamily="18" charset="0"/>
                <a:cs typeface="Times New Roman" panose="02020603050405020304" pitchFamily="18" charset="0"/>
              </a:rPr>
              <a:t>advanced</a:t>
            </a:r>
            <a:r>
              <a:rPr lang="en-US" sz="1600" b="0" i="0" dirty="0">
                <a:solidFill>
                  <a:srgbClr val="4D4D4C"/>
                </a:solidFill>
                <a:effectLst/>
                <a:latin typeface="Times New Roman" panose="02020603050405020304" pitchFamily="18" charset="0"/>
                <a:cs typeface="Times New Roman" panose="02020603050405020304" pitchFamily="18" charset="0"/>
              </a:rPr>
              <a:t> options</a:t>
            </a:r>
            <a:r>
              <a:rPr lang="en-US" sz="1600" b="0" i="0" dirty="0">
                <a:solidFill>
                  <a:srgbClr val="718C00"/>
                </a:solidFill>
                <a:effectLst/>
                <a:latin typeface="Times New Roman" panose="02020603050405020304" pitchFamily="18" charset="0"/>
                <a:cs typeface="Times New Roman" panose="02020603050405020304" pitchFamily="18" charset="0"/>
              </a:rPr>
              <a:t>', 1; </a:t>
            </a:r>
            <a:r>
              <a:rPr lang="ru-RU" sz="1600" b="0" i="0" dirty="0">
                <a:solidFill>
                  <a:srgbClr val="718C00"/>
                </a:solidFill>
                <a:effectLst/>
                <a:latin typeface="Times New Roman" panose="02020603050405020304" pitchFamily="18" charset="0"/>
                <a:cs typeface="Times New Roman" panose="02020603050405020304" pitchFamily="18" charset="0"/>
              </a:rPr>
              <a:t> --</a:t>
            </a:r>
            <a:r>
              <a:rPr lang="ru-RU" sz="16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16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переключаемся в режим продвинутых настроек</a:t>
            </a:r>
            <a:endParaRPr lang="ru-RU" sz="1600" b="0" i="0" dirty="0">
              <a:solidFill>
                <a:schemeClr val="bg2">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rgbClr val="718C00"/>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GO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RECONFIGURE;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GO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EXEC </a:t>
            </a:r>
            <a:r>
              <a:rPr lang="en-US" sz="1600" b="0" i="0" dirty="0" err="1">
                <a:solidFill>
                  <a:srgbClr val="7030A0"/>
                </a:solidFill>
                <a:effectLst/>
                <a:latin typeface="Times New Roman" panose="02020603050405020304" pitchFamily="18" charset="0"/>
                <a:cs typeface="Times New Roman" panose="02020603050405020304" pitchFamily="18" charset="0"/>
              </a:rPr>
              <a:t>sp_configure</a:t>
            </a:r>
            <a:r>
              <a:rPr lang="en-US" sz="1600" b="0" i="0" dirty="0">
                <a:solidFill>
                  <a:srgbClr val="7030A0"/>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'fill factor', 90;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GO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RECONFIGURE;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600" b="0" i="0" dirty="0">
                <a:solidFill>
                  <a:schemeClr val="accent1">
                    <a:lumMod val="50000"/>
                  </a:schemeClr>
                </a:solidFill>
                <a:effectLst/>
                <a:latin typeface="Times New Roman" panose="02020603050405020304" pitchFamily="18" charset="0"/>
                <a:cs typeface="Times New Roman" panose="02020603050405020304" pitchFamily="18" charset="0"/>
              </a:rPr>
              <a:t>	</a:t>
            </a:r>
            <a:r>
              <a:rPr lang="en-US" sz="1600" b="0" i="0" dirty="0">
                <a:solidFill>
                  <a:schemeClr val="accent1">
                    <a:lumMod val="50000"/>
                  </a:schemeClr>
                </a:solidFill>
                <a:effectLst/>
                <a:latin typeface="Times New Roman" panose="02020603050405020304" pitchFamily="18" charset="0"/>
                <a:cs typeface="Times New Roman" panose="02020603050405020304" pitchFamily="18" charset="0"/>
              </a:rPr>
              <a:t>GO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a:p>
            <a:pPr marL="0" indent="0">
              <a:lnSpc>
                <a:spcPct val="107000"/>
              </a:lnSpc>
              <a:spcBef>
                <a:spcPts val="0"/>
              </a:spcBef>
              <a:buNone/>
            </a:pPr>
            <a:r>
              <a:rPr lang="ru-RU" sz="1800" dirty="0">
                <a:effectLst/>
                <a:latin typeface="Times New Roman" panose="02020603050405020304" pitchFamily="18" charset="0"/>
                <a:ea typeface="Calibri" panose="020F0502020204030204" pitchFamily="34" charset="0"/>
              </a:rPr>
              <a:t>В результате все вновь создаваемые индексы будут использовать это значение (90). </a:t>
            </a: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104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2">
            <a:extLst>
              <a:ext uri="{FF2B5EF4-FFF2-40B4-BE49-F238E27FC236}">
                <a16:creationId xmlns:a16="http://schemas.microsoft.com/office/drawing/2014/main" id="{5CCDBFE1-443B-4DD5-A75F-DE16E31C7C2E}"/>
              </a:ext>
            </a:extLst>
          </p:cNvPr>
          <p:cNvSpPr>
            <a:spLocks noGrp="1"/>
          </p:cNvSpPr>
          <p:nvPr>
            <p:ph idx="1"/>
          </p:nvPr>
        </p:nvSpPr>
        <p:spPr>
          <a:xfrm>
            <a:off x="1045028" y="371786"/>
            <a:ext cx="10093569" cy="6139546"/>
          </a:xfrm>
        </p:spPr>
        <p:txBody>
          <a:bodyPr>
            <a:normAutofit fontScale="92500" lnSpcReduction="10000"/>
          </a:bodyPr>
          <a:lstStyle/>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Это можно проверить, создав индекс и запросив значение коэффициента заполнения:</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NONCLUSTERED INDEX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r>
              <a:rPr lang="ru-RU" sz="1800" dirty="0">
                <a:solidFill>
                  <a:schemeClr val="accent1">
                    <a:lumMod val="50000"/>
                  </a:schemeClr>
                </a:solidFill>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ON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LastName</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GO</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SELECT </a:t>
            </a:r>
            <a:r>
              <a:rPr lang="en-US"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fill_factor</a:t>
            </a:r>
            <a:r>
              <a:rPr lang="en-US"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FROM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sys.indexes</a:t>
            </a: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AND name='</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В данном примере создается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некластеризованный</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индекс в таблице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Person</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После создания индекса можно получить значение коэффициента заполнения из системной таблицы </a:t>
            </a:r>
            <a:r>
              <a:rPr lang="ru-RU" sz="1800" dirty="0" err="1">
                <a:effectLst/>
                <a:latin typeface="Times New Roman" panose="02020603050405020304" pitchFamily="18" charset="0"/>
                <a:ea typeface="Calibri" panose="020F0502020204030204" pitchFamily="34" charset="0"/>
                <a:cs typeface="Times New Roman" panose="02020603050405020304" pitchFamily="18" charset="0"/>
              </a:rPr>
              <a:t>sys.indexes</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Запрос должен вернуть 90.</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При создании индекса можно указывать конкретное значение коэффициента заполнения. Это делается при помощи инструкции </a:t>
            </a: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WITH</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 и опции </a:t>
            </a:r>
            <a:r>
              <a:rPr lang="ru-RU"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fillfactor</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CREATE NONCLUSTERED INDEX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ON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LastName</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WITH</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fillfactor</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=80);</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GO</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SELECT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fill_factor</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FROM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sys.indexes</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AND name='</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Оператор SELECT теперь возвращает соответствующее значение (80).</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ru-RU" sz="1600" b="0" i="0" dirty="0">
              <a:solidFill>
                <a:schemeClr val="accent1">
                  <a:lumMod val="5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227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155207E-FF30-4532-A1EB-FFDF34C5BD8F}"/>
              </a:ext>
            </a:extLst>
          </p:cNvPr>
          <p:cNvSpPr>
            <a:spLocks noGrp="1"/>
          </p:cNvSpPr>
          <p:nvPr>
            <p:ph idx="1"/>
          </p:nvPr>
        </p:nvSpPr>
        <p:spPr>
          <a:xfrm>
            <a:off x="838200" y="331596"/>
            <a:ext cx="10515600" cy="5845367"/>
          </a:xfrm>
        </p:spPr>
        <p:txBody>
          <a:bodyPr>
            <a:normAutofit/>
          </a:bodyPr>
          <a:lstStyle/>
          <a:p>
            <a:pPr marL="0" indent="0">
              <a:lnSpc>
                <a:spcPct val="107000"/>
              </a:lnSpc>
              <a:spcAft>
                <a:spcPts val="800"/>
              </a:spcAft>
              <a:buNone/>
            </a:pPr>
            <a:r>
              <a:rPr lang="ru-RU" sz="1800" dirty="0">
                <a:latin typeface="Times New Roman" panose="02020603050405020304" pitchFamily="18" charset="0"/>
                <a:ea typeface="Calibri" panose="020F0502020204030204" pitchFamily="34" charset="0"/>
                <a:cs typeface="Times New Roman" panose="02020603050405020304" pitchFamily="18" charset="0"/>
              </a:rPr>
              <a:t>К</a:t>
            </a: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онкретизировать значение коэффициента заполнения индекса можно как при создании индекса, так и при его перестройке (не использует серверные настройки по умолчанию). Если конкретно не указать значение коэффициента заполнения индекса, то SQL Server будет использовать то значение коэффициента, с которым этот индекс существовал до его перестройки. </a:t>
            </a: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К примеру, следующая операция ALTER INDEX перестраивает только что созданный нами индекс:</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ALTER INDEX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ON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REBUILD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GO</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SELECT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fill_factor</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FROM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sys.indexes</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WHERE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object_id</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Person.Person</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AND name='</a:t>
            </a:r>
            <a:r>
              <a:rPr lang="en-US" sz="1800" dirty="0" err="1">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ix_people_lastname</a:t>
            </a:r>
            <a:r>
              <a:rPr lang="en-US"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ru-RU" sz="1800" dirty="0">
              <a:solidFill>
                <a:schemeClr val="accent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ru-RU" sz="1800" dirty="0">
                <a:effectLst/>
                <a:latin typeface="Times New Roman" panose="02020603050405020304" pitchFamily="18" charset="0"/>
                <a:ea typeface="Calibri" panose="020F0502020204030204" pitchFamily="34" charset="0"/>
                <a:cs typeface="Times New Roman" panose="02020603050405020304" pitchFamily="18" charset="0"/>
              </a:rPr>
              <a:t>При проверки значения коэффициента заполнения, мы получим значение, равное 80, потому что именно его мы указали при последнем создании индекса. Значение по умолчанию не учитывается.</a:t>
            </a:r>
            <a:endParaRPr lang="ru-RU"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5896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ABFD0F-410A-4068-A49E-86AE8041D073}"/>
              </a:ext>
            </a:extLst>
          </p:cNvPr>
          <p:cNvSpPr>
            <a:spLocks noGrp="1"/>
          </p:cNvSpPr>
          <p:nvPr>
            <p:ph type="title"/>
          </p:nvPr>
        </p:nvSpPr>
        <p:spPr>
          <a:xfrm>
            <a:off x="838200" y="365126"/>
            <a:ext cx="10515600" cy="468888"/>
          </a:xfrm>
        </p:spPr>
        <p:txBody>
          <a:bodyPr>
            <a:normAutofit/>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Оценка размера индекса</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42299288-35E0-4575-88CF-D973ABC63F9C}"/>
              </a:ext>
            </a:extLst>
          </p:cNvPr>
          <p:cNvSpPr>
            <a:spLocks noGrp="1"/>
          </p:cNvSpPr>
          <p:nvPr>
            <p:ph idx="1"/>
          </p:nvPr>
        </p:nvSpPr>
        <p:spPr>
          <a:xfrm>
            <a:off x="838200" y="964642"/>
            <a:ext cx="10515600" cy="5212321"/>
          </a:xfrm>
        </p:spPr>
        <p:txBody>
          <a:bodyPr>
            <a:normAutofit lnSpcReduction="10000"/>
          </a:bodyPr>
          <a:lstStyle/>
          <a:p>
            <a:pPr marL="0" indent="0">
              <a:buNone/>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Как и в случае таблиц, для оценки размера нового индекса можно использовать пакет </a:t>
            </a:r>
            <a:r>
              <a:rPr lang="ru-RU" sz="1800" i="1" dirty="0">
                <a:effectLst/>
                <a:latin typeface="Times New Roman" panose="02020603050405020304" pitchFamily="18" charset="0"/>
                <a:ea typeface="Times New Roman" panose="02020603050405020304" pitchFamily="18" charset="0"/>
                <a:cs typeface="Times New Roman" panose="02020603050405020304" pitchFamily="18" charset="0"/>
              </a:rPr>
              <a:t>DBMS_SPACE</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Процедуре </a:t>
            </a:r>
            <a:r>
              <a:rPr lang="ru-RU" sz="1800" i="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CREATE_INDEX_COST</a:t>
            </a:r>
            <a:r>
              <a:rPr lang="ru-RU" sz="18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этого пакета потребуется передать оператор DDL, создающий индекс, в качестве атрибута, как показано в листинге ниже.</a:t>
            </a:r>
          </a:p>
          <a:p>
            <a:pPr marL="0" indent="0">
              <a:buNone/>
            </a:pPr>
            <a:r>
              <a:rPr lang="en-US" sz="1800" dirty="0">
                <a:solidFill>
                  <a:schemeClr val="accent1">
                    <a:lumMod val="50000"/>
                  </a:schemeClr>
                </a:solidFill>
                <a:latin typeface="Times New Roman" panose="02020603050405020304" pitchFamily="18" charset="0"/>
                <a:cs typeface="Times New Roman" panose="02020603050405020304" pitchFamily="18" charset="0"/>
              </a:rPr>
              <a:t>SET SERVEROUTPUT ON</a:t>
            </a:r>
          </a:p>
          <a:p>
            <a:pPr marL="0" indent="0">
              <a:spcBef>
                <a:spcPts val="0"/>
              </a:spcBef>
              <a:buNone/>
            </a:pPr>
            <a:r>
              <a:rPr lang="en-US" sz="1800" dirty="0">
                <a:solidFill>
                  <a:schemeClr val="accent1">
                    <a:lumMod val="50000"/>
                  </a:schemeClr>
                </a:solidFill>
                <a:latin typeface="Times New Roman" panose="02020603050405020304" pitchFamily="18" charset="0"/>
                <a:cs typeface="Times New Roman" panose="02020603050405020304" pitchFamily="18" charset="0"/>
              </a:rPr>
              <a:t>DECLARE</a:t>
            </a: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l_index_ddl</a:t>
            </a:r>
            <a:r>
              <a:rPr lang="en-US" sz="1800" dirty="0">
                <a:solidFill>
                  <a:schemeClr val="accent1">
                    <a:lumMod val="50000"/>
                  </a:schemeClr>
                </a:solidFill>
                <a:latin typeface="Times New Roman" panose="02020603050405020304" pitchFamily="18" charset="0"/>
                <a:cs typeface="Times New Roman" panose="02020603050405020304" pitchFamily="18" charset="0"/>
              </a:rPr>
              <a:t> VARCHAR2(1000);</a:t>
            </a: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l_used_bytes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NUMBER;</a:t>
            </a: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l_allocated_bytes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NUMBER;</a:t>
            </a:r>
          </a:p>
          <a:p>
            <a:pPr marL="0" indent="0">
              <a:spcBef>
                <a:spcPts val="0"/>
              </a:spcBef>
              <a:buNone/>
            </a:pPr>
            <a:r>
              <a:rPr lang="en-US" sz="1800" dirty="0">
                <a:solidFill>
                  <a:schemeClr val="accent1">
                    <a:lumMod val="50000"/>
                  </a:schemeClr>
                </a:solidFill>
                <a:latin typeface="Times New Roman" panose="02020603050405020304" pitchFamily="18" charset="0"/>
                <a:cs typeface="Times New Roman" panose="02020603050405020304" pitchFamily="18" charset="0"/>
              </a:rPr>
              <a:t>BEGIN</a:t>
            </a: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DBMS_SPACE.</a:t>
            </a:r>
            <a:r>
              <a:rPr lang="en-US" sz="1800" dirty="0" err="1">
                <a:solidFill>
                  <a:srgbClr val="7030A0"/>
                </a:solidFill>
                <a:latin typeface="Times New Roman" panose="02020603050405020304" pitchFamily="18" charset="0"/>
                <a:cs typeface="Times New Roman" panose="02020603050405020304" pitchFamily="18" charset="0"/>
              </a:rPr>
              <a:t>create_index_cost</a:t>
            </a:r>
            <a:r>
              <a:rPr lang="en-US" sz="1800" dirty="0">
                <a:solidFill>
                  <a:srgbClr val="7030A0"/>
                </a:solidFill>
                <a:latin typeface="Times New Roman" panose="02020603050405020304" pitchFamily="18" charset="0"/>
                <a:cs typeface="Times New Roman" panose="02020603050405020304" pitchFamily="18" charset="0"/>
              </a:rPr>
              <a:t> </a:t>
            </a:r>
            <a:r>
              <a:rPr lang="en-US" sz="1800" dirty="0">
                <a:solidFill>
                  <a:schemeClr val="accent1">
                    <a:lumMod val="50000"/>
                  </a:schemeClr>
                </a:solidFill>
                <a:latin typeface="Times New Roman" panose="02020603050405020304" pitchFamily="18" charset="0"/>
                <a:cs typeface="Times New Roman" panose="02020603050405020304" pitchFamily="18" charset="0"/>
              </a:rPr>
              <a:t>(</a:t>
            </a: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ddl</a:t>
            </a:r>
            <a:r>
              <a:rPr lang="en-US" sz="1800" dirty="0">
                <a:solidFill>
                  <a:schemeClr val="accent1">
                    <a:lumMod val="50000"/>
                  </a:schemeClr>
                </a:solidFill>
                <a:latin typeface="Times New Roman" panose="02020603050405020304" pitchFamily="18" charset="0"/>
                <a:cs typeface="Times New Roman" panose="02020603050405020304" pitchFamily="18" charset="0"/>
              </a:rPr>
              <a:t> =&gt; 'create index </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persons_idx</a:t>
            </a:r>
            <a:r>
              <a:rPr lang="en-US" sz="1800" dirty="0">
                <a:solidFill>
                  <a:schemeClr val="accent1">
                    <a:lumMod val="50000"/>
                  </a:schemeClr>
                </a:solidFill>
                <a:latin typeface="Times New Roman" panose="02020603050405020304" pitchFamily="18" charset="0"/>
                <a:cs typeface="Times New Roman" panose="02020603050405020304" pitchFamily="18" charset="0"/>
              </a:rPr>
              <a:t> on persons(</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person_id</a:t>
            </a:r>
            <a:r>
              <a:rPr lang="en-US" sz="1800" dirty="0">
                <a:solidFill>
                  <a:schemeClr val="accent1">
                    <a:lumMod val="50000"/>
                  </a:schemeClr>
                </a:solidFill>
                <a:latin typeface="Times New Roman" panose="02020603050405020304" pitchFamily="18" charset="0"/>
                <a:cs typeface="Times New Roman" panose="02020603050405020304" pitchFamily="18" charset="0"/>
              </a:rPr>
              <a:t>)’,</a:t>
            </a:r>
            <a:endParaRPr lang="ru-RU" sz="1800" dirty="0">
              <a:solidFill>
                <a:schemeClr val="accent1">
                  <a:lumMod val="50000"/>
                </a:schemeClr>
              </a:solidFill>
              <a:latin typeface="Times New Roman" panose="02020603050405020304" pitchFamily="18" charset="0"/>
              <a:cs typeface="Times New Roman" panose="02020603050405020304" pitchFamily="18" charset="0"/>
            </a:endParaRPr>
          </a:p>
          <a:p>
            <a:pPr marL="0" indent="0">
              <a:spcBef>
                <a:spcPts val="0"/>
              </a:spcBef>
              <a:buNone/>
            </a:pPr>
            <a:r>
              <a:rPr lang="ru-RU" sz="1800" dirty="0">
                <a:solidFill>
                  <a:schemeClr val="bg2">
                    <a:lumMod val="50000"/>
                  </a:schemeClr>
                </a:solidFill>
                <a:latin typeface="Times New Roman" panose="02020603050405020304" pitchFamily="18" charset="0"/>
                <a:cs typeface="Times New Roman" panose="02020603050405020304" pitchFamily="18" charset="0"/>
              </a:rPr>
              <a:t>--</a:t>
            </a:r>
            <a:r>
              <a:rPr lang="ru-RU" sz="1800" i="1" dirty="0" err="1">
                <a:solidFill>
                  <a:schemeClr val="bg2">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used_bytes</a:t>
            </a:r>
            <a:r>
              <a:rPr lang="ru-RU" sz="1800" dirty="0">
                <a:solidFill>
                  <a:schemeClr val="bg2">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показывает количество байт, которыми представлены данные индекса</a:t>
            </a:r>
            <a:endParaRPr lang="en-US" sz="1800" dirty="0">
              <a:solidFill>
                <a:schemeClr val="accent1">
                  <a:lumMod val="50000"/>
                </a:schemeClr>
              </a:solidFill>
              <a:latin typeface="Times New Roman" panose="02020603050405020304" pitchFamily="18" charset="0"/>
              <a:cs typeface="Times New Roman" panose="02020603050405020304" pitchFamily="18" charset="0"/>
            </a:endParaRP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used_bytes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=&gt; </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l_used_bytes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a:t>
            </a:r>
            <a:r>
              <a:rPr lang="ru-RU" sz="1800" dirty="0">
                <a:solidFill>
                  <a:schemeClr val="accent1">
                    <a:lumMod val="50000"/>
                  </a:schemeClr>
                </a:solidFill>
                <a:latin typeface="Times New Roman" panose="02020603050405020304" pitchFamily="18" charset="0"/>
                <a:cs typeface="Times New Roman" panose="02020603050405020304" pitchFamily="18" charset="0"/>
              </a:rPr>
              <a:t> 	</a:t>
            </a:r>
          </a:p>
          <a:p>
            <a:pPr marL="0" indent="0">
              <a:spcBef>
                <a:spcPts val="0"/>
              </a:spcBef>
              <a:buNone/>
            </a:pPr>
            <a:r>
              <a:rPr lang="ru-RU" sz="1800" dirty="0">
                <a:solidFill>
                  <a:schemeClr val="bg2">
                    <a:lumMod val="50000"/>
                  </a:schemeClr>
                </a:solidFill>
                <a:latin typeface="Times New Roman" panose="02020603050405020304" pitchFamily="18" charset="0"/>
                <a:cs typeface="Times New Roman" panose="02020603050405020304" pitchFamily="18" charset="0"/>
              </a:rPr>
              <a:t>--</a:t>
            </a:r>
            <a:r>
              <a:rPr lang="ru-RU" sz="1800" dirty="0" err="1">
                <a:solidFill>
                  <a:schemeClr val="bg2">
                    <a:lumMod val="50000"/>
                  </a:schemeClr>
                </a:solidFill>
                <a:latin typeface="Times New Roman" panose="02020603050405020304" pitchFamily="18" charset="0"/>
                <a:cs typeface="Times New Roman" panose="02020603050405020304" pitchFamily="18" charset="0"/>
              </a:rPr>
              <a:t>alloc_bytes</a:t>
            </a:r>
            <a:r>
              <a:rPr lang="ru-RU" sz="1800" dirty="0">
                <a:solidFill>
                  <a:schemeClr val="bg2">
                    <a:lumMod val="50000"/>
                  </a:schemeClr>
                </a:solidFill>
                <a:latin typeface="Times New Roman" panose="02020603050405020304" pitchFamily="18" charset="0"/>
                <a:cs typeface="Times New Roman" panose="02020603050405020304" pitchFamily="18" charset="0"/>
              </a:rPr>
              <a:t> показывает количество байт, которое займет индекс в табличном пространстве после его создания</a:t>
            </a:r>
            <a:endParaRPr lang="en-US" sz="1800" dirty="0">
              <a:solidFill>
                <a:schemeClr val="bg2">
                  <a:lumMod val="50000"/>
                </a:schemeClr>
              </a:solidFill>
              <a:latin typeface="Times New Roman" panose="02020603050405020304" pitchFamily="18" charset="0"/>
              <a:cs typeface="Times New Roman" panose="02020603050405020304" pitchFamily="18" charset="0"/>
            </a:endParaRPr>
          </a:p>
          <a:p>
            <a:pPr marL="0" indent="0">
              <a:spcBef>
                <a:spcPts val="0"/>
              </a:spcBef>
              <a:buNone/>
            </a:pPr>
            <a:r>
              <a:rPr lang="en-US" sz="1800" dirty="0" err="1">
                <a:solidFill>
                  <a:schemeClr val="accent1">
                    <a:lumMod val="50000"/>
                  </a:schemeClr>
                </a:solidFill>
                <a:latin typeface="Times New Roman" panose="02020603050405020304" pitchFamily="18" charset="0"/>
                <a:cs typeface="Times New Roman" panose="02020603050405020304" pitchFamily="18" charset="0"/>
              </a:rPr>
              <a:t>alloc_bytes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=&gt; </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l_allocated_bytes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a:t>
            </a:r>
            <a:r>
              <a:rPr lang="ru-RU" sz="1800" dirty="0">
                <a:solidFill>
                  <a:schemeClr val="accent1">
                    <a:lumMod val="50000"/>
                  </a:schemeClr>
                </a:solidFill>
                <a:latin typeface="Times New Roman" panose="02020603050405020304" pitchFamily="18" charset="0"/>
                <a:cs typeface="Times New Roman" panose="02020603050405020304" pitchFamily="18" charset="0"/>
              </a:rPr>
              <a:t> </a:t>
            </a:r>
          </a:p>
          <a:p>
            <a:pPr marL="0" indent="0">
              <a:spcBef>
                <a:spcPts val="0"/>
              </a:spcBef>
              <a:buNone/>
            </a:pPr>
            <a:r>
              <a:rPr lang="en-US" sz="1800" dirty="0">
                <a:solidFill>
                  <a:schemeClr val="accent1">
                    <a:lumMod val="50000"/>
                  </a:schemeClr>
                </a:solidFill>
                <a:latin typeface="Times New Roman" panose="02020603050405020304" pitchFamily="18" charset="0"/>
                <a:cs typeface="Times New Roman" panose="02020603050405020304" pitchFamily="18" charset="0"/>
              </a:rPr>
              <a:t>DBMS_OUTPUT.PUT_LINE ('</a:t>
            </a:r>
            <a:r>
              <a:rPr lang="ru-RU" sz="1800" dirty="0">
                <a:solidFill>
                  <a:schemeClr val="accent1">
                    <a:lumMod val="50000"/>
                  </a:schemeClr>
                </a:solidFill>
                <a:latin typeface="Times New Roman" panose="02020603050405020304" pitchFamily="18" charset="0"/>
                <a:cs typeface="Times New Roman" panose="02020603050405020304" pitchFamily="18" charset="0"/>
              </a:rPr>
              <a:t>используется = ' || </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l_used_bytes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 '</a:t>
            </a:r>
            <a:r>
              <a:rPr lang="ru-RU" sz="1800" dirty="0">
                <a:solidFill>
                  <a:schemeClr val="accent1">
                    <a:lumMod val="50000"/>
                  </a:schemeClr>
                </a:solidFill>
                <a:latin typeface="Times New Roman" panose="02020603050405020304" pitchFamily="18" charset="0"/>
                <a:cs typeface="Times New Roman" panose="02020603050405020304" pitchFamily="18" charset="0"/>
              </a:rPr>
              <a:t>байт;’ || ' выделено = ' || </a:t>
            </a:r>
            <a:r>
              <a:rPr lang="en-US" sz="1800" dirty="0" err="1">
                <a:solidFill>
                  <a:schemeClr val="accent1">
                    <a:lumMod val="50000"/>
                  </a:schemeClr>
                </a:solidFill>
                <a:latin typeface="Times New Roman" panose="02020603050405020304" pitchFamily="18" charset="0"/>
                <a:cs typeface="Times New Roman" panose="02020603050405020304" pitchFamily="18" charset="0"/>
              </a:rPr>
              <a:t>l_allocated_bytes</a:t>
            </a:r>
            <a:r>
              <a:rPr lang="en-US" sz="1800" dirty="0">
                <a:solidFill>
                  <a:schemeClr val="accent1">
                    <a:lumMod val="50000"/>
                  </a:schemeClr>
                </a:solidFill>
                <a:latin typeface="Times New Roman" panose="02020603050405020304" pitchFamily="18" charset="0"/>
                <a:cs typeface="Times New Roman" panose="02020603050405020304" pitchFamily="18" charset="0"/>
              </a:rPr>
              <a:t> || '</a:t>
            </a:r>
            <a:r>
              <a:rPr lang="ru-RU" sz="1800" dirty="0">
                <a:solidFill>
                  <a:schemeClr val="accent1">
                    <a:lumMod val="50000"/>
                  </a:schemeClr>
                </a:solidFill>
                <a:latin typeface="Times New Roman" panose="02020603050405020304" pitchFamily="18" charset="0"/>
                <a:cs typeface="Times New Roman" panose="02020603050405020304" pitchFamily="18" charset="0"/>
              </a:rPr>
              <a:t>байт');</a:t>
            </a:r>
          </a:p>
          <a:p>
            <a:pPr marL="0" indent="0">
              <a:spcBef>
                <a:spcPts val="0"/>
              </a:spcBef>
              <a:buNone/>
            </a:pPr>
            <a:r>
              <a:rPr lang="en-US" sz="1800" dirty="0">
                <a:solidFill>
                  <a:schemeClr val="accent1">
                    <a:lumMod val="50000"/>
                  </a:schemeClr>
                </a:solidFill>
                <a:latin typeface="Times New Roman" panose="02020603050405020304" pitchFamily="18" charset="0"/>
                <a:cs typeface="Times New Roman" panose="02020603050405020304" pitchFamily="18" charset="0"/>
              </a:rPr>
              <a:t>END</a:t>
            </a:r>
            <a:r>
              <a:rPr lang="en-US" dirty="0">
                <a:solidFill>
                  <a:schemeClr val="accent1">
                    <a:lumMod val="50000"/>
                  </a:schemeClr>
                </a:solidFill>
              </a:rPr>
              <a:t>;</a:t>
            </a:r>
            <a:endParaRPr lang="ru-RU" dirty="0">
              <a:solidFill>
                <a:schemeClr val="accent1">
                  <a:lumMod val="50000"/>
                </a:schemeClr>
              </a:solidFill>
            </a:endParaRPr>
          </a:p>
          <a:p>
            <a:pPr marL="0" indent="0">
              <a:buNone/>
            </a:pPr>
            <a:r>
              <a:rPr lang="ru-RU" sz="1800" dirty="0">
                <a:latin typeface="Times New Roman" panose="02020603050405020304" pitchFamily="18" charset="0"/>
                <a:cs typeface="Times New Roman" panose="02020603050405020304" pitchFamily="18" charset="0"/>
              </a:rPr>
              <a:t>Вывод: </a:t>
            </a:r>
          </a:p>
          <a:p>
            <a:pPr marL="0" indent="0">
              <a:spcBef>
                <a:spcPts val="0"/>
              </a:spcBef>
              <a:buNone/>
            </a:pPr>
            <a:r>
              <a:rPr lang="ru-RU" sz="18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используется = 154414918 байт; выделено = 427720704 байт</a:t>
            </a:r>
            <a:endParaRPr lang="ru-RU"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0845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AF899E-9D67-4186-AB5B-8C4B3834CC5C}"/>
              </a:ext>
            </a:extLst>
          </p:cNvPr>
          <p:cNvSpPr>
            <a:spLocks noGrp="1"/>
          </p:cNvSpPr>
          <p:nvPr>
            <p:ph type="title"/>
          </p:nvPr>
        </p:nvSpPr>
        <p:spPr>
          <a:xfrm>
            <a:off x="838200" y="428545"/>
            <a:ext cx="10515600" cy="504983"/>
          </a:xfrm>
        </p:spPr>
        <p:txBody>
          <a:bodyPr>
            <a:normAutofit/>
          </a:bodyPr>
          <a:lstStyle/>
          <a:p>
            <a:r>
              <a:rPr lang="ru-RU" sz="2500" dirty="0">
                <a:effectLst/>
                <a:latin typeface="Times New Roman" panose="02020603050405020304" pitchFamily="18" charset="0"/>
                <a:ea typeface="Times New Roman" panose="02020603050405020304" pitchFamily="18" charset="0"/>
                <a:cs typeface="Times New Roman" panose="02020603050405020304" pitchFamily="18" charset="0"/>
              </a:rPr>
              <a:t>Мониторинг использования индекса</a:t>
            </a:r>
            <a:endParaRPr lang="ru-RU" sz="25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24092870-04A6-4D1C-BA88-E9D4CC7ED6B6}"/>
              </a:ext>
            </a:extLst>
          </p:cNvPr>
          <p:cNvSpPr>
            <a:spLocks noGrp="1"/>
          </p:cNvSpPr>
          <p:nvPr>
            <p:ph idx="1"/>
          </p:nvPr>
        </p:nvSpPr>
        <p:spPr>
          <a:xfrm>
            <a:off x="838200" y="933528"/>
            <a:ext cx="10515600" cy="5243435"/>
          </a:xfrm>
        </p:spPr>
        <p:txBody>
          <a:bodyPr>
            <a:noAutofit/>
          </a:bodyPr>
          <a:lstStyle/>
          <a:p>
            <a:pPr marL="0" indent="0" algn="just">
              <a:lnSpc>
                <a:spcPct val="107000"/>
              </a:lnSpc>
              <a:buNone/>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Oracle предлагает довольно простой способ слежения за индексами в базе данных. Если есть сомнения в использовании определенного индекса, можно попросить Oracle выполнить мониторинг его применения. Таким образом, если индекс окажется избыточным, его можно уничтожить и сэкономить место в хранилище, а также снизить накладные расходы на операции DML.</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buNone/>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Опишем, что потребуется сделать для отслеживания индекса в базе данных. Предположим, что вы пытаетесь узнать, используется ли индекс </a:t>
            </a:r>
            <a:r>
              <a:rPr lang="ru-RU" sz="1700" i="1" dirty="0" err="1">
                <a:effectLst/>
                <a:latin typeface="Times New Roman" panose="02020603050405020304" pitchFamily="18" charset="0"/>
                <a:ea typeface="Times New Roman" panose="02020603050405020304" pitchFamily="18" charset="0"/>
                <a:cs typeface="Times New Roman" panose="02020603050405020304" pitchFamily="18" charset="0"/>
              </a:rPr>
              <a:t>p_key_sales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в определенных запросах к таблице </a:t>
            </a:r>
            <a:r>
              <a:rPr lang="ru-RU" sz="1700" i="1" dirty="0" err="1">
                <a:effectLst/>
                <a:latin typeface="Times New Roman" panose="02020603050405020304" pitchFamily="18" charset="0"/>
                <a:ea typeface="Times New Roman" panose="02020603050405020304" pitchFamily="18" charset="0"/>
                <a:cs typeface="Times New Roman" panose="02020603050405020304" pitchFamily="18" charset="0"/>
              </a:rPr>
              <a:t>sales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1000"/>
              </a:spcAft>
              <a:buNone/>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Чтобы запустить мониторинг использования индекса, войдите в базу как владелец индекса </a:t>
            </a:r>
            <a:r>
              <a:rPr lang="ru-RU" sz="1700" i="1" dirty="0" err="1">
                <a:effectLst/>
                <a:latin typeface="Times New Roman" panose="02020603050405020304" pitchFamily="18" charset="0"/>
                <a:ea typeface="Times New Roman" panose="02020603050405020304" pitchFamily="18" charset="0"/>
                <a:cs typeface="Times New Roman" panose="02020603050405020304" pitchFamily="18" charset="0"/>
              </a:rPr>
              <a:t>p_key_sales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и запустите следующую команду: </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 INDEX </a:t>
            </a:r>
            <a:r>
              <a:rPr lang="en-US"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p_key_sales</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MONITORING USAGE;</a:t>
            </a:r>
            <a:endParaRPr lang="ru-RU" sz="17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Index </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altered</a:t>
            </a:r>
            <a:endParaRPr lang="ru-RU" sz="1700" dirty="0">
              <a:solidFill>
                <a:schemeClr val="accent1">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latinLnBrk="1">
              <a:lnSpc>
                <a:spcPct val="100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Теперь необходимо запустить какие-нибудь запросы к таблице </a:t>
            </a:r>
            <a:r>
              <a:rPr lang="ru-RU" sz="1700" i="1" dirty="0" err="1">
                <a:effectLst/>
                <a:latin typeface="Times New Roman" panose="02020603050405020304" pitchFamily="18" charset="0"/>
                <a:ea typeface="Times New Roman" panose="02020603050405020304" pitchFamily="18" charset="0"/>
                <a:cs typeface="Times New Roman" panose="02020603050405020304" pitchFamily="18" charset="0"/>
              </a:rPr>
              <a:t>sales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И далее завершить мониторинг, применив следующую команду:</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 INDEX </a:t>
            </a:r>
            <a:r>
              <a:rPr lang="en-US"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p_key_sales</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NOMONITORING USAGE;</a:t>
            </a:r>
            <a:endParaRPr lang="ru-RU" sz="17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Index </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altered</a:t>
            </a:r>
            <a:endParaRPr lang="ru-RU" sz="1700" dirty="0">
              <a:solidFill>
                <a:schemeClr val="accent1">
                  <a:lumMod val="5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ru-RU"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53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7B42950-96A3-4210-A725-850EA3045176}"/>
              </a:ext>
            </a:extLst>
          </p:cNvPr>
          <p:cNvSpPr>
            <a:spLocks noGrp="1"/>
          </p:cNvSpPr>
          <p:nvPr>
            <p:ph idx="1"/>
          </p:nvPr>
        </p:nvSpPr>
        <p:spPr>
          <a:xfrm>
            <a:off x="697523" y="629871"/>
            <a:ext cx="10637018" cy="4351338"/>
          </a:xfrm>
        </p:spPr>
        <p:txBody>
          <a:bodyPr>
            <a:noAutofit/>
          </a:bodyPr>
          <a:lstStyle/>
          <a:p>
            <a:pPr marL="0" indent="0" latinLnBrk="1">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После этого можно запросить представление словаря данных </a:t>
            </a:r>
            <a:r>
              <a:rPr lang="ru-RU" sz="1700" i="1" dirty="0">
                <a:effectLst/>
                <a:latin typeface="Times New Roman" panose="02020603050405020304" pitchFamily="18" charset="0"/>
                <a:ea typeface="Times New Roman" panose="02020603050405020304" pitchFamily="18" charset="0"/>
                <a:cs typeface="Times New Roman" panose="02020603050405020304" pitchFamily="18" charset="0"/>
              </a:rPr>
              <a:t>V$OBJECT_USAGE</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для определения того, использовался ли индекс </a:t>
            </a:r>
            <a:r>
              <a:rPr lang="ru-RU" sz="1700" i="1" dirty="0" err="1">
                <a:effectLst/>
                <a:latin typeface="Times New Roman" panose="02020603050405020304" pitchFamily="18" charset="0"/>
                <a:ea typeface="Times New Roman" panose="02020603050405020304" pitchFamily="18" charset="0"/>
                <a:cs typeface="Times New Roman" panose="02020603050405020304" pitchFamily="18" charset="0"/>
              </a:rPr>
              <a:t>p_key_sales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latinLnBrk="1">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Следующий результат подтверждает использование индекса:</a:t>
            </a:r>
            <a:endParaRPr lang="ru-RU"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SELECT * FROM </a:t>
            </a:r>
            <a:r>
              <a:rPr lang="ru-RU"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v$object_usage</a:t>
            </a:r>
            <a:endParaRPr lang="ru-RU" sz="1700" dirty="0">
              <a:solidFill>
                <a:schemeClr val="accent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latinLnBrk="1">
              <a:lnSpc>
                <a:spcPct val="107000"/>
              </a:lnSpc>
              <a:spcBef>
                <a:spcPts val="0"/>
              </a:spcBef>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WHERE </a:t>
            </a:r>
            <a:r>
              <a:rPr lang="en-US" sz="1700" dirty="0" err="1">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index_name</a:t>
            </a:r>
            <a:r>
              <a:rPr lang="en-US"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='P_KEY_SALES’;</a:t>
            </a:r>
            <a:endParaRPr lang="ru-RU" sz="1700" dirty="0">
              <a:solidFill>
                <a:schemeClr val="accent1">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latin typeface="Times New Roman" panose="02020603050405020304" pitchFamily="18" charset="0"/>
                <a:ea typeface="Times New Roman" panose="02020603050405020304" pitchFamily="18" charset="0"/>
                <a:cs typeface="Times New Roman" panose="02020603050405020304" pitchFamily="18" charset="0"/>
              </a:rPr>
              <a:t>Вывод:</a:t>
            </a: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ru-RU"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ru-RU"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ru-RU" sz="17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latinLnBrk="1">
              <a:lnSpc>
                <a:spcPct val="107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В приведенном выводе Oracle выводит значение </a:t>
            </a:r>
            <a:r>
              <a:rPr lang="ru-RU" sz="1700" i="1" dirty="0">
                <a:effectLst/>
                <a:latin typeface="Times New Roman" panose="02020603050405020304" pitchFamily="18" charset="0"/>
                <a:ea typeface="Times New Roman" panose="02020603050405020304" pitchFamily="18" charset="0"/>
                <a:cs typeface="Times New Roman" panose="02020603050405020304" pitchFamily="18" charset="0"/>
              </a:rPr>
              <a:t>YES</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в столбце </a:t>
            </a:r>
            <a:r>
              <a:rPr lang="ru-RU" sz="1700" i="1" dirty="0">
                <a:effectLst/>
                <a:latin typeface="Times New Roman" panose="02020603050405020304" pitchFamily="18" charset="0"/>
                <a:ea typeface="Times New Roman" panose="02020603050405020304" pitchFamily="18" charset="0"/>
                <a:cs typeface="Times New Roman" panose="02020603050405020304" pitchFamily="18" charset="0"/>
              </a:rPr>
              <a:t>USED</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указывая на то, что интересующий индекс использовался базой данных. Если индекс был проигнорирован во время мониторинга, столбец содержал бы значение </a:t>
            </a:r>
            <a:r>
              <a:rPr lang="ru-RU" sz="1700" i="1" dirty="0">
                <a:effectLst/>
                <a:latin typeface="Times New Roman" panose="02020603050405020304" pitchFamily="18" charset="0"/>
                <a:ea typeface="Times New Roman" panose="02020603050405020304" pitchFamily="18" charset="0"/>
                <a:cs typeface="Times New Roman" panose="02020603050405020304" pitchFamily="18" charset="0"/>
              </a:rPr>
              <a:t>NO</a:t>
            </a:r>
            <a:r>
              <a:rPr lang="ru-RU" sz="17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700" dirty="0"/>
          </a:p>
        </p:txBody>
      </p:sp>
      <p:graphicFrame>
        <p:nvGraphicFramePr>
          <p:cNvPr id="4" name="Таблица 4">
            <a:extLst>
              <a:ext uri="{FF2B5EF4-FFF2-40B4-BE49-F238E27FC236}">
                <a16:creationId xmlns:a16="http://schemas.microsoft.com/office/drawing/2014/main" id="{8F4B9510-3CEE-4FAE-AFED-EEDC0EA2D0BE}"/>
              </a:ext>
            </a:extLst>
          </p:cNvPr>
          <p:cNvGraphicFramePr>
            <a:graphicFrameLocks noGrp="1"/>
          </p:cNvGraphicFramePr>
          <p:nvPr>
            <p:extLst>
              <p:ext uri="{D42A27DB-BD31-4B8C-83A1-F6EECF244321}">
                <p14:modId xmlns:p14="http://schemas.microsoft.com/office/powerpoint/2010/main" val="1950522840"/>
              </p:ext>
            </p:extLst>
          </p:nvPr>
        </p:nvGraphicFramePr>
        <p:xfrm>
          <a:off x="697523" y="3058160"/>
          <a:ext cx="10369902" cy="741680"/>
        </p:xfrm>
        <a:graphic>
          <a:graphicData uri="http://schemas.openxmlformats.org/drawingml/2006/table">
            <a:tbl>
              <a:tblPr firstRow="1" bandRow="1">
                <a:tableStyleId>{5940675A-B579-460E-94D1-54222C63F5DA}</a:tableStyleId>
              </a:tblPr>
              <a:tblGrid>
                <a:gridCol w="1728317">
                  <a:extLst>
                    <a:ext uri="{9D8B030D-6E8A-4147-A177-3AD203B41FA5}">
                      <a16:colId xmlns:a16="http://schemas.microsoft.com/office/drawing/2014/main" val="2281602395"/>
                    </a:ext>
                  </a:extLst>
                </a:gridCol>
                <a:gridCol w="1326383">
                  <a:extLst>
                    <a:ext uri="{9D8B030D-6E8A-4147-A177-3AD203B41FA5}">
                      <a16:colId xmlns:a16="http://schemas.microsoft.com/office/drawing/2014/main" val="842091302"/>
                    </a:ext>
                  </a:extLst>
                </a:gridCol>
                <a:gridCol w="1085222">
                  <a:extLst>
                    <a:ext uri="{9D8B030D-6E8A-4147-A177-3AD203B41FA5}">
                      <a16:colId xmlns:a16="http://schemas.microsoft.com/office/drawing/2014/main" val="3068605886"/>
                    </a:ext>
                  </a:extLst>
                </a:gridCol>
                <a:gridCol w="1507252">
                  <a:extLst>
                    <a:ext uri="{9D8B030D-6E8A-4147-A177-3AD203B41FA5}">
                      <a16:colId xmlns:a16="http://schemas.microsoft.com/office/drawing/2014/main" val="3260614452"/>
                    </a:ext>
                  </a:extLst>
                </a:gridCol>
                <a:gridCol w="2321170">
                  <a:extLst>
                    <a:ext uri="{9D8B030D-6E8A-4147-A177-3AD203B41FA5}">
                      <a16:colId xmlns:a16="http://schemas.microsoft.com/office/drawing/2014/main" val="1660061565"/>
                    </a:ext>
                  </a:extLst>
                </a:gridCol>
                <a:gridCol w="2401558">
                  <a:extLst>
                    <a:ext uri="{9D8B030D-6E8A-4147-A177-3AD203B41FA5}">
                      <a16:colId xmlns:a16="http://schemas.microsoft.com/office/drawing/2014/main" val="2663751784"/>
                    </a:ext>
                  </a:extLst>
                </a:gridCol>
              </a:tblGrid>
              <a:tr h="370840">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INDEX_NM </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TAB_NM </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MON</a:t>
                      </a:r>
                      <a:endParaRPr lang="ru-RU" dirty="0"/>
                    </a:p>
                  </a:txBody>
                  <a:tcPr/>
                </a:tc>
                <a:tc>
                  <a:txBody>
                    <a:bodyPr/>
                    <a:lstStyle/>
                    <a:p>
                      <a:r>
                        <a:rPr lang="en-US" sz="18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START_MON </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END_MONITORING</a:t>
                      </a:r>
                      <a:endParaRPr lang="ru-RU" dirty="0"/>
                    </a:p>
                  </a:txBody>
                  <a:tcPr/>
                </a:tc>
                <a:extLst>
                  <a:ext uri="{0D108BD9-81ED-4DB2-BD59-A6C34878D82A}">
                    <a16:rowId xmlns:a16="http://schemas.microsoft.com/office/drawing/2014/main" val="1556635153"/>
                  </a:ext>
                </a:extLst>
              </a:tr>
              <a:tr h="370840">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P_KEY_SALES </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SALE</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a:t>
                      </a:r>
                      <a:endParaRPr lang="ru-RU" dirty="0"/>
                    </a:p>
                  </a:txBody>
                  <a:tcPr/>
                </a:tc>
                <a:tc>
                  <a:txBody>
                    <a:bodyPr/>
                    <a:lstStyle/>
                    <a:p>
                      <a:r>
                        <a:rPr lang="en-US" sz="18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YES</a:t>
                      </a:r>
                      <a:endParaRPr lang="ru-RU" dirty="0">
                        <a:solidFill>
                          <a:srgbClr val="7030A0"/>
                        </a:solidFill>
                      </a:endParaRPr>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01/23/2008 06:20:45</a:t>
                      </a:r>
                      <a:endParaRPr lang="ru-RU" dirty="0"/>
                    </a:p>
                  </a:txBody>
                  <a:tcPr/>
                </a:tc>
                <a:tc>
                  <a: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01/23/2008 06:40:22</a:t>
                      </a:r>
                      <a:endParaRPr lang="ru-RU" dirty="0"/>
                    </a:p>
                  </a:txBody>
                  <a:tcPr/>
                </a:tc>
                <a:extLst>
                  <a:ext uri="{0D108BD9-81ED-4DB2-BD59-A6C34878D82A}">
                    <a16:rowId xmlns:a16="http://schemas.microsoft.com/office/drawing/2014/main" val="1111257820"/>
                  </a:ext>
                </a:extLst>
              </a:tr>
            </a:tbl>
          </a:graphicData>
        </a:graphic>
      </p:graphicFrame>
    </p:spTree>
    <p:extLst>
      <p:ext uri="{BB962C8B-B14F-4D97-AF65-F5344CB8AC3E}">
        <p14:creationId xmlns:p14="http://schemas.microsoft.com/office/powerpoint/2010/main" val="308373842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TotalTime>
  <Words>2339</Words>
  <Application>Microsoft Office PowerPoint</Application>
  <PresentationFormat>Широкоэкранный</PresentationFormat>
  <Paragraphs>171</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Arial</vt:lpstr>
      <vt:lpstr>Calibri</vt:lpstr>
      <vt:lpstr>Calibri Light</vt:lpstr>
      <vt:lpstr>Menlo</vt:lpstr>
      <vt:lpstr>Times New Roman</vt:lpstr>
      <vt:lpstr>Тема Office</vt:lpstr>
      <vt:lpstr>Индексы таблиц  PL/SQL</vt:lpstr>
      <vt:lpstr>Проектирование индексов</vt:lpstr>
      <vt:lpstr>Кластеризованные / некластеризованные индексы</vt:lpstr>
      <vt:lpstr>Кластеризованный индекс на столбце, содержащем дубликаты</vt:lpstr>
      <vt:lpstr>Преимущества покрывающего индекса взамен составного</vt:lpstr>
      <vt:lpstr>Индексы с реверсированным ключом</vt:lpstr>
      <vt:lpstr>Индексы со сжатым ключом</vt:lpstr>
      <vt:lpstr>Индексы на основе функций</vt:lpstr>
      <vt:lpstr>Невидимые индексы</vt:lpstr>
      <vt:lpstr>Превращение индекса в невидимый</vt:lpstr>
      <vt:lpstr>Коэффициент заполнения индекса </vt:lpstr>
      <vt:lpstr>Презентация PowerPoint</vt:lpstr>
      <vt:lpstr>Презентация PowerPoint</vt:lpstr>
      <vt:lpstr>Оценка размера индекса</vt:lpstr>
      <vt:lpstr>Мониторинг использования индекса</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Индексы таблиц  PL/SQL</dc:title>
  <dc:creator>Admin</dc:creator>
  <cp:lastModifiedBy>Admin</cp:lastModifiedBy>
  <cp:revision>4</cp:revision>
  <dcterms:created xsi:type="dcterms:W3CDTF">2022-02-21T15:34:24Z</dcterms:created>
  <dcterms:modified xsi:type="dcterms:W3CDTF">2022-02-24T18:08:34Z</dcterms:modified>
</cp:coreProperties>
</file>