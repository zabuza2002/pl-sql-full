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90E153-CE39-464A-8E66-E2323EBFFEBC}" type="datetimeFigureOut">
              <a:rPr lang="ru-RU" smtClean="0"/>
              <a:t>02.03.2022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AC281-2B53-483F-B3C8-3FC9D95450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2952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8AC281-2B53-483F-B3C8-3FC9D954504E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51313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A43DD-EB11-42F2-B239-9D704606777E}" type="datetimeFigureOut">
              <a:rPr lang="ru-RU" smtClean="0"/>
              <a:t>02.03.2022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60549-8184-4200-B9A7-C9653609BF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9674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A43DD-EB11-42F2-B239-9D704606777E}" type="datetimeFigureOut">
              <a:rPr lang="ru-RU" smtClean="0"/>
              <a:t>02.03.2022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60549-8184-4200-B9A7-C9653609BF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3385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A43DD-EB11-42F2-B239-9D704606777E}" type="datetimeFigureOut">
              <a:rPr lang="ru-RU" smtClean="0"/>
              <a:t>02.03.2022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60549-8184-4200-B9A7-C9653609BF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438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A43DD-EB11-42F2-B239-9D704606777E}" type="datetimeFigureOut">
              <a:rPr lang="ru-RU" smtClean="0"/>
              <a:t>02.03.2022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60549-8184-4200-B9A7-C9653609BF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8781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A43DD-EB11-42F2-B239-9D704606777E}" type="datetimeFigureOut">
              <a:rPr lang="ru-RU" smtClean="0"/>
              <a:t>02.03.2022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60549-8184-4200-B9A7-C9653609BF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2594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A43DD-EB11-42F2-B239-9D704606777E}" type="datetimeFigureOut">
              <a:rPr lang="ru-RU" smtClean="0"/>
              <a:t>02.03.2022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60549-8184-4200-B9A7-C9653609BF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1229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A43DD-EB11-42F2-B239-9D704606777E}" type="datetimeFigureOut">
              <a:rPr lang="ru-RU" smtClean="0"/>
              <a:t>02.03.2022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60549-8184-4200-B9A7-C9653609BF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1441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A43DD-EB11-42F2-B239-9D704606777E}" type="datetimeFigureOut">
              <a:rPr lang="ru-RU" smtClean="0"/>
              <a:t>02.03.2022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60549-8184-4200-B9A7-C9653609BF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3599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A43DD-EB11-42F2-B239-9D704606777E}" type="datetimeFigureOut">
              <a:rPr lang="ru-RU" smtClean="0"/>
              <a:t>02.03.2022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60549-8184-4200-B9A7-C9653609BF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7073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A43DD-EB11-42F2-B239-9D704606777E}" type="datetimeFigureOut">
              <a:rPr lang="ru-RU" smtClean="0"/>
              <a:t>02.03.2022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60549-8184-4200-B9A7-C9653609BF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7458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A43DD-EB11-42F2-B239-9D704606777E}" type="datetimeFigureOut">
              <a:rPr lang="ru-RU" smtClean="0"/>
              <a:t>02.03.2022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60549-8184-4200-B9A7-C9653609BF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2832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CA43DD-EB11-42F2-B239-9D704606777E}" type="datetimeFigureOut">
              <a:rPr lang="ru-RU" smtClean="0"/>
              <a:t>02.03.2022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160549-8184-4200-B9A7-C9653609BF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4113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И</a:t>
            </a:r>
            <a:r>
              <a:rPr lang="ru-RU" dirty="0" smtClean="0"/>
              <a:t>спользование UTL_FILE на примерах. Программы пакета UTL_FILE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373745" y="4571856"/>
            <a:ext cx="9144000" cy="1655762"/>
          </a:xfrm>
        </p:spPr>
        <p:txBody>
          <a:bodyPr/>
          <a:lstStyle/>
          <a:p>
            <a:pPr algn="r"/>
            <a:r>
              <a:rPr lang="ru-RU" dirty="0" smtClean="0"/>
              <a:t>Гудков Никита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09012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Пакет </a:t>
            </a:r>
            <a:r>
              <a:rPr lang="en-US" dirty="0" smtClean="0"/>
              <a:t>UTL_FILE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i="1" dirty="0"/>
              <a:t>UTL_FILE </a:t>
            </a:r>
            <a:r>
              <a:rPr lang="ru-RU" dirty="0"/>
              <a:t>в СУБД </a:t>
            </a:r>
            <a:r>
              <a:rPr lang="ru-RU" dirty="0" err="1"/>
              <a:t>Oracle</a:t>
            </a:r>
            <a:r>
              <a:rPr lang="ru-RU" dirty="0"/>
              <a:t> позволяет легко записывать и читать файлы операционной системы. </a:t>
            </a:r>
            <a:r>
              <a:rPr lang="ru-RU" dirty="0" smtClean="0"/>
              <a:t>Пакет </a:t>
            </a:r>
            <a:r>
              <a:rPr lang="ru-RU" i="1" dirty="0" smtClean="0"/>
              <a:t>UTL_FILE</a:t>
            </a:r>
            <a:r>
              <a:rPr lang="ru-RU" dirty="0" smtClean="0"/>
              <a:t> предлагает сокращенную версию стандартного потокового ввода-вывода операционной системы. </a:t>
            </a:r>
          </a:p>
          <a:p>
            <a:r>
              <a:rPr lang="ru-RU" dirty="0" smtClean="0"/>
              <a:t>Процедуры и функции пакета </a:t>
            </a:r>
            <a:r>
              <a:rPr lang="ru-RU" i="1" dirty="0" smtClean="0"/>
              <a:t>UTL_FILE</a:t>
            </a:r>
            <a:r>
              <a:rPr lang="ru-RU" dirty="0" smtClean="0"/>
              <a:t> дают возможность открывать, читать, писать и закрывать файлы операционной системы.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07315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480291"/>
            <a:ext cx="10515600" cy="5696672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Объект базы данных DIRECTORY - это ссылка на каталог сервера, на котором работает </a:t>
            </a:r>
            <a:r>
              <a:rPr lang="ru-RU" dirty="0" smtClean="0"/>
              <a:t>экземпляр базы данных </a:t>
            </a:r>
            <a:r>
              <a:rPr lang="ru-RU" dirty="0" err="1" smtClean="0"/>
              <a:t>Oracle</a:t>
            </a:r>
            <a:r>
              <a:rPr lang="ru-RU" dirty="0" smtClean="0"/>
              <a:t>.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Создание каталога: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CREATE OR REPLACE DIRECTORY </a:t>
            </a:r>
            <a:r>
              <a:rPr lang="en-US" dirty="0" err="1" smtClean="0"/>
              <a:t>utl_dir</a:t>
            </a:r>
            <a:r>
              <a:rPr lang="ru-RU" dirty="0" smtClean="0"/>
              <a:t>_</a:t>
            </a:r>
            <a:r>
              <a:rPr lang="en-US" dirty="0" smtClean="0"/>
              <a:t>name AS 'F:\test_2';</a:t>
            </a:r>
            <a:endParaRPr lang="ru-RU" dirty="0" smtClean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 smtClean="0"/>
              <a:t>Где: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'F:\test_2' – </a:t>
            </a:r>
            <a:r>
              <a:rPr lang="ru-RU" dirty="0" smtClean="0"/>
              <a:t>каталог </a:t>
            </a:r>
          </a:p>
          <a:p>
            <a:pPr marL="0" indent="0">
              <a:buNone/>
            </a:pPr>
            <a:r>
              <a:rPr lang="en-US" dirty="0" err="1" smtClean="0"/>
              <a:t>utl_dir_name</a:t>
            </a:r>
            <a:r>
              <a:rPr lang="en-US" dirty="0" smtClean="0"/>
              <a:t> – </a:t>
            </a:r>
            <a:r>
              <a:rPr lang="ru-RU" dirty="0" smtClean="0"/>
              <a:t>название объекта </a:t>
            </a:r>
            <a:r>
              <a:rPr lang="en-US" dirty="0" smtClean="0"/>
              <a:t>DIRECTORY</a:t>
            </a:r>
          </a:p>
        </p:txBody>
      </p:sp>
    </p:spTree>
    <p:extLst>
      <p:ext uri="{BB962C8B-B14F-4D97-AF65-F5344CB8AC3E}">
        <p14:creationId xmlns:p14="http://schemas.microsoft.com/office/powerpoint/2010/main" val="1618971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Объект </a:t>
            </a:r>
            <a:r>
              <a:rPr lang="en-US" dirty="0" smtClean="0"/>
              <a:t>DIRECTORY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При создании директории ORACLE не проверяет её наличие и доступность, поэтому о создании каталога на диске и предоставлении прав на него </a:t>
            </a:r>
            <a:r>
              <a:rPr lang="ru-RU" dirty="0" smtClean="0"/>
              <a:t>пользователю надо </a:t>
            </a:r>
            <a:r>
              <a:rPr lang="ru-RU" dirty="0"/>
              <a:t>позаботиться заранее. Если этого не сделать, то при попытке обращения получим ошибку.</a:t>
            </a:r>
          </a:p>
          <a:p>
            <a:r>
              <a:rPr lang="ru-RU" dirty="0"/>
              <a:t>При удалении директории всё её содержимое остаётся в файловой системе.</a:t>
            </a:r>
          </a:p>
          <a:p>
            <a:r>
              <a:rPr lang="ru-RU" dirty="0" smtClean="0"/>
              <a:t>Право </a:t>
            </a:r>
            <a:r>
              <a:rPr lang="en-US" dirty="0" smtClean="0"/>
              <a:t>CREATE ANY DIRECTORY </a:t>
            </a:r>
            <a:r>
              <a:rPr lang="ru-RU" dirty="0" smtClean="0"/>
              <a:t>позволяет изменять любые файлы ОС, поэтому для безопасности ее нужно раздавать осторожно.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70208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Выдача прав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Право на запись в директории: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GRANT </a:t>
            </a:r>
            <a:r>
              <a:rPr lang="en-US" dirty="0" smtClean="0"/>
              <a:t>WRITE ON DIRECTORY </a:t>
            </a:r>
            <a:r>
              <a:rPr lang="en-US" dirty="0" err="1" smtClean="0"/>
              <a:t>utl_dir</a:t>
            </a:r>
            <a:r>
              <a:rPr lang="en-US" dirty="0" smtClean="0"/>
              <a:t> TO </a:t>
            </a:r>
            <a:r>
              <a:rPr lang="en-US" dirty="0" err="1"/>
              <a:t>user_or_role_name</a:t>
            </a:r>
            <a:r>
              <a:rPr lang="en-US" dirty="0" smtClean="0"/>
              <a:t>; </a:t>
            </a:r>
            <a:endParaRPr lang="ru-RU" dirty="0" smtClean="0"/>
          </a:p>
          <a:p>
            <a:pPr marL="0" indent="0">
              <a:buNone/>
            </a:pPr>
            <a:r>
              <a:rPr lang="en-US" dirty="0" smtClean="0"/>
              <a:t> </a:t>
            </a: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Право на чтение директории: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GRANT READ ON DIRECTORY </a:t>
            </a:r>
            <a:r>
              <a:rPr lang="en-US" dirty="0" err="1" smtClean="0"/>
              <a:t>utl_dir</a:t>
            </a:r>
            <a:r>
              <a:rPr lang="en-US" dirty="0" smtClean="0"/>
              <a:t> TO </a:t>
            </a:r>
            <a:r>
              <a:rPr lang="en-US" dirty="0" err="1"/>
              <a:t>user_or_role_name</a:t>
            </a:r>
            <a:r>
              <a:rPr lang="en-US" dirty="0"/>
              <a:t>; </a:t>
            </a:r>
            <a:endParaRPr lang="ru-RU" dirty="0" smtClean="0"/>
          </a:p>
          <a:p>
            <a:endParaRPr lang="ru-RU" dirty="0"/>
          </a:p>
          <a:p>
            <a:pPr marL="0" indent="0">
              <a:buNone/>
            </a:pPr>
            <a:r>
              <a:rPr lang="ru-RU" dirty="0" smtClean="0"/>
              <a:t>Также для создания директории нужны права на это:</a:t>
            </a:r>
          </a:p>
          <a:p>
            <a:pPr marL="0" indent="0">
              <a:buNone/>
            </a:pPr>
            <a:r>
              <a:rPr lang="en-US" dirty="0" smtClean="0"/>
              <a:t>GRANT CREATE ANY DIRECTORY TO </a:t>
            </a:r>
            <a:r>
              <a:rPr lang="en-US" dirty="0" err="1" smtClean="0"/>
              <a:t>user_or_role_name</a:t>
            </a:r>
            <a:r>
              <a:rPr lang="en-US" dirty="0" smtClean="0"/>
              <a:t>;</a:t>
            </a:r>
            <a:endParaRPr lang="ru-RU" dirty="0" smtClean="0"/>
          </a:p>
          <a:p>
            <a:pPr marL="0" indent="0">
              <a:buNone/>
            </a:pPr>
            <a:endParaRPr lang="ru-RU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57623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581891"/>
            <a:ext cx="10515600" cy="5595072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Также можно посмотреть созданные директории:</a:t>
            </a:r>
          </a:p>
          <a:p>
            <a:pPr marL="0" indent="0">
              <a:buNone/>
            </a:pPr>
            <a:r>
              <a:rPr lang="en-US" dirty="0" smtClean="0"/>
              <a:t>SELECT * FROM </a:t>
            </a:r>
            <a:r>
              <a:rPr lang="en-US" dirty="0" err="1" smtClean="0"/>
              <a:t>dba_directories</a:t>
            </a:r>
            <a:r>
              <a:rPr lang="en-US" dirty="0" smtClean="0"/>
              <a:t>;</a:t>
            </a:r>
            <a:r>
              <a:rPr lang="ru-RU" dirty="0" smtClean="0"/>
              <a:t> (под </a:t>
            </a:r>
            <a:r>
              <a:rPr lang="en-US" dirty="0" smtClean="0"/>
              <a:t>SYSDBA</a:t>
            </a:r>
            <a:r>
              <a:rPr lang="ru-RU" dirty="0" smtClean="0"/>
              <a:t>)</a:t>
            </a:r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60775"/>
            <a:ext cx="10861797" cy="3718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017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 smtClean="0"/>
              <a:t>Инициализационный параметр</a:t>
            </a:r>
            <a:r>
              <a:rPr lang="ru-RU" sz="4000" dirty="0"/>
              <a:t> </a:t>
            </a:r>
            <a:r>
              <a:rPr lang="en-US" sz="4000" i="1" dirty="0"/>
              <a:t>UTL_FILE_DIR</a:t>
            </a:r>
            <a:endParaRPr lang="ru-RU" sz="40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Инициализационный параметр </a:t>
            </a:r>
            <a:r>
              <a:rPr lang="ru-RU" i="1" dirty="0"/>
              <a:t>UTL_FILE_DIR</a:t>
            </a:r>
            <a:r>
              <a:rPr lang="ru-RU" dirty="0"/>
              <a:t> </a:t>
            </a:r>
            <a:r>
              <a:rPr lang="ru-RU" dirty="0" smtClean="0"/>
              <a:t>также можно использовать, </a:t>
            </a:r>
            <a:r>
              <a:rPr lang="ru-RU" dirty="0"/>
              <a:t>но в </a:t>
            </a:r>
            <a:r>
              <a:rPr lang="ru-RU" dirty="0" err="1"/>
              <a:t>Oracle</a:t>
            </a:r>
            <a:r>
              <a:rPr lang="ru-RU" dirty="0"/>
              <a:t> </a:t>
            </a:r>
            <a:r>
              <a:rPr lang="ru-RU" dirty="0" smtClean="0"/>
              <a:t>не </a:t>
            </a:r>
            <a:r>
              <a:rPr lang="ru-RU" dirty="0"/>
              <a:t>рекомендуют им пользоваться. Вместо этого рекомендуется применять команду </a:t>
            </a:r>
            <a:r>
              <a:rPr lang="ru-RU" i="1" dirty="0"/>
              <a:t>CREATE DIRECTORY</a:t>
            </a:r>
            <a:r>
              <a:rPr lang="ru-RU" dirty="0"/>
              <a:t>. </a:t>
            </a:r>
            <a:endParaRPr lang="ru-RU" dirty="0" smtClean="0"/>
          </a:p>
          <a:p>
            <a:r>
              <a:rPr lang="ru-RU" dirty="0" smtClean="0"/>
              <a:t>Это связано с тем, что после изменения </a:t>
            </a:r>
            <a:r>
              <a:rPr lang="ru-RU" i="1" dirty="0" smtClean="0"/>
              <a:t>UTL_FILE_DIR </a:t>
            </a:r>
            <a:r>
              <a:rPr lang="ru-RU" dirty="0" smtClean="0"/>
              <a:t>необходимо перезапускать БД.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46944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Процедуры и функции </a:t>
            </a:r>
            <a:r>
              <a:rPr lang="en-US" dirty="0"/>
              <a:t>UTL_FILE</a:t>
            </a:r>
            <a:br>
              <a:rPr lang="en-US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Открытие файла</a:t>
            </a:r>
          </a:p>
          <a:p>
            <a:r>
              <a:rPr lang="ru-RU" dirty="0" smtClean="0"/>
              <a:t>Закрытие файла </a:t>
            </a:r>
          </a:p>
          <a:p>
            <a:r>
              <a:rPr lang="ru-RU" dirty="0" smtClean="0"/>
              <a:t>Чтение файла</a:t>
            </a:r>
          </a:p>
          <a:p>
            <a:r>
              <a:rPr lang="ru-RU" dirty="0" smtClean="0"/>
              <a:t>Запись в файл</a:t>
            </a:r>
          </a:p>
          <a:p>
            <a:r>
              <a:rPr lang="ru-RU" i="1" dirty="0"/>
              <a:t>UTL_FILE.FILE_TYPE</a:t>
            </a:r>
            <a:r>
              <a:rPr lang="ru-RU" dirty="0"/>
              <a:t> — тип данных для обработки </a:t>
            </a:r>
            <a:r>
              <a:rPr lang="ru-RU" dirty="0" smtClean="0"/>
              <a:t>файлов (дескриптор файла)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3489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Открытие файла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Функция </a:t>
            </a:r>
            <a:r>
              <a:rPr lang="ru-RU" i="1" dirty="0" smtClean="0"/>
              <a:t>FOPEN</a:t>
            </a:r>
            <a:r>
              <a:rPr lang="ru-RU" dirty="0"/>
              <a:t> служит для открытия файла операционной </a:t>
            </a:r>
            <a:r>
              <a:rPr lang="ru-RU" dirty="0" smtClean="0"/>
              <a:t>системы</a:t>
            </a:r>
            <a:r>
              <a:rPr lang="en-US" dirty="0" smtClean="0"/>
              <a:t>;</a:t>
            </a:r>
          </a:p>
          <a:p>
            <a:pPr marL="0" indent="0">
              <a:buNone/>
            </a:pPr>
            <a:r>
              <a:rPr lang="ru-RU" dirty="0"/>
              <a:t>Файл можно открывать в трех режимах: 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чтение </a:t>
            </a:r>
            <a:r>
              <a:rPr lang="ru-RU" dirty="0"/>
              <a:t>(r</a:t>
            </a:r>
            <a:r>
              <a:rPr lang="ru-RU" dirty="0" smtClean="0"/>
              <a:t>)</a:t>
            </a:r>
            <a:r>
              <a:rPr lang="en-US" dirty="0" smtClean="0"/>
              <a:t>, (</a:t>
            </a:r>
            <a:r>
              <a:rPr lang="en-US" dirty="0" err="1" smtClean="0"/>
              <a:t>rb</a:t>
            </a:r>
            <a:r>
              <a:rPr lang="en-US" dirty="0" smtClean="0"/>
              <a:t>)</a:t>
            </a:r>
            <a:r>
              <a:rPr lang="ru-RU" dirty="0" smtClean="0"/>
              <a:t>, 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запись </a:t>
            </a:r>
            <a:r>
              <a:rPr lang="ru-RU" dirty="0"/>
              <a:t>(w</a:t>
            </a:r>
            <a:r>
              <a:rPr lang="ru-RU" dirty="0" smtClean="0"/>
              <a:t>)</a:t>
            </a:r>
            <a:r>
              <a:rPr lang="en-US" dirty="0" smtClean="0"/>
              <a:t>, (</a:t>
            </a:r>
            <a:r>
              <a:rPr lang="en-US" dirty="0" err="1" smtClean="0"/>
              <a:t>wb</a:t>
            </a:r>
            <a:r>
              <a:rPr lang="en-US" dirty="0" smtClean="0"/>
              <a:t>)</a:t>
            </a:r>
            <a:r>
              <a:rPr lang="ru-RU" dirty="0" smtClean="0"/>
              <a:t> </a:t>
            </a:r>
            <a:r>
              <a:rPr lang="en-US" dirty="0" smtClean="0"/>
              <a:t>,</a:t>
            </a:r>
          </a:p>
          <a:p>
            <a:pPr marL="0" indent="0">
              <a:buNone/>
            </a:pPr>
            <a:r>
              <a:rPr lang="ru-RU" dirty="0" smtClean="0"/>
              <a:t>добавление </a:t>
            </a:r>
            <a:r>
              <a:rPr lang="ru-RU" dirty="0"/>
              <a:t>(a</a:t>
            </a:r>
            <a:r>
              <a:rPr lang="ru-RU" dirty="0" smtClean="0"/>
              <a:t>)</a:t>
            </a:r>
            <a:r>
              <a:rPr lang="en-US" dirty="0" smtClean="0"/>
              <a:t>, (ab)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4228994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Открытие файла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3200" dirty="0" smtClean="0"/>
              <a:t>Синтаксис:</a:t>
            </a:r>
          </a:p>
          <a:p>
            <a:pPr marL="0" indent="0">
              <a:buNone/>
            </a:pPr>
            <a:r>
              <a:rPr lang="ru-RU" altLang="ru-RU" sz="3200" dirty="0" smtClean="0">
                <a:solidFill>
                  <a:srgbClr val="000000"/>
                </a:solidFill>
              </a:rPr>
              <a:t>UTL_FILE.FOPEN </a:t>
            </a:r>
            <a:r>
              <a:rPr lang="ru-RU" altLang="ru-RU" sz="3200" dirty="0">
                <a:solidFill>
                  <a:srgbClr val="000000"/>
                </a:solidFill>
              </a:rPr>
              <a:t>( </a:t>
            </a:r>
            <a:r>
              <a:rPr lang="ru-RU" altLang="ru-RU" sz="3200" dirty="0" err="1" smtClean="0">
                <a:solidFill>
                  <a:srgbClr val="000000"/>
                </a:solidFill>
              </a:rPr>
              <a:t>location</a:t>
            </a:r>
            <a:r>
              <a:rPr lang="ru-RU" altLang="ru-RU" sz="3200" dirty="0" smtClean="0">
                <a:solidFill>
                  <a:srgbClr val="000000"/>
                </a:solidFill>
              </a:rPr>
              <a:t>, </a:t>
            </a:r>
            <a:r>
              <a:rPr lang="ru-RU" altLang="ru-RU" sz="3200" dirty="0" err="1" smtClean="0">
                <a:solidFill>
                  <a:srgbClr val="000000"/>
                </a:solidFill>
              </a:rPr>
              <a:t>filename</a:t>
            </a:r>
            <a:r>
              <a:rPr lang="ru-RU" altLang="ru-RU" sz="3200" dirty="0" smtClean="0">
                <a:solidFill>
                  <a:srgbClr val="000000"/>
                </a:solidFill>
              </a:rPr>
              <a:t>, </a:t>
            </a:r>
            <a:r>
              <a:rPr lang="ru-RU" altLang="ru-RU" sz="3200" dirty="0" err="1" smtClean="0">
                <a:solidFill>
                  <a:srgbClr val="000000"/>
                </a:solidFill>
              </a:rPr>
              <a:t>open_mode</a:t>
            </a:r>
            <a:r>
              <a:rPr lang="ru-RU" altLang="ru-RU" sz="3200" dirty="0" smtClean="0">
                <a:solidFill>
                  <a:srgbClr val="000000"/>
                </a:solidFill>
              </a:rPr>
              <a:t>, </a:t>
            </a:r>
            <a:r>
              <a:rPr lang="ru-RU" altLang="ru-RU" sz="3200" dirty="0" err="1" smtClean="0">
                <a:solidFill>
                  <a:srgbClr val="000000"/>
                </a:solidFill>
              </a:rPr>
              <a:t>max_linesize</a:t>
            </a:r>
            <a:r>
              <a:rPr lang="ru-RU" altLang="ru-RU" sz="3200" dirty="0" smtClean="0">
                <a:solidFill>
                  <a:srgbClr val="000000"/>
                </a:solidFill>
              </a:rPr>
              <a:t>) </a:t>
            </a:r>
            <a:endParaRPr kumimoji="0" lang="ru-RU" altLang="ru-RU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>
              <a:buNone/>
            </a:pPr>
            <a:r>
              <a:rPr lang="ru-RU" sz="3200" dirty="0" smtClean="0"/>
              <a:t>Пример:</a:t>
            </a:r>
          </a:p>
          <a:p>
            <a:pPr marL="0" indent="0">
              <a:buNone/>
            </a:pPr>
            <a:r>
              <a:rPr lang="ru-RU" altLang="ru-RU" sz="3200" dirty="0" err="1" smtClean="0">
                <a:solidFill>
                  <a:srgbClr val="212529"/>
                </a:solidFill>
              </a:rPr>
              <a:t>fHandle</a:t>
            </a:r>
            <a:r>
              <a:rPr lang="ru-RU" altLang="ru-RU" sz="3200" dirty="0" smtClean="0">
                <a:solidFill>
                  <a:srgbClr val="212529"/>
                </a:solidFill>
              </a:rPr>
              <a:t> := UTL_FILE.FOPEN(</a:t>
            </a:r>
            <a:r>
              <a:rPr lang="en-US" altLang="ru-RU" sz="3200" dirty="0">
                <a:solidFill>
                  <a:srgbClr val="212529"/>
                </a:solidFill>
              </a:rPr>
              <a:t>'UTL_DIR'</a:t>
            </a:r>
            <a:r>
              <a:rPr lang="ru-RU" altLang="ru-RU" sz="3200" dirty="0" smtClean="0">
                <a:solidFill>
                  <a:srgbClr val="212529"/>
                </a:solidFill>
              </a:rPr>
              <a:t>, 'utlfile.txt', 'w');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374367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Закрытие файла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5800" y="1809750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sz="3200" dirty="0" smtClean="0"/>
              <a:t>Функции:</a:t>
            </a:r>
          </a:p>
          <a:p>
            <a:r>
              <a:rPr lang="ru-RU" altLang="ru-RU" sz="3200" dirty="0">
                <a:solidFill>
                  <a:srgbClr val="000000"/>
                </a:solidFill>
              </a:rPr>
              <a:t>UTL_FILE.FCLOSE </a:t>
            </a:r>
            <a:r>
              <a:rPr lang="ru-RU" altLang="ru-RU" sz="3200" dirty="0" smtClean="0">
                <a:solidFill>
                  <a:srgbClr val="000000"/>
                </a:solidFill>
              </a:rPr>
              <a:t>(</a:t>
            </a:r>
            <a:r>
              <a:rPr lang="ru-RU" altLang="ru-RU" sz="3200" dirty="0" err="1" smtClean="0">
                <a:solidFill>
                  <a:srgbClr val="000000"/>
                </a:solidFill>
              </a:rPr>
              <a:t>file</a:t>
            </a:r>
            <a:r>
              <a:rPr lang="ru-RU" altLang="ru-RU" sz="3200" dirty="0" smtClean="0">
                <a:solidFill>
                  <a:srgbClr val="000000"/>
                </a:solidFill>
              </a:rPr>
              <a:t>); - закрытие файла по дескриптору </a:t>
            </a:r>
            <a:r>
              <a:rPr lang="en-US" altLang="ru-RU" sz="3200" dirty="0" smtClean="0">
                <a:solidFill>
                  <a:srgbClr val="000000"/>
                </a:solidFill>
              </a:rPr>
              <a:t>file</a:t>
            </a:r>
            <a:endParaRPr lang="ru-RU" altLang="ru-RU" sz="3200" dirty="0" smtClean="0">
              <a:solidFill>
                <a:srgbClr val="000000"/>
              </a:solidFill>
            </a:endParaRPr>
          </a:p>
          <a:p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UTL_FILE.FCLOSE_ALL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; - 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закрытие всех файлов</a:t>
            </a:r>
            <a:endParaRPr lang="ru-RU" altLang="ru-RU" sz="3200" dirty="0" smtClean="0"/>
          </a:p>
          <a:p>
            <a:pPr marL="0" indent="0">
              <a:buNone/>
            </a:pPr>
            <a:endParaRPr kumimoji="0" lang="ru-RU" altLang="ru-RU" sz="6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80326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Чтение из файла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GET_LINE </a:t>
            </a:r>
            <a:r>
              <a:rPr lang="ru-RU" altLang="ru-RU" dirty="0">
                <a:solidFill>
                  <a:srgbClr val="000000"/>
                </a:solidFill>
              </a:rPr>
              <a:t>( </a:t>
            </a:r>
            <a:r>
              <a:rPr lang="ru-RU" altLang="ru-RU" dirty="0" err="1" smtClean="0">
                <a:solidFill>
                  <a:srgbClr val="000000"/>
                </a:solidFill>
              </a:rPr>
              <a:t>file</a:t>
            </a:r>
            <a:r>
              <a:rPr lang="ru-RU" altLang="ru-RU" dirty="0" smtClean="0">
                <a:solidFill>
                  <a:srgbClr val="000000"/>
                </a:solidFill>
              </a:rPr>
              <a:t>, </a:t>
            </a:r>
            <a:r>
              <a:rPr lang="ru-RU" altLang="ru-RU" dirty="0" err="1" smtClean="0">
                <a:solidFill>
                  <a:srgbClr val="000000"/>
                </a:solidFill>
              </a:rPr>
              <a:t>buffer</a:t>
            </a:r>
            <a:r>
              <a:rPr lang="ru-RU" altLang="ru-RU" dirty="0" smtClean="0">
                <a:solidFill>
                  <a:srgbClr val="000000"/>
                </a:solidFill>
              </a:rPr>
              <a:t>, </a:t>
            </a:r>
            <a:r>
              <a:rPr lang="ru-RU" altLang="ru-RU" dirty="0" err="1" smtClean="0">
                <a:solidFill>
                  <a:srgbClr val="000000"/>
                </a:solidFill>
              </a:rPr>
              <a:t>len</a:t>
            </a:r>
            <a:r>
              <a:rPr lang="ru-RU" altLang="ru-RU" dirty="0" smtClean="0">
                <a:solidFill>
                  <a:srgbClr val="000000"/>
                </a:solidFill>
              </a:rPr>
              <a:t>);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- чтение строки</a:t>
            </a:r>
            <a:r>
              <a:rPr kumimoji="0" lang="en-US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ищ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файла</a:t>
            </a:r>
            <a:endParaRPr lang="en-US" dirty="0" smtClean="0"/>
          </a:p>
          <a:p>
            <a:r>
              <a:rPr lang="en-US" dirty="0" smtClean="0"/>
              <a:t>GET_LINE_NCHAR</a:t>
            </a:r>
            <a:r>
              <a:rPr lang="ru-RU" altLang="ru-RU" dirty="0">
                <a:solidFill>
                  <a:srgbClr val="000000"/>
                </a:solidFill>
              </a:rPr>
              <a:t>( </a:t>
            </a:r>
            <a:r>
              <a:rPr lang="ru-RU" altLang="ru-RU" dirty="0" err="1" smtClean="0">
                <a:solidFill>
                  <a:srgbClr val="000000"/>
                </a:solidFill>
              </a:rPr>
              <a:t>file</a:t>
            </a:r>
            <a:r>
              <a:rPr lang="ru-RU" altLang="ru-RU" dirty="0" smtClean="0">
                <a:solidFill>
                  <a:srgbClr val="000000"/>
                </a:solidFill>
              </a:rPr>
              <a:t>, </a:t>
            </a:r>
            <a:r>
              <a:rPr lang="ru-RU" altLang="ru-RU" dirty="0" err="1" smtClean="0">
                <a:solidFill>
                  <a:srgbClr val="000000"/>
                </a:solidFill>
              </a:rPr>
              <a:t>buffer</a:t>
            </a:r>
            <a:r>
              <a:rPr lang="ru-RU" altLang="ru-RU" dirty="0" smtClean="0">
                <a:solidFill>
                  <a:srgbClr val="000000"/>
                </a:solidFill>
              </a:rPr>
              <a:t>, </a:t>
            </a:r>
            <a:r>
              <a:rPr lang="ru-RU" altLang="ru-RU" dirty="0" err="1" smtClean="0">
                <a:solidFill>
                  <a:srgbClr val="000000"/>
                </a:solidFill>
              </a:rPr>
              <a:t>len</a:t>
            </a:r>
            <a:r>
              <a:rPr lang="ru-RU" altLang="ru-RU" dirty="0" smtClean="0">
                <a:solidFill>
                  <a:srgbClr val="000000"/>
                </a:solidFill>
              </a:rPr>
              <a:t>);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- чтение строки из файла</a:t>
            </a:r>
            <a:r>
              <a:rPr kumimoji="0" lang="ru-RU" altLang="ru-RU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в кодировке </a:t>
            </a:r>
            <a:r>
              <a:rPr kumimoji="0" lang="en-US" altLang="ru-RU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Unicode</a:t>
            </a:r>
            <a:endParaRPr lang="en-US" dirty="0" smtClean="0"/>
          </a:p>
          <a:p>
            <a:r>
              <a:rPr lang="en-US" dirty="0" smtClean="0"/>
              <a:t>GET_RAW</a:t>
            </a:r>
            <a:r>
              <a:rPr lang="ru-RU" altLang="ru-RU" dirty="0">
                <a:solidFill>
                  <a:srgbClr val="000000"/>
                </a:solidFill>
              </a:rPr>
              <a:t>( </a:t>
            </a:r>
            <a:r>
              <a:rPr lang="ru-RU" altLang="ru-RU" dirty="0" err="1" smtClean="0">
                <a:solidFill>
                  <a:srgbClr val="000000"/>
                </a:solidFill>
              </a:rPr>
              <a:t>fid</a:t>
            </a:r>
            <a:r>
              <a:rPr lang="ru-RU" altLang="ru-RU" dirty="0" smtClean="0">
                <a:solidFill>
                  <a:srgbClr val="000000"/>
                </a:solidFill>
              </a:rPr>
              <a:t>, r, </a:t>
            </a:r>
            <a:r>
              <a:rPr lang="ru-RU" altLang="ru-RU" dirty="0" err="1" smtClean="0">
                <a:solidFill>
                  <a:srgbClr val="000000"/>
                </a:solidFill>
              </a:rPr>
              <a:t>len</a:t>
            </a:r>
            <a:r>
              <a:rPr lang="ru-RU" altLang="ru-RU" dirty="0" smtClean="0">
                <a:solidFill>
                  <a:srgbClr val="000000"/>
                </a:solidFill>
              </a:rPr>
              <a:t>);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lang="ru-RU" altLang="ru-RU" dirty="0" smtClean="0"/>
              <a:t>чтение байтов из файла</a:t>
            </a:r>
            <a:endParaRPr kumimoji="0" lang="ru-RU" altLang="ru-RU" sz="6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>
              <a:buNone/>
            </a:pPr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225262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17880" y="73341"/>
            <a:ext cx="10515600" cy="1325563"/>
          </a:xfrm>
        </p:spPr>
        <p:txBody>
          <a:bodyPr/>
          <a:lstStyle/>
          <a:p>
            <a:r>
              <a:rPr lang="ru-RU" dirty="0" smtClean="0"/>
              <a:t>Чтение из файла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5800" y="1205864"/>
            <a:ext cx="10515600" cy="520509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 smtClean="0"/>
              <a:t>SET SERVEROUTPUT ON;</a:t>
            </a:r>
          </a:p>
          <a:p>
            <a:pPr marL="0" indent="0">
              <a:buNone/>
            </a:pPr>
            <a:r>
              <a:rPr lang="en-US" dirty="0" smtClean="0"/>
              <a:t>DECLARE</a:t>
            </a:r>
          </a:p>
          <a:p>
            <a:pPr marL="0" indent="0">
              <a:buNone/>
            </a:pPr>
            <a:r>
              <a:rPr lang="en-US" dirty="0" smtClean="0"/>
              <a:t>    </a:t>
            </a:r>
            <a:r>
              <a:rPr lang="en-US" dirty="0" err="1" smtClean="0"/>
              <a:t>fhandle</a:t>
            </a:r>
            <a:r>
              <a:rPr lang="en-US" dirty="0" smtClean="0"/>
              <a:t> UTL_FILE.FILE_TYPE</a:t>
            </a:r>
            <a:r>
              <a:rPr lang="en-US" dirty="0" smtClean="0"/>
              <a:t>;</a:t>
            </a:r>
            <a:r>
              <a:rPr lang="ru-RU" dirty="0" smtClean="0"/>
              <a:t> -- дескриптор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    </a:t>
            </a:r>
            <a:r>
              <a:rPr lang="en-US" dirty="0" err="1" smtClean="0"/>
              <a:t>cbuff</a:t>
            </a:r>
            <a:r>
              <a:rPr lang="en-US" dirty="0" smtClean="0"/>
              <a:t> VARCHAR2(2200</a:t>
            </a:r>
            <a:r>
              <a:rPr lang="en-US" dirty="0" smtClean="0"/>
              <a:t>);</a:t>
            </a:r>
            <a:r>
              <a:rPr lang="ru-RU" dirty="0" smtClean="0"/>
              <a:t> --буфер для сохранение строки</a:t>
            </a:r>
            <a:endParaRPr lang="ru-RU" dirty="0" smtClean="0"/>
          </a:p>
          <a:p>
            <a:pPr marL="0" indent="0">
              <a:buNone/>
            </a:pPr>
            <a:r>
              <a:rPr lang="en-US" dirty="0" smtClean="0"/>
              <a:t>BEGIN</a:t>
            </a:r>
          </a:p>
          <a:p>
            <a:pPr marL="0" indent="0">
              <a:buNone/>
            </a:pPr>
            <a:r>
              <a:rPr lang="ru-RU" dirty="0" smtClean="0"/>
              <a:t>    </a:t>
            </a:r>
            <a:r>
              <a:rPr lang="en-US" dirty="0" err="1" smtClean="0"/>
              <a:t>fhandle</a:t>
            </a:r>
            <a:r>
              <a:rPr lang="en-US" dirty="0" smtClean="0"/>
              <a:t> := UTL_FILE.FOPEN('</a:t>
            </a:r>
            <a:r>
              <a:rPr lang="en-US" dirty="0" err="1" smtClean="0"/>
              <a:t>UTL_DIR','test.txt','r</a:t>
            </a:r>
            <a:r>
              <a:rPr lang="en-US" dirty="0" smtClean="0"/>
              <a:t>');</a:t>
            </a:r>
            <a:r>
              <a:rPr lang="ru-RU" dirty="0" smtClean="0"/>
              <a:t> -- открытие</a:t>
            </a:r>
            <a:endParaRPr lang="en-US" dirty="0" smtClean="0"/>
          </a:p>
          <a:p>
            <a:pPr marL="0" indent="0">
              <a:buNone/>
            </a:pPr>
            <a:r>
              <a:rPr lang="ru-RU" dirty="0"/>
              <a:t> </a:t>
            </a:r>
            <a:r>
              <a:rPr lang="ru-RU" dirty="0" smtClean="0"/>
              <a:t>   </a:t>
            </a:r>
            <a:r>
              <a:rPr lang="en-US" dirty="0" err="1" smtClean="0"/>
              <a:t>utl_file.get_line</a:t>
            </a:r>
            <a:r>
              <a:rPr lang="en-US" dirty="0" smtClean="0"/>
              <a:t>(</a:t>
            </a:r>
            <a:r>
              <a:rPr lang="en-US" dirty="0" err="1" smtClean="0"/>
              <a:t>f</a:t>
            </a:r>
            <a:r>
              <a:rPr lang="en-US" dirty="0" err="1"/>
              <a:t>h</a:t>
            </a:r>
            <a:r>
              <a:rPr lang="en-US" dirty="0" err="1" smtClean="0"/>
              <a:t>andle</a:t>
            </a:r>
            <a:r>
              <a:rPr lang="en-US" dirty="0" smtClean="0"/>
              <a:t>, </a:t>
            </a:r>
            <a:r>
              <a:rPr lang="en-US" dirty="0" err="1" smtClean="0"/>
              <a:t>cbuff</a:t>
            </a:r>
            <a:r>
              <a:rPr lang="en-US" dirty="0" smtClean="0"/>
              <a:t>);</a:t>
            </a:r>
            <a:r>
              <a:rPr lang="ru-RU" dirty="0" smtClean="0"/>
              <a:t> -- чтение строки в </a:t>
            </a:r>
            <a:r>
              <a:rPr lang="en-US" dirty="0" err="1" smtClean="0"/>
              <a:t>cbuff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</a:t>
            </a:r>
            <a:r>
              <a:rPr lang="en-US" dirty="0" err="1" smtClean="0"/>
              <a:t>dbms_output.put_line</a:t>
            </a:r>
            <a:r>
              <a:rPr lang="en-US" dirty="0" smtClean="0"/>
              <a:t>(</a:t>
            </a:r>
            <a:r>
              <a:rPr lang="en-US" dirty="0" err="1" smtClean="0"/>
              <a:t>cbuff</a:t>
            </a:r>
            <a:r>
              <a:rPr lang="en-US" dirty="0" smtClean="0"/>
              <a:t>);</a:t>
            </a:r>
          </a:p>
          <a:p>
            <a:pPr marL="0" indent="0">
              <a:buNone/>
            </a:pPr>
            <a:r>
              <a:rPr lang="en-US" dirty="0" smtClean="0"/>
              <a:t>    UTL_FILE.FCLOSE(</a:t>
            </a:r>
            <a:r>
              <a:rPr lang="en-US" dirty="0" err="1" smtClean="0"/>
              <a:t>fhandle</a:t>
            </a:r>
            <a:r>
              <a:rPr lang="en-US" dirty="0" smtClean="0"/>
              <a:t>); --</a:t>
            </a:r>
            <a:r>
              <a:rPr lang="ru-RU" dirty="0" smtClean="0"/>
              <a:t>закрытие файла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END;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280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69562"/>
            <a:ext cx="10515600" cy="1325563"/>
          </a:xfrm>
        </p:spPr>
        <p:txBody>
          <a:bodyPr/>
          <a:lstStyle/>
          <a:p>
            <a:r>
              <a:rPr lang="ru-RU" dirty="0" smtClean="0"/>
              <a:t>Запись в файл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67855" y="1099127"/>
            <a:ext cx="11776363" cy="5661891"/>
          </a:xfrm>
        </p:spPr>
        <p:txBody>
          <a:bodyPr>
            <a:normAutofit lnSpcReduction="10000"/>
          </a:bodyPr>
          <a:lstStyle/>
          <a:p>
            <a:r>
              <a:rPr lang="en-US" sz="3500" dirty="0"/>
              <a:t>PUT </a:t>
            </a:r>
            <a:r>
              <a:rPr lang="ru-RU" altLang="ru-RU" sz="3500" dirty="0" smtClean="0">
                <a:solidFill>
                  <a:srgbClr val="000000"/>
                </a:solidFill>
              </a:rPr>
              <a:t>(</a:t>
            </a:r>
            <a:r>
              <a:rPr lang="ru-RU" altLang="ru-RU" sz="3500" dirty="0" err="1" smtClean="0">
                <a:solidFill>
                  <a:srgbClr val="000000"/>
                </a:solidFill>
              </a:rPr>
              <a:t>file</a:t>
            </a:r>
            <a:r>
              <a:rPr lang="ru-RU" altLang="ru-RU" sz="3500" dirty="0" smtClean="0">
                <a:solidFill>
                  <a:srgbClr val="000000"/>
                </a:solidFill>
              </a:rPr>
              <a:t>, </a:t>
            </a:r>
            <a:r>
              <a:rPr lang="ru-RU" altLang="ru-RU" sz="3500" dirty="0" err="1" smtClean="0">
                <a:solidFill>
                  <a:srgbClr val="000000"/>
                </a:solidFill>
              </a:rPr>
              <a:t>buffer</a:t>
            </a:r>
            <a:r>
              <a:rPr lang="ru-RU" altLang="ru-RU" sz="3500" dirty="0" smtClean="0">
                <a:solidFill>
                  <a:srgbClr val="000000"/>
                </a:solidFill>
              </a:rPr>
              <a:t>);</a:t>
            </a:r>
            <a:r>
              <a:rPr kumimoji="0" lang="ru-RU" altLang="ru-RU" sz="3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3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-</a:t>
            </a:r>
            <a:r>
              <a:rPr kumimoji="0" lang="ru-RU" altLang="ru-RU" sz="35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запись строки</a:t>
            </a:r>
            <a:endParaRPr kumimoji="0" lang="en-US" altLang="ru-RU" sz="35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r>
              <a:rPr lang="en-US" sz="3500" dirty="0" smtClean="0"/>
              <a:t>PUT_NCHAR </a:t>
            </a:r>
            <a:r>
              <a:rPr lang="ru-RU" altLang="ru-RU" sz="3500" dirty="0" smtClean="0">
                <a:solidFill>
                  <a:srgbClr val="000000"/>
                </a:solidFill>
              </a:rPr>
              <a:t>(</a:t>
            </a:r>
            <a:r>
              <a:rPr lang="ru-RU" altLang="ru-RU" sz="3500" dirty="0" err="1" smtClean="0">
                <a:solidFill>
                  <a:srgbClr val="000000"/>
                </a:solidFill>
              </a:rPr>
              <a:t>file</a:t>
            </a:r>
            <a:r>
              <a:rPr lang="ru-RU" altLang="ru-RU" sz="3500" dirty="0" smtClean="0">
                <a:solidFill>
                  <a:srgbClr val="000000"/>
                </a:solidFill>
              </a:rPr>
              <a:t>, </a:t>
            </a:r>
            <a:r>
              <a:rPr lang="ru-RU" altLang="ru-RU" sz="3500" dirty="0" err="1" smtClean="0">
                <a:solidFill>
                  <a:srgbClr val="000000"/>
                </a:solidFill>
              </a:rPr>
              <a:t>buffer</a:t>
            </a:r>
            <a:r>
              <a:rPr lang="ru-RU" altLang="ru-RU" sz="3500" dirty="0" smtClean="0">
                <a:solidFill>
                  <a:srgbClr val="000000"/>
                </a:solidFill>
              </a:rPr>
              <a:t>);</a:t>
            </a:r>
            <a:r>
              <a:rPr kumimoji="0" lang="ru-RU" altLang="ru-RU" sz="3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35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r>
              <a:rPr lang="en-US" sz="3500" dirty="0" smtClean="0"/>
              <a:t>PUT_LINE</a:t>
            </a:r>
            <a:r>
              <a:rPr lang="ru-RU" altLang="ru-RU" sz="3500" dirty="0">
                <a:solidFill>
                  <a:srgbClr val="000000"/>
                </a:solidFill>
              </a:rPr>
              <a:t>( </a:t>
            </a:r>
            <a:r>
              <a:rPr lang="ru-RU" altLang="ru-RU" sz="3500" dirty="0" err="1" smtClean="0">
                <a:solidFill>
                  <a:srgbClr val="000000"/>
                </a:solidFill>
              </a:rPr>
              <a:t>file</a:t>
            </a:r>
            <a:r>
              <a:rPr lang="ru-RU" altLang="ru-RU" sz="3500" dirty="0" smtClean="0">
                <a:solidFill>
                  <a:srgbClr val="000000"/>
                </a:solidFill>
              </a:rPr>
              <a:t>, </a:t>
            </a:r>
            <a:r>
              <a:rPr lang="ru-RU" altLang="ru-RU" sz="3500" dirty="0" err="1" smtClean="0">
                <a:solidFill>
                  <a:srgbClr val="000000"/>
                </a:solidFill>
              </a:rPr>
              <a:t>buffer</a:t>
            </a:r>
            <a:r>
              <a:rPr lang="ru-RU" altLang="ru-RU" sz="3500" dirty="0" smtClean="0">
                <a:solidFill>
                  <a:srgbClr val="000000"/>
                </a:solidFill>
              </a:rPr>
              <a:t>, </a:t>
            </a:r>
            <a:r>
              <a:rPr lang="ru-RU" altLang="ru-RU" sz="3500" dirty="0" err="1" smtClean="0">
                <a:solidFill>
                  <a:srgbClr val="000000"/>
                </a:solidFill>
              </a:rPr>
              <a:t>autoflush</a:t>
            </a:r>
            <a:r>
              <a:rPr lang="ru-RU" altLang="ru-RU" sz="3500" dirty="0" smtClean="0">
                <a:solidFill>
                  <a:srgbClr val="000000"/>
                </a:solidFill>
              </a:rPr>
              <a:t>);</a:t>
            </a:r>
            <a:r>
              <a:rPr lang="ru-RU" altLang="ru-RU" sz="3500" dirty="0"/>
              <a:t> - запись строки с переносом </a:t>
            </a:r>
            <a:r>
              <a:rPr lang="ru-RU" altLang="ru-RU" sz="3500" dirty="0" smtClean="0"/>
              <a:t>на следующую</a:t>
            </a:r>
            <a:endParaRPr lang="en-US" altLang="ru-RU" sz="3500" dirty="0" smtClean="0">
              <a:solidFill>
                <a:srgbClr val="000000"/>
              </a:solidFill>
            </a:endParaRPr>
          </a:p>
          <a:p>
            <a:r>
              <a:rPr lang="en-US" sz="3500" dirty="0" smtClean="0"/>
              <a:t>PUT_LINE_NCHAR</a:t>
            </a:r>
            <a:r>
              <a:rPr kumimoji="0" lang="ru-RU" altLang="ru-RU" sz="3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lang="ru-RU" altLang="ru-RU" sz="3500" dirty="0" smtClean="0">
                <a:solidFill>
                  <a:srgbClr val="000000"/>
                </a:solidFill>
              </a:rPr>
              <a:t>(</a:t>
            </a:r>
            <a:r>
              <a:rPr lang="ru-RU" altLang="ru-RU" sz="3500" dirty="0" err="1" smtClean="0">
                <a:solidFill>
                  <a:srgbClr val="000000"/>
                </a:solidFill>
              </a:rPr>
              <a:t>file</a:t>
            </a:r>
            <a:r>
              <a:rPr lang="ru-RU" altLang="ru-RU" sz="3500" dirty="0" smtClean="0">
                <a:solidFill>
                  <a:srgbClr val="000000"/>
                </a:solidFill>
              </a:rPr>
              <a:t>, </a:t>
            </a:r>
            <a:r>
              <a:rPr lang="ru-RU" altLang="ru-RU" sz="3500" dirty="0" err="1" smtClean="0">
                <a:solidFill>
                  <a:srgbClr val="000000"/>
                </a:solidFill>
              </a:rPr>
              <a:t>buffer</a:t>
            </a:r>
            <a:r>
              <a:rPr lang="ru-RU" altLang="ru-RU" sz="3500" dirty="0" smtClean="0">
                <a:solidFill>
                  <a:srgbClr val="000000"/>
                </a:solidFill>
              </a:rPr>
              <a:t>);</a:t>
            </a:r>
            <a:r>
              <a:rPr kumimoji="0" lang="ru-RU" altLang="ru-RU" sz="3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lang="ru-RU" altLang="ru-RU" sz="3500" dirty="0"/>
              <a:t>- запись строки с переносом на </a:t>
            </a:r>
            <a:r>
              <a:rPr lang="ru-RU" altLang="ru-RU" sz="3500" dirty="0" smtClean="0"/>
              <a:t>следующую</a:t>
            </a:r>
            <a:r>
              <a:rPr lang="ru-RU" altLang="ru-RU" sz="3500" dirty="0" smtClean="0">
                <a:solidFill>
                  <a:srgbClr val="000000"/>
                </a:solidFill>
              </a:rPr>
              <a:t> в кодировке </a:t>
            </a:r>
            <a:r>
              <a:rPr lang="en-US" altLang="ru-RU" sz="3500" dirty="0" smtClean="0">
                <a:solidFill>
                  <a:srgbClr val="000000"/>
                </a:solidFill>
              </a:rPr>
              <a:t>Unicode</a:t>
            </a:r>
            <a:endParaRPr lang="en-US" sz="3500" dirty="0" smtClean="0"/>
          </a:p>
          <a:p>
            <a:r>
              <a:rPr lang="en-US" sz="3500" dirty="0" smtClean="0"/>
              <a:t>PUTF </a:t>
            </a:r>
            <a:r>
              <a:rPr lang="ru-RU" altLang="ru-RU" sz="3500" dirty="0" smtClean="0">
                <a:solidFill>
                  <a:srgbClr val="000000"/>
                </a:solidFill>
              </a:rPr>
              <a:t>(</a:t>
            </a:r>
            <a:r>
              <a:rPr lang="ru-RU" altLang="ru-RU" sz="3500" dirty="0" err="1" smtClean="0">
                <a:solidFill>
                  <a:srgbClr val="000000"/>
                </a:solidFill>
              </a:rPr>
              <a:t>file</a:t>
            </a:r>
            <a:r>
              <a:rPr lang="ru-RU" altLang="ru-RU" sz="3500" dirty="0" smtClean="0">
                <a:solidFill>
                  <a:srgbClr val="000000"/>
                </a:solidFill>
              </a:rPr>
              <a:t>,</a:t>
            </a:r>
            <a:r>
              <a:rPr lang="en-US" altLang="ru-RU" sz="3500" dirty="0" smtClean="0">
                <a:solidFill>
                  <a:srgbClr val="000000"/>
                </a:solidFill>
              </a:rPr>
              <a:t> format</a:t>
            </a:r>
            <a:r>
              <a:rPr lang="ru-RU" altLang="ru-RU" sz="3500" dirty="0" smtClean="0">
                <a:solidFill>
                  <a:srgbClr val="000000"/>
                </a:solidFill>
              </a:rPr>
              <a:t>, </a:t>
            </a:r>
            <a:r>
              <a:rPr lang="ru-RU" altLang="ru-RU" sz="3500" dirty="0">
                <a:solidFill>
                  <a:srgbClr val="000000"/>
                </a:solidFill>
              </a:rPr>
              <a:t>[</a:t>
            </a:r>
            <a:r>
              <a:rPr lang="ru-RU" altLang="ru-RU" sz="3500" dirty="0" smtClean="0">
                <a:solidFill>
                  <a:srgbClr val="000000"/>
                </a:solidFill>
              </a:rPr>
              <a:t>arg1, </a:t>
            </a:r>
            <a:r>
              <a:rPr lang="ru-RU" altLang="ru-RU" sz="3500" dirty="0">
                <a:solidFill>
                  <a:srgbClr val="000000"/>
                </a:solidFill>
              </a:rPr>
              <a:t>. . . </a:t>
            </a:r>
            <a:r>
              <a:rPr lang="ru-RU" altLang="ru-RU" sz="3500" dirty="0" smtClean="0">
                <a:solidFill>
                  <a:srgbClr val="000000"/>
                </a:solidFill>
              </a:rPr>
              <a:t>arg5]); </a:t>
            </a:r>
            <a:r>
              <a:rPr lang="en-US" altLang="ru-RU" sz="3500" dirty="0" smtClean="0">
                <a:solidFill>
                  <a:srgbClr val="000000"/>
                </a:solidFill>
              </a:rPr>
              <a:t>- </a:t>
            </a:r>
            <a:r>
              <a:rPr lang="ru-RU" altLang="ru-RU" sz="3500" dirty="0" smtClean="0">
                <a:solidFill>
                  <a:srgbClr val="000000"/>
                </a:solidFill>
              </a:rPr>
              <a:t>форматирование строки</a:t>
            </a:r>
            <a:endParaRPr lang="en-US" sz="3500" dirty="0" smtClean="0"/>
          </a:p>
          <a:p>
            <a:r>
              <a:rPr lang="en-US" sz="3500" dirty="0" smtClean="0"/>
              <a:t>PUTF_NCHAR </a:t>
            </a:r>
            <a:r>
              <a:rPr lang="ru-RU" altLang="ru-RU" sz="3500" dirty="0" smtClean="0">
                <a:solidFill>
                  <a:srgbClr val="000000"/>
                </a:solidFill>
              </a:rPr>
              <a:t>(</a:t>
            </a:r>
            <a:r>
              <a:rPr lang="ru-RU" altLang="ru-RU" sz="3500" dirty="0" err="1" smtClean="0">
                <a:solidFill>
                  <a:srgbClr val="000000"/>
                </a:solidFill>
              </a:rPr>
              <a:t>file</a:t>
            </a:r>
            <a:r>
              <a:rPr lang="ru-RU" altLang="ru-RU" sz="3500" dirty="0" smtClean="0">
                <a:solidFill>
                  <a:srgbClr val="000000"/>
                </a:solidFill>
              </a:rPr>
              <a:t>,</a:t>
            </a:r>
            <a:r>
              <a:rPr lang="en-US" altLang="ru-RU" sz="3500" dirty="0" smtClean="0">
                <a:solidFill>
                  <a:srgbClr val="000000"/>
                </a:solidFill>
              </a:rPr>
              <a:t> format</a:t>
            </a:r>
            <a:r>
              <a:rPr lang="ru-RU" altLang="ru-RU" sz="3500" dirty="0" smtClean="0">
                <a:solidFill>
                  <a:srgbClr val="000000"/>
                </a:solidFill>
              </a:rPr>
              <a:t>, [arg1, . . . arg5]); </a:t>
            </a:r>
            <a:r>
              <a:rPr lang="en-US" altLang="ru-RU" sz="3500" dirty="0">
                <a:solidFill>
                  <a:srgbClr val="000000"/>
                </a:solidFill>
              </a:rPr>
              <a:t>- </a:t>
            </a:r>
            <a:r>
              <a:rPr lang="ru-RU" altLang="ru-RU" sz="3500" dirty="0">
                <a:solidFill>
                  <a:srgbClr val="000000"/>
                </a:solidFill>
              </a:rPr>
              <a:t>форматирование </a:t>
            </a:r>
            <a:r>
              <a:rPr lang="ru-RU" altLang="ru-RU" sz="3500" dirty="0" smtClean="0">
                <a:solidFill>
                  <a:srgbClr val="000000"/>
                </a:solidFill>
              </a:rPr>
              <a:t>строки </a:t>
            </a:r>
            <a:r>
              <a:rPr lang="ru-RU" altLang="ru-RU" sz="3500" dirty="0">
                <a:solidFill>
                  <a:srgbClr val="000000"/>
                </a:solidFill>
              </a:rPr>
              <a:t>в кодировке </a:t>
            </a:r>
            <a:r>
              <a:rPr lang="en-US" altLang="ru-RU" sz="3500" dirty="0" smtClean="0">
                <a:solidFill>
                  <a:srgbClr val="000000"/>
                </a:solidFill>
              </a:rPr>
              <a:t>Unicode</a:t>
            </a:r>
            <a:endParaRPr lang="en-US" sz="3500" dirty="0" smtClean="0"/>
          </a:p>
          <a:p>
            <a:r>
              <a:rPr lang="en-US" sz="3500" dirty="0" smtClean="0"/>
              <a:t>PUT_RAW</a:t>
            </a:r>
            <a:r>
              <a:rPr lang="ru-RU" altLang="ru-RU" sz="3500" dirty="0" smtClean="0">
                <a:solidFill>
                  <a:srgbClr val="000000"/>
                </a:solidFill>
              </a:rPr>
              <a:t>(</a:t>
            </a:r>
            <a:r>
              <a:rPr lang="ru-RU" altLang="ru-RU" sz="3500" dirty="0" err="1" smtClean="0">
                <a:solidFill>
                  <a:srgbClr val="000000"/>
                </a:solidFill>
              </a:rPr>
              <a:t>fid</a:t>
            </a:r>
            <a:r>
              <a:rPr lang="ru-RU" altLang="ru-RU" sz="3500" dirty="0" smtClean="0">
                <a:solidFill>
                  <a:srgbClr val="000000"/>
                </a:solidFill>
              </a:rPr>
              <a:t>, r, </a:t>
            </a:r>
            <a:r>
              <a:rPr lang="ru-RU" altLang="ru-RU" sz="3500" dirty="0" err="1" smtClean="0">
                <a:solidFill>
                  <a:srgbClr val="000000"/>
                </a:solidFill>
              </a:rPr>
              <a:t>autoflush</a:t>
            </a:r>
            <a:r>
              <a:rPr lang="ru-RU" altLang="ru-RU" sz="3500" dirty="0" smtClean="0">
                <a:solidFill>
                  <a:srgbClr val="000000"/>
                </a:solidFill>
              </a:rPr>
              <a:t>)</a:t>
            </a:r>
            <a:r>
              <a:rPr kumimoji="0" lang="ru-RU" altLang="ru-RU" sz="3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lang="en-US" altLang="ru-RU" sz="3600" dirty="0" smtClean="0"/>
              <a:t>;</a:t>
            </a:r>
            <a:r>
              <a:rPr lang="ru-RU" altLang="ru-RU" sz="3600" dirty="0" smtClean="0"/>
              <a:t> - запись байтов в файл</a:t>
            </a:r>
            <a:endParaRPr kumimoji="0" lang="ru-RU" altLang="ru-RU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75802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2315"/>
          </a:xfrm>
        </p:spPr>
        <p:txBody>
          <a:bodyPr/>
          <a:lstStyle/>
          <a:p>
            <a:r>
              <a:rPr lang="ru-RU" dirty="0" smtClean="0"/>
              <a:t>Запись в файл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554480"/>
            <a:ext cx="10515600" cy="520604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3200" dirty="0" smtClean="0"/>
              <a:t>Пример </a:t>
            </a:r>
            <a:r>
              <a:rPr lang="en-US" sz="3200" dirty="0" smtClean="0"/>
              <a:t>PUTF </a:t>
            </a:r>
            <a:r>
              <a:rPr lang="ru-RU" sz="3200" dirty="0" smtClean="0"/>
              <a:t>:</a:t>
            </a:r>
          </a:p>
          <a:p>
            <a:pPr marL="0" indent="0">
              <a:buNone/>
            </a:pPr>
            <a:r>
              <a:rPr kumimoji="0" lang="ru-RU" altLang="ru-RU" sz="3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</a:rPr>
              <a:t>my_world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 </a:t>
            </a:r>
            <a:r>
              <a:rPr lang="ru-RU" altLang="ru-RU" sz="3200" dirty="0" smtClean="0">
                <a:solidFill>
                  <a:srgbClr val="000000"/>
                </a:solidFill>
              </a:rPr>
              <a:t>varchar2(4</a:t>
            </a:r>
            <a:r>
              <a:rPr lang="ru-RU" altLang="ru-RU" sz="3200" dirty="0">
                <a:solidFill>
                  <a:srgbClr val="000000"/>
                </a:solidFill>
              </a:rPr>
              <a:t>) := '</a:t>
            </a:r>
            <a:r>
              <a:rPr lang="ru-RU" altLang="ru-RU" sz="3200" dirty="0" err="1">
                <a:solidFill>
                  <a:srgbClr val="000000"/>
                </a:solidFill>
              </a:rPr>
              <a:t>Zork</a:t>
            </a:r>
            <a:r>
              <a:rPr lang="ru-RU" altLang="ru-RU" sz="3200" dirty="0">
                <a:solidFill>
                  <a:srgbClr val="000000"/>
                </a:solidFill>
              </a:rPr>
              <a:t>'; </a:t>
            </a:r>
            <a:endParaRPr lang="ru-RU" altLang="ru-RU" sz="3200" dirty="0" smtClean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ru-RU" altLang="ru-RU" sz="3200" dirty="0" smtClean="0">
                <a:solidFill>
                  <a:srgbClr val="000000"/>
                </a:solidFill>
              </a:rPr>
              <a:t>... </a:t>
            </a:r>
          </a:p>
          <a:p>
            <a:pPr marL="0" indent="0">
              <a:buNone/>
            </a:pPr>
            <a:r>
              <a:rPr lang="ru-RU" altLang="ru-RU" sz="3200" dirty="0" smtClean="0">
                <a:solidFill>
                  <a:srgbClr val="000000"/>
                </a:solidFill>
              </a:rPr>
              <a:t>PUTF(</a:t>
            </a:r>
            <a:r>
              <a:rPr lang="ru-RU" altLang="ru-RU" sz="3200" dirty="0" err="1" smtClean="0">
                <a:solidFill>
                  <a:srgbClr val="000000"/>
                </a:solidFill>
              </a:rPr>
              <a:t>my_handle</a:t>
            </a:r>
            <a:r>
              <a:rPr lang="ru-RU" altLang="ru-RU" sz="3200" dirty="0">
                <a:solidFill>
                  <a:srgbClr val="000000"/>
                </a:solidFill>
              </a:rPr>
              <a:t>, '</a:t>
            </a:r>
            <a:r>
              <a:rPr lang="ru-RU" altLang="ru-RU" sz="3200" dirty="0" err="1">
                <a:solidFill>
                  <a:srgbClr val="000000"/>
                </a:solidFill>
              </a:rPr>
              <a:t>Hello</a:t>
            </a:r>
            <a:r>
              <a:rPr lang="ru-RU" altLang="ru-RU" sz="3200" dirty="0">
                <a:solidFill>
                  <a:srgbClr val="000000"/>
                </a:solidFill>
              </a:rPr>
              <a:t>, </a:t>
            </a:r>
            <a:r>
              <a:rPr lang="ru-RU" altLang="ru-RU" sz="3200" dirty="0" err="1">
                <a:solidFill>
                  <a:srgbClr val="000000"/>
                </a:solidFill>
              </a:rPr>
              <a:t>world</a:t>
            </a:r>
            <a:r>
              <a:rPr lang="ru-RU" altLang="ru-RU" sz="3200" dirty="0">
                <a:solidFill>
                  <a:srgbClr val="000000"/>
                </a:solidFill>
              </a:rPr>
              <a:t>!\</a:t>
            </a:r>
            <a:r>
              <a:rPr lang="ru-RU" altLang="ru-RU" sz="3200" dirty="0" err="1">
                <a:solidFill>
                  <a:srgbClr val="000000"/>
                </a:solidFill>
              </a:rPr>
              <a:t>nI</a:t>
            </a:r>
            <a:r>
              <a:rPr lang="ru-RU" altLang="ru-RU" sz="3200" dirty="0">
                <a:solidFill>
                  <a:srgbClr val="000000"/>
                </a:solidFill>
              </a:rPr>
              <a:t> </a:t>
            </a:r>
            <a:r>
              <a:rPr lang="ru-RU" altLang="ru-RU" sz="3200" dirty="0" err="1">
                <a:solidFill>
                  <a:srgbClr val="000000"/>
                </a:solidFill>
              </a:rPr>
              <a:t>come</a:t>
            </a:r>
            <a:r>
              <a:rPr lang="ru-RU" altLang="ru-RU" sz="3200" dirty="0">
                <a:solidFill>
                  <a:srgbClr val="000000"/>
                </a:solidFill>
              </a:rPr>
              <a:t> </a:t>
            </a:r>
            <a:r>
              <a:rPr lang="ru-RU" altLang="ru-RU" sz="3200" dirty="0" err="1">
                <a:solidFill>
                  <a:srgbClr val="000000"/>
                </a:solidFill>
              </a:rPr>
              <a:t>from</a:t>
            </a:r>
            <a:r>
              <a:rPr lang="ru-RU" altLang="ru-RU" sz="3200" dirty="0">
                <a:solidFill>
                  <a:srgbClr val="000000"/>
                </a:solidFill>
              </a:rPr>
              <a:t> %s </a:t>
            </a:r>
            <a:r>
              <a:rPr lang="ru-RU" altLang="ru-RU" sz="3200" dirty="0" err="1">
                <a:solidFill>
                  <a:srgbClr val="000000"/>
                </a:solidFill>
              </a:rPr>
              <a:t>with</a:t>
            </a:r>
            <a:r>
              <a:rPr lang="ru-RU" altLang="ru-RU" sz="3200" dirty="0">
                <a:solidFill>
                  <a:srgbClr val="000000"/>
                </a:solidFill>
              </a:rPr>
              <a:t> %s.\n', </a:t>
            </a:r>
            <a:r>
              <a:rPr lang="ru-RU" altLang="ru-RU" sz="3200" dirty="0" err="1">
                <a:solidFill>
                  <a:srgbClr val="000000"/>
                </a:solidFill>
              </a:rPr>
              <a:t>my_world</a:t>
            </a:r>
            <a:r>
              <a:rPr lang="ru-RU" altLang="ru-RU" sz="3200" dirty="0">
                <a:solidFill>
                  <a:srgbClr val="000000"/>
                </a:solidFill>
              </a:rPr>
              <a:t>, '</a:t>
            </a:r>
            <a:r>
              <a:rPr lang="ru-RU" altLang="ru-RU" sz="3200" dirty="0" err="1">
                <a:solidFill>
                  <a:srgbClr val="000000"/>
                </a:solidFill>
              </a:rPr>
              <a:t>greetings</a:t>
            </a:r>
            <a:r>
              <a:rPr lang="ru-RU" altLang="ru-RU" sz="3200" dirty="0">
                <a:solidFill>
                  <a:srgbClr val="000000"/>
                </a:solidFill>
              </a:rPr>
              <a:t> </a:t>
            </a:r>
            <a:r>
              <a:rPr lang="ru-RU" altLang="ru-RU" sz="3200" dirty="0" err="1">
                <a:solidFill>
                  <a:srgbClr val="000000"/>
                </a:solidFill>
              </a:rPr>
              <a:t>for</a:t>
            </a:r>
            <a:r>
              <a:rPr lang="ru-RU" altLang="ru-RU" sz="3200" dirty="0">
                <a:solidFill>
                  <a:srgbClr val="000000"/>
                </a:solidFill>
              </a:rPr>
              <a:t> </a:t>
            </a:r>
            <a:r>
              <a:rPr lang="ru-RU" altLang="ru-RU" sz="3200" dirty="0" err="1">
                <a:solidFill>
                  <a:srgbClr val="000000"/>
                </a:solidFill>
              </a:rPr>
              <a:t>all</a:t>
            </a:r>
            <a:r>
              <a:rPr lang="ru-RU" altLang="ru-RU" sz="3200" dirty="0">
                <a:solidFill>
                  <a:srgbClr val="000000"/>
                </a:solidFill>
              </a:rPr>
              <a:t> </a:t>
            </a:r>
            <a:r>
              <a:rPr lang="ru-RU" altLang="ru-RU" sz="3200" dirty="0" err="1">
                <a:solidFill>
                  <a:srgbClr val="000000"/>
                </a:solidFill>
              </a:rPr>
              <a:t>earthlings</a:t>
            </a:r>
            <a:r>
              <a:rPr lang="ru-RU" altLang="ru-RU" sz="3200" dirty="0">
                <a:solidFill>
                  <a:srgbClr val="000000"/>
                </a:solidFill>
              </a:rPr>
              <a:t>');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indent="0">
              <a:buNone/>
            </a:pPr>
            <a:r>
              <a:rPr lang="ru-RU" altLang="ru-RU" sz="3200" dirty="0" smtClean="0"/>
              <a:t>Вывод:</a:t>
            </a:r>
          </a:p>
          <a:p>
            <a:pPr marL="0" indent="0">
              <a:buNone/>
            </a:pPr>
            <a:r>
              <a:rPr lang="ru-RU" altLang="ru-RU" sz="3200" dirty="0" err="1" smtClean="0">
                <a:solidFill>
                  <a:srgbClr val="000000"/>
                </a:solidFill>
              </a:rPr>
              <a:t>Hello</a:t>
            </a:r>
            <a:r>
              <a:rPr lang="ru-RU" altLang="ru-RU" sz="3200" dirty="0" smtClean="0">
                <a:solidFill>
                  <a:srgbClr val="000000"/>
                </a:solidFill>
              </a:rPr>
              <a:t>, </a:t>
            </a:r>
            <a:r>
              <a:rPr lang="ru-RU" altLang="ru-RU" sz="3200" dirty="0" err="1" smtClean="0">
                <a:solidFill>
                  <a:srgbClr val="000000"/>
                </a:solidFill>
              </a:rPr>
              <a:t>world</a:t>
            </a:r>
            <a:r>
              <a:rPr lang="ru-RU" altLang="ru-RU" sz="3200" dirty="0" smtClean="0">
                <a:solidFill>
                  <a:srgbClr val="000000"/>
                </a:solidFill>
              </a:rPr>
              <a:t>! </a:t>
            </a:r>
          </a:p>
          <a:p>
            <a:pPr marL="0" indent="0">
              <a:buNone/>
            </a:pPr>
            <a:r>
              <a:rPr lang="ru-RU" altLang="ru-RU" sz="3200" dirty="0" smtClean="0">
                <a:solidFill>
                  <a:srgbClr val="000000"/>
                </a:solidFill>
              </a:rPr>
              <a:t>I </a:t>
            </a:r>
            <a:r>
              <a:rPr lang="ru-RU" altLang="ru-RU" sz="3200" dirty="0" err="1" smtClean="0">
                <a:solidFill>
                  <a:srgbClr val="000000"/>
                </a:solidFill>
              </a:rPr>
              <a:t>come</a:t>
            </a:r>
            <a:r>
              <a:rPr lang="ru-RU" altLang="ru-RU" sz="3200" dirty="0" smtClean="0">
                <a:solidFill>
                  <a:srgbClr val="000000"/>
                </a:solidFill>
              </a:rPr>
              <a:t> </a:t>
            </a:r>
            <a:r>
              <a:rPr lang="ru-RU" altLang="ru-RU" sz="3200" dirty="0" err="1" smtClean="0">
                <a:solidFill>
                  <a:srgbClr val="000000"/>
                </a:solidFill>
              </a:rPr>
              <a:t>from</a:t>
            </a:r>
            <a:r>
              <a:rPr lang="ru-RU" altLang="ru-RU" sz="3200" dirty="0" smtClean="0">
                <a:solidFill>
                  <a:srgbClr val="000000"/>
                </a:solidFill>
              </a:rPr>
              <a:t> </a:t>
            </a:r>
            <a:r>
              <a:rPr lang="ru-RU" altLang="ru-RU" sz="3200" dirty="0" err="1" smtClean="0">
                <a:solidFill>
                  <a:srgbClr val="000000"/>
                </a:solidFill>
              </a:rPr>
              <a:t>Zork</a:t>
            </a:r>
            <a:r>
              <a:rPr lang="ru-RU" altLang="ru-RU" sz="3200" dirty="0" smtClean="0">
                <a:solidFill>
                  <a:srgbClr val="000000"/>
                </a:solidFill>
              </a:rPr>
              <a:t> </a:t>
            </a:r>
            <a:r>
              <a:rPr lang="ru-RU" altLang="ru-RU" sz="3200" dirty="0" err="1" smtClean="0">
                <a:solidFill>
                  <a:srgbClr val="000000"/>
                </a:solidFill>
              </a:rPr>
              <a:t>with</a:t>
            </a:r>
            <a:r>
              <a:rPr lang="ru-RU" altLang="ru-RU" sz="3200" dirty="0" smtClean="0">
                <a:solidFill>
                  <a:srgbClr val="000000"/>
                </a:solidFill>
              </a:rPr>
              <a:t> </a:t>
            </a:r>
            <a:r>
              <a:rPr lang="ru-RU" altLang="ru-RU" sz="3200" dirty="0" err="1" smtClean="0">
                <a:solidFill>
                  <a:srgbClr val="000000"/>
                </a:solidFill>
              </a:rPr>
              <a:t>greetings</a:t>
            </a:r>
            <a:r>
              <a:rPr lang="ru-RU" altLang="ru-RU" sz="3200" dirty="0" smtClean="0">
                <a:solidFill>
                  <a:srgbClr val="000000"/>
                </a:solidFill>
              </a:rPr>
              <a:t> </a:t>
            </a:r>
            <a:r>
              <a:rPr lang="ru-RU" altLang="ru-RU" sz="3200" dirty="0" err="1" smtClean="0">
                <a:solidFill>
                  <a:srgbClr val="000000"/>
                </a:solidFill>
              </a:rPr>
              <a:t>for</a:t>
            </a:r>
            <a:r>
              <a:rPr lang="ru-RU" altLang="ru-RU" sz="3200" dirty="0" smtClean="0">
                <a:solidFill>
                  <a:srgbClr val="000000"/>
                </a:solidFill>
              </a:rPr>
              <a:t> </a:t>
            </a:r>
            <a:r>
              <a:rPr lang="ru-RU" altLang="ru-RU" sz="3200" dirty="0" err="1" smtClean="0">
                <a:solidFill>
                  <a:srgbClr val="000000"/>
                </a:solidFill>
              </a:rPr>
              <a:t>all</a:t>
            </a:r>
            <a:r>
              <a:rPr lang="ru-RU" altLang="ru-RU" sz="3200" dirty="0" smtClean="0">
                <a:solidFill>
                  <a:srgbClr val="000000"/>
                </a:solidFill>
              </a:rPr>
              <a:t> </a:t>
            </a:r>
            <a:r>
              <a:rPr lang="ru-RU" altLang="ru-RU" sz="3200" dirty="0" err="1" smtClean="0">
                <a:solidFill>
                  <a:srgbClr val="000000"/>
                </a:solidFill>
              </a:rPr>
              <a:t>earthlings</a:t>
            </a:r>
            <a:r>
              <a:rPr lang="ru-RU" altLang="ru-RU" sz="3200" dirty="0" smtClean="0">
                <a:solidFill>
                  <a:srgbClr val="000000"/>
                </a:solidFill>
              </a:rPr>
              <a:t>. 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390020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0075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latin typeface="+mn-lt"/>
              </a:rPr>
              <a:t>Запись в файл</a:t>
            </a:r>
            <a:endParaRPr lang="ru-RU" dirty="0">
              <a:latin typeface="+mn-lt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139190"/>
            <a:ext cx="10515600" cy="556641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3200" dirty="0" smtClean="0"/>
              <a:t>Пример 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PUT_LINE</a:t>
            </a:r>
            <a:r>
              <a:rPr lang="en-US" sz="3200" dirty="0" smtClean="0"/>
              <a:t> </a:t>
            </a:r>
            <a:r>
              <a:rPr lang="ru-RU" sz="3200" dirty="0" smtClean="0"/>
              <a:t>:</a:t>
            </a:r>
          </a:p>
          <a:p>
            <a:pPr marL="0" indent="0">
              <a:buNone/>
            </a:pPr>
            <a:r>
              <a:rPr kumimoji="0" lang="en-US" alt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DECLARE</a:t>
            </a:r>
          </a:p>
          <a:p>
            <a:pPr marL="0" indent="0">
              <a:buNone/>
            </a:pPr>
            <a:r>
              <a:rPr kumimoji="0" lang="en-US" alt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    </a:t>
            </a:r>
            <a:r>
              <a:rPr kumimoji="0" lang="en-US" altLang="ru-RU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</a:rPr>
              <a:t>fhandle</a:t>
            </a:r>
            <a:r>
              <a:rPr kumimoji="0" lang="en-US" alt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 UTL_FILE.FILE_TYPE</a:t>
            </a:r>
            <a:r>
              <a:rPr kumimoji="0" lang="en-US" alt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;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 --дескриптор</a:t>
            </a:r>
            <a:endParaRPr kumimoji="0" lang="en-US" altLang="ru-RU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r>
              <a:rPr kumimoji="0" lang="en-US" alt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    </a:t>
            </a:r>
            <a:r>
              <a:rPr kumimoji="0" lang="en-US" altLang="ru-RU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</a:rPr>
              <a:t>vtext</a:t>
            </a:r>
            <a:r>
              <a:rPr kumimoji="0" lang="en-US" alt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 VARCHAR2(10</a:t>
            </a:r>
            <a:r>
              <a:rPr kumimoji="0" lang="en-US" alt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);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 --строка</a:t>
            </a:r>
            <a:r>
              <a:rPr kumimoji="0" lang="ru-RU" altLang="ru-RU" b="0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 для записи</a:t>
            </a:r>
            <a:endParaRPr kumimoji="0" lang="en-US" altLang="ru-RU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r>
              <a:rPr kumimoji="0" lang="en-US" alt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BEGIN</a:t>
            </a:r>
            <a:endParaRPr kumimoji="0" lang="en-US" altLang="ru-RU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r>
              <a:rPr kumimoji="0" lang="en-US" alt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    </a:t>
            </a:r>
            <a:r>
              <a:rPr kumimoji="0" lang="en-US" altLang="ru-RU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</a:rPr>
              <a:t>vtext</a:t>
            </a:r>
            <a:r>
              <a:rPr kumimoji="0" lang="en-US" alt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 := 'TEST';</a:t>
            </a:r>
          </a:p>
          <a:p>
            <a:pPr marL="0" indent="0">
              <a:buNone/>
            </a:pPr>
            <a:r>
              <a:rPr kumimoji="0" lang="en-US" alt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    </a:t>
            </a:r>
            <a:r>
              <a:rPr kumimoji="0" lang="en-US" altLang="ru-RU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</a:rPr>
              <a:t>fhandle</a:t>
            </a:r>
            <a:r>
              <a:rPr kumimoji="0" lang="en-US" alt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 := UTL_FILE.FOPEN('</a:t>
            </a:r>
            <a:r>
              <a:rPr kumimoji="0" lang="en-US" altLang="ru-RU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</a:rPr>
              <a:t>UTL_DIR','test.txt','r</a:t>
            </a:r>
            <a:r>
              <a:rPr kumimoji="0" lang="en-US" alt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');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 --открытие</a:t>
            </a:r>
            <a:endParaRPr kumimoji="0" lang="en-US" altLang="ru-RU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r>
              <a:rPr kumimoji="0" lang="en-US" alt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    UTL_FILE.PUT_LINE(</a:t>
            </a:r>
            <a:r>
              <a:rPr kumimoji="0" lang="en-US" altLang="ru-RU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</a:rPr>
              <a:t>fhandle</a:t>
            </a:r>
            <a:r>
              <a:rPr kumimoji="0" lang="en-US" alt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, </a:t>
            </a:r>
            <a:r>
              <a:rPr kumimoji="0" lang="en-US" altLang="ru-RU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</a:rPr>
              <a:t>vtext</a:t>
            </a:r>
            <a:r>
              <a:rPr kumimoji="0" lang="en-US" alt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);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 --запись строки</a:t>
            </a:r>
            <a:endParaRPr kumimoji="0" lang="en-US" altLang="ru-RU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r>
              <a:rPr lang="en-US" altLang="ru-RU" dirty="0">
                <a:solidFill>
                  <a:srgbClr val="000000"/>
                </a:solidFill>
              </a:rPr>
              <a:t> </a:t>
            </a:r>
            <a:r>
              <a:rPr lang="en-US" altLang="ru-RU" dirty="0" smtClean="0">
                <a:solidFill>
                  <a:srgbClr val="000000"/>
                </a:solidFill>
              </a:rPr>
              <a:t>   </a:t>
            </a:r>
            <a:r>
              <a:rPr kumimoji="0" lang="en-US" alt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UTL_FILE.FCLOSE(</a:t>
            </a:r>
            <a:r>
              <a:rPr kumimoji="0" lang="en-US" altLang="ru-RU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</a:rPr>
              <a:t>fhandle</a:t>
            </a:r>
            <a:r>
              <a:rPr kumimoji="0" lang="en-US" alt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);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 --закрытие файла</a:t>
            </a:r>
            <a:endParaRPr kumimoji="0" lang="en-US" altLang="ru-RU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r>
              <a:rPr kumimoji="0" lang="en-US" alt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END;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26728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21673"/>
            <a:ext cx="10515600" cy="683924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Пример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5600" y="1330470"/>
            <a:ext cx="11480800" cy="56614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DECLARE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v_failed</a:t>
            </a:r>
            <a:r>
              <a:rPr lang="en-US" dirty="0"/>
              <a:t> </a:t>
            </a:r>
            <a:r>
              <a:rPr lang="en-US" dirty="0" err="1"/>
              <a:t>dba_profiles.limit%TYPE</a:t>
            </a:r>
            <a:r>
              <a:rPr lang="en-US" dirty="0" smtClean="0"/>
              <a:t>;</a:t>
            </a:r>
            <a:r>
              <a:rPr lang="ru-RU" dirty="0" smtClean="0"/>
              <a:t> --количество неудачных попыток входа до блокировки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v_lock</a:t>
            </a:r>
            <a:r>
              <a:rPr lang="en-US" dirty="0"/>
              <a:t> </a:t>
            </a:r>
            <a:r>
              <a:rPr lang="en-US" dirty="0" err="1"/>
              <a:t>dba_profiles.limit%TYPE</a:t>
            </a:r>
            <a:r>
              <a:rPr lang="en-US" dirty="0" smtClean="0"/>
              <a:t>;</a:t>
            </a:r>
            <a:r>
              <a:rPr lang="ru-RU" dirty="0" smtClean="0"/>
              <a:t> --время блокировки пользователя в днях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    </a:t>
            </a:r>
            <a:r>
              <a:rPr lang="en-US" dirty="0" err="1" smtClean="0"/>
              <a:t>v_</a:t>
            </a:r>
            <a:r>
              <a:rPr lang="en-US" dirty="0" err="1" smtClean="0"/>
              <a:t>life</a:t>
            </a:r>
            <a:r>
              <a:rPr lang="en-US" dirty="0" smtClean="0"/>
              <a:t> </a:t>
            </a:r>
            <a:r>
              <a:rPr lang="en-US" dirty="0" err="1" smtClean="0"/>
              <a:t>dba_profiles.limit%TYPE</a:t>
            </a:r>
            <a:r>
              <a:rPr lang="en-US" dirty="0" smtClean="0"/>
              <a:t>;</a:t>
            </a:r>
            <a:r>
              <a:rPr lang="ru-RU" dirty="0" smtClean="0"/>
              <a:t> --время жизни пароля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</a:t>
            </a:r>
            <a:r>
              <a:rPr lang="en-US" dirty="0" err="1"/>
              <a:t>fHandle</a:t>
            </a:r>
            <a:r>
              <a:rPr lang="en-US" dirty="0"/>
              <a:t> UTL_FILE.FILE_TYPE</a:t>
            </a:r>
            <a:r>
              <a:rPr lang="en-US" dirty="0" smtClean="0"/>
              <a:t>;</a:t>
            </a:r>
            <a:r>
              <a:rPr lang="ru-RU" dirty="0" smtClean="0"/>
              <a:t> --дескриптор</a:t>
            </a:r>
            <a:endParaRPr lang="en-US" dirty="0"/>
          </a:p>
          <a:p>
            <a:pPr marL="0" indent="0">
              <a:buNone/>
            </a:pPr>
            <a:r>
              <a:rPr lang="ru-RU" dirty="0" smtClean="0"/>
              <a:t>    </a:t>
            </a:r>
            <a:r>
              <a:rPr lang="en-US" dirty="0" err="1" smtClean="0"/>
              <a:t>v_username</a:t>
            </a:r>
            <a:r>
              <a:rPr lang="en-US" dirty="0" smtClean="0"/>
              <a:t> </a:t>
            </a:r>
            <a:r>
              <a:rPr lang="en-US" dirty="0" err="1"/>
              <a:t>dba_users.username%TYPE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CURSOR users IS</a:t>
            </a:r>
          </a:p>
          <a:p>
            <a:pPr marL="0" indent="0">
              <a:buNone/>
            </a:pPr>
            <a:r>
              <a:rPr lang="en-US" dirty="0"/>
              <a:t>    SELECT username FROM </a:t>
            </a:r>
            <a:r>
              <a:rPr lang="en-US" dirty="0" err="1"/>
              <a:t>dba_users</a:t>
            </a:r>
            <a:r>
              <a:rPr lang="en-US" dirty="0" smtClean="0"/>
              <a:t>;</a:t>
            </a:r>
            <a:r>
              <a:rPr lang="ru-RU" dirty="0" smtClean="0"/>
              <a:t> --курсор для получения имен пользователей БД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7059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3199" y="83128"/>
            <a:ext cx="12099637" cy="648392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dirty="0" smtClean="0"/>
              <a:t>BEGIN</a:t>
            </a:r>
            <a:endParaRPr lang="en-US" sz="1400" dirty="0"/>
          </a:p>
          <a:p>
            <a:pPr marL="0" indent="0">
              <a:buNone/>
            </a:pPr>
            <a:r>
              <a:rPr lang="ru-RU" sz="1400" dirty="0"/>
              <a:t> </a:t>
            </a:r>
            <a:r>
              <a:rPr lang="ru-RU" sz="1400" dirty="0" smtClean="0"/>
              <a:t>   </a:t>
            </a:r>
            <a:r>
              <a:rPr lang="en-US" sz="1400" dirty="0" err="1" smtClean="0"/>
              <a:t>fHandle</a:t>
            </a:r>
            <a:r>
              <a:rPr lang="en-US" sz="1400" dirty="0" smtClean="0"/>
              <a:t> </a:t>
            </a:r>
            <a:r>
              <a:rPr lang="en-US" sz="1400" dirty="0"/>
              <a:t>:= UTL_FILE.FOPEN('UTL_DIR</a:t>
            </a:r>
            <a:r>
              <a:rPr lang="en-US" sz="1400" dirty="0" smtClean="0"/>
              <a:t>'</a:t>
            </a:r>
            <a:r>
              <a:rPr lang="ru-RU" sz="1400" dirty="0" smtClean="0"/>
              <a:t>, </a:t>
            </a:r>
            <a:r>
              <a:rPr lang="en-US" sz="1400" dirty="0" smtClean="0"/>
              <a:t>'</a:t>
            </a:r>
            <a:r>
              <a:rPr lang="en-US" sz="1400" dirty="0" err="1" smtClean="0"/>
              <a:t>utlfile.txt</a:t>
            </a:r>
            <a:r>
              <a:rPr lang="en-US" sz="1400" dirty="0" err="1"/>
              <a:t>','w</a:t>
            </a:r>
            <a:r>
              <a:rPr lang="en-US" sz="1400" dirty="0" smtClean="0"/>
              <a:t>');</a:t>
            </a:r>
            <a:r>
              <a:rPr lang="ru-RU" sz="1400" dirty="0" smtClean="0"/>
              <a:t> --открытие файла в режиме записи</a:t>
            </a:r>
            <a:endParaRPr lang="en-US" sz="1400" dirty="0"/>
          </a:p>
          <a:p>
            <a:pPr marL="0" indent="0">
              <a:buNone/>
            </a:pPr>
            <a:r>
              <a:rPr lang="ru-RU" sz="1400" dirty="0" smtClean="0"/>
              <a:t>    </a:t>
            </a:r>
            <a:r>
              <a:rPr lang="en-US" sz="1400" dirty="0" smtClean="0"/>
              <a:t>UTL_FILE.PUT_LINE(</a:t>
            </a:r>
            <a:r>
              <a:rPr lang="en-US" sz="1400" dirty="0" err="1" smtClean="0"/>
              <a:t>fHandle</a:t>
            </a:r>
            <a:r>
              <a:rPr lang="en-US" sz="1400" dirty="0"/>
              <a:t>,'USERNAME'||</a:t>
            </a:r>
            <a:r>
              <a:rPr lang="en-US" sz="1400" dirty="0" smtClean="0"/>
              <a:t>'ATTEMPTS</a:t>
            </a:r>
            <a:r>
              <a:rPr lang="en-US" sz="1400" dirty="0"/>
              <a:t>'||'LIFE'||'LOCK</a:t>
            </a:r>
            <a:r>
              <a:rPr lang="en-US" sz="1400" dirty="0" smtClean="0"/>
              <a:t>');</a:t>
            </a:r>
            <a:r>
              <a:rPr lang="ru-RU" sz="1400" dirty="0" smtClean="0"/>
              <a:t> --запись строки</a:t>
            </a:r>
            <a:endParaRPr lang="en-US" sz="1400" dirty="0"/>
          </a:p>
          <a:p>
            <a:pPr marL="0" indent="0">
              <a:buNone/>
            </a:pPr>
            <a:r>
              <a:rPr lang="ru-RU" sz="1400" dirty="0" smtClean="0"/>
              <a:t>    </a:t>
            </a:r>
            <a:r>
              <a:rPr lang="en-US" sz="1400" dirty="0" smtClean="0"/>
              <a:t>UTL_FILE.FCLOSE(</a:t>
            </a:r>
            <a:r>
              <a:rPr lang="en-US" sz="1400" dirty="0" err="1" smtClean="0"/>
              <a:t>fHandle</a:t>
            </a:r>
            <a:r>
              <a:rPr lang="en-US" sz="1400" dirty="0" smtClean="0"/>
              <a:t>);</a:t>
            </a:r>
            <a:r>
              <a:rPr lang="ru-RU" sz="1400" dirty="0" smtClean="0"/>
              <a:t> --закрытие файла</a:t>
            </a:r>
            <a:endParaRPr lang="en-US" sz="1400" dirty="0"/>
          </a:p>
          <a:p>
            <a:pPr marL="0" indent="0">
              <a:buNone/>
            </a:pPr>
            <a:r>
              <a:rPr lang="ru-RU" sz="1400" dirty="0" smtClean="0"/>
              <a:t>    </a:t>
            </a:r>
            <a:r>
              <a:rPr lang="en-US" sz="1400" dirty="0" err="1" smtClean="0"/>
              <a:t>fHandle</a:t>
            </a:r>
            <a:r>
              <a:rPr lang="en-US" sz="1400" dirty="0" smtClean="0"/>
              <a:t> </a:t>
            </a:r>
            <a:r>
              <a:rPr lang="en-US" sz="1400" dirty="0"/>
              <a:t>:= UTL_FILE.FOPEN('</a:t>
            </a:r>
            <a:r>
              <a:rPr lang="en-US" sz="1400" dirty="0" err="1"/>
              <a:t>UTL_DIR','utlfile.txt','a</a:t>
            </a:r>
            <a:r>
              <a:rPr lang="en-US" sz="1400" dirty="0" smtClean="0"/>
              <a:t>');</a:t>
            </a:r>
            <a:r>
              <a:rPr lang="ru-RU" sz="1400" dirty="0"/>
              <a:t> --открытие файла в режиме </a:t>
            </a:r>
            <a:r>
              <a:rPr lang="ru-RU" sz="1400" dirty="0" smtClean="0"/>
              <a:t>добавления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    OPEN users</a:t>
            </a:r>
            <a:r>
              <a:rPr lang="en-US" sz="1400" dirty="0" smtClean="0"/>
              <a:t>;</a:t>
            </a:r>
            <a:r>
              <a:rPr lang="ru-RU" sz="1400" dirty="0" smtClean="0"/>
              <a:t> --открытие курсора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    LOOP</a:t>
            </a:r>
          </a:p>
          <a:p>
            <a:pPr marL="0" indent="0">
              <a:buNone/>
            </a:pPr>
            <a:r>
              <a:rPr lang="en-US" sz="1400" dirty="0"/>
              <a:t>        FETCH users INTO </a:t>
            </a:r>
            <a:r>
              <a:rPr lang="en-US" sz="1400" dirty="0" err="1"/>
              <a:t>v_username</a:t>
            </a:r>
            <a:r>
              <a:rPr lang="en-US" sz="1400" dirty="0"/>
              <a:t>;</a:t>
            </a:r>
          </a:p>
          <a:p>
            <a:pPr marL="0" indent="0">
              <a:buNone/>
            </a:pPr>
            <a:r>
              <a:rPr lang="en-US" sz="1400" dirty="0"/>
              <a:t>        EXIT when </a:t>
            </a:r>
            <a:r>
              <a:rPr lang="en-US" sz="1400" dirty="0" err="1"/>
              <a:t>users%NOTFOUND</a:t>
            </a:r>
            <a:r>
              <a:rPr lang="en-US" sz="1400" dirty="0" smtClean="0"/>
              <a:t>;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        SELECT </a:t>
            </a:r>
            <a:r>
              <a:rPr lang="en-US" sz="1400" dirty="0" err="1"/>
              <a:t>p.limit</a:t>
            </a:r>
            <a:r>
              <a:rPr lang="en-US" sz="1400" dirty="0"/>
              <a:t> INTO </a:t>
            </a:r>
            <a:r>
              <a:rPr lang="en-US" sz="1400" dirty="0" err="1"/>
              <a:t>v_failed</a:t>
            </a:r>
            <a:r>
              <a:rPr lang="en-US" sz="1400" dirty="0"/>
              <a:t> FROM </a:t>
            </a:r>
            <a:r>
              <a:rPr lang="en-US" sz="1400" dirty="0" err="1"/>
              <a:t>dba_profiles</a:t>
            </a:r>
            <a:r>
              <a:rPr lang="en-US" sz="1400" dirty="0"/>
              <a:t> p, </a:t>
            </a:r>
            <a:r>
              <a:rPr lang="en-US" sz="1400" dirty="0" err="1"/>
              <a:t>dba_users</a:t>
            </a:r>
            <a:r>
              <a:rPr lang="en-US" sz="1400" dirty="0"/>
              <a:t> u WHERE </a:t>
            </a:r>
            <a:r>
              <a:rPr lang="en-US" sz="1400" dirty="0" err="1"/>
              <a:t>p.resource_name</a:t>
            </a:r>
            <a:r>
              <a:rPr lang="en-US" sz="1400" dirty="0"/>
              <a:t>='FAILED_LOGIN_ATTEMPTS'</a:t>
            </a:r>
          </a:p>
          <a:p>
            <a:pPr marL="0" indent="0">
              <a:buNone/>
            </a:pPr>
            <a:r>
              <a:rPr lang="en-US" sz="1400" dirty="0"/>
              <a:t>        AND </a:t>
            </a:r>
            <a:r>
              <a:rPr lang="en-US" sz="1400" dirty="0" err="1"/>
              <a:t>p.profile</a:t>
            </a:r>
            <a:r>
              <a:rPr lang="en-US" sz="1400" dirty="0"/>
              <a:t>=</a:t>
            </a:r>
            <a:r>
              <a:rPr lang="en-US" sz="1400" dirty="0" err="1"/>
              <a:t>u.profile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        AND </a:t>
            </a:r>
            <a:r>
              <a:rPr lang="en-US" sz="1400" dirty="0" err="1"/>
              <a:t>u.username</a:t>
            </a:r>
            <a:r>
              <a:rPr lang="en-US" sz="1400" dirty="0"/>
              <a:t>=</a:t>
            </a:r>
            <a:r>
              <a:rPr lang="en-US" sz="1400" dirty="0" err="1"/>
              <a:t>v_username</a:t>
            </a:r>
            <a:r>
              <a:rPr lang="en-US" sz="1400" dirty="0" smtClean="0"/>
              <a:t>;</a:t>
            </a:r>
            <a:r>
              <a:rPr lang="ru-RU" sz="1400" dirty="0" smtClean="0"/>
              <a:t>  </a:t>
            </a:r>
            <a:r>
              <a:rPr lang="ru-RU" sz="1400" dirty="0"/>
              <a:t>--достаем количество неудачных попыток входа до блокировки 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        SELECT </a:t>
            </a:r>
            <a:r>
              <a:rPr lang="en-US" sz="1400" dirty="0" err="1"/>
              <a:t>p.limit</a:t>
            </a:r>
            <a:r>
              <a:rPr lang="en-US" sz="1400" dirty="0"/>
              <a:t> INTO </a:t>
            </a:r>
            <a:r>
              <a:rPr lang="en-US" sz="1400" dirty="0" err="1"/>
              <a:t>v_life</a:t>
            </a:r>
            <a:r>
              <a:rPr lang="en-US" sz="1400" dirty="0"/>
              <a:t> FROM </a:t>
            </a:r>
            <a:r>
              <a:rPr lang="en-US" sz="1400" dirty="0" err="1"/>
              <a:t>dba_profiles</a:t>
            </a:r>
            <a:r>
              <a:rPr lang="en-US" sz="1400" dirty="0"/>
              <a:t> p, </a:t>
            </a:r>
            <a:r>
              <a:rPr lang="en-US" sz="1400" dirty="0" err="1"/>
              <a:t>dba_users</a:t>
            </a:r>
            <a:r>
              <a:rPr lang="en-US" sz="1400" dirty="0"/>
              <a:t> u WHERE </a:t>
            </a:r>
            <a:r>
              <a:rPr lang="en-US" sz="1400" dirty="0" err="1"/>
              <a:t>p.resource_name</a:t>
            </a:r>
            <a:r>
              <a:rPr lang="en-US" sz="1400" dirty="0"/>
              <a:t>=</a:t>
            </a:r>
            <a:r>
              <a:rPr lang="en-US" sz="1400" dirty="0" smtClean="0"/>
              <a:t>'PASSWORD_LIFE_TIME‘</a:t>
            </a:r>
            <a:r>
              <a:rPr lang="ru-RU" sz="1400" dirty="0" smtClean="0"/>
              <a:t> </a:t>
            </a:r>
            <a:r>
              <a:rPr lang="en-US" sz="1400" dirty="0" smtClean="0"/>
              <a:t>AND </a:t>
            </a:r>
            <a:r>
              <a:rPr lang="en-US" sz="1400" dirty="0" err="1" smtClean="0"/>
              <a:t>p.profile</a:t>
            </a:r>
            <a:r>
              <a:rPr lang="en-US" sz="1400" dirty="0" smtClean="0"/>
              <a:t>=</a:t>
            </a:r>
            <a:r>
              <a:rPr lang="en-US" sz="1400" dirty="0" err="1" smtClean="0"/>
              <a:t>u.profile</a:t>
            </a:r>
            <a:r>
              <a:rPr lang="ru-RU" sz="1400" dirty="0" smtClean="0"/>
              <a:t> </a:t>
            </a:r>
            <a:r>
              <a:rPr lang="en-US" sz="1400" dirty="0" smtClean="0"/>
              <a:t>AND </a:t>
            </a:r>
            <a:r>
              <a:rPr lang="en-US" sz="1400" dirty="0" err="1"/>
              <a:t>u.username</a:t>
            </a:r>
            <a:r>
              <a:rPr lang="en-US" sz="1400" dirty="0"/>
              <a:t>=</a:t>
            </a:r>
            <a:r>
              <a:rPr lang="en-US" sz="1400" dirty="0" err="1"/>
              <a:t>v_username</a:t>
            </a:r>
            <a:r>
              <a:rPr lang="en-US" sz="1400" dirty="0" smtClean="0"/>
              <a:t>;</a:t>
            </a:r>
            <a:r>
              <a:rPr lang="ru-RU" sz="1400" dirty="0"/>
              <a:t> </a:t>
            </a:r>
            <a:r>
              <a:rPr lang="ru-RU" sz="1400" dirty="0" smtClean="0"/>
              <a:t>--достаем </a:t>
            </a:r>
            <a:r>
              <a:rPr lang="ru-RU" sz="1400" dirty="0"/>
              <a:t>время блокировки пользователя в </a:t>
            </a:r>
            <a:r>
              <a:rPr lang="ru-RU" sz="1400" dirty="0" smtClean="0"/>
              <a:t>днях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        SELECT </a:t>
            </a:r>
            <a:r>
              <a:rPr lang="en-US" sz="1400" dirty="0" err="1"/>
              <a:t>p.limit</a:t>
            </a:r>
            <a:r>
              <a:rPr lang="en-US" sz="1400" dirty="0"/>
              <a:t> INTO </a:t>
            </a:r>
            <a:r>
              <a:rPr lang="en-US" sz="1400" dirty="0" err="1"/>
              <a:t>v_lock</a:t>
            </a:r>
            <a:r>
              <a:rPr lang="en-US" sz="1400" dirty="0"/>
              <a:t> FROM </a:t>
            </a:r>
            <a:r>
              <a:rPr lang="en-US" sz="1400" dirty="0" err="1"/>
              <a:t>dba_profiles</a:t>
            </a:r>
            <a:r>
              <a:rPr lang="en-US" sz="1400" dirty="0"/>
              <a:t> p, </a:t>
            </a:r>
            <a:r>
              <a:rPr lang="en-US" sz="1400" dirty="0" err="1"/>
              <a:t>dba_users</a:t>
            </a:r>
            <a:r>
              <a:rPr lang="en-US" sz="1400" dirty="0"/>
              <a:t> u WHERE </a:t>
            </a:r>
            <a:r>
              <a:rPr lang="en-US" sz="1400" dirty="0" err="1"/>
              <a:t>p.resource_name</a:t>
            </a:r>
            <a:r>
              <a:rPr lang="en-US" sz="1400" dirty="0"/>
              <a:t>=</a:t>
            </a:r>
            <a:r>
              <a:rPr lang="en-US" sz="1400" dirty="0" smtClean="0"/>
              <a:t>'PASSWORD_LOCK_TIME‘</a:t>
            </a:r>
            <a:r>
              <a:rPr lang="ru-RU" sz="1400" dirty="0" smtClean="0"/>
              <a:t> </a:t>
            </a:r>
            <a:r>
              <a:rPr lang="en-US" sz="1400" dirty="0" smtClean="0"/>
              <a:t>AND </a:t>
            </a:r>
            <a:r>
              <a:rPr lang="en-US" sz="1400" dirty="0" err="1" smtClean="0"/>
              <a:t>p.profile</a:t>
            </a:r>
            <a:r>
              <a:rPr lang="en-US" sz="1400" dirty="0" smtClean="0"/>
              <a:t>=</a:t>
            </a:r>
            <a:r>
              <a:rPr lang="en-US" sz="1400" dirty="0" err="1" smtClean="0"/>
              <a:t>u.profile</a:t>
            </a:r>
            <a:r>
              <a:rPr lang="ru-RU" sz="1400" dirty="0" smtClean="0"/>
              <a:t> </a:t>
            </a:r>
            <a:r>
              <a:rPr lang="en-US" sz="1400" dirty="0" smtClean="0"/>
              <a:t>AND </a:t>
            </a:r>
            <a:r>
              <a:rPr lang="en-US" sz="1400" dirty="0" err="1"/>
              <a:t>u.username</a:t>
            </a:r>
            <a:r>
              <a:rPr lang="en-US" sz="1400" dirty="0"/>
              <a:t>=</a:t>
            </a:r>
            <a:r>
              <a:rPr lang="en-US" sz="1400" dirty="0" err="1"/>
              <a:t>v_username</a:t>
            </a:r>
            <a:r>
              <a:rPr lang="en-US" sz="1400" dirty="0" smtClean="0"/>
              <a:t>;</a:t>
            </a:r>
            <a:r>
              <a:rPr lang="ru-RU" sz="1400" dirty="0" smtClean="0"/>
              <a:t> </a:t>
            </a:r>
            <a:r>
              <a:rPr lang="ru-RU" sz="1400" dirty="0"/>
              <a:t>--достаем время жизни </a:t>
            </a:r>
            <a:r>
              <a:rPr lang="ru-RU" sz="1400" dirty="0" smtClean="0"/>
              <a:t>пароля</a:t>
            </a:r>
            <a:endParaRPr lang="en-US" sz="1400" dirty="0"/>
          </a:p>
          <a:p>
            <a:pPr marL="0" indent="0">
              <a:buNone/>
            </a:pPr>
            <a:r>
              <a:rPr lang="ru-RU" sz="1400" dirty="0" smtClean="0"/>
              <a:t>        </a:t>
            </a:r>
            <a:r>
              <a:rPr lang="en-US" sz="1400" dirty="0" smtClean="0"/>
              <a:t>UTL_FILE.PUT_LINE(</a:t>
            </a:r>
            <a:r>
              <a:rPr lang="en-US" sz="1400" dirty="0" err="1" smtClean="0"/>
              <a:t>fHandle,v_username</a:t>
            </a:r>
            <a:r>
              <a:rPr lang="en-US" sz="1400" dirty="0" smtClean="0"/>
              <a:t>||</a:t>
            </a:r>
            <a:r>
              <a:rPr lang="en-US" sz="1400" dirty="0" err="1" smtClean="0"/>
              <a:t>v_failed</a:t>
            </a:r>
            <a:r>
              <a:rPr lang="en-US" sz="1400" dirty="0" smtClean="0"/>
              <a:t>||</a:t>
            </a:r>
            <a:r>
              <a:rPr lang="en-US" sz="1400" dirty="0" err="1" smtClean="0"/>
              <a:t>v</a:t>
            </a:r>
            <a:r>
              <a:rPr lang="en-US" sz="1400" dirty="0" err="1" smtClean="0"/>
              <a:t>_life</a:t>
            </a:r>
            <a:r>
              <a:rPr lang="en-US" sz="1400" dirty="0" smtClean="0"/>
              <a:t>||</a:t>
            </a:r>
            <a:r>
              <a:rPr lang="en-US" sz="1400" dirty="0" err="1" smtClean="0"/>
              <a:t>v_lock</a:t>
            </a:r>
            <a:r>
              <a:rPr lang="en-US" sz="1400" dirty="0" smtClean="0"/>
              <a:t>);</a:t>
            </a:r>
            <a:r>
              <a:rPr lang="ru-RU" sz="1400" dirty="0" smtClean="0"/>
              <a:t> --запись строки с запрошенными данными</a:t>
            </a:r>
            <a:endParaRPr lang="en-US" sz="1400" dirty="0" smtClean="0"/>
          </a:p>
          <a:p>
            <a:pPr marL="0" indent="0">
              <a:buNone/>
            </a:pPr>
            <a:r>
              <a:rPr lang="en-US" sz="1400" dirty="0" smtClean="0"/>
              <a:t>END </a:t>
            </a:r>
            <a:r>
              <a:rPr lang="en-US" sz="1400" dirty="0" smtClean="0"/>
              <a:t>LOOP;</a:t>
            </a:r>
            <a:endParaRPr lang="ru-RU" sz="1400" dirty="0" smtClean="0"/>
          </a:p>
          <a:p>
            <a:pPr marL="0" indent="0">
              <a:buNone/>
            </a:pPr>
            <a:r>
              <a:rPr lang="ru-RU" sz="1400" dirty="0"/>
              <a:t> </a:t>
            </a:r>
            <a:r>
              <a:rPr lang="ru-RU" sz="1400" dirty="0" smtClean="0"/>
              <a:t>   </a:t>
            </a:r>
            <a:r>
              <a:rPr lang="en-US" sz="1400" dirty="0" smtClean="0"/>
              <a:t>CLOSE </a:t>
            </a:r>
            <a:r>
              <a:rPr lang="en-US" sz="1400" dirty="0"/>
              <a:t>users</a:t>
            </a:r>
            <a:r>
              <a:rPr lang="en-US" sz="1400" dirty="0" smtClean="0"/>
              <a:t>;</a:t>
            </a:r>
            <a:r>
              <a:rPr lang="ru-RU" sz="1400" dirty="0" smtClean="0"/>
              <a:t> --закрытие курсора</a:t>
            </a:r>
            <a:endParaRPr lang="en-US" sz="1400" dirty="0"/>
          </a:p>
          <a:p>
            <a:pPr marL="0" indent="0">
              <a:buNone/>
            </a:pPr>
            <a:r>
              <a:rPr lang="ru-RU" sz="1400" dirty="0" smtClean="0"/>
              <a:t>    </a:t>
            </a:r>
            <a:r>
              <a:rPr lang="en-US" sz="1400" dirty="0" smtClean="0"/>
              <a:t>UTL_FILE.FCLOSE(</a:t>
            </a:r>
            <a:r>
              <a:rPr lang="en-US" sz="1400" dirty="0" err="1" smtClean="0"/>
              <a:t>fHandle</a:t>
            </a:r>
            <a:r>
              <a:rPr lang="en-US" sz="1400" dirty="0" smtClean="0"/>
              <a:t>);</a:t>
            </a:r>
            <a:r>
              <a:rPr lang="ru-RU" sz="1400" dirty="0" smtClean="0"/>
              <a:t> --закрытие файла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59626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1055" y="397164"/>
            <a:ext cx="10882745" cy="616065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smtClean="0"/>
              <a:t>EXCEPTION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WHEN UTL_FILE.INVALID_PATH THEN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smtClean="0"/>
              <a:t>	RAISE_APPLICATION_ERROR</a:t>
            </a:r>
            <a:r>
              <a:rPr lang="en-US" dirty="0"/>
              <a:t>(-20100,'</a:t>
            </a:r>
            <a:r>
              <a:rPr lang="ru-RU" dirty="0"/>
              <a:t>Неверный путь');</a:t>
            </a:r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en-US" dirty="0"/>
              <a:t>WHEN UTL_FILE.INVALID_MODE THEN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smtClean="0"/>
              <a:t>	RAISE_APPLICATION_ERROR</a:t>
            </a:r>
            <a:r>
              <a:rPr lang="en-US" dirty="0"/>
              <a:t>(-20101,'</a:t>
            </a:r>
            <a:r>
              <a:rPr lang="ru-RU" dirty="0"/>
              <a:t>Неверный режим');</a:t>
            </a:r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en-US" dirty="0"/>
              <a:t>WHEN UTL_FILE.INVALID_OPERATION then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smtClean="0"/>
              <a:t>	RAISE_APPLICATION_ERROR</a:t>
            </a:r>
            <a:r>
              <a:rPr lang="en-US" dirty="0"/>
              <a:t>(-20102,'</a:t>
            </a:r>
            <a:r>
              <a:rPr lang="ru-RU" dirty="0"/>
              <a:t>Неверная операция');</a:t>
            </a:r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en-US" dirty="0"/>
              <a:t>WHEN UTL_FILE.INVALID_FILEHANDLE then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smtClean="0"/>
              <a:t>	RAISE_APPLICATION_ERROR</a:t>
            </a:r>
            <a:r>
              <a:rPr lang="en-US" dirty="0"/>
              <a:t>(-20103,'</a:t>
            </a:r>
            <a:r>
              <a:rPr lang="ru-RU" dirty="0"/>
              <a:t>Неверный файловый дескриптор');</a:t>
            </a:r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en-US" dirty="0"/>
              <a:t>WHEN UTL_FILE.WRITE_ERROR then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smtClean="0"/>
              <a:t>	RAISE_APPLICATION_ERROR</a:t>
            </a:r>
            <a:r>
              <a:rPr lang="en-US" dirty="0"/>
              <a:t>(-20104,'</a:t>
            </a:r>
            <a:r>
              <a:rPr lang="ru-RU" dirty="0"/>
              <a:t>Ошибка записи');</a:t>
            </a:r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en-US" dirty="0"/>
              <a:t>WHEN UTL_FILE.READ_ERROR then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smtClean="0"/>
              <a:t>	RAISE_APPLICATION_ERROR</a:t>
            </a:r>
            <a:r>
              <a:rPr lang="en-US" dirty="0"/>
              <a:t>(-20105,'</a:t>
            </a:r>
            <a:r>
              <a:rPr lang="ru-RU" dirty="0"/>
              <a:t>Ошибка чтения');</a:t>
            </a:r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en-US" dirty="0"/>
              <a:t>WHEN UTL_FILE.INTERNAL_ERROR then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smtClean="0"/>
              <a:t>	RAISE_APPLICATION_ERROR</a:t>
            </a:r>
            <a:r>
              <a:rPr lang="en-US" dirty="0"/>
              <a:t>(-20106,'</a:t>
            </a:r>
            <a:r>
              <a:rPr lang="ru-RU" dirty="0"/>
              <a:t>Внутренняя ошибка');</a:t>
            </a:r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en-US" dirty="0"/>
              <a:t>WHEN OTHERS THEN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smtClean="0"/>
              <a:t>	UTL_FILE.FCLOSE(</a:t>
            </a:r>
            <a:r>
              <a:rPr lang="en-US" dirty="0" err="1" smtClean="0"/>
              <a:t>fHandle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END;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06517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698</TotalTime>
  <Words>826</Words>
  <Application>Microsoft Office PowerPoint</Application>
  <PresentationFormat>Широкоэкранный</PresentationFormat>
  <Paragraphs>140</Paragraphs>
  <Slides>19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Тема Office</vt:lpstr>
      <vt:lpstr>Использование UTL_FILE на примерах. Программы пакета UTL_FILE</vt:lpstr>
      <vt:lpstr>Пакет UTL_FILE</vt:lpstr>
      <vt:lpstr>Презентация PowerPoint</vt:lpstr>
      <vt:lpstr>Объект DIRECTORY</vt:lpstr>
      <vt:lpstr>Выдача прав</vt:lpstr>
      <vt:lpstr>Презентация PowerPoint</vt:lpstr>
      <vt:lpstr>Инициализационный параметр UTL_FILE_DIR</vt:lpstr>
      <vt:lpstr>Процедуры и функции UTL_FILE </vt:lpstr>
      <vt:lpstr>Открытие файла</vt:lpstr>
      <vt:lpstr>Открытие файла</vt:lpstr>
      <vt:lpstr>Закрытие файла</vt:lpstr>
      <vt:lpstr>Чтение из файла</vt:lpstr>
      <vt:lpstr>Чтение из файла</vt:lpstr>
      <vt:lpstr>Запись в файл</vt:lpstr>
      <vt:lpstr>Запись в файл</vt:lpstr>
      <vt:lpstr>Запись в файл</vt:lpstr>
      <vt:lpstr>Пример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Использование UTL_FILE на примерах. Программы пакета UTL_FILE</dc:title>
  <dc:creator>Windows User</dc:creator>
  <cp:lastModifiedBy>Windows User</cp:lastModifiedBy>
  <cp:revision>113</cp:revision>
  <dcterms:created xsi:type="dcterms:W3CDTF">2022-02-27T15:03:28Z</dcterms:created>
  <dcterms:modified xsi:type="dcterms:W3CDTF">2022-03-02T18:32:42Z</dcterms:modified>
</cp:coreProperties>
</file>