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342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4F4D2-A8D2-4595-A337-A23BC7D65A2F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C3449-7D1F-4C28-9E0B-6A24352E7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81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C3449-7D1F-4C28-9E0B-6A24352E7A3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95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87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23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67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6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80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83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86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5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7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1339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44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760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36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643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89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660CFC2-234A-4401-A954-3EDB23238EA2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07F7B4F-1C75-43E9-9BFD-52C72FD3C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9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85037" y="1904466"/>
            <a:ext cx="10372672" cy="1828801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проблемы мутирующей таблицы при использовании триггера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471672" y="6137564"/>
            <a:ext cx="2678109" cy="588825"/>
          </a:xfrm>
        </p:spPr>
        <p:txBody>
          <a:bodyPr/>
          <a:lstStyle/>
          <a:p>
            <a:r>
              <a:rPr lang="ru-RU" dirty="0" smtClean="0"/>
              <a:t>Автор: Руднев Юрий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93" y="3359194"/>
            <a:ext cx="2233180" cy="317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732451"/>
            <a:ext cx="10010528" cy="899914"/>
          </a:xfrm>
        </p:spPr>
        <p:txBody>
          <a:bodyPr>
            <a:noAutofit/>
          </a:bodyPr>
          <a:lstStyle/>
          <a:p>
            <a:pPr marL="36900" indent="0" algn="just">
              <a:buNone/>
            </a:pPr>
            <a:r>
              <a:rPr lang="ru-RU" sz="3200" dirty="0" err="1">
                <a:effectLst/>
              </a:rPr>
              <a:t>Мутирование</a:t>
            </a:r>
            <a:r>
              <a:rPr lang="ru-RU" sz="3200" dirty="0">
                <a:effectLst/>
              </a:rPr>
              <a:t> таблиц (ошибка ORA-04091) возникает, если в триггере уровня строки выполняется изменение или чтение данных из той же самой таблицы, для которой данный триггер должен был сработать.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28" y="5007119"/>
            <a:ext cx="9667295" cy="6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7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732449"/>
            <a:ext cx="10834860" cy="761369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ru-RU" sz="3200" dirty="0" smtClean="0"/>
              <a:t>Создадим таблицу </a:t>
            </a:r>
            <a:r>
              <a:rPr lang="en-US" sz="3200" dirty="0" smtClean="0"/>
              <a:t>turtles</a:t>
            </a:r>
            <a:r>
              <a:rPr lang="ru-RU" sz="3200" dirty="0" smtClean="0"/>
              <a:t>: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22" y="3241963"/>
            <a:ext cx="4932823" cy="232756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36" y="3045403"/>
            <a:ext cx="5999019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8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0205" y="2919343"/>
            <a:ext cx="5526665" cy="26574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248" y="3562457"/>
            <a:ext cx="4634814" cy="146028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96" y="5908530"/>
            <a:ext cx="10091730" cy="561543"/>
          </a:xfrm>
          <a:prstGeom prst="rect">
            <a:avLst/>
          </a:prstGeom>
        </p:spPr>
      </p:pic>
      <p:sp>
        <p:nvSpPr>
          <p:cNvPr id="7" name="Стрелка вправо 6"/>
          <p:cNvSpPr/>
          <p:nvPr/>
        </p:nvSpPr>
        <p:spPr>
          <a:xfrm>
            <a:off x="5978441" y="3969327"/>
            <a:ext cx="1025236" cy="8866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низ 7"/>
          <p:cNvSpPr/>
          <p:nvPr/>
        </p:nvSpPr>
        <p:spPr>
          <a:xfrm>
            <a:off x="8146473" y="5240405"/>
            <a:ext cx="1316182" cy="5744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07827" y="1674879"/>
            <a:ext cx="121664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Условимся, что когда </a:t>
            </a:r>
            <a:r>
              <a:rPr lang="ru-RU" dirty="0" err="1" smtClean="0"/>
              <a:t>Сплинтер</a:t>
            </a:r>
            <a:r>
              <a:rPr lang="ru-RU" dirty="0" smtClean="0"/>
              <a:t> </a:t>
            </a:r>
            <a:r>
              <a:rPr lang="ru-RU" dirty="0"/>
              <a:t>из крысы </a:t>
            </a:r>
            <a:r>
              <a:rPr lang="ru-RU" dirty="0" smtClean="0"/>
              <a:t>«мутирует» </a:t>
            </a:r>
            <a:r>
              <a:rPr lang="ru-RU" dirty="0"/>
              <a:t>в сэнсэя, художники должны будут автоматически </a:t>
            </a:r>
            <a:r>
              <a:rPr lang="ru-RU" dirty="0" smtClean="0"/>
              <a:t>«превратиться» </a:t>
            </a:r>
            <a:r>
              <a:rPr lang="ru-RU" dirty="0"/>
              <a:t>в ниндзя. Казалось бы, для этого должен подойти такой </a:t>
            </a:r>
            <a:r>
              <a:rPr lang="ru-RU" dirty="0" smtClean="0"/>
              <a:t>триггер: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87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Способы обхода: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1426386"/>
          </a:xfrm>
        </p:spPr>
        <p:txBody>
          <a:bodyPr>
            <a:noAutofit/>
          </a:bodyPr>
          <a:lstStyle/>
          <a:p>
            <a:pPr marL="36900" indent="0" algn="just">
              <a:buNone/>
            </a:pPr>
            <a:r>
              <a:rPr lang="ru-RU" sz="3200" dirty="0">
                <a:effectLst/>
              </a:rPr>
              <a:t>Рассмотрим два способа обхода данной ситуации. Первый – через пакет – </a:t>
            </a:r>
            <a:r>
              <a:rPr lang="ru-RU" sz="3200" dirty="0" smtClean="0">
                <a:effectLst/>
              </a:rPr>
              <a:t>довольно старый, который </a:t>
            </a:r>
            <a:r>
              <a:rPr lang="ru-RU" sz="3200" dirty="0">
                <a:effectLst/>
              </a:rPr>
              <a:t>смотрится эффектно, но долго готовится и сложен в исполнении. Второй – более свежий и простой – с использованием составных триггеров.</a:t>
            </a:r>
            <a:r>
              <a:rPr lang="ru-RU" sz="3200" dirty="0"/>
              <a:t/>
            </a:r>
            <a:br>
              <a:rPr lang="ru-RU" sz="3200" dirty="0"/>
            </a:b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6423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Первый способ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580050"/>
            <a:ext cx="10353762" cy="567406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sz="2800" dirty="0">
                <a:effectLst/>
              </a:rPr>
              <a:t>С помощью пакета и </a:t>
            </a:r>
            <a:r>
              <a:rPr lang="ru-RU" sz="2800" dirty="0" smtClean="0">
                <a:effectLst/>
              </a:rPr>
              <a:t>триггера: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48" y="2299856"/>
            <a:ext cx="3910879" cy="42198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09" y="2571241"/>
            <a:ext cx="57150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3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Второй способ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621" y="2355186"/>
            <a:ext cx="7189208" cy="4294996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2425" y="1608030"/>
            <a:ext cx="10807150" cy="373442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ru-RU" sz="2400" dirty="0"/>
              <a:t>С помощью составного триггера </a:t>
            </a:r>
            <a:r>
              <a:rPr lang="ru-RU" sz="2400" dirty="0" smtClean="0"/>
              <a:t>(Доступно</a:t>
            </a:r>
            <a:r>
              <a:rPr lang="ru-RU" sz="2400" dirty="0"/>
              <a:t>, начиная с </a:t>
            </a:r>
            <a:r>
              <a:rPr lang="ru-RU" sz="2400" dirty="0" err="1"/>
              <a:t>Oracle</a:t>
            </a:r>
            <a:r>
              <a:rPr lang="ru-RU" sz="2400" dirty="0"/>
              <a:t> </a:t>
            </a:r>
            <a:r>
              <a:rPr lang="ru-RU" sz="2400" dirty="0" smtClean="0"/>
              <a:t>11g).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978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4" y="202032"/>
            <a:ext cx="10353762" cy="970450"/>
          </a:xfrm>
        </p:spPr>
        <p:txBody>
          <a:bodyPr/>
          <a:lstStyle/>
          <a:p>
            <a:r>
              <a:rPr lang="ru-RU" dirty="0" smtClean="0"/>
              <a:t>Результат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1910" y="1438133"/>
            <a:ext cx="3950839" cy="11627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314" y="4029364"/>
            <a:ext cx="8004031" cy="2668010"/>
          </a:xfrm>
          <a:prstGeom prst="rect">
            <a:avLst/>
          </a:prstGeom>
        </p:spPr>
      </p:pic>
      <p:sp>
        <p:nvSpPr>
          <p:cNvPr id="6" name="Стрелка вниз 5"/>
          <p:cNvSpPr/>
          <p:nvPr/>
        </p:nvSpPr>
        <p:spPr>
          <a:xfrm>
            <a:off x="5502202" y="2798618"/>
            <a:ext cx="1690255" cy="10390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8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900" indent="0">
              <a:buNone/>
            </a:pPr>
            <a:r>
              <a:rPr lang="ru-RU" sz="2800" dirty="0" smtClean="0"/>
              <a:t>Даже, сталкиваясь </a:t>
            </a:r>
            <a:r>
              <a:rPr lang="ru-RU" sz="2800" dirty="0"/>
              <a:t>с более сложным случаем мутации, можно использовать </a:t>
            </a:r>
            <a:r>
              <a:rPr lang="ru-RU" sz="2800" dirty="0" smtClean="0"/>
              <a:t>приведенные выше идеи </a:t>
            </a:r>
            <a:r>
              <a:rPr lang="ru-RU" sz="2800" dirty="0"/>
              <a:t>обхода. </a:t>
            </a:r>
            <a:r>
              <a:rPr lang="ru-RU" sz="2800" dirty="0" smtClean="0"/>
              <a:t>Они, </a:t>
            </a:r>
            <a:r>
              <a:rPr lang="ru-RU" sz="2800" dirty="0"/>
              <a:t>во-первых, </a:t>
            </a:r>
            <a:r>
              <a:rPr lang="ru-RU" sz="2800" dirty="0" smtClean="0"/>
              <a:t>связаны </a:t>
            </a:r>
            <a:r>
              <a:rPr lang="ru-RU" sz="2800" dirty="0"/>
              <a:t>с тем, что в триггере уровня инструкции, в отличие от триггера уровня строки, мутации не возникает. Во-вторых, можно использовать либо переменные (признаки, </a:t>
            </a:r>
            <a:r>
              <a:rPr lang="ru-RU" sz="2800" dirty="0" smtClean="0"/>
              <a:t>«защелки», </a:t>
            </a:r>
            <a:r>
              <a:rPr lang="ru-RU" sz="2800" dirty="0"/>
              <a:t>таблицы PL SQL) в специально созданном вспомогательном пакете, либо переменные, глобальные для всех секций составного триггера, что более предпочтительно, начиная с версии </a:t>
            </a:r>
            <a:r>
              <a:rPr lang="ru-RU" sz="2800" dirty="0" err="1"/>
              <a:t>Oracle</a:t>
            </a:r>
            <a:r>
              <a:rPr lang="ru-RU" sz="2800" dirty="0"/>
              <a:t> 11g.</a:t>
            </a:r>
          </a:p>
        </p:txBody>
      </p:sp>
    </p:spTree>
    <p:extLst>
      <p:ext uri="{BB962C8B-B14F-4D97-AF65-F5344CB8AC3E}">
        <p14:creationId xmlns:p14="http://schemas.microsoft.com/office/powerpoint/2010/main" val="70088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590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Грифель</Template>
  <TotalTime>71</TotalTime>
  <Words>238</Words>
  <Application>Microsoft Office PowerPoint</Application>
  <PresentationFormat>Широкоэкранный</PresentationFormat>
  <Paragraphs>19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Calisto MT</vt:lpstr>
      <vt:lpstr>Trebuchet MS</vt:lpstr>
      <vt:lpstr>Wingdings 2</vt:lpstr>
      <vt:lpstr>Сланец</vt:lpstr>
      <vt:lpstr>Решение проблемы мутирующей таблицы при использовании триггера</vt:lpstr>
      <vt:lpstr>Проблема</vt:lpstr>
      <vt:lpstr>Пример</vt:lpstr>
      <vt:lpstr>Пример</vt:lpstr>
      <vt:lpstr>Способы обхода:</vt:lpstr>
      <vt:lpstr>Первый способ</vt:lpstr>
      <vt:lpstr>Второй способ</vt:lpstr>
      <vt:lpstr>Результат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проблемы мутирующей таблицы при использовании триггера</dc:title>
  <dc:creator>Пользователь Windows</dc:creator>
  <cp:lastModifiedBy>Пользователь Windows</cp:lastModifiedBy>
  <cp:revision>6</cp:revision>
  <dcterms:created xsi:type="dcterms:W3CDTF">2022-02-24T00:26:47Z</dcterms:created>
  <dcterms:modified xsi:type="dcterms:W3CDTF">2022-02-24T17:46:02Z</dcterms:modified>
</cp:coreProperties>
</file>