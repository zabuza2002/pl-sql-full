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45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528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838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69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78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229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46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709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39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05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175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4165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962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72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233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291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79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468CE5D-4295-41F8-9B3A-F49581B0A746}" type="datetimeFigureOut">
              <a:rPr lang="ru-RU" smtClean="0"/>
              <a:t>21.02.2022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A9B3C99-BCF4-444E-9494-F41C14ECB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477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BEE33-5C9A-4AD0-935A-CA354875C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262" y="1310053"/>
            <a:ext cx="11799276" cy="2199909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Параллельная работа в Oracle, очереди, трассировка, профилирование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36777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03AC4-CCEE-47E8-A5B2-99A1E972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Цепочка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6064A2-82B5-4F07-9EA5-66EA88E1D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позволяет скоординировать выполнение нескольких программ,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имеет имя,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создаётся с помощью </a:t>
            </a:r>
            <a:r>
              <a:rPr lang="en-US" sz="4400" dirty="0" err="1">
                <a:latin typeface="+mj-lt"/>
                <a:ea typeface="+mj-ea"/>
                <a:cs typeface="+mj-cs"/>
              </a:rPr>
              <a:t>dbms_scheduler.create_chain</a:t>
            </a:r>
            <a:r>
              <a:rPr lang="en-US" sz="4400" dirty="0">
                <a:latin typeface="+mj-lt"/>
                <a:ea typeface="+mj-ea"/>
                <a:cs typeface="+mj-cs"/>
              </a:rPr>
              <a:t>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запускается на выполнение с помощью </a:t>
            </a:r>
            <a:r>
              <a:rPr lang="en-US" sz="4400" dirty="0" err="1">
                <a:latin typeface="+mj-lt"/>
                <a:ea typeface="+mj-ea"/>
                <a:cs typeface="+mj-cs"/>
              </a:rPr>
              <a:t>dbms_scheduler.run_chain</a:t>
            </a:r>
            <a:r>
              <a:rPr lang="en-US" sz="4400" dirty="0">
                <a:latin typeface="+mj-lt"/>
                <a:ea typeface="+mj-ea"/>
                <a:cs typeface="+mj-cs"/>
              </a:rPr>
              <a:t>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удаляется с помощью </a:t>
            </a:r>
            <a:r>
              <a:rPr lang="en-US" sz="4400" dirty="0" err="1">
                <a:latin typeface="+mj-lt"/>
                <a:ea typeface="+mj-ea"/>
                <a:cs typeface="+mj-cs"/>
              </a:rPr>
              <a:t>dbms_scheduler.drop_chain</a:t>
            </a:r>
            <a:r>
              <a:rPr lang="en-US" b="0" i="0" dirty="0">
                <a:solidFill>
                  <a:srgbClr val="2D3436"/>
                </a:solidFill>
                <a:effectLst/>
                <a:latin typeface="-apple-system"/>
              </a:rPr>
              <a:t>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0066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B4E9F7-9C56-45BB-8010-E25AFA88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Шаг цепочки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62D51-99ED-4136-9924-C11F04EF2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определяет, какую программу (или цепочку) необходимо запустить,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имеет имя,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создаётся с помощью </a:t>
            </a:r>
            <a:r>
              <a:rPr lang="ru-RU" sz="4400" dirty="0" err="1">
                <a:latin typeface="+mj-lt"/>
                <a:ea typeface="+mj-ea"/>
                <a:cs typeface="+mj-cs"/>
              </a:rPr>
              <a:t>dbms_scheduler.define_chain_step</a:t>
            </a:r>
            <a:r>
              <a:rPr lang="ru-RU" sz="4400" dirty="0">
                <a:latin typeface="+mj-lt"/>
                <a:ea typeface="+mj-ea"/>
                <a:cs typeface="+mj-cs"/>
              </a:rPr>
              <a:t>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запускается на выполнение согласно правилам цепочки,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удаляется с помощью </a:t>
            </a:r>
            <a:r>
              <a:rPr lang="ru-RU" sz="4400" dirty="0" err="1">
                <a:latin typeface="+mj-lt"/>
                <a:ea typeface="+mj-ea"/>
                <a:cs typeface="+mj-cs"/>
              </a:rPr>
              <a:t>dbms_scheduler.drop_chain_step</a:t>
            </a:r>
            <a:r>
              <a:rPr lang="ru-RU" sz="4400" dirty="0">
                <a:latin typeface="+mj-lt"/>
                <a:ea typeface="+mj-ea"/>
                <a:cs typeface="+mj-cs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320982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EE47B-4B5A-49EC-964E-56710204F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Правило цепочки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F39E7E-F984-430D-A10E-CFCFA74A3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содержит условие и действие,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однократно при выполнении условия выполняет действие,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имеет имя,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создаётся с помощью </a:t>
            </a:r>
            <a:r>
              <a:rPr lang="ru-RU" sz="4400" dirty="0" err="1">
                <a:latin typeface="+mj-lt"/>
                <a:ea typeface="+mj-ea"/>
                <a:cs typeface="+mj-cs"/>
              </a:rPr>
              <a:t>dbms_scheduler.define_chain_rule</a:t>
            </a:r>
            <a:r>
              <a:rPr lang="ru-RU" sz="4400" dirty="0">
                <a:latin typeface="+mj-lt"/>
                <a:ea typeface="+mj-ea"/>
                <a:cs typeface="+mj-cs"/>
              </a:rPr>
              <a:t>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удаляется с помощью </a:t>
            </a:r>
            <a:r>
              <a:rPr lang="ru-RU" sz="4400" dirty="0" err="1">
                <a:latin typeface="+mj-lt"/>
                <a:ea typeface="+mj-ea"/>
                <a:cs typeface="+mj-cs"/>
              </a:rPr>
              <a:t>dbms_scheduler.drop_chain_rule</a:t>
            </a:r>
            <a:r>
              <a:rPr lang="ru-RU" b="0" i="0" dirty="0">
                <a:solidFill>
                  <a:srgbClr val="2D3436"/>
                </a:solidFill>
                <a:effectLst/>
                <a:latin typeface="-apple-syste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635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5D288-1156-4BB5-B3DC-851CED9EE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Oracle </a:t>
            </a:r>
            <a:r>
              <a:rPr lang="ru-RU" dirty="0" err="1"/>
              <a:t>Scheduler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7E19C1-B523-4328-B371-79E8A2DB5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ru-RU" sz="4400" dirty="0">
                <a:latin typeface="+mj-lt"/>
                <a:ea typeface="+mj-ea"/>
                <a:cs typeface="+mj-cs"/>
              </a:rPr>
              <a:t>Прежде чем построить и выполнить демонстрационную цепочку, нужно познакомиться </a:t>
            </a:r>
            <a:r>
              <a:rPr lang="ru-RU" sz="4400" dirty="0" err="1">
                <a:latin typeface="+mj-lt"/>
                <a:ea typeface="+mj-ea"/>
                <a:cs typeface="+mj-cs"/>
              </a:rPr>
              <a:t>еще</a:t>
            </a:r>
            <a:r>
              <a:rPr lang="ru-RU" sz="4400" dirty="0">
                <a:latin typeface="+mj-lt"/>
                <a:ea typeface="+mj-ea"/>
                <a:cs typeface="+mj-cs"/>
              </a:rPr>
              <a:t> с одним объектом— программой (</a:t>
            </a:r>
            <a:r>
              <a:rPr lang="ru-RU" sz="4400" dirty="0" err="1">
                <a:latin typeface="+mj-lt"/>
                <a:ea typeface="+mj-ea"/>
                <a:cs typeface="+mj-cs"/>
              </a:rPr>
              <a:t>program</a:t>
            </a:r>
            <a:r>
              <a:rPr lang="ru-RU" sz="4400" dirty="0">
                <a:latin typeface="+mj-lt"/>
                <a:ea typeface="+mj-ea"/>
                <a:cs typeface="+mj-cs"/>
              </a:rPr>
              <a:t>). Программа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определяет PL/SQL блок,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имя PL/SQL процедуры или внешнюю команду ОС, которую необходимо выполнить,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имеет имя,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 err="1">
                <a:latin typeface="+mj-lt"/>
                <a:ea typeface="+mj-ea"/>
                <a:cs typeface="+mj-cs"/>
              </a:rPr>
              <a:t>создается</a:t>
            </a:r>
            <a:r>
              <a:rPr lang="ru-RU" sz="4400" dirty="0">
                <a:latin typeface="+mj-lt"/>
                <a:ea typeface="+mj-ea"/>
                <a:cs typeface="+mj-cs"/>
              </a:rPr>
              <a:t> с помощью </a:t>
            </a:r>
            <a:r>
              <a:rPr lang="ru-RU" sz="4400" dirty="0" err="1">
                <a:latin typeface="+mj-lt"/>
                <a:ea typeface="+mj-ea"/>
                <a:cs typeface="+mj-cs"/>
              </a:rPr>
              <a:t>dbms_scheduler.create_program</a:t>
            </a:r>
            <a:r>
              <a:rPr lang="ru-RU" sz="4400" dirty="0">
                <a:latin typeface="+mj-lt"/>
                <a:ea typeface="+mj-ea"/>
                <a:cs typeface="+mj-cs"/>
              </a:rPr>
              <a:t>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может иметь параметры,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создаваемые с помощью </a:t>
            </a:r>
            <a:r>
              <a:rPr lang="ru-RU" sz="4400" dirty="0" err="1">
                <a:latin typeface="+mj-lt"/>
                <a:ea typeface="+mj-ea"/>
                <a:cs typeface="+mj-cs"/>
              </a:rPr>
              <a:t>dbms_scheduler.define_program_argument</a:t>
            </a:r>
            <a:r>
              <a:rPr lang="ru-RU" sz="4400" dirty="0">
                <a:latin typeface="+mj-lt"/>
                <a:ea typeface="+mj-ea"/>
                <a:cs typeface="+mj-cs"/>
              </a:rPr>
              <a:t>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запускается на выполнение из шага цепочки или из задания (</a:t>
            </a:r>
            <a:r>
              <a:rPr lang="ru-RU" sz="4400" dirty="0" err="1">
                <a:latin typeface="+mj-lt"/>
                <a:ea typeface="+mj-ea"/>
                <a:cs typeface="+mj-cs"/>
              </a:rPr>
              <a:t>scheduler</a:t>
            </a:r>
            <a:r>
              <a:rPr lang="ru-RU" sz="4400" dirty="0">
                <a:latin typeface="+mj-lt"/>
                <a:ea typeface="+mj-ea"/>
                <a:cs typeface="+mj-cs"/>
              </a:rPr>
              <a:t> </a:t>
            </a:r>
            <a:r>
              <a:rPr lang="ru-RU" sz="4400" dirty="0" err="1">
                <a:latin typeface="+mj-lt"/>
                <a:ea typeface="+mj-ea"/>
                <a:cs typeface="+mj-cs"/>
              </a:rPr>
              <a:t>job</a:t>
            </a:r>
            <a:r>
              <a:rPr lang="ru-RU" sz="4400" dirty="0">
                <a:latin typeface="+mj-lt"/>
                <a:ea typeface="+mj-ea"/>
                <a:cs typeface="+mj-cs"/>
              </a:rPr>
              <a:t>),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dirty="0">
                <a:latin typeface="+mj-lt"/>
                <a:ea typeface="+mj-ea"/>
                <a:cs typeface="+mj-cs"/>
              </a:rPr>
              <a:t>удаляется с помощью </a:t>
            </a:r>
            <a:r>
              <a:rPr lang="ru-RU" sz="4400" dirty="0" err="1">
                <a:latin typeface="+mj-lt"/>
                <a:ea typeface="+mj-ea"/>
                <a:cs typeface="+mj-cs"/>
              </a:rPr>
              <a:t>dbms_scheduler.drop_program</a:t>
            </a:r>
            <a:r>
              <a:rPr lang="ru-RU" sz="4400" dirty="0">
                <a:latin typeface="+mj-lt"/>
                <a:ea typeface="+mj-ea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034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74F56-07AC-489E-ACE0-727AE836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91158"/>
            <a:ext cx="3322317" cy="48756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демонстрационных</a:t>
            </a: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це</a:t>
            </a:r>
            <a:r>
              <a:rPr lang="ru-RU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ей</a:t>
            </a: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создадим</a:t>
            </a: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таблицу</a:t>
            </a: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demo_data</a:t>
            </a:r>
            <a:b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и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определим</a:t>
            </a: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программы</a:t>
            </a: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которые</a:t>
            </a: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будут</a:t>
            </a: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использоваться</a:t>
            </a: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цепочкой</a:t>
            </a: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CFF0FA-4993-4480-B626-09F731DE7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678" y="991157"/>
            <a:ext cx="6436548" cy="487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1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C8A660-1424-4EA3-9638-716284E54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48" y="3854895"/>
            <a:ext cx="7256463" cy="1539875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E1F49C87-63BC-46B7-B1EC-14FF9E386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49" y="1316783"/>
            <a:ext cx="7256463" cy="222408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5B418-A038-47CB-8566-4EE8A4B4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2866" y="1282700"/>
            <a:ext cx="3610946" cy="4455416"/>
          </a:xfrm>
        </p:spPr>
        <p:txBody>
          <a:bodyPr anchor="ctr">
            <a:normAutofit/>
          </a:bodyPr>
          <a:lstStyle/>
          <a:p>
            <a:r>
              <a:rPr lang="ru-RU" sz="2800" dirty="0"/>
              <a:t>Создадим цепочку </a:t>
            </a:r>
            <a:r>
              <a:rPr lang="en-US" sz="2800" dirty="0"/>
              <a:t>DEMO_CHAIN</a:t>
            </a:r>
            <a:br>
              <a:rPr lang="ru-RU" sz="2800" dirty="0"/>
            </a:br>
            <a:r>
              <a:rPr lang="ru-RU" sz="2800" dirty="0"/>
              <a:t>Каждый шаг цепочки будет связан с одной из программ, определенных выше.</a:t>
            </a:r>
          </a:p>
        </p:txBody>
      </p:sp>
    </p:spTree>
    <p:extLst>
      <p:ext uri="{BB962C8B-B14F-4D97-AF65-F5344CB8AC3E}">
        <p14:creationId xmlns:p14="http://schemas.microsoft.com/office/powerpoint/2010/main" val="262736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897F4E-8EB7-4159-9EBC-6BF12387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18457"/>
            <a:ext cx="3322317" cy="297587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завершения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определения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цепочки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нужно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создать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правила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5" name="Рисунок 4" descr="Изображение выглядит как текст, табличка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E2F65F1B-FDDD-42B6-882C-3BEB02640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678" y="726207"/>
            <a:ext cx="6436548" cy="540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06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5B418-A038-47CB-8566-4EE8A4B4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49" y="2553645"/>
            <a:ext cx="3723023" cy="1219283"/>
          </a:xfrm>
        </p:spPr>
        <p:txBody>
          <a:bodyPr anchor="ctr">
            <a:normAutofit/>
          </a:bodyPr>
          <a:lstStyle/>
          <a:p>
            <a:pPr algn="l"/>
            <a:r>
              <a:rPr lang="ru-RU" sz="2400" dirty="0"/>
              <a:t>А затем запустить с помощью </a:t>
            </a:r>
            <a:r>
              <a:rPr lang="en-US" sz="2400" dirty="0" err="1"/>
              <a:t>dbms_scheduler.run_chain</a:t>
            </a:r>
            <a:endParaRPr lang="ru-RU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F71771-8E61-4D73-968A-30D8549E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49" y="3923930"/>
            <a:ext cx="6643549" cy="1332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139F24-CE18-42BB-9660-58F13C1F888E}"/>
              </a:ext>
            </a:extLst>
          </p:cNvPr>
          <p:cNvSpPr txBox="1"/>
          <p:nvPr/>
        </p:nvSpPr>
        <p:spPr>
          <a:xfrm>
            <a:off x="1088049" y="832983"/>
            <a:ext cx="60974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Прежде, чем цепочку можно будет запустить на выполнение, необходимо её активировать с помощью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dbms_scheduler.enable</a:t>
            </a: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5156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F1731-622F-4BDE-BE01-16DA60F8C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9441" y="1233378"/>
            <a:ext cx="5441285" cy="23649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>
                <a:cs typeface="+mj-cs"/>
              </a:rPr>
              <a:t>Результат</a:t>
            </a:r>
            <a:endParaRPr lang="en-US" sz="5400" dirty="0">
              <a:cs typeface="+mj-cs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C19375-7CFB-4928-928B-B32328190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43" y="643464"/>
            <a:ext cx="2735504" cy="512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3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C7F77-0E24-443D-8779-6967108CE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78" y="328245"/>
            <a:ext cx="11781692" cy="143900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cs typeface="+mn-cs"/>
              </a:rPr>
              <a:t>Oracle Advanced </a:t>
            </a:r>
            <a:r>
              <a:rPr lang="ru-RU" sz="2400" dirty="0" err="1">
                <a:cs typeface="+mn-cs"/>
              </a:rPr>
              <a:t>Queuing</a:t>
            </a:r>
            <a:r>
              <a:rPr lang="ru-RU" sz="2400" dirty="0">
                <a:cs typeface="+mn-cs"/>
              </a:rPr>
              <a:t> (AQ) - механизм организации очередей. В простейшем случае создаётся тип, на основе типа специальным API создаётся таблица очереди. Очередь действует по принципу FIFO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7EB106-6359-48F9-BA7F-1D25AF39B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2579809"/>
            <a:ext cx="6097066" cy="16983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E06911-589B-4D1B-A2E6-6039A0253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253" y="2579809"/>
            <a:ext cx="3569059" cy="169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2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B63768-16C1-4EFE-95C9-3E6889751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120937"/>
            <a:ext cx="5572125" cy="44481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249662-74FE-4716-84FF-858FE4F56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339" y="1120937"/>
            <a:ext cx="57435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20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23687-F53B-4D52-B082-368685AF2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839" y="961292"/>
            <a:ext cx="5812320" cy="970450"/>
          </a:xfrm>
        </p:spPr>
        <p:txBody>
          <a:bodyPr/>
          <a:lstStyle/>
          <a:p>
            <a:r>
              <a:rPr lang="ru-RU" dirty="0"/>
              <a:t>Результат очереди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60550F-C541-4133-B078-126A7D627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845" y="2210461"/>
            <a:ext cx="4638309" cy="243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1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AA7B2-087D-4B9D-A9F4-B53BBA76E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cs typeface="+mj-cs"/>
              </a:rPr>
              <a:t>Трассировка и профилирование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9F8C27-02F4-47D1-BFFA-2F079ECEA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spcBef>
                <a:spcPct val="0"/>
              </a:spcBef>
              <a:buNone/>
            </a:pPr>
            <a:r>
              <a:rPr lang="ru-RU" sz="2400" dirty="0">
                <a:latin typeface="+mj-lt"/>
                <a:ea typeface="+mj-ea"/>
                <a:cs typeface="+mj-cs"/>
              </a:rPr>
              <a:t>Трассировка - это прогон программы c регистрацией того, какие строки (команды) каких модулей (подпрограмм) в какой последовательности были выполнены.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818CFE-6147-4160-887C-F858F6A895BF}"/>
              </a:ext>
            </a:extLst>
          </p:cNvPr>
          <p:cNvSpPr txBox="1"/>
          <p:nvPr/>
        </p:nvSpPr>
        <p:spPr>
          <a:xfrm>
            <a:off x="913795" y="3429000"/>
            <a:ext cx="10353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+mj-cs"/>
              </a:rPr>
              <a:t>Профилирование - это прогон программы с регистрацией времени выполнения отдельных модулей (подпрограмм) и, возможно, внешних вызовов, выполняемых программой.</a:t>
            </a:r>
          </a:p>
        </p:txBody>
      </p:sp>
    </p:spTree>
    <p:extLst>
      <p:ext uri="{BB962C8B-B14F-4D97-AF65-F5344CB8AC3E}">
        <p14:creationId xmlns:p14="http://schemas.microsoft.com/office/powerpoint/2010/main" val="2002908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07326-C13F-4E1C-A346-4827961AF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1" y="134815"/>
            <a:ext cx="10353762" cy="970450"/>
          </a:xfrm>
        </p:spPr>
        <p:txBody>
          <a:bodyPr/>
          <a:lstStyle/>
          <a:p>
            <a:pPr algn="l"/>
            <a:r>
              <a:rPr lang="ru-RU" dirty="0"/>
              <a:t>Профилирование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EE77EB-56A9-4202-9971-92A1DA33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1118765"/>
            <a:ext cx="3695700" cy="6381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403F41-0A5E-4BFF-94BB-702FF86E2C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269"/>
          <a:stretch/>
        </p:blipFill>
        <p:spPr>
          <a:xfrm>
            <a:off x="4691190" y="1105265"/>
            <a:ext cx="2809618" cy="4019835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F6C45C9-773B-4783-B46D-4E8537B06698}"/>
              </a:ext>
            </a:extLst>
          </p:cNvPr>
          <p:cNvGrpSpPr/>
          <p:nvPr/>
        </p:nvGrpSpPr>
        <p:grpSpPr>
          <a:xfrm>
            <a:off x="8749104" y="1105265"/>
            <a:ext cx="2551916" cy="2989348"/>
            <a:chOff x="8631900" y="1174056"/>
            <a:chExt cx="2551916" cy="2989348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A2F17450-4A5B-4831-A148-6DD4E3CD1F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3915" r="23670"/>
            <a:stretch/>
          </p:blipFill>
          <p:spPr>
            <a:xfrm>
              <a:off x="8631900" y="1174056"/>
              <a:ext cx="2551915" cy="1669687"/>
            </a:xfrm>
            <a:prstGeom prst="rect">
              <a:avLst/>
            </a:prstGeom>
          </p:spPr>
        </p:pic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0352E9DD-B4BB-4F83-B11C-B5EA115AA4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" r="67525" b="39233"/>
            <a:stretch/>
          </p:blipFill>
          <p:spPr>
            <a:xfrm>
              <a:off x="8631900" y="2843743"/>
              <a:ext cx="2551916" cy="1319661"/>
            </a:xfrm>
            <a:prstGeom prst="rect">
              <a:avLst/>
            </a:prstGeom>
          </p:spPr>
        </p:pic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701A8B1-89A7-4890-A41A-D4886E63ED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675"/>
          <a:stretch/>
        </p:blipFill>
        <p:spPr>
          <a:xfrm>
            <a:off x="2166937" y="5598366"/>
            <a:ext cx="7858125" cy="81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1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A17D74-DFDA-4439-BA1F-AD430D3F1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1" y="353883"/>
            <a:ext cx="5895975" cy="14287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9ECF59-B1EF-4C05-8FC4-374D34B1D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" y="2215631"/>
            <a:ext cx="1187767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43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5B83A-E868-4E77-A420-844F9135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Трассировка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AC09F-8D61-456C-92A2-9B75DF527D82}"/>
              </a:ext>
            </a:extLst>
          </p:cNvPr>
          <p:cNvSpPr txBox="1"/>
          <p:nvPr/>
        </p:nvSpPr>
        <p:spPr>
          <a:xfrm>
            <a:off x="913795" y="2119643"/>
            <a:ext cx="109662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Возможные уровни трассировки: </a:t>
            </a:r>
          </a:p>
          <a:p>
            <a:pPr>
              <a:spcBef>
                <a:spcPct val="0"/>
              </a:spcBef>
            </a:pP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0 - трассировка выключена. </a:t>
            </a:r>
          </a:p>
          <a:p>
            <a:pPr>
              <a:spcBef>
                <a:spcPct val="0"/>
              </a:spcBef>
            </a:pP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1 - минимальный уровень - в </a:t>
            </a:r>
            <a:r>
              <a:rPr lang="ru-RU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трасировочный</a:t>
            </a: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 файл добавляются значения связанных переменных. </a:t>
            </a:r>
          </a:p>
          <a:p>
            <a:pPr>
              <a:spcBef>
                <a:spcPct val="0"/>
              </a:spcBef>
            </a:pP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4 - в </a:t>
            </a:r>
            <a:r>
              <a:rPr lang="ru-RU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трасировочный</a:t>
            </a: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 файл добавляются значения связанных переменных.</a:t>
            </a:r>
          </a:p>
          <a:p>
            <a:pPr>
              <a:spcBef>
                <a:spcPct val="0"/>
              </a:spcBef>
            </a:pP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8 - в </a:t>
            </a:r>
            <a:r>
              <a:rPr lang="ru-RU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трасировочный</a:t>
            </a: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 файл добавляются значения ожидании событий на уровне запросов. </a:t>
            </a:r>
          </a:p>
          <a:p>
            <a:pPr>
              <a:spcBef>
                <a:spcPct val="0"/>
              </a:spcBef>
            </a:pP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12 - добавляется как значения связанных переменных, так и информация об ожиданиях событий.</a:t>
            </a:r>
          </a:p>
        </p:txBody>
      </p:sp>
    </p:spTree>
    <p:extLst>
      <p:ext uri="{BB962C8B-B14F-4D97-AF65-F5344CB8AC3E}">
        <p14:creationId xmlns:p14="http://schemas.microsoft.com/office/powerpoint/2010/main" val="251252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C01B5F-2675-4732-8417-50179F014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56" y="4339201"/>
            <a:ext cx="5924550" cy="8286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2F5C14-5351-40D7-8284-ED5BA290E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31" y="1312745"/>
            <a:ext cx="5029200" cy="19335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5A6B0C-FEB5-4C53-BADC-92CC44B23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643" y="1312745"/>
            <a:ext cx="5024633" cy="470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45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1EAA8-BD15-4C60-B67A-10DF4667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46" y="369277"/>
            <a:ext cx="11095892" cy="6066692"/>
          </a:xfrm>
        </p:spPr>
        <p:txBody>
          <a:bodyPr>
            <a:normAutofit/>
          </a:bodyPr>
          <a:lstStyle/>
          <a:p>
            <a:r>
              <a:rPr lang="ru-RU" sz="72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35361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</Template>
  <TotalTime>550</TotalTime>
  <Words>475</Words>
  <Application>Microsoft Office PowerPoint</Application>
  <PresentationFormat>Широкоэкранный</PresentationFormat>
  <Paragraphs>49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-apple-system</vt:lpstr>
      <vt:lpstr>Arial</vt:lpstr>
      <vt:lpstr>Calisto MT</vt:lpstr>
      <vt:lpstr>Wingdings 2</vt:lpstr>
      <vt:lpstr>Сланец</vt:lpstr>
      <vt:lpstr>Параллельная работа в Oracle, очереди, трассировка, профилирование</vt:lpstr>
      <vt:lpstr>Цепочка</vt:lpstr>
      <vt:lpstr>Шаг цепочки</vt:lpstr>
      <vt:lpstr>Правило цепочки</vt:lpstr>
      <vt:lpstr>Oracle Scheduler</vt:lpstr>
      <vt:lpstr>Для демонстрационных цепей создадим таблицу demo_data и определим программы, которые будут использоваться цепочкой</vt:lpstr>
      <vt:lpstr>Создадим цепочку DEMO_CHAIN Каждый шаг цепочки будет связан с одной из программ, определенных выше.</vt:lpstr>
      <vt:lpstr>Для завершения определения цепочки нужно создать правила.</vt:lpstr>
      <vt:lpstr>А затем запустить с помощью dbms_scheduler.run_chain</vt:lpstr>
      <vt:lpstr>Результат</vt:lpstr>
      <vt:lpstr>Oracle Advanced Queuing (AQ) - механизм организации очередей. В простейшем случае создаётся тип, на основе типа специальным API создаётся таблица очереди. Очередь действует по принципу FIFO</vt:lpstr>
      <vt:lpstr>Презентация PowerPoint</vt:lpstr>
      <vt:lpstr>Результат очереди</vt:lpstr>
      <vt:lpstr>Трассировка и профилирование</vt:lpstr>
      <vt:lpstr>Профилирование</vt:lpstr>
      <vt:lpstr>Презентация PowerPoint</vt:lpstr>
      <vt:lpstr>Трассировка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Параллельная работа в Oracle, очереди, трассировка, профилирование</dc:title>
  <dc:creator>amit behal</dc:creator>
  <cp:lastModifiedBy>amit behal</cp:lastModifiedBy>
  <cp:revision>22</cp:revision>
  <dcterms:created xsi:type="dcterms:W3CDTF">2022-02-19T12:13:49Z</dcterms:created>
  <dcterms:modified xsi:type="dcterms:W3CDTF">2022-02-21T18:02:18Z</dcterms:modified>
</cp:coreProperties>
</file>