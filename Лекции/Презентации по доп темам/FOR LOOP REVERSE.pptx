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7" r:id="rId4"/>
    <p:sldId id="277" r:id="rId5"/>
    <p:sldId id="276" r:id="rId6"/>
    <p:sldId id="264" r:id="rId7"/>
    <p:sldId id="263" r:id="rId8"/>
    <p:sldId id="268" r:id="rId9"/>
    <p:sldId id="269" r:id="rId10"/>
    <p:sldId id="273" r:id="rId11"/>
    <p:sldId id="270" r:id="rId12"/>
    <p:sldId id="275" r:id="rId13"/>
    <p:sldId id="271" r:id="rId14"/>
    <p:sldId id="261" r:id="rId15"/>
    <p:sldId id="272" r:id="rId16"/>
    <p:sldId id="274"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1895148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940665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316852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81EC6CB-82DD-4694-A8E3-F1D562870783}" type="datetimeFigureOut">
              <a:rPr lang="ru-RU" smtClean="0"/>
              <a:t>17.02.2022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167768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81EC6CB-82DD-4694-A8E3-F1D562870783}" type="datetimeFigureOut">
              <a:rPr lang="ru-RU" smtClean="0"/>
              <a:t>17.02.2022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383975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81EC6CB-82DD-4694-A8E3-F1D562870783}" type="datetimeFigureOut">
              <a:rPr lang="ru-RU" smtClean="0"/>
              <a:t>17.02.2022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103932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81EC6CB-82DD-4694-A8E3-F1D562870783}" type="datetimeFigureOut">
              <a:rPr lang="ru-RU" smtClean="0"/>
              <a:t>17.02.2022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250403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81EC6CB-82DD-4694-A8E3-F1D562870783}" type="datetimeFigureOut">
              <a:rPr lang="ru-RU" smtClean="0"/>
              <a:t>17.02.2022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2156487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581EC6CB-82DD-4694-A8E3-F1D562870783}" type="datetimeFigureOut">
              <a:rPr lang="ru-RU" smtClean="0"/>
              <a:t>17.02.2022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4129780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382051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C74775-4C25-4B32-83AC-F6465240BE90}" type="slidenum">
              <a:rPr lang="ru-RU" smtClean="0"/>
              <a:t>‹#›</a:t>
            </a:fld>
            <a:endParaRPr lang="ru-RU"/>
          </a:p>
        </p:txBody>
      </p:sp>
    </p:spTree>
    <p:extLst>
      <p:ext uri="{BB962C8B-B14F-4D97-AF65-F5344CB8AC3E}">
        <p14:creationId xmlns:p14="http://schemas.microsoft.com/office/powerpoint/2010/main" val="2084839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EC6CB-82DD-4694-A8E3-F1D562870783}" type="datetimeFigureOut">
              <a:rPr lang="ru-RU" smtClean="0"/>
              <a:t>17.02.2022</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74775-4C25-4B32-83AC-F6465240BE90}" type="slidenum">
              <a:rPr lang="ru-RU" smtClean="0"/>
              <a:t>‹#›</a:t>
            </a:fld>
            <a:endParaRPr lang="ru-RU"/>
          </a:p>
        </p:txBody>
      </p:sp>
    </p:spTree>
    <p:extLst>
      <p:ext uri="{BB962C8B-B14F-4D97-AF65-F5344CB8AC3E}">
        <p14:creationId xmlns:p14="http://schemas.microsoft.com/office/powerpoint/2010/main" val="843755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432332" y="1796216"/>
            <a:ext cx="9144000" cy="2387600"/>
          </a:xfrm>
        </p:spPr>
        <p:txBody>
          <a:bodyPr>
            <a:normAutofit/>
          </a:bodyPr>
          <a:lstStyle/>
          <a:p>
            <a:r>
              <a:rPr lang="ru-RU" dirty="0" smtClean="0"/>
              <a:t>Цикл FOR LOOP, ключевое </a:t>
            </a:r>
            <a:r>
              <a:rPr lang="ru-RU" dirty="0"/>
              <a:t>слово REVERSE</a:t>
            </a:r>
          </a:p>
        </p:txBody>
      </p:sp>
    </p:spTree>
    <p:extLst>
      <p:ext uri="{BB962C8B-B14F-4D97-AF65-F5344CB8AC3E}">
        <p14:creationId xmlns:p14="http://schemas.microsoft.com/office/powerpoint/2010/main" val="11159199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848412"/>
            <a:ext cx="10515600" cy="5328551"/>
          </a:xfrm>
        </p:spPr>
        <p:txBody>
          <a:bodyPr>
            <a:normAutofit/>
          </a:bodyPr>
          <a:lstStyle/>
          <a:p>
            <a:pPr marL="0" indent="0">
              <a:buNone/>
            </a:pPr>
            <a:r>
              <a:rPr lang="ru-RU" dirty="0" smtClean="0"/>
              <a:t>Циклами </a:t>
            </a:r>
            <a:r>
              <a:rPr lang="ru-RU" dirty="0"/>
              <a:t>называют управляющие структуры PL/SQL, которые предназначены для многократного выполнения программного кода. </a:t>
            </a:r>
          </a:p>
          <a:p>
            <a:pPr marL="0" indent="0">
              <a:buNone/>
            </a:pPr>
            <a:r>
              <a:rPr lang="ru-RU" dirty="0"/>
              <a:t>Как и во всех языках программирования, в </a:t>
            </a:r>
            <a:r>
              <a:rPr lang="ru-RU" b="1" dirty="0"/>
              <a:t>PL/SQL</a:t>
            </a:r>
            <a:r>
              <a:rPr lang="ru-RU" dirty="0"/>
              <a:t> имеются операторы циклов. Их три основных типа:</a:t>
            </a:r>
          </a:p>
          <a:p>
            <a:r>
              <a:rPr lang="ru-RU" dirty="0"/>
              <a:t>Безусловные циклы (выполняемые бесконечно)</a:t>
            </a:r>
          </a:p>
          <a:p>
            <a:r>
              <a:rPr lang="ru-RU" dirty="0"/>
              <a:t>Интерактивные циклы (</a:t>
            </a:r>
            <a:r>
              <a:rPr lang="ru-RU" b="1" dirty="0"/>
              <a:t>FOR</a:t>
            </a:r>
            <a:r>
              <a:rPr lang="ru-RU" dirty="0"/>
              <a:t>)</a:t>
            </a:r>
          </a:p>
          <a:p>
            <a:r>
              <a:rPr lang="ru-RU" dirty="0"/>
              <a:t>Условные циклы (</a:t>
            </a:r>
            <a:r>
              <a:rPr lang="ru-RU" b="1" dirty="0"/>
              <a:t>WHILE</a:t>
            </a:r>
            <a:r>
              <a:rPr lang="ru-RU" dirty="0" smtClean="0"/>
              <a:t>)</a:t>
            </a:r>
          </a:p>
          <a:p>
            <a:endParaRPr lang="ru-RU" dirty="0"/>
          </a:p>
          <a:p>
            <a:r>
              <a:rPr lang="ru-RU" dirty="0" smtClean="0"/>
              <a:t>Каждая </a:t>
            </a:r>
            <a:r>
              <a:rPr lang="ru-RU" dirty="0"/>
              <a:t>разновидность циклов предназначена для определенных целей, имеет свои нюансы и правила использования</a:t>
            </a:r>
            <a:r>
              <a:rPr lang="ru-RU" dirty="0" smtClean="0"/>
              <a:t>.</a:t>
            </a:r>
          </a:p>
          <a:p>
            <a:endParaRPr lang="ru-RU" dirty="0"/>
          </a:p>
        </p:txBody>
      </p:sp>
    </p:spTree>
    <p:extLst>
      <p:ext uri="{BB962C8B-B14F-4D97-AF65-F5344CB8AC3E}">
        <p14:creationId xmlns:p14="http://schemas.microsoft.com/office/powerpoint/2010/main" val="17970446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Цикл </a:t>
            </a:r>
            <a:r>
              <a:rPr lang="en-US" dirty="0"/>
              <a:t>FOR </a:t>
            </a:r>
            <a:r>
              <a:rPr lang="ru-RU" dirty="0"/>
              <a:t>со счетчиком </a:t>
            </a:r>
          </a:p>
        </p:txBody>
      </p:sp>
      <p:sp>
        <p:nvSpPr>
          <p:cNvPr id="3" name="Объект 2"/>
          <p:cNvSpPr>
            <a:spLocks noGrp="1"/>
          </p:cNvSpPr>
          <p:nvPr>
            <p:ph idx="1"/>
          </p:nvPr>
        </p:nvSpPr>
        <p:spPr>
          <a:xfrm>
            <a:off x="838200" y="1523967"/>
            <a:ext cx="10515600" cy="4961674"/>
          </a:xfrm>
        </p:spPr>
        <p:txBody>
          <a:bodyPr>
            <a:normAutofit/>
          </a:bodyPr>
          <a:lstStyle/>
          <a:p>
            <a:r>
              <a:rPr lang="ru-RU" dirty="0"/>
              <a:t>В PL/SQL существует два вида цикла FOR: с числовым счетчиком и с курсором. </a:t>
            </a:r>
            <a:r>
              <a:rPr lang="ru-RU" dirty="0" smtClean="0"/>
              <a:t>Цикл со </a:t>
            </a:r>
            <a:r>
              <a:rPr lang="ru-RU" dirty="0"/>
              <a:t>счетчиком — это традиционный, хорошо знакомый всем программистам цикл </a:t>
            </a:r>
            <a:r>
              <a:rPr lang="ru-RU" dirty="0" smtClean="0"/>
              <a:t>FOR, поддерживаемый </a:t>
            </a:r>
            <a:r>
              <a:rPr lang="ru-RU" dirty="0"/>
              <a:t>в большинстве языков программирования. Количество </a:t>
            </a:r>
            <a:r>
              <a:rPr lang="ru-RU" dirty="0" smtClean="0"/>
              <a:t>итераций этого </a:t>
            </a:r>
            <a:r>
              <a:rPr lang="ru-RU" dirty="0"/>
              <a:t>цикла известно еще до его начала; оно задается в диапазоне между </a:t>
            </a:r>
            <a:r>
              <a:rPr lang="ru-RU" dirty="0" smtClean="0"/>
              <a:t>ключевыми словами </a:t>
            </a:r>
            <a:r>
              <a:rPr lang="ru-RU" dirty="0"/>
              <a:t>FOR и LOOP</a:t>
            </a:r>
            <a:r>
              <a:rPr lang="ru-RU" dirty="0" smtClean="0"/>
              <a:t>.</a:t>
            </a:r>
          </a:p>
          <a:p>
            <a:endParaRPr lang="ru-RU" dirty="0"/>
          </a:p>
          <a:p>
            <a:endParaRPr lang="ru-RU" dirty="0"/>
          </a:p>
          <a:p>
            <a:endParaRPr lang="ru-RU" dirty="0"/>
          </a:p>
        </p:txBody>
      </p:sp>
    </p:spTree>
    <p:extLst>
      <p:ext uri="{BB962C8B-B14F-4D97-AF65-F5344CB8AC3E}">
        <p14:creationId xmlns:p14="http://schemas.microsoft.com/office/powerpoint/2010/main" val="13837615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Свойства цикла FOR с числовым счетчиком приведены в следующей таблице</a:t>
            </a:r>
          </a:p>
        </p:txBody>
      </p:sp>
      <p:pic>
        <p:nvPicPr>
          <p:cNvPr id="5" name="Рисунок 4"/>
          <p:cNvPicPr>
            <a:picLocks noChangeAspect="1"/>
          </p:cNvPicPr>
          <p:nvPr/>
        </p:nvPicPr>
        <p:blipFill>
          <a:blip r:embed="rId2"/>
          <a:stretch>
            <a:fillRect/>
          </a:stretch>
        </p:blipFill>
        <p:spPr>
          <a:xfrm>
            <a:off x="1008206" y="2513164"/>
            <a:ext cx="10345594" cy="2981741"/>
          </a:xfrm>
          <a:prstGeom prst="rect">
            <a:avLst/>
          </a:prstGeom>
        </p:spPr>
      </p:pic>
    </p:spTree>
    <p:extLst>
      <p:ext uri="{BB962C8B-B14F-4D97-AF65-F5344CB8AC3E}">
        <p14:creationId xmlns:p14="http://schemas.microsoft.com/office/powerpoint/2010/main" val="32160785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Базовый синтаксис цикла </a:t>
            </a:r>
            <a:r>
              <a:rPr lang="en-US" dirty="0"/>
              <a:t>FOR </a:t>
            </a:r>
            <a:r>
              <a:rPr lang="ru-RU" dirty="0"/>
              <a:t>с курсором</a:t>
            </a:r>
          </a:p>
        </p:txBody>
      </p:sp>
      <p:sp>
        <p:nvSpPr>
          <p:cNvPr id="3" name="Объект 2"/>
          <p:cNvSpPr>
            <a:spLocks noGrp="1"/>
          </p:cNvSpPr>
          <p:nvPr>
            <p:ph idx="1"/>
          </p:nvPr>
        </p:nvSpPr>
        <p:spPr>
          <a:xfrm>
            <a:off x="838200" y="1825624"/>
            <a:ext cx="10515600" cy="5032375"/>
          </a:xfrm>
        </p:spPr>
        <p:txBody>
          <a:bodyPr>
            <a:normAutofit fontScale="92500" lnSpcReduction="20000"/>
          </a:bodyPr>
          <a:lstStyle/>
          <a:p>
            <a:pPr marL="0" indent="0">
              <a:buNone/>
            </a:pPr>
            <a:r>
              <a:rPr lang="en-US" dirty="0" smtClean="0"/>
              <a:t>FOR </a:t>
            </a:r>
            <a:r>
              <a:rPr lang="ru-RU" dirty="0"/>
              <a:t>запись </a:t>
            </a:r>
            <a:r>
              <a:rPr lang="en-US" dirty="0" smtClean="0"/>
              <a:t>IN</a:t>
            </a:r>
            <a:endParaRPr lang="ru-RU" dirty="0" smtClean="0"/>
          </a:p>
          <a:p>
            <a:pPr marL="0" indent="0">
              <a:buNone/>
            </a:pPr>
            <a:r>
              <a:rPr lang="en-US" dirty="0" smtClean="0"/>
              <a:t> </a:t>
            </a:r>
            <a:r>
              <a:rPr lang="en-US" dirty="0"/>
              <a:t>{ </a:t>
            </a:r>
            <a:r>
              <a:rPr lang="ru-RU" dirty="0" err="1"/>
              <a:t>имя_курсора</a:t>
            </a:r>
            <a:r>
              <a:rPr lang="ru-RU" dirty="0"/>
              <a:t> | (команда_</a:t>
            </a:r>
            <a:r>
              <a:rPr lang="en-US" dirty="0"/>
              <a:t>SELECT) } </a:t>
            </a:r>
            <a:endParaRPr lang="ru-RU" dirty="0" smtClean="0"/>
          </a:p>
          <a:p>
            <a:pPr marL="0" indent="0">
              <a:buNone/>
            </a:pPr>
            <a:r>
              <a:rPr lang="en-US" dirty="0" smtClean="0"/>
              <a:t>LOOP </a:t>
            </a:r>
            <a:endParaRPr lang="ru-RU" dirty="0" smtClean="0"/>
          </a:p>
          <a:p>
            <a:pPr marL="0" indent="0">
              <a:buNone/>
            </a:pPr>
            <a:r>
              <a:rPr lang="ru-RU" dirty="0" smtClean="0"/>
              <a:t>исполняемые </a:t>
            </a:r>
            <a:r>
              <a:rPr lang="ru-RU" dirty="0"/>
              <a:t>команды </a:t>
            </a:r>
            <a:endParaRPr lang="ru-RU" dirty="0" smtClean="0"/>
          </a:p>
          <a:p>
            <a:pPr marL="0" indent="0">
              <a:buNone/>
            </a:pPr>
            <a:r>
              <a:rPr lang="en-US" dirty="0" smtClean="0"/>
              <a:t>END </a:t>
            </a:r>
            <a:r>
              <a:rPr lang="en-US" dirty="0"/>
              <a:t>LOOP; </a:t>
            </a:r>
            <a:endParaRPr lang="ru-RU" dirty="0" smtClean="0"/>
          </a:p>
          <a:p>
            <a:pPr marL="0" indent="0">
              <a:buNone/>
            </a:pPr>
            <a:endParaRPr lang="ru-RU" dirty="0" smtClean="0"/>
          </a:p>
          <a:p>
            <a:pPr marL="0" indent="0">
              <a:buNone/>
            </a:pPr>
            <a:r>
              <a:rPr lang="ru-RU" dirty="0" smtClean="0"/>
              <a:t>В </a:t>
            </a:r>
            <a:r>
              <a:rPr lang="ru-RU" dirty="0"/>
              <a:t>цикле </a:t>
            </a:r>
            <a:r>
              <a:rPr lang="en-US" dirty="0"/>
              <a:t>FOR </a:t>
            </a:r>
            <a:r>
              <a:rPr lang="ru-RU" dirty="0"/>
              <a:t>можно также задать не курсор, а непосредственно </a:t>
            </a:r>
            <a:r>
              <a:rPr lang="en-US" dirty="0"/>
              <a:t>SQL-</a:t>
            </a:r>
            <a:r>
              <a:rPr lang="ru-RU" dirty="0"/>
              <a:t>инструкцию </a:t>
            </a:r>
            <a:r>
              <a:rPr lang="en-US" dirty="0"/>
              <a:t>SELECT, </a:t>
            </a:r>
            <a:r>
              <a:rPr lang="ru-RU" dirty="0"/>
              <a:t>как показано в следующем примере</a:t>
            </a:r>
            <a:r>
              <a:rPr lang="ru-RU" dirty="0" smtClean="0"/>
              <a:t>:</a:t>
            </a:r>
          </a:p>
          <a:p>
            <a:pPr marL="0" indent="0">
              <a:buNone/>
            </a:pPr>
            <a:endParaRPr lang="ru-RU" dirty="0" smtClean="0"/>
          </a:p>
          <a:p>
            <a:pPr marL="0" indent="0">
              <a:buNone/>
            </a:pPr>
            <a:r>
              <a:rPr lang="ru-RU" dirty="0" smtClean="0"/>
              <a:t> </a:t>
            </a:r>
            <a:r>
              <a:rPr lang="en-US" dirty="0"/>
              <a:t>FOR </a:t>
            </a:r>
            <a:r>
              <a:rPr lang="en-US" dirty="0" err="1"/>
              <a:t>book_rec</a:t>
            </a:r>
            <a:r>
              <a:rPr lang="en-US" dirty="0"/>
              <a:t> IN (SELECT * FROM books</a:t>
            </a:r>
            <a:r>
              <a:rPr lang="en-US" dirty="0" smtClean="0"/>
              <a:t>)</a:t>
            </a:r>
            <a:endParaRPr lang="ru-RU" dirty="0" smtClean="0"/>
          </a:p>
          <a:p>
            <a:pPr marL="0" indent="0">
              <a:buNone/>
            </a:pPr>
            <a:r>
              <a:rPr lang="en-US" dirty="0" smtClean="0"/>
              <a:t> </a:t>
            </a:r>
            <a:r>
              <a:rPr lang="en-US" dirty="0"/>
              <a:t>LOOP </a:t>
            </a:r>
            <a:r>
              <a:rPr lang="en-US" dirty="0" err="1"/>
              <a:t>show_usage</a:t>
            </a:r>
            <a:r>
              <a:rPr lang="en-US" dirty="0"/>
              <a:t> (</a:t>
            </a:r>
            <a:r>
              <a:rPr lang="en-US" dirty="0" err="1"/>
              <a:t>book_rec</a:t>
            </a:r>
            <a:r>
              <a:rPr lang="en-US" dirty="0"/>
              <a:t>); </a:t>
            </a:r>
            <a:endParaRPr lang="ru-RU" dirty="0" smtClean="0"/>
          </a:p>
          <a:p>
            <a:pPr marL="0" indent="0">
              <a:buNone/>
            </a:pPr>
            <a:r>
              <a:rPr lang="en-US" dirty="0" smtClean="0"/>
              <a:t>END </a:t>
            </a:r>
            <a:r>
              <a:rPr lang="en-US" dirty="0"/>
              <a:t>LOOP;</a:t>
            </a:r>
            <a:endParaRPr lang="ru-RU" dirty="0"/>
          </a:p>
        </p:txBody>
      </p:sp>
    </p:spTree>
    <p:extLst>
      <p:ext uri="{BB962C8B-B14F-4D97-AF65-F5344CB8AC3E}">
        <p14:creationId xmlns:p14="http://schemas.microsoft.com/office/powerpoint/2010/main" val="6789508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725864"/>
            <a:ext cx="10515600" cy="5451099"/>
          </a:xfrm>
        </p:spPr>
        <p:txBody>
          <a:bodyPr>
            <a:normAutofit lnSpcReduction="10000"/>
          </a:bodyPr>
          <a:lstStyle/>
          <a:p>
            <a:r>
              <a:rPr lang="ru-RU" dirty="0"/>
              <a:t>При использовании цикла FOR с числовым счетчиком необходимо следовать некоторым правилам: </a:t>
            </a:r>
            <a:endParaRPr lang="ru-RU" dirty="0" smtClean="0"/>
          </a:p>
          <a:p>
            <a:r>
              <a:rPr lang="ru-RU" dirty="0"/>
              <a:t>1) Не объявляйте счетчик цикла. PL/SQL автоматически неявно объявляет локальную переменную с типом данных </a:t>
            </a:r>
            <a:r>
              <a:rPr lang="ru-RU" dirty="0" smtClean="0"/>
              <a:t>INTEGER</a:t>
            </a:r>
          </a:p>
          <a:p>
            <a:r>
              <a:rPr lang="ru-RU" dirty="0"/>
              <a:t>2) Область действия этой переменной совпадает с границей цикла; обращаться к счетчику за пределами цикла нельзя</a:t>
            </a:r>
            <a:r>
              <a:rPr lang="ru-RU" dirty="0" smtClean="0"/>
              <a:t>.</a:t>
            </a:r>
          </a:p>
          <a:p>
            <a:r>
              <a:rPr lang="ru-RU" dirty="0"/>
              <a:t>3) Выражения, используемые при определении диапазона (начального и конечного значений), вычисляются один </a:t>
            </a:r>
            <a:r>
              <a:rPr lang="ru-RU" dirty="0" smtClean="0"/>
              <a:t>раз.</a:t>
            </a:r>
          </a:p>
          <a:p>
            <a:r>
              <a:rPr lang="ru-RU" dirty="0"/>
              <a:t>4) Если изменить внутри цикла переменные, используемые для определения диапазона значений счетчика, его границы останутся прежними. </a:t>
            </a:r>
            <a:endParaRPr lang="ru-RU" dirty="0" smtClean="0"/>
          </a:p>
          <a:p>
            <a:r>
              <a:rPr lang="ru-RU" dirty="0"/>
              <a:t>Чтобы значения счетчика уменьшались в направлении от конечного к начальному, используйте ключевое слово REVERSE.</a:t>
            </a:r>
          </a:p>
        </p:txBody>
      </p:sp>
    </p:spTree>
    <p:extLst>
      <p:ext uri="{BB962C8B-B14F-4D97-AF65-F5344CB8AC3E}">
        <p14:creationId xmlns:p14="http://schemas.microsoft.com/office/powerpoint/2010/main" val="21644319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использования</a:t>
            </a:r>
            <a:endParaRPr lang="ru-RU" dirty="0"/>
          </a:p>
        </p:txBody>
      </p:sp>
      <p:sp>
        <p:nvSpPr>
          <p:cNvPr id="3" name="Объект 2"/>
          <p:cNvSpPr>
            <a:spLocks noGrp="1"/>
          </p:cNvSpPr>
          <p:nvPr>
            <p:ph idx="1"/>
          </p:nvPr>
        </p:nvSpPr>
        <p:spPr>
          <a:xfrm>
            <a:off x="838200" y="1863333"/>
            <a:ext cx="10515600" cy="4810844"/>
          </a:xfrm>
        </p:spPr>
        <p:txBody>
          <a:bodyPr>
            <a:normAutofit fontScale="92500" lnSpcReduction="20000"/>
          </a:bodyPr>
          <a:lstStyle/>
          <a:p>
            <a:pPr marL="0" indent="0">
              <a:buNone/>
            </a:pPr>
            <a:r>
              <a:rPr lang="ru-RU" dirty="0"/>
              <a:t>Цикл выполняется 10 раз; счетчик увеличивается от 1 до 10:</a:t>
            </a:r>
            <a:endParaRPr lang="en-US" dirty="0" smtClean="0"/>
          </a:p>
          <a:p>
            <a:pPr marL="0" indent="0">
              <a:buNone/>
            </a:pPr>
            <a:r>
              <a:rPr lang="en-US" dirty="0" smtClean="0"/>
              <a:t>FOR </a:t>
            </a:r>
            <a:r>
              <a:rPr lang="en-US" dirty="0" err="1"/>
              <a:t>loop_counter</a:t>
            </a:r>
            <a:r>
              <a:rPr lang="en-US" dirty="0"/>
              <a:t> IN 1 .. 10 </a:t>
            </a:r>
            <a:endParaRPr lang="ru-RU" dirty="0" smtClean="0"/>
          </a:p>
          <a:p>
            <a:pPr marL="0" indent="0">
              <a:buNone/>
            </a:pPr>
            <a:r>
              <a:rPr lang="en-US" dirty="0" smtClean="0"/>
              <a:t>LOOP </a:t>
            </a:r>
            <a:endParaRPr lang="ru-RU" dirty="0" smtClean="0"/>
          </a:p>
          <a:p>
            <a:pPr marL="0" indent="0">
              <a:buNone/>
            </a:pPr>
            <a:r>
              <a:rPr lang="en-US" dirty="0" smtClean="0"/>
              <a:t>... </a:t>
            </a:r>
            <a:r>
              <a:rPr lang="en-US" dirty="0" err="1" smtClean="0"/>
              <a:t>исполняемые_команды</a:t>
            </a:r>
            <a:r>
              <a:rPr lang="en-US" dirty="0" smtClean="0"/>
              <a:t> </a:t>
            </a:r>
            <a:r>
              <a:rPr lang="en-US" dirty="0"/>
              <a:t>... </a:t>
            </a:r>
            <a:endParaRPr lang="ru-RU" dirty="0" smtClean="0"/>
          </a:p>
          <a:p>
            <a:pPr marL="0" indent="0">
              <a:buNone/>
            </a:pPr>
            <a:r>
              <a:rPr lang="en-US" dirty="0" smtClean="0"/>
              <a:t>END </a:t>
            </a:r>
            <a:r>
              <a:rPr lang="en-US" dirty="0"/>
              <a:t>LOOP</a:t>
            </a:r>
            <a:r>
              <a:rPr lang="en-US" dirty="0" smtClean="0"/>
              <a:t>;</a:t>
            </a:r>
            <a:endParaRPr lang="ru-RU" dirty="0" smtClean="0"/>
          </a:p>
          <a:p>
            <a:pPr marL="0" indent="0">
              <a:buNone/>
            </a:pPr>
            <a:endParaRPr lang="en-US" dirty="0" smtClean="0"/>
          </a:p>
          <a:p>
            <a:pPr marL="0" indent="0">
              <a:buNone/>
            </a:pPr>
            <a:r>
              <a:rPr lang="ru-RU" dirty="0"/>
              <a:t>Цикл выполняется 10 раз; счетчик уменьшается от 10 до 1:</a:t>
            </a:r>
          </a:p>
          <a:p>
            <a:pPr marL="0" indent="0">
              <a:buNone/>
            </a:pPr>
            <a:r>
              <a:rPr lang="en-US" dirty="0"/>
              <a:t>FOR </a:t>
            </a:r>
            <a:r>
              <a:rPr lang="en-US" dirty="0" err="1"/>
              <a:t>loop_counter</a:t>
            </a:r>
            <a:r>
              <a:rPr lang="en-US" dirty="0"/>
              <a:t> IN </a:t>
            </a:r>
            <a:r>
              <a:rPr lang="en-US" dirty="0" smtClean="0"/>
              <a:t>REVERSE</a:t>
            </a:r>
            <a:r>
              <a:rPr lang="ru-RU" dirty="0" smtClean="0"/>
              <a:t> </a:t>
            </a:r>
            <a:r>
              <a:rPr lang="en-US" dirty="0" smtClean="0"/>
              <a:t>1 </a:t>
            </a:r>
            <a:r>
              <a:rPr lang="en-US" dirty="0"/>
              <a:t>.. 10 </a:t>
            </a:r>
            <a:endParaRPr lang="ru-RU" dirty="0"/>
          </a:p>
          <a:p>
            <a:pPr marL="0" indent="0">
              <a:buNone/>
            </a:pPr>
            <a:r>
              <a:rPr lang="en-US" dirty="0"/>
              <a:t>LOOP </a:t>
            </a:r>
            <a:endParaRPr lang="ru-RU" dirty="0"/>
          </a:p>
          <a:p>
            <a:pPr marL="0" indent="0">
              <a:buNone/>
            </a:pPr>
            <a:r>
              <a:rPr lang="en-US" dirty="0"/>
              <a:t>... </a:t>
            </a:r>
            <a:r>
              <a:rPr lang="en-US" dirty="0" err="1"/>
              <a:t>исполняемые_команды</a:t>
            </a:r>
            <a:r>
              <a:rPr lang="en-US" dirty="0"/>
              <a:t> ... </a:t>
            </a:r>
            <a:endParaRPr lang="ru-RU" dirty="0"/>
          </a:p>
          <a:p>
            <a:pPr marL="0" indent="0">
              <a:buNone/>
            </a:pPr>
            <a:r>
              <a:rPr lang="en-US" dirty="0"/>
              <a:t>END LOOP;</a:t>
            </a:r>
            <a:endParaRPr lang="ru-RU" dirty="0"/>
          </a:p>
          <a:p>
            <a:pPr marL="0" indent="0">
              <a:buNone/>
            </a:pPr>
            <a:endParaRPr lang="ru-RU" dirty="0"/>
          </a:p>
        </p:txBody>
      </p:sp>
    </p:spTree>
    <p:extLst>
      <p:ext uri="{BB962C8B-B14F-4D97-AF65-F5344CB8AC3E}">
        <p14:creationId xmlns:p14="http://schemas.microsoft.com/office/powerpoint/2010/main" val="2685061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71340"/>
            <a:ext cx="10515600" cy="6127423"/>
          </a:xfrm>
        </p:spPr>
        <p:txBody>
          <a:bodyPr>
            <a:normAutofit fontScale="92500" lnSpcReduction="10000"/>
          </a:bodyPr>
          <a:lstStyle/>
          <a:p>
            <a:r>
              <a:rPr lang="ru-RU" dirty="0"/>
              <a:t>Цикл не выполняется ни разу. В заголовке цикла указано ключевое слово REVERSE, поэтому счетчик цикла </a:t>
            </a:r>
            <a:r>
              <a:rPr lang="ru-RU" dirty="0" err="1"/>
              <a:t>loop_counter</a:t>
            </a:r>
            <a:r>
              <a:rPr lang="ru-RU" dirty="0"/>
              <a:t> изменяется от большего значения к меньшему. Однако начальное и конечное значения заданы в неверном порядке</a:t>
            </a:r>
            <a:r>
              <a:rPr lang="ru-RU" dirty="0" smtClean="0"/>
              <a:t>:</a:t>
            </a:r>
            <a:endParaRPr lang="en-US" dirty="0" smtClean="0"/>
          </a:p>
          <a:p>
            <a:endParaRPr lang="en-US" dirty="0" smtClean="0"/>
          </a:p>
          <a:p>
            <a:pPr marL="0" indent="0">
              <a:buNone/>
            </a:pPr>
            <a:r>
              <a:rPr lang="ru-RU" dirty="0" smtClean="0"/>
              <a:t>FOR </a:t>
            </a:r>
            <a:r>
              <a:rPr lang="ru-RU" dirty="0" err="1"/>
              <a:t>loop_counter</a:t>
            </a:r>
            <a:r>
              <a:rPr lang="ru-RU" dirty="0"/>
              <a:t> IN REVERSE 10 .. 1 LOOP </a:t>
            </a:r>
            <a:endParaRPr lang="en-US" dirty="0" smtClean="0"/>
          </a:p>
          <a:p>
            <a:pPr marL="0" indent="0">
              <a:buNone/>
            </a:pPr>
            <a:r>
              <a:rPr lang="ru-RU" dirty="0" smtClean="0"/>
              <a:t>/* </a:t>
            </a:r>
            <a:r>
              <a:rPr lang="ru-RU" dirty="0"/>
              <a:t>Тело цикла не выполнится ни разу! </a:t>
            </a:r>
            <a:r>
              <a:rPr lang="ru-RU" dirty="0" smtClean="0"/>
              <a:t>*/</a:t>
            </a:r>
            <a:endParaRPr lang="en-US" dirty="0" smtClean="0"/>
          </a:p>
          <a:p>
            <a:pPr marL="0" indent="0">
              <a:buNone/>
            </a:pPr>
            <a:r>
              <a:rPr lang="ru-RU" dirty="0" smtClean="0"/>
              <a:t> </a:t>
            </a:r>
            <a:r>
              <a:rPr lang="ru-RU" dirty="0"/>
              <a:t>... </a:t>
            </a:r>
            <a:endParaRPr lang="en-US" dirty="0" smtClean="0"/>
          </a:p>
          <a:p>
            <a:pPr marL="0" indent="0">
              <a:buNone/>
            </a:pPr>
            <a:r>
              <a:rPr lang="ru-RU" dirty="0" smtClean="0"/>
              <a:t>END </a:t>
            </a:r>
            <a:r>
              <a:rPr lang="ru-RU" dirty="0"/>
              <a:t>LOOP</a:t>
            </a:r>
            <a:r>
              <a:rPr lang="ru-RU" dirty="0" smtClean="0"/>
              <a:t>;</a:t>
            </a:r>
            <a:endParaRPr lang="en-US" dirty="0" smtClean="0"/>
          </a:p>
          <a:p>
            <a:pPr marL="0" indent="0">
              <a:buNone/>
            </a:pPr>
            <a:endParaRPr lang="en-US" dirty="0"/>
          </a:p>
          <a:p>
            <a:pPr marL="0" indent="0">
              <a:buNone/>
            </a:pPr>
            <a:r>
              <a:rPr lang="ru-RU" dirty="0"/>
              <a:t>Даже если задать обратное направление с помощью ключевого слова REVERSE, меньшее значение счетчика все равно должно быть задано перед большим. Если первое число больше второго, тело цикла не будет выполнено. Если же граничные значения одинаковы, то тело цикла будет выполнено один раз.</a:t>
            </a:r>
          </a:p>
        </p:txBody>
      </p:sp>
    </p:spTree>
    <p:extLst>
      <p:ext uri="{BB962C8B-B14F-4D97-AF65-F5344CB8AC3E}">
        <p14:creationId xmlns:p14="http://schemas.microsoft.com/office/powerpoint/2010/main" val="31760360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791852"/>
            <a:ext cx="10515600" cy="5385111"/>
          </a:xfrm>
        </p:spPr>
        <p:txBody>
          <a:bodyPr>
            <a:normAutofit fontScale="92500" lnSpcReduction="10000"/>
          </a:bodyPr>
          <a:lstStyle/>
          <a:p>
            <a:pPr marL="0" indent="0">
              <a:buNone/>
            </a:pPr>
            <a:r>
              <a:rPr lang="en-US" dirty="0"/>
              <a:t>SET SERVEROUTPUT ON;</a:t>
            </a:r>
          </a:p>
          <a:p>
            <a:pPr marL="0" indent="0">
              <a:buNone/>
            </a:pPr>
            <a:r>
              <a:rPr lang="en-US" dirty="0"/>
              <a:t>DECLARE</a:t>
            </a:r>
          </a:p>
          <a:p>
            <a:pPr marL="0" indent="0">
              <a:buNone/>
            </a:pPr>
            <a:r>
              <a:rPr lang="en-US" dirty="0" err="1"/>
              <a:t>start_date</a:t>
            </a:r>
            <a:r>
              <a:rPr lang="en-US" dirty="0"/>
              <a:t> DATE := '01.01.2018';</a:t>
            </a:r>
          </a:p>
          <a:p>
            <a:pPr marL="0" indent="0">
              <a:buNone/>
            </a:pPr>
            <a:r>
              <a:rPr lang="en-US" dirty="0" err="1"/>
              <a:t>end_date</a:t>
            </a:r>
            <a:r>
              <a:rPr lang="en-US" dirty="0"/>
              <a:t> DATE := '05.01.2018';</a:t>
            </a:r>
          </a:p>
          <a:p>
            <a:pPr marL="0" indent="0">
              <a:buNone/>
            </a:pPr>
            <a:r>
              <a:rPr lang="en-US" dirty="0"/>
              <a:t>BEGIN</a:t>
            </a:r>
          </a:p>
          <a:p>
            <a:pPr marL="0" indent="0">
              <a:buNone/>
            </a:pPr>
            <a:r>
              <a:rPr lang="en-US" dirty="0"/>
              <a:t>FOR </a:t>
            </a:r>
            <a:r>
              <a:rPr lang="en-US" dirty="0" err="1"/>
              <a:t>i</a:t>
            </a:r>
            <a:r>
              <a:rPr lang="en-US" dirty="0"/>
              <a:t> IN REVERSE TO_CHAR (</a:t>
            </a:r>
            <a:r>
              <a:rPr lang="en-US" dirty="0" err="1"/>
              <a:t>start_date</a:t>
            </a:r>
            <a:r>
              <a:rPr lang="en-US" dirty="0"/>
              <a:t>, '</a:t>
            </a:r>
            <a:r>
              <a:rPr lang="en-US" dirty="0" err="1"/>
              <a:t>yyyymmdd</a:t>
            </a:r>
            <a:r>
              <a:rPr lang="en-US" dirty="0"/>
              <a:t>') .. TO_CHAR (</a:t>
            </a:r>
            <a:r>
              <a:rPr lang="en-US" dirty="0" err="1"/>
              <a:t>end_date</a:t>
            </a:r>
            <a:r>
              <a:rPr lang="en-US" dirty="0" smtClean="0"/>
              <a:t>, '</a:t>
            </a:r>
            <a:r>
              <a:rPr lang="en-US" dirty="0" err="1" smtClean="0"/>
              <a:t>yyyymmdd</a:t>
            </a:r>
            <a:r>
              <a:rPr lang="en-US" dirty="0"/>
              <a:t>')</a:t>
            </a:r>
          </a:p>
          <a:p>
            <a:pPr marL="0" indent="0">
              <a:buNone/>
            </a:pPr>
            <a:r>
              <a:rPr lang="en-US" dirty="0"/>
              <a:t>LOOP</a:t>
            </a:r>
          </a:p>
          <a:p>
            <a:pPr marL="0" indent="0">
              <a:buNone/>
            </a:pPr>
            <a:r>
              <a:rPr lang="en-US" dirty="0" err="1"/>
              <a:t>DBMS_OUTPUT.put_line</a:t>
            </a:r>
            <a:r>
              <a:rPr lang="en-US" dirty="0"/>
              <a:t> (TO_CHAR (TO_DATE (</a:t>
            </a:r>
            <a:r>
              <a:rPr lang="en-US" dirty="0" err="1"/>
              <a:t>i</a:t>
            </a:r>
            <a:r>
              <a:rPr lang="en-US" dirty="0"/>
              <a:t>, '</a:t>
            </a:r>
            <a:r>
              <a:rPr lang="en-US" dirty="0" err="1"/>
              <a:t>yyyymmdd</a:t>
            </a:r>
            <a:r>
              <a:rPr lang="en-US" dirty="0"/>
              <a:t>'), '</a:t>
            </a:r>
            <a:r>
              <a:rPr lang="en-US" dirty="0" err="1"/>
              <a:t>dd</a:t>
            </a:r>
            <a:r>
              <a:rPr lang="en-US" dirty="0"/>
              <a:t>/mm/</a:t>
            </a:r>
            <a:r>
              <a:rPr lang="en-US" dirty="0" err="1"/>
              <a:t>yyyy</a:t>
            </a:r>
            <a:r>
              <a:rPr lang="en-US" dirty="0"/>
              <a:t>'));</a:t>
            </a:r>
          </a:p>
          <a:p>
            <a:pPr marL="0" indent="0">
              <a:buNone/>
            </a:pPr>
            <a:r>
              <a:rPr lang="en-US" dirty="0"/>
              <a:t>END LOOP;</a:t>
            </a:r>
          </a:p>
          <a:p>
            <a:pPr marL="0" indent="0">
              <a:buNone/>
            </a:pPr>
            <a:r>
              <a:rPr lang="en-US" dirty="0"/>
              <a:t>END;</a:t>
            </a:r>
            <a:endParaRPr lang="ru-RU" dirty="0"/>
          </a:p>
        </p:txBody>
      </p:sp>
    </p:spTree>
    <p:extLst>
      <p:ext uri="{BB962C8B-B14F-4D97-AF65-F5344CB8AC3E}">
        <p14:creationId xmlns:p14="http://schemas.microsoft.com/office/powerpoint/2010/main" val="27786012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450943" y="867266"/>
            <a:ext cx="10515600" cy="5564221"/>
          </a:xfrm>
        </p:spPr>
        <p:txBody>
          <a:bodyPr>
            <a:normAutofit fontScale="77500" lnSpcReduction="20000"/>
          </a:bodyPr>
          <a:lstStyle/>
          <a:p>
            <a:pPr marL="0" indent="0">
              <a:buNone/>
            </a:pPr>
            <a:r>
              <a:rPr lang="en-US" dirty="0"/>
              <a:t>DECLARE</a:t>
            </a:r>
          </a:p>
          <a:p>
            <a:pPr marL="0" indent="0">
              <a:buNone/>
            </a:pPr>
            <a:r>
              <a:rPr lang="en-US" dirty="0" smtClean="0"/>
              <a:t>TYPE </a:t>
            </a:r>
            <a:r>
              <a:rPr lang="en-US" dirty="0"/>
              <a:t>XX_TYPE_CHAIR IS TABLE OF VARCHAR2(100);</a:t>
            </a:r>
          </a:p>
          <a:p>
            <a:pPr marL="0" indent="0">
              <a:buNone/>
            </a:pPr>
            <a:r>
              <a:rPr lang="en-US" dirty="0"/>
              <a:t> </a:t>
            </a:r>
            <a:r>
              <a:rPr lang="en-US" dirty="0" smtClean="0"/>
              <a:t>CHAIR_NAME </a:t>
            </a:r>
            <a:r>
              <a:rPr lang="en-US" dirty="0"/>
              <a:t>XX_TYPE_CHAIR := XX_TYPE_CHAIR();</a:t>
            </a:r>
          </a:p>
          <a:p>
            <a:pPr marL="0" indent="0">
              <a:buNone/>
            </a:pPr>
            <a:r>
              <a:rPr lang="en-US" dirty="0" smtClean="0"/>
              <a:t>BEGIN</a:t>
            </a:r>
            <a:endParaRPr lang="en-US" dirty="0"/>
          </a:p>
          <a:p>
            <a:pPr marL="0" indent="0">
              <a:buNone/>
            </a:pPr>
            <a:r>
              <a:rPr lang="en-US" dirty="0" smtClean="0"/>
              <a:t>FOR </a:t>
            </a:r>
            <a:r>
              <a:rPr lang="en-US" dirty="0"/>
              <a:t>I IN  1..5</a:t>
            </a:r>
          </a:p>
          <a:p>
            <a:pPr marL="0" indent="0">
              <a:buNone/>
            </a:pPr>
            <a:r>
              <a:rPr lang="en-US" dirty="0" smtClean="0"/>
              <a:t>LOOP</a:t>
            </a:r>
            <a:endParaRPr lang="en-US" dirty="0"/>
          </a:p>
          <a:p>
            <a:pPr marL="0" indent="0">
              <a:buNone/>
            </a:pPr>
            <a:r>
              <a:rPr lang="en-US" dirty="0" smtClean="0"/>
              <a:t>CHAIR_NAME.EXTEND;</a:t>
            </a:r>
            <a:endParaRPr lang="ru-RU" dirty="0"/>
          </a:p>
          <a:p>
            <a:pPr marL="0" indent="0">
              <a:buNone/>
            </a:pPr>
            <a:r>
              <a:rPr lang="en-US" dirty="0" smtClean="0"/>
              <a:t>CHAIR_NAME(I</a:t>
            </a:r>
            <a:r>
              <a:rPr lang="en-US" dirty="0"/>
              <a:t>) := </a:t>
            </a:r>
            <a:r>
              <a:rPr lang="en-US" dirty="0" smtClean="0"/>
              <a:t>'</a:t>
            </a:r>
            <a:r>
              <a:rPr lang="ru-RU" dirty="0" smtClean="0"/>
              <a:t>№</a:t>
            </a:r>
            <a:r>
              <a:rPr lang="ru-RU" dirty="0"/>
              <a:t>'||</a:t>
            </a:r>
            <a:r>
              <a:rPr lang="en-US" dirty="0"/>
              <a:t>TO_CHAR(I</a:t>
            </a:r>
            <a:r>
              <a:rPr lang="en-US" dirty="0" smtClean="0"/>
              <a:t>);</a:t>
            </a:r>
            <a:endParaRPr lang="ru-RU" dirty="0" smtClean="0"/>
          </a:p>
          <a:p>
            <a:pPr marL="0" indent="0">
              <a:buNone/>
            </a:pPr>
            <a:r>
              <a:rPr lang="en-US" dirty="0" smtClean="0"/>
              <a:t>END </a:t>
            </a:r>
            <a:r>
              <a:rPr lang="en-US" dirty="0"/>
              <a:t>LOOP;</a:t>
            </a:r>
          </a:p>
          <a:p>
            <a:pPr marL="0" indent="0">
              <a:buNone/>
            </a:pPr>
            <a:r>
              <a:rPr lang="en-US" dirty="0" smtClean="0"/>
              <a:t>DBMS_OUTPUT.PUT_LINE(‘</a:t>
            </a:r>
            <a:r>
              <a:rPr lang="ru-RU" dirty="0" smtClean="0"/>
              <a:t>Список:');</a:t>
            </a:r>
            <a:endParaRPr lang="ru-RU" dirty="0"/>
          </a:p>
          <a:p>
            <a:pPr marL="0" indent="0">
              <a:buNone/>
            </a:pPr>
            <a:r>
              <a:rPr lang="en-US" dirty="0" smtClean="0"/>
              <a:t>FOR </a:t>
            </a:r>
            <a:r>
              <a:rPr lang="en-US" dirty="0"/>
              <a:t>I IN </a:t>
            </a:r>
            <a:r>
              <a:rPr lang="en-US" dirty="0" smtClean="0"/>
              <a:t>REVERSE </a:t>
            </a:r>
            <a:r>
              <a:rPr lang="en-US" dirty="0"/>
              <a:t>CHAIR_NAME.FIRST..</a:t>
            </a:r>
            <a:r>
              <a:rPr lang="en-US" dirty="0" smtClean="0"/>
              <a:t>CHAIR_NAME.LAST</a:t>
            </a:r>
            <a:endParaRPr lang="ru-RU" dirty="0" smtClean="0"/>
          </a:p>
          <a:p>
            <a:pPr marL="0" indent="0">
              <a:buNone/>
            </a:pPr>
            <a:r>
              <a:rPr lang="en-US" dirty="0" smtClean="0"/>
              <a:t>LOOP</a:t>
            </a:r>
            <a:endParaRPr lang="ru-RU" dirty="0"/>
          </a:p>
          <a:p>
            <a:pPr marL="0" indent="0">
              <a:buNone/>
            </a:pPr>
            <a:r>
              <a:rPr lang="en-US" dirty="0" smtClean="0"/>
              <a:t>DBMS_OUTPUT.PUT_LINE(CHAIR_NAME(I</a:t>
            </a:r>
            <a:r>
              <a:rPr lang="en-US" dirty="0"/>
              <a:t>));</a:t>
            </a:r>
          </a:p>
          <a:p>
            <a:pPr marL="0" indent="0">
              <a:buNone/>
            </a:pPr>
            <a:r>
              <a:rPr lang="en-US" dirty="0" smtClean="0"/>
              <a:t>END LOOP;</a:t>
            </a:r>
            <a:endParaRPr lang="ru-RU" dirty="0" smtClean="0"/>
          </a:p>
          <a:p>
            <a:pPr marL="0" indent="0">
              <a:buNone/>
            </a:pPr>
            <a:r>
              <a:rPr lang="en-US" dirty="0" smtClean="0"/>
              <a:t>END</a:t>
            </a:r>
            <a:r>
              <a:rPr lang="en-US" dirty="0"/>
              <a:t>;</a:t>
            </a:r>
            <a:endParaRPr lang="ru-RU" dirty="0"/>
          </a:p>
        </p:txBody>
      </p:sp>
    </p:spTree>
    <p:extLst>
      <p:ext uri="{BB962C8B-B14F-4D97-AF65-F5344CB8AC3E}">
        <p14:creationId xmlns:p14="http://schemas.microsoft.com/office/powerpoint/2010/main" val="21512629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Цикл </a:t>
            </a:r>
            <a:r>
              <a:rPr lang="en-US" dirty="0"/>
              <a:t>FOR c </a:t>
            </a:r>
            <a:r>
              <a:rPr lang="ru-RU" dirty="0"/>
              <a:t>курсором</a:t>
            </a:r>
          </a:p>
        </p:txBody>
      </p:sp>
      <p:sp>
        <p:nvSpPr>
          <p:cNvPr id="3" name="Объект 2"/>
          <p:cNvSpPr>
            <a:spLocks noGrp="1"/>
          </p:cNvSpPr>
          <p:nvPr>
            <p:ph idx="1"/>
          </p:nvPr>
        </p:nvSpPr>
        <p:spPr>
          <a:xfrm>
            <a:off x="838200" y="1432874"/>
            <a:ext cx="10515600" cy="4800650"/>
          </a:xfrm>
        </p:spPr>
        <p:txBody>
          <a:bodyPr>
            <a:normAutofit/>
          </a:bodyPr>
          <a:lstStyle/>
          <a:p>
            <a:pPr marL="0" indent="0">
              <a:buNone/>
            </a:pPr>
            <a:r>
              <a:rPr lang="ru-RU" dirty="0"/>
              <a:t>Курсорная форма цикла FOR связывается с явно заданным курсором (а по сути, определяется им) или инструкцией SELECT, заданной непосредственно в границах цикла. </a:t>
            </a:r>
            <a:r>
              <a:rPr lang="ru-RU" dirty="0" smtClean="0"/>
              <a:t>Использовать </a:t>
            </a:r>
            <a:r>
              <a:rPr lang="ru-RU" dirty="0"/>
              <a:t>эту форму только в том случае, если вам нужно извлечь и обработать все записи </a:t>
            </a:r>
            <a:r>
              <a:rPr lang="ru-RU" dirty="0" smtClean="0"/>
              <a:t>курсора. Цикл FOR с курсором обеспечивает тесную и эффективную интеграцию процедурных конструкций с мощью языка доступа к базам данных SQL. Его применение заметно сокращает объем кода, необходимого для выборки данных из курсора, а также уменьшает вероятность возникновения ошибок при циклической обработке.</a:t>
            </a:r>
            <a:endParaRPr lang="ru-RU" dirty="0"/>
          </a:p>
        </p:txBody>
      </p:sp>
    </p:spTree>
    <p:extLst>
      <p:ext uri="{BB962C8B-B14F-4D97-AF65-F5344CB8AC3E}">
        <p14:creationId xmlns:p14="http://schemas.microsoft.com/office/powerpoint/2010/main" val="967643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Свойства цикла FOR с использованием курсора приведены в следующей таблице.</a:t>
            </a:r>
          </a:p>
        </p:txBody>
      </p:sp>
      <p:pic>
        <p:nvPicPr>
          <p:cNvPr id="4" name="Рисунок 3"/>
          <p:cNvPicPr>
            <a:picLocks noChangeAspect="1"/>
          </p:cNvPicPr>
          <p:nvPr/>
        </p:nvPicPr>
        <p:blipFill>
          <a:blip r:embed="rId2"/>
          <a:stretch>
            <a:fillRect/>
          </a:stretch>
        </p:blipFill>
        <p:spPr>
          <a:xfrm>
            <a:off x="562615" y="2309568"/>
            <a:ext cx="11215391" cy="2995608"/>
          </a:xfrm>
          <a:prstGeom prst="rect">
            <a:avLst/>
          </a:prstGeom>
        </p:spPr>
      </p:pic>
    </p:spTree>
    <p:extLst>
      <p:ext uri="{BB962C8B-B14F-4D97-AF65-F5344CB8AC3E}">
        <p14:creationId xmlns:p14="http://schemas.microsoft.com/office/powerpoint/2010/main" val="4034121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823863"/>
            <a:ext cx="10515600" cy="1011188"/>
          </a:xfrm>
        </p:spPr>
        <p:txBody>
          <a:bodyPr>
            <a:normAutofit fontScale="90000"/>
          </a:bodyPr>
          <a:lstStyle/>
          <a:p>
            <a:r>
              <a:rPr lang="ru-RU" dirty="0"/>
              <a:t>Базовый синтаксис цикла </a:t>
            </a:r>
            <a:r>
              <a:rPr lang="en-US" dirty="0"/>
              <a:t>FOR </a:t>
            </a:r>
            <a:r>
              <a:rPr lang="ru-RU" dirty="0"/>
              <a:t>с курсором: </a:t>
            </a:r>
            <a:r>
              <a:rPr lang="en-US" dirty="0"/>
              <a:t/>
            </a:r>
            <a:br>
              <a:rPr lang="en-US" dirty="0"/>
            </a:br>
            <a:endParaRPr lang="ru-RU" dirty="0"/>
          </a:p>
        </p:txBody>
      </p:sp>
      <p:sp>
        <p:nvSpPr>
          <p:cNvPr id="3" name="Объект 2"/>
          <p:cNvSpPr>
            <a:spLocks noGrp="1"/>
          </p:cNvSpPr>
          <p:nvPr>
            <p:ph idx="1"/>
          </p:nvPr>
        </p:nvSpPr>
        <p:spPr>
          <a:xfrm>
            <a:off x="838200" y="1835051"/>
            <a:ext cx="7853313" cy="4351338"/>
          </a:xfrm>
        </p:spPr>
        <p:txBody>
          <a:bodyPr/>
          <a:lstStyle/>
          <a:p>
            <a:pPr marL="0" indent="0">
              <a:buNone/>
            </a:pPr>
            <a:r>
              <a:rPr lang="en-US" dirty="0" smtClean="0"/>
              <a:t>FOR </a:t>
            </a:r>
            <a:r>
              <a:rPr lang="ru-RU" dirty="0"/>
              <a:t>запись </a:t>
            </a:r>
            <a:r>
              <a:rPr lang="en-US" dirty="0"/>
              <a:t>IN { </a:t>
            </a:r>
            <a:r>
              <a:rPr lang="ru-RU" dirty="0" err="1"/>
              <a:t>имя_курсора</a:t>
            </a:r>
            <a:r>
              <a:rPr lang="ru-RU" dirty="0"/>
              <a:t> | (команда_</a:t>
            </a:r>
            <a:r>
              <a:rPr lang="en-US" dirty="0"/>
              <a:t>SELECT) } </a:t>
            </a:r>
            <a:endParaRPr lang="en-US" dirty="0" smtClean="0"/>
          </a:p>
          <a:p>
            <a:pPr marL="0" indent="0">
              <a:buNone/>
            </a:pPr>
            <a:r>
              <a:rPr lang="en-US" dirty="0" smtClean="0"/>
              <a:t>LOOP </a:t>
            </a:r>
          </a:p>
          <a:p>
            <a:pPr marL="0" indent="0">
              <a:buNone/>
            </a:pPr>
            <a:r>
              <a:rPr lang="ru-RU" dirty="0" smtClean="0"/>
              <a:t>исполняемые команды</a:t>
            </a:r>
            <a:endParaRPr lang="en-US" dirty="0" smtClean="0"/>
          </a:p>
          <a:p>
            <a:pPr marL="0" indent="0">
              <a:buNone/>
            </a:pPr>
            <a:r>
              <a:rPr lang="en-US" dirty="0" smtClean="0"/>
              <a:t>END </a:t>
            </a:r>
            <a:r>
              <a:rPr lang="en-US" dirty="0"/>
              <a:t>LOOP;</a:t>
            </a:r>
            <a:endParaRPr lang="ru-RU" dirty="0"/>
          </a:p>
        </p:txBody>
      </p:sp>
    </p:spTree>
    <p:extLst>
      <p:ext uri="{BB962C8B-B14F-4D97-AF65-F5344CB8AC3E}">
        <p14:creationId xmlns:p14="http://schemas.microsoft.com/office/powerpoint/2010/main" val="37430382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Примеры цикла FOR с курсором</a:t>
            </a:r>
          </a:p>
        </p:txBody>
      </p:sp>
      <p:sp>
        <p:nvSpPr>
          <p:cNvPr id="3" name="Объект 2"/>
          <p:cNvSpPr>
            <a:spLocks noGrp="1"/>
          </p:cNvSpPr>
          <p:nvPr>
            <p:ph idx="1"/>
          </p:nvPr>
        </p:nvSpPr>
        <p:spPr/>
        <p:txBody>
          <a:bodyPr/>
          <a:lstStyle/>
          <a:p>
            <a:r>
              <a:rPr lang="ru-RU" dirty="0" smtClean="0"/>
              <a:t>Допустим</a:t>
            </a:r>
            <a:r>
              <a:rPr lang="ru-RU" dirty="0"/>
              <a:t>, нам необходимо обновить счета владельцев всех животных, живущих в специальном отеле. Следующий пример включает анонимный блок, в котором для выбора номера комнаты и идентификатора животного используется курсор </a:t>
            </a:r>
            <a:r>
              <a:rPr lang="ru-RU" dirty="0" err="1"/>
              <a:t>occupancy_cur</a:t>
            </a:r>
            <a:r>
              <a:rPr lang="ru-RU" dirty="0"/>
              <a:t>. Процедура </a:t>
            </a:r>
            <a:r>
              <a:rPr lang="ru-RU" dirty="0" err="1"/>
              <a:t>update_bill</a:t>
            </a:r>
            <a:r>
              <a:rPr lang="ru-RU" dirty="0"/>
              <a:t> вносит все изменения в счет:</a:t>
            </a:r>
          </a:p>
        </p:txBody>
      </p:sp>
    </p:spTree>
    <p:extLst>
      <p:ext uri="{BB962C8B-B14F-4D97-AF65-F5344CB8AC3E}">
        <p14:creationId xmlns:p14="http://schemas.microsoft.com/office/powerpoint/2010/main" val="25245156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16816" y="197963"/>
            <a:ext cx="11538409" cy="6660037"/>
          </a:xfrm>
        </p:spPr>
        <p:txBody>
          <a:bodyPr>
            <a:normAutofit fontScale="92500" lnSpcReduction="20000"/>
          </a:bodyPr>
          <a:lstStyle/>
          <a:p>
            <a:pPr marL="0" indent="0">
              <a:buNone/>
            </a:pPr>
            <a:endParaRPr lang="ru-RU" dirty="0" smtClean="0"/>
          </a:p>
          <a:p>
            <a:pPr marL="0" indent="0">
              <a:buNone/>
            </a:pPr>
            <a:r>
              <a:rPr lang="en-US" dirty="0" smtClean="0"/>
              <a:t>DECLARE </a:t>
            </a:r>
          </a:p>
          <a:p>
            <a:pPr marL="0" indent="0">
              <a:buNone/>
            </a:pPr>
            <a:r>
              <a:rPr lang="en-US" dirty="0" smtClean="0"/>
              <a:t>CURSOR </a:t>
            </a:r>
            <a:r>
              <a:rPr lang="en-US" dirty="0" err="1"/>
              <a:t>occupancy_cur</a:t>
            </a:r>
            <a:r>
              <a:rPr lang="en-US" dirty="0"/>
              <a:t> IS </a:t>
            </a:r>
            <a:endParaRPr lang="en-US" dirty="0" smtClean="0"/>
          </a:p>
          <a:p>
            <a:pPr marL="0" indent="0">
              <a:buNone/>
            </a:pPr>
            <a:r>
              <a:rPr lang="en-US" dirty="0" smtClean="0"/>
              <a:t>SELECT </a:t>
            </a:r>
            <a:r>
              <a:rPr lang="en-US" dirty="0" err="1"/>
              <a:t>pet_id</a:t>
            </a:r>
            <a:r>
              <a:rPr lang="en-US" dirty="0"/>
              <a:t>, </a:t>
            </a:r>
            <a:r>
              <a:rPr lang="en-US" dirty="0" err="1"/>
              <a:t>room_number</a:t>
            </a:r>
            <a:r>
              <a:rPr lang="en-US" dirty="0"/>
              <a:t> </a:t>
            </a:r>
            <a:r>
              <a:rPr lang="en-US" dirty="0" smtClean="0"/>
              <a:t>FROM </a:t>
            </a:r>
            <a:r>
              <a:rPr lang="en-US" dirty="0"/>
              <a:t>occupancy WHERE </a:t>
            </a:r>
            <a:r>
              <a:rPr lang="en-US" dirty="0" err="1"/>
              <a:t>occupied_dt</a:t>
            </a:r>
            <a:r>
              <a:rPr lang="en-US" dirty="0"/>
              <a:t> = TRUNC (SYSDATE); </a:t>
            </a:r>
            <a:endParaRPr lang="en-US" dirty="0" smtClean="0"/>
          </a:p>
          <a:p>
            <a:pPr marL="0" indent="0">
              <a:buNone/>
            </a:pPr>
            <a:r>
              <a:rPr lang="en-US" dirty="0" err="1" smtClean="0"/>
              <a:t>occupancy_rec</a:t>
            </a:r>
            <a:r>
              <a:rPr lang="en-US" dirty="0" smtClean="0"/>
              <a:t> </a:t>
            </a:r>
            <a:r>
              <a:rPr lang="en-US" dirty="0" err="1"/>
              <a:t>occupancy_cur%ROWTYPE</a:t>
            </a:r>
            <a:r>
              <a:rPr lang="en-US" dirty="0"/>
              <a:t>; </a:t>
            </a:r>
            <a:endParaRPr lang="en-US" dirty="0" smtClean="0"/>
          </a:p>
          <a:p>
            <a:pPr marL="0" indent="0">
              <a:buNone/>
            </a:pPr>
            <a:r>
              <a:rPr lang="en-US" dirty="0" smtClean="0"/>
              <a:t>BEGIN </a:t>
            </a:r>
          </a:p>
          <a:p>
            <a:pPr marL="0" indent="0">
              <a:buNone/>
            </a:pPr>
            <a:r>
              <a:rPr lang="en-US" dirty="0" smtClean="0"/>
              <a:t>OPEN </a:t>
            </a:r>
            <a:r>
              <a:rPr lang="en-US" dirty="0" err="1"/>
              <a:t>occupancy_cur</a:t>
            </a:r>
            <a:r>
              <a:rPr lang="en-US" dirty="0"/>
              <a:t>; </a:t>
            </a:r>
            <a:endParaRPr lang="en-US" dirty="0" smtClean="0"/>
          </a:p>
          <a:p>
            <a:pPr marL="0" indent="0">
              <a:buNone/>
            </a:pPr>
            <a:r>
              <a:rPr lang="en-US" dirty="0" smtClean="0"/>
              <a:t>LOOP </a:t>
            </a:r>
          </a:p>
          <a:p>
            <a:pPr marL="0" indent="0">
              <a:buNone/>
            </a:pPr>
            <a:r>
              <a:rPr lang="en-US" dirty="0" smtClean="0"/>
              <a:t>FETCH </a:t>
            </a:r>
            <a:r>
              <a:rPr lang="en-US" dirty="0" err="1"/>
              <a:t>occupancy_cur</a:t>
            </a:r>
            <a:r>
              <a:rPr lang="en-US" dirty="0"/>
              <a:t> INTO </a:t>
            </a:r>
            <a:r>
              <a:rPr lang="en-US" dirty="0" err="1"/>
              <a:t>occupancy_rec</a:t>
            </a:r>
            <a:r>
              <a:rPr lang="en-US" dirty="0" smtClean="0"/>
              <a:t>;</a:t>
            </a:r>
          </a:p>
          <a:p>
            <a:pPr marL="0" indent="0">
              <a:buNone/>
            </a:pPr>
            <a:r>
              <a:rPr lang="en-US" dirty="0" smtClean="0"/>
              <a:t>EXIT </a:t>
            </a:r>
            <a:r>
              <a:rPr lang="en-US" dirty="0"/>
              <a:t>WHEN </a:t>
            </a:r>
            <a:r>
              <a:rPr lang="en-US" dirty="0" err="1"/>
              <a:t>occupancy_cur%NOTFOUND</a:t>
            </a:r>
            <a:r>
              <a:rPr lang="en-US" dirty="0"/>
              <a:t>; </a:t>
            </a:r>
            <a:endParaRPr lang="en-US" dirty="0" smtClean="0"/>
          </a:p>
          <a:p>
            <a:pPr marL="0" indent="0">
              <a:buNone/>
            </a:pPr>
            <a:r>
              <a:rPr lang="en-US" dirty="0" err="1" smtClean="0"/>
              <a:t>update_bill</a:t>
            </a:r>
            <a:r>
              <a:rPr lang="en-US" dirty="0" smtClean="0"/>
              <a:t> </a:t>
            </a:r>
          </a:p>
          <a:p>
            <a:pPr marL="0" indent="0">
              <a:buNone/>
            </a:pPr>
            <a:r>
              <a:rPr lang="en-US" dirty="0" smtClean="0"/>
              <a:t>(</a:t>
            </a:r>
            <a:r>
              <a:rPr lang="en-US" dirty="0" err="1"/>
              <a:t>occupancy_rec.pet_id</a:t>
            </a:r>
            <a:r>
              <a:rPr lang="en-US" dirty="0"/>
              <a:t>, </a:t>
            </a:r>
            <a:r>
              <a:rPr lang="en-US" dirty="0" err="1"/>
              <a:t>occupancy_rec.room_number</a:t>
            </a:r>
            <a:r>
              <a:rPr lang="en-US" dirty="0"/>
              <a:t>); </a:t>
            </a:r>
            <a:endParaRPr lang="en-US" dirty="0" smtClean="0"/>
          </a:p>
          <a:p>
            <a:pPr marL="0" indent="0">
              <a:buNone/>
            </a:pPr>
            <a:r>
              <a:rPr lang="en-US" dirty="0" smtClean="0"/>
              <a:t>END </a:t>
            </a:r>
            <a:r>
              <a:rPr lang="en-US" dirty="0"/>
              <a:t>LOOP; </a:t>
            </a:r>
            <a:endParaRPr lang="en-US" dirty="0" smtClean="0"/>
          </a:p>
          <a:p>
            <a:pPr marL="0" indent="0">
              <a:buNone/>
            </a:pPr>
            <a:r>
              <a:rPr lang="en-US" dirty="0" smtClean="0"/>
              <a:t> </a:t>
            </a:r>
            <a:r>
              <a:rPr lang="en-US" dirty="0"/>
              <a:t>CLOSE </a:t>
            </a:r>
            <a:r>
              <a:rPr lang="en-US" dirty="0" err="1"/>
              <a:t>occupancy_cur</a:t>
            </a:r>
            <a:r>
              <a:rPr lang="en-US" dirty="0"/>
              <a:t>; </a:t>
            </a:r>
            <a:endParaRPr lang="en-US" dirty="0" smtClean="0"/>
          </a:p>
          <a:p>
            <a:pPr marL="0" indent="0">
              <a:buNone/>
            </a:pPr>
            <a:r>
              <a:rPr lang="en-US" dirty="0" smtClean="0"/>
              <a:t>END</a:t>
            </a:r>
            <a:r>
              <a:rPr lang="en-US" dirty="0"/>
              <a:t>;</a:t>
            </a:r>
            <a:endParaRPr lang="ru-RU" dirty="0"/>
          </a:p>
        </p:txBody>
      </p:sp>
    </p:spTree>
    <p:extLst>
      <p:ext uri="{BB962C8B-B14F-4D97-AF65-F5344CB8AC3E}">
        <p14:creationId xmlns:p14="http://schemas.microsoft.com/office/powerpoint/2010/main" val="25581565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584462" y="716438"/>
            <a:ext cx="10948447" cy="5429838"/>
          </a:xfrm>
        </p:spPr>
        <p:txBody>
          <a:bodyPr>
            <a:normAutofit fontScale="92500" lnSpcReduction="20000"/>
          </a:bodyPr>
          <a:lstStyle/>
          <a:p>
            <a:pPr marL="0" indent="0">
              <a:buNone/>
            </a:pPr>
            <a:r>
              <a:rPr lang="ru-RU" dirty="0"/>
              <a:t>Вот что получится, если переписать тот же код с использованием цикла </a:t>
            </a:r>
            <a:r>
              <a:rPr lang="en-US" dirty="0"/>
              <a:t>FOR </a:t>
            </a:r>
            <a:r>
              <a:rPr lang="ru-RU" dirty="0"/>
              <a:t>с курсором</a:t>
            </a:r>
            <a:r>
              <a:rPr lang="ru-RU" dirty="0" smtClean="0"/>
              <a:t>:</a:t>
            </a:r>
            <a:endParaRPr lang="en-US" dirty="0" smtClean="0"/>
          </a:p>
          <a:p>
            <a:endParaRPr lang="ru-RU" dirty="0" smtClean="0"/>
          </a:p>
          <a:p>
            <a:pPr marL="0" indent="0">
              <a:buNone/>
            </a:pPr>
            <a:r>
              <a:rPr lang="ru-RU" dirty="0" smtClean="0"/>
              <a:t> </a:t>
            </a:r>
            <a:r>
              <a:rPr lang="en-US" dirty="0"/>
              <a:t>DECLARE </a:t>
            </a:r>
            <a:endParaRPr lang="ru-RU" dirty="0" smtClean="0"/>
          </a:p>
          <a:p>
            <a:pPr marL="0" indent="0">
              <a:buNone/>
            </a:pPr>
            <a:r>
              <a:rPr lang="en-US" dirty="0" smtClean="0"/>
              <a:t>CURSOR </a:t>
            </a:r>
            <a:r>
              <a:rPr lang="en-US" dirty="0" err="1" smtClean="0"/>
              <a:t>occupancy_cur</a:t>
            </a:r>
            <a:endParaRPr lang="ru-RU" dirty="0" smtClean="0"/>
          </a:p>
          <a:p>
            <a:pPr marL="0" indent="0">
              <a:buNone/>
            </a:pPr>
            <a:r>
              <a:rPr lang="en-US" dirty="0" smtClean="0"/>
              <a:t> </a:t>
            </a:r>
            <a:r>
              <a:rPr lang="en-US" dirty="0"/>
              <a:t>IS SELECT </a:t>
            </a:r>
            <a:r>
              <a:rPr lang="en-US" dirty="0" err="1"/>
              <a:t>pet_id</a:t>
            </a:r>
            <a:r>
              <a:rPr lang="en-US" dirty="0"/>
              <a:t>, </a:t>
            </a:r>
            <a:r>
              <a:rPr lang="en-US" dirty="0" err="1" smtClean="0"/>
              <a:t>room_number</a:t>
            </a:r>
            <a:endParaRPr lang="ru-RU" dirty="0" smtClean="0"/>
          </a:p>
          <a:p>
            <a:pPr marL="0" indent="0">
              <a:buNone/>
            </a:pPr>
            <a:r>
              <a:rPr lang="en-US" dirty="0" smtClean="0"/>
              <a:t> </a:t>
            </a:r>
            <a:r>
              <a:rPr lang="en-US" dirty="0"/>
              <a:t>FROM occupancy </a:t>
            </a:r>
            <a:endParaRPr lang="ru-RU" dirty="0" smtClean="0"/>
          </a:p>
          <a:p>
            <a:pPr marL="0" indent="0">
              <a:buNone/>
            </a:pPr>
            <a:r>
              <a:rPr lang="en-US" dirty="0" smtClean="0"/>
              <a:t>WHERE </a:t>
            </a:r>
            <a:r>
              <a:rPr lang="en-US" dirty="0" err="1"/>
              <a:t>occupied_dt</a:t>
            </a:r>
            <a:r>
              <a:rPr lang="en-US" dirty="0"/>
              <a:t> = TRUNC (SYSDATE); </a:t>
            </a:r>
            <a:endParaRPr lang="ru-RU" dirty="0" smtClean="0"/>
          </a:p>
          <a:p>
            <a:pPr marL="0" indent="0">
              <a:buNone/>
            </a:pPr>
            <a:r>
              <a:rPr lang="en-US" dirty="0" smtClean="0"/>
              <a:t>BEGIN</a:t>
            </a:r>
            <a:endParaRPr lang="ru-RU" dirty="0" smtClean="0"/>
          </a:p>
          <a:p>
            <a:pPr marL="0" indent="0">
              <a:buNone/>
            </a:pPr>
            <a:r>
              <a:rPr lang="en-US" dirty="0" smtClean="0"/>
              <a:t> </a:t>
            </a:r>
            <a:r>
              <a:rPr lang="en-US" dirty="0"/>
              <a:t>FOR </a:t>
            </a:r>
            <a:r>
              <a:rPr lang="en-US" dirty="0" err="1"/>
              <a:t>occupancy_rec</a:t>
            </a:r>
            <a:r>
              <a:rPr lang="en-US" dirty="0"/>
              <a:t> IN </a:t>
            </a:r>
            <a:r>
              <a:rPr lang="en-US" dirty="0" err="1" smtClean="0"/>
              <a:t>occupancy_cur</a:t>
            </a:r>
            <a:endParaRPr lang="ru-RU" dirty="0" smtClean="0"/>
          </a:p>
          <a:p>
            <a:pPr marL="0" indent="0">
              <a:buNone/>
            </a:pPr>
            <a:r>
              <a:rPr lang="en-US" dirty="0" smtClean="0"/>
              <a:t> LOOP</a:t>
            </a:r>
            <a:endParaRPr lang="ru-RU" dirty="0" smtClean="0"/>
          </a:p>
          <a:p>
            <a:pPr marL="0" indent="0">
              <a:buNone/>
            </a:pPr>
            <a:r>
              <a:rPr lang="en-US" dirty="0" smtClean="0"/>
              <a:t> </a:t>
            </a:r>
            <a:r>
              <a:rPr lang="en-US" dirty="0" err="1"/>
              <a:t>update_bill</a:t>
            </a:r>
            <a:r>
              <a:rPr lang="en-US" dirty="0"/>
              <a:t> (</a:t>
            </a:r>
            <a:r>
              <a:rPr lang="en-US" dirty="0" err="1"/>
              <a:t>occupancy_rec.pet_id</a:t>
            </a:r>
            <a:r>
              <a:rPr lang="en-US" dirty="0"/>
              <a:t>, </a:t>
            </a:r>
            <a:r>
              <a:rPr lang="en-US" dirty="0" err="1"/>
              <a:t>occupancy_rec.room_number</a:t>
            </a:r>
            <a:r>
              <a:rPr lang="en-US" dirty="0"/>
              <a:t>); </a:t>
            </a:r>
            <a:endParaRPr lang="ru-RU" dirty="0" smtClean="0"/>
          </a:p>
          <a:p>
            <a:pPr marL="0" indent="0">
              <a:buNone/>
            </a:pPr>
            <a:r>
              <a:rPr lang="en-US" dirty="0" smtClean="0"/>
              <a:t>END </a:t>
            </a:r>
            <a:r>
              <a:rPr lang="en-US" dirty="0"/>
              <a:t>LOOP; END;</a:t>
            </a:r>
            <a:endParaRPr lang="ru-RU" dirty="0"/>
          </a:p>
        </p:txBody>
      </p:sp>
    </p:spTree>
    <p:extLst>
      <p:ext uri="{BB962C8B-B14F-4D97-AF65-F5344CB8AC3E}">
        <p14:creationId xmlns:p14="http://schemas.microsoft.com/office/powerpoint/2010/main" val="2835835316"/>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TotalTime>
  <Words>852</Words>
  <Application>Microsoft Office PowerPoint</Application>
  <PresentationFormat>Широкоэкранный</PresentationFormat>
  <Paragraphs>112</Paragraphs>
  <Slides>16</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Arial</vt:lpstr>
      <vt:lpstr>Calibri</vt:lpstr>
      <vt:lpstr>Calibri Light</vt:lpstr>
      <vt:lpstr>Тема Office</vt:lpstr>
      <vt:lpstr>Цикл FOR LOOP, ключевое слово REVERSE</vt:lpstr>
      <vt:lpstr>Презентация PowerPoint</vt:lpstr>
      <vt:lpstr>Цикл FOR со счетчиком </vt:lpstr>
      <vt:lpstr>Свойства цикла FOR с числовым счетчиком приведены в следующей таблице</vt:lpstr>
      <vt:lpstr>Базовый синтаксис цикла FOR с курсором</vt:lpstr>
      <vt:lpstr>Презентация PowerPoint</vt:lpstr>
      <vt:lpstr>Примеры использования</vt:lpstr>
      <vt:lpstr>Презентация PowerPoint</vt:lpstr>
      <vt:lpstr>Презентация PowerPoint</vt:lpstr>
      <vt:lpstr>Презентация PowerPoint</vt:lpstr>
      <vt:lpstr>Цикл FOR c курсором</vt:lpstr>
      <vt:lpstr>Свойства цикла FOR с использованием курсора приведены в следующей таблице.</vt:lpstr>
      <vt:lpstr>Базовый синтаксис цикла FOR с курсором:  </vt:lpstr>
      <vt:lpstr>Примеры цикла FOR с курсором</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Для обратного цикла в конструкции FOR LOOP следует указать ключевое слово REVERSE</dc:title>
  <dc:creator>Валерия Луговская</dc:creator>
  <cp:lastModifiedBy>Валерия Луговская</cp:lastModifiedBy>
  <cp:revision>19</cp:revision>
  <dcterms:created xsi:type="dcterms:W3CDTF">2022-02-16T16:58:25Z</dcterms:created>
  <dcterms:modified xsi:type="dcterms:W3CDTF">2022-02-17T18:03:31Z</dcterms:modified>
</cp:coreProperties>
</file>