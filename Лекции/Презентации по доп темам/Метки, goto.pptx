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9" r:id="rId4"/>
    <p:sldId id="258" r:id="rId5"/>
    <p:sldId id="260" r:id="rId6"/>
    <p:sldId id="261" r:id="rId7"/>
    <p:sldId id="262" r:id="rId8"/>
    <p:sldId id="263" r:id="rId9"/>
    <p:sldId id="265" r:id="rId10"/>
    <p:sldId id="264"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005" autoAdjust="0"/>
  </p:normalViewPr>
  <p:slideViewPr>
    <p:cSldViewPr snapToGrid="0">
      <p:cViewPr varScale="1">
        <p:scale>
          <a:sx n="65" d="100"/>
          <a:sy n="65" d="100"/>
        </p:scale>
        <p:origin x="90"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FAE366BE-851A-4697-BA99-10C673C01CA2}" type="datetimeFigureOut">
              <a:rPr lang="ru-RU" smtClean="0"/>
              <a:t>19.02.2022</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983C4FF4-4344-4F41-8F79-12C7B22CA6D6}" type="slidenum">
              <a:rPr lang="ru-RU" smtClean="0"/>
              <a:t>‹#›</a:t>
            </a:fld>
            <a:endParaRPr lang="ru-RU"/>
          </a:p>
        </p:txBody>
      </p:sp>
    </p:spTree>
    <p:extLst>
      <p:ext uri="{BB962C8B-B14F-4D97-AF65-F5344CB8AC3E}">
        <p14:creationId xmlns:p14="http://schemas.microsoft.com/office/powerpoint/2010/main" val="32300341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FAE366BE-851A-4697-BA99-10C673C01CA2}" type="datetimeFigureOut">
              <a:rPr lang="ru-RU" smtClean="0"/>
              <a:t>19.02.2022</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983C4FF4-4344-4F41-8F79-12C7B22CA6D6}" type="slidenum">
              <a:rPr lang="ru-RU" smtClean="0"/>
              <a:t>‹#›</a:t>
            </a:fld>
            <a:endParaRPr lang="ru-RU"/>
          </a:p>
        </p:txBody>
      </p:sp>
    </p:spTree>
    <p:extLst>
      <p:ext uri="{BB962C8B-B14F-4D97-AF65-F5344CB8AC3E}">
        <p14:creationId xmlns:p14="http://schemas.microsoft.com/office/powerpoint/2010/main" val="22487188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FAE366BE-851A-4697-BA99-10C673C01CA2}" type="datetimeFigureOut">
              <a:rPr lang="ru-RU" smtClean="0"/>
              <a:t>19.02.2022</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983C4FF4-4344-4F41-8F79-12C7B22CA6D6}" type="slidenum">
              <a:rPr lang="ru-RU" smtClean="0"/>
              <a:t>‹#›</a:t>
            </a:fld>
            <a:endParaRPr lang="ru-RU"/>
          </a:p>
        </p:txBody>
      </p:sp>
    </p:spTree>
    <p:extLst>
      <p:ext uri="{BB962C8B-B14F-4D97-AF65-F5344CB8AC3E}">
        <p14:creationId xmlns:p14="http://schemas.microsoft.com/office/powerpoint/2010/main" val="11588411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FAE366BE-851A-4697-BA99-10C673C01CA2}" type="datetimeFigureOut">
              <a:rPr lang="ru-RU" smtClean="0"/>
              <a:t>19.02.2022</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983C4FF4-4344-4F41-8F79-12C7B22CA6D6}" type="slidenum">
              <a:rPr lang="ru-RU" smtClean="0"/>
              <a:t>‹#›</a:t>
            </a:fld>
            <a:endParaRPr lang="ru-RU"/>
          </a:p>
        </p:txBody>
      </p:sp>
    </p:spTree>
    <p:extLst>
      <p:ext uri="{BB962C8B-B14F-4D97-AF65-F5344CB8AC3E}">
        <p14:creationId xmlns:p14="http://schemas.microsoft.com/office/powerpoint/2010/main" val="3860375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ru-RU"/>
              <a:t>Образец заголовка</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FAE366BE-851A-4697-BA99-10C673C01CA2}" type="datetimeFigureOut">
              <a:rPr lang="ru-RU" smtClean="0"/>
              <a:t>19.02.2022</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983C4FF4-4344-4F41-8F79-12C7B22CA6D6}" type="slidenum">
              <a:rPr lang="ru-RU" smtClean="0"/>
              <a:t>‹#›</a:t>
            </a:fld>
            <a:endParaRPr lang="ru-RU"/>
          </a:p>
        </p:txBody>
      </p:sp>
    </p:spTree>
    <p:extLst>
      <p:ext uri="{BB962C8B-B14F-4D97-AF65-F5344CB8AC3E}">
        <p14:creationId xmlns:p14="http://schemas.microsoft.com/office/powerpoint/2010/main" val="2842615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FAE366BE-851A-4697-BA99-10C673C01CA2}" type="datetimeFigureOut">
              <a:rPr lang="ru-RU" smtClean="0"/>
              <a:t>19.02.2022</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983C4FF4-4344-4F41-8F79-12C7B22CA6D6}" type="slidenum">
              <a:rPr lang="ru-RU" smtClean="0"/>
              <a:t>‹#›</a:t>
            </a:fld>
            <a:endParaRPr lang="ru-RU"/>
          </a:p>
        </p:txBody>
      </p:sp>
    </p:spTree>
    <p:extLst>
      <p:ext uri="{BB962C8B-B14F-4D97-AF65-F5344CB8AC3E}">
        <p14:creationId xmlns:p14="http://schemas.microsoft.com/office/powerpoint/2010/main" val="1379824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E366BE-851A-4697-BA99-10C673C01CA2}" type="datetimeFigureOut">
              <a:rPr lang="ru-RU" smtClean="0"/>
              <a:t>19.02.2022</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983C4FF4-4344-4F41-8F79-12C7B22CA6D6}" type="slidenum">
              <a:rPr lang="ru-RU" smtClean="0"/>
              <a:t>‹#›</a:t>
            </a:fld>
            <a:endParaRPr lang="ru-RU"/>
          </a:p>
        </p:txBody>
      </p:sp>
    </p:spTree>
    <p:extLst>
      <p:ext uri="{BB962C8B-B14F-4D97-AF65-F5344CB8AC3E}">
        <p14:creationId xmlns:p14="http://schemas.microsoft.com/office/powerpoint/2010/main" val="1473591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FAE366BE-851A-4697-BA99-10C673C01CA2}" type="datetimeFigureOut">
              <a:rPr lang="ru-RU" smtClean="0"/>
              <a:t>19.02.2022</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983C4FF4-4344-4F41-8F79-12C7B22CA6D6}" type="slidenum">
              <a:rPr lang="ru-RU" smtClean="0"/>
              <a:t>‹#›</a:t>
            </a:fld>
            <a:endParaRPr lang="ru-RU"/>
          </a:p>
        </p:txBody>
      </p:sp>
    </p:spTree>
    <p:extLst>
      <p:ext uri="{BB962C8B-B14F-4D97-AF65-F5344CB8AC3E}">
        <p14:creationId xmlns:p14="http://schemas.microsoft.com/office/powerpoint/2010/main" val="32512955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FAE366BE-851A-4697-BA99-10C673C01CA2}" type="datetimeFigureOut">
              <a:rPr lang="ru-RU" smtClean="0"/>
              <a:t>19.02.2022</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983C4FF4-4344-4F41-8F79-12C7B22CA6D6}" type="slidenum">
              <a:rPr lang="ru-RU" smtClean="0"/>
              <a:t>‹#›</a:t>
            </a:fld>
            <a:endParaRPr lang="ru-RU"/>
          </a:p>
        </p:txBody>
      </p:sp>
    </p:spTree>
    <p:extLst>
      <p:ext uri="{BB962C8B-B14F-4D97-AF65-F5344CB8AC3E}">
        <p14:creationId xmlns:p14="http://schemas.microsoft.com/office/powerpoint/2010/main" val="4174571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FAE366BE-851A-4697-BA99-10C673C01CA2}" type="datetimeFigureOut">
              <a:rPr lang="ru-RU" smtClean="0"/>
              <a:t>19.02.2022</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983C4FF4-4344-4F41-8F79-12C7B22CA6D6}" type="slidenum">
              <a:rPr lang="ru-RU" smtClean="0"/>
              <a:t>‹#›</a:t>
            </a:fld>
            <a:endParaRPr lang="ru-RU"/>
          </a:p>
        </p:txBody>
      </p:sp>
    </p:spTree>
    <p:extLst>
      <p:ext uri="{BB962C8B-B14F-4D97-AF65-F5344CB8AC3E}">
        <p14:creationId xmlns:p14="http://schemas.microsoft.com/office/powerpoint/2010/main" val="1773796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FAE366BE-851A-4697-BA99-10C673C01CA2}" type="datetimeFigureOut">
              <a:rPr lang="ru-RU" smtClean="0"/>
              <a:t>19.02.2022</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983C4FF4-4344-4F41-8F79-12C7B22CA6D6}" type="slidenum">
              <a:rPr lang="ru-RU" smtClean="0"/>
              <a:t>‹#›</a:t>
            </a:fld>
            <a:endParaRPr lang="ru-RU"/>
          </a:p>
        </p:txBody>
      </p:sp>
    </p:spTree>
    <p:extLst>
      <p:ext uri="{BB962C8B-B14F-4D97-AF65-F5344CB8AC3E}">
        <p14:creationId xmlns:p14="http://schemas.microsoft.com/office/powerpoint/2010/main" val="2245878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E366BE-851A-4697-BA99-10C673C01CA2}" type="datetimeFigureOut">
              <a:rPr lang="ru-RU" smtClean="0"/>
              <a:t>19.02.2022</a:t>
            </a:fld>
            <a:endParaRPr lang="ru-R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3C4FF4-4344-4F41-8F79-12C7B22CA6D6}" type="slidenum">
              <a:rPr lang="ru-RU" smtClean="0"/>
              <a:t>‹#›</a:t>
            </a:fld>
            <a:endParaRPr lang="ru-RU"/>
          </a:p>
        </p:txBody>
      </p:sp>
    </p:spTree>
    <p:extLst>
      <p:ext uri="{BB962C8B-B14F-4D97-AF65-F5344CB8AC3E}">
        <p14:creationId xmlns:p14="http://schemas.microsoft.com/office/powerpoint/2010/main" val="139734180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D8386171-E87D-46AB-8718-4CE2A88748B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26">
            <a:extLst>
              <a:ext uri="{FF2B5EF4-FFF2-40B4-BE49-F238E27FC236}">
                <a16:creationId xmlns:a16="http://schemas.microsoft.com/office/drawing/2014/main" xmlns="" id="{207CB456-8849-413C-8210-B663779A32E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46745" y="640080"/>
            <a:ext cx="10920415" cy="5577818"/>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E513936D-D1EB-4E42-A97F-942BA1F3DFA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xmlns="" id="{C56E6690-BA8B-4FCA-BB1E-5740585884D5}"/>
              </a:ext>
            </a:extLst>
          </p:cNvPr>
          <p:cNvSpPr>
            <a:spLocks noGrp="1"/>
          </p:cNvSpPr>
          <p:nvPr>
            <p:ph type="ctrTitle"/>
          </p:nvPr>
        </p:nvSpPr>
        <p:spPr>
          <a:xfrm>
            <a:off x="1524000" y="1376363"/>
            <a:ext cx="9144000" cy="2521594"/>
          </a:xfrm>
        </p:spPr>
        <p:txBody>
          <a:bodyPr>
            <a:normAutofit/>
          </a:bodyPr>
          <a:lstStyle/>
          <a:p>
            <a:r>
              <a:rPr lang="ru-RU" sz="7000"/>
              <a:t>Метки, оператор </a:t>
            </a:r>
            <a:r>
              <a:rPr lang="en-US" sz="7000"/>
              <a:t>GOTO</a:t>
            </a:r>
            <a:r>
              <a:rPr lang="ru-RU" sz="7000"/>
              <a:t> </a:t>
            </a:r>
            <a:r>
              <a:rPr lang="en-US" sz="7000"/>
              <a:t>PL/SQL</a:t>
            </a:r>
            <a:endParaRPr lang="ru-RU" sz="7000"/>
          </a:p>
        </p:txBody>
      </p:sp>
      <p:sp>
        <p:nvSpPr>
          <p:cNvPr id="3" name="Подзаголовок 2">
            <a:extLst>
              <a:ext uri="{FF2B5EF4-FFF2-40B4-BE49-F238E27FC236}">
                <a16:creationId xmlns:a16="http://schemas.microsoft.com/office/drawing/2014/main" xmlns="" id="{F88724A0-278F-4275-9EDB-3E4F038BC141}"/>
              </a:ext>
            </a:extLst>
          </p:cNvPr>
          <p:cNvSpPr>
            <a:spLocks noGrp="1"/>
          </p:cNvSpPr>
          <p:nvPr>
            <p:ph type="subTitle" idx="1"/>
          </p:nvPr>
        </p:nvSpPr>
        <p:spPr>
          <a:xfrm>
            <a:off x="1524000" y="4617728"/>
            <a:ext cx="9144000" cy="944339"/>
          </a:xfrm>
        </p:spPr>
        <p:txBody>
          <a:bodyPr>
            <a:normAutofit/>
          </a:bodyPr>
          <a:lstStyle/>
          <a:p>
            <a:endParaRPr lang="ru-RU" dirty="0"/>
          </a:p>
        </p:txBody>
      </p:sp>
      <p:cxnSp>
        <p:nvCxnSpPr>
          <p:cNvPr id="14" name="Straight Connector 13">
            <a:extLst>
              <a:ext uri="{FF2B5EF4-FFF2-40B4-BE49-F238E27FC236}">
                <a16:creationId xmlns:a16="http://schemas.microsoft.com/office/drawing/2014/main" xmlns="" id="{AFA75EE9-0DE4-4982-A870-290AD61EAAD7}"/>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3352800" y="4479276"/>
            <a:ext cx="548640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27447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696672D6-8FC2-4F99-9558-4AD7E84953BE}"/>
              </a:ext>
            </a:extLst>
          </p:cNvPr>
          <p:cNvSpPr>
            <a:spLocks noGrp="1"/>
          </p:cNvSpPr>
          <p:nvPr>
            <p:ph type="title"/>
          </p:nvPr>
        </p:nvSpPr>
        <p:spPr/>
        <p:txBody>
          <a:bodyPr/>
          <a:lstStyle/>
          <a:p>
            <a:pPr algn="ctr"/>
            <a:r>
              <a:rPr lang="ru-RU" dirty="0"/>
              <a:t>Метки</a:t>
            </a:r>
          </a:p>
        </p:txBody>
      </p:sp>
      <p:sp>
        <p:nvSpPr>
          <p:cNvPr id="3" name="Объект 2">
            <a:extLst>
              <a:ext uri="{FF2B5EF4-FFF2-40B4-BE49-F238E27FC236}">
                <a16:creationId xmlns:a16="http://schemas.microsoft.com/office/drawing/2014/main" xmlns="" id="{D25279F3-53A7-4BE9-822A-639FCF1EC668}"/>
              </a:ext>
            </a:extLst>
          </p:cNvPr>
          <p:cNvSpPr>
            <a:spLocks noGrp="1"/>
          </p:cNvSpPr>
          <p:nvPr>
            <p:ph idx="1"/>
          </p:nvPr>
        </p:nvSpPr>
        <p:spPr/>
        <p:txBody>
          <a:bodyPr/>
          <a:lstStyle/>
          <a:p>
            <a:pPr marL="0" indent="0">
              <a:buNone/>
            </a:pPr>
            <a:r>
              <a:rPr lang="ru-RU" b="1" dirty="0"/>
              <a:t>	Метки</a:t>
            </a:r>
            <a:r>
              <a:rPr lang="ru-RU" dirty="0"/>
              <a:t> PL/SQL предназначены для присваивания имени определенной части программы. Синтаксис метки:</a:t>
            </a:r>
          </a:p>
          <a:p>
            <a:pPr marL="0" indent="0">
              <a:buNone/>
            </a:pPr>
            <a:r>
              <a:rPr lang="ru-RU" dirty="0"/>
              <a:t>&lt;&lt;идентификатор&gt;&gt; </a:t>
            </a:r>
          </a:p>
          <a:p>
            <a:pPr marL="0" indent="0">
              <a:buNone/>
            </a:pPr>
            <a:r>
              <a:rPr lang="ru-RU" dirty="0"/>
              <a:t>	Здесь </a:t>
            </a:r>
            <a:r>
              <a:rPr lang="ru-RU" b="1" dirty="0"/>
              <a:t>идентификатор</a:t>
            </a:r>
            <a:r>
              <a:rPr lang="ru-RU" dirty="0"/>
              <a:t> — это допустимый идентификатор PL/SQL</a:t>
            </a:r>
            <a:r>
              <a:rPr lang="en-US" dirty="0"/>
              <a:t>:</a:t>
            </a:r>
            <a:r>
              <a:rPr lang="ru-RU" dirty="0"/>
              <a:t> длина до 30 символов и начинается с буквы, может включать символы «$», «_» и «#», не должен содержать пропусков. Различие двух идентификаторов в регистре одного или </a:t>
            </a:r>
            <a:r>
              <a:rPr lang="ru-RU" dirty="0" err="1"/>
              <a:t>неск</a:t>
            </a:r>
            <a:r>
              <a:rPr lang="ru-RU" dirty="0"/>
              <a:t>. символов </a:t>
            </a:r>
            <a:r>
              <a:rPr lang="en-US" dirty="0"/>
              <a:t>PL/SQL </a:t>
            </a:r>
            <a:r>
              <a:rPr lang="ru-RU" dirty="0"/>
              <a:t>не воспринимает.</a:t>
            </a:r>
          </a:p>
        </p:txBody>
      </p:sp>
    </p:spTree>
    <p:extLst>
      <p:ext uri="{BB962C8B-B14F-4D97-AF65-F5344CB8AC3E}">
        <p14:creationId xmlns:p14="http://schemas.microsoft.com/office/powerpoint/2010/main" val="33958430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5285C275-8A3A-4635-99B2-A3BCA88B8418}"/>
              </a:ext>
            </a:extLst>
          </p:cNvPr>
          <p:cNvSpPr>
            <a:spLocks noGrp="1"/>
          </p:cNvSpPr>
          <p:nvPr>
            <p:ph type="title"/>
          </p:nvPr>
        </p:nvSpPr>
        <p:spPr/>
        <p:txBody>
          <a:bodyPr/>
          <a:lstStyle/>
          <a:p>
            <a:pPr algn="ctr"/>
            <a:r>
              <a:rPr lang="ru-RU" dirty="0"/>
              <a:t>Идентификатор</a:t>
            </a:r>
          </a:p>
        </p:txBody>
      </p:sp>
      <p:sp>
        <p:nvSpPr>
          <p:cNvPr id="3" name="Объект 2">
            <a:extLst>
              <a:ext uri="{FF2B5EF4-FFF2-40B4-BE49-F238E27FC236}">
                <a16:creationId xmlns:a16="http://schemas.microsoft.com/office/drawing/2014/main" xmlns="" id="{59D11308-24B5-4F1C-82EB-6DBD98F1FDCE}"/>
              </a:ext>
            </a:extLst>
          </p:cNvPr>
          <p:cNvSpPr>
            <a:spLocks noGrp="1"/>
          </p:cNvSpPr>
          <p:nvPr>
            <p:ph idx="1"/>
          </p:nvPr>
        </p:nvSpPr>
        <p:spPr/>
        <p:txBody>
          <a:bodyPr/>
          <a:lstStyle/>
          <a:p>
            <a:pPr marL="0" indent="0" algn="just">
              <a:buNone/>
            </a:pPr>
            <a:r>
              <a:rPr lang="ru-RU" b="1" dirty="0"/>
              <a:t>	Идентификатор</a:t>
            </a:r>
            <a:r>
              <a:rPr lang="ru-RU" dirty="0"/>
              <a:t> — это имя объекта данных PL/SQL, которым может быть:</a:t>
            </a:r>
          </a:p>
          <a:p>
            <a:pPr algn="just">
              <a:buFont typeface="Arial" panose="020B0604020202020204" pitchFamily="34" charset="0"/>
              <a:buChar char="•"/>
            </a:pPr>
            <a:r>
              <a:rPr lang="ru-RU" dirty="0"/>
              <a:t>константа или переменная;</a:t>
            </a:r>
          </a:p>
          <a:p>
            <a:pPr algn="just">
              <a:buFont typeface="Arial" panose="020B0604020202020204" pitchFamily="34" charset="0"/>
              <a:buChar char="•"/>
            </a:pPr>
            <a:r>
              <a:rPr lang="ru-RU" dirty="0"/>
              <a:t>исключение;</a:t>
            </a:r>
          </a:p>
          <a:p>
            <a:pPr algn="just">
              <a:buFont typeface="Arial" panose="020B0604020202020204" pitchFamily="34" charset="0"/>
              <a:buChar char="•"/>
            </a:pPr>
            <a:r>
              <a:rPr lang="ru-RU" dirty="0"/>
              <a:t>курсор;</a:t>
            </a:r>
          </a:p>
          <a:p>
            <a:pPr algn="just">
              <a:buFont typeface="Arial" panose="020B0604020202020204" pitchFamily="34" charset="0"/>
              <a:buChar char="•"/>
            </a:pPr>
            <a:r>
              <a:rPr lang="ru-RU" dirty="0"/>
              <a:t>имя программы: процедура, функция, пакет, объектный тип, триггер и т. д.;</a:t>
            </a:r>
          </a:p>
          <a:p>
            <a:pPr algn="just">
              <a:buFont typeface="Arial" panose="020B0604020202020204" pitchFamily="34" charset="0"/>
              <a:buChar char="•"/>
            </a:pPr>
            <a:r>
              <a:rPr lang="ru-RU" dirty="0"/>
              <a:t>зарезервированное слово;</a:t>
            </a:r>
          </a:p>
          <a:p>
            <a:pPr algn="just">
              <a:buFont typeface="Arial" panose="020B0604020202020204" pitchFamily="34" charset="0"/>
              <a:buChar char="•"/>
            </a:pPr>
            <a:r>
              <a:rPr lang="ru-RU" dirty="0"/>
              <a:t>метка</a:t>
            </a:r>
          </a:p>
          <a:p>
            <a:endParaRPr lang="ru-RU" dirty="0"/>
          </a:p>
        </p:txBody>
      </p:sp>
    </p:spTree>
    <p:extLst>
      <p:ext uri="{BB962C8B-B14F-4D97-AF65-F5344CB8AC3E}">
        <p14:creationId xmlns:p14="http://schemas.microsoft.com/office/powerpoint/2010/main" val="138464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6AEF441B-0753-4314-BCAC-54C5AF44D29B}"/>
              </a:ext>
            </a:extLst>
          </p:cNvPr>
          <p:cNvSpPr>
            <a:spLocks noGrp="1"/>
          </p:cNvSpPr>
          <p:nvPr>
            <p:ph type="title"/>
          </p:nvPr>
        </p:nvSpPr>
        <p:spPr/>
        <p:txBody>
          <a:bodyPr/>
          <a:lstStyle/>
          <a:p>
            <a:pPr algn="ctr"/>
            <a:r>
              <a:rPr lang="ru-RU" dirty="0"/>
              <a:t>Метки</a:t>
            </a:r>
          </a:p>
        </p:txBody>
      </p:sp>
      <p:sp>
        <p:nvSpPr>
          <p:cNvPr id="3" name="Объект 2">
            <a:extLst>
              <a:ext uri="{FF2B5EF4-FFF2-40B4-BE49-F238E27FC236}">
                <a16:creationId xmlns:a16="http://schemas.microsoft.com/office/drawing/2014/main" xmlns="" id="{8E994CF0-9104-45D3-8AA8-331B99D0605E}"/>
              </a:ext>
            </a:extLst>
          </p:cNvPr>
          <p:cNvSpPr>
            <a:spLocks noGrp="1"/>
          </p:cNvSpPr>
          <p:nvPr>
            <p:ph idx="1"/>
          </p:nvPr>
        </p:nvSpPr>
        <p:spPr/>
        <p:txBody>
          <a:bodyPr/>
          <a:lstStyle/>
          <a:p>
            <a:pPr marL="0" indent="0">
              <a:buNone/>
            </a:pPr>
            <a:r>
              <a:rPr lang="ru-RU" dirty="0"/>
              <a:t>	</a:t>
            </a:r>
            <a:r>
              <a:rPr lang="ru-RU" b="1" dirty="0"/>
              <a:t>Метка</a:t>
            </a:r>
            <a:r>
              <a:rPr lang="ru-RU" dirty="0"/>
              <a:t> не имеет завершителя; она располагается непосредственно перед фрагментом кода, имя которого она определяет, даже если это простая команда NULL: </a:t>
            </a:r>
          </a:p>
          <a:p>
            <a:endParaRPr lang="ru-RU" dirty="0"/>
          </a:p>
        </p:txBody>
      </p:sp>
      <p:pic>
        <p:nvPicPr>
          <p:cNvPr id="12" name="Рисунок 11">
            <a:extLst>
              <a:ext uri="{FF2B5EF4-FFF2-40B4-BE49-F238E27FC236}">
                <a16:creationId xmlns:a16="http://schemas.microsoft.com/office/drawing/2014/main" xmlns="" id="{45FDACC8-FA01-4A7F-80F4-FCD04D74C9CC}"/>
              </a:ext>
            </a:extLst>
          </p:cNvPr>
          <p:cNvPicPr>
            <a:picLocks noChangeAspect="1"/>
          </p:cNvPicPr>
          <p:nvPr/>
        </p:nvPicPr>
        <p:blipFill>
          <a:blip r:embed="rId2"/>
          <a:stretch>
            <a:fillRect/>
          </a:stretch>
        </p:blipFill>
        <p:spPr>
          <a:xfrm>
            <a:off x="4288424" y="3429000"/>
            <a:ext cx="3615151" cy="2487225"/>
          </a:xfrm>
          <a:prstGeom prst="rect">
            <a:avLst/>
          </a:prstGeom>
        </p:spPr>
      </p:pic>
    </p:spTree>
    <p:extLst>
      <p:ext uri="{BB962C8B-B14F-4D97-AF65-F5344CB8AC3E}">
        <p14:creationId xmlns:p14="http://schemas.microsoft.com/office/powerpoint/2010/main" val="18200314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6D2FDD10-B9B7-4418-848B-7D0AC60AAD34}"/>
              </a:ext>
            </a:extLst>
          </p:cNvPr>
          <p:cNvSpPr>
            <a:spLocks noGrp="1"/>
          </p:cNvSpPr>
          <p:nvPr>
            <p:ph type="title"/>
          </p:nvPr>
        </p:nvSpPr>
        <p:spPr/>
        <p:txBody>
          <a:bodyPr/>
          <a:lstStyle/>
          <a:p>
            <a:pPr algn="ctr"/>
            <a:r>
              <a:rPr lang="ru-RU" dirty="0"/>
              <a:t>Метки</a:t>
            </a:r>
          </a:p>
        </p:txBody>
      </p:sp>
      <p:sp>
        <p:nvSpPr>
          <p:cNvPr id="3" name="Объект 2">
            <a:extLst>
              <a:ext uri="{FF2B5EF4-FFF2-40B4-BE49-F238E27FC236}">
                <a16:creationId xmlns:a16="http://schemas.microsoft.com/office/drawing/2014/main" xmlns="" id="{7F4696C3-7D51-4E7D-9E4E-6B6D2F92518F}"/>
              </a:ext>
            </a:extLst>
          </p:cNvPr>
          <p:cNvSpPr>
            <a:spLocks noGrp="1"/>
          </p:cNvSpPr>
          <p:nvPr>
            <p:ph idx="1"/>
          </p:nvPr>
        </p:nvSpPr>
        <p:spPr/>
        <p:txBody>
          <a:bodyPr/>
          <a:lstStyle/>
          <a:p>
            <a:pPr marL="0" indent="0">
              <a:buNone/>
            </a:pPr>
            <a:r>
              <a:rPr lang="ru-RU" dirty="0"/>
              <a:t>	Поскольку анонимный блок представляет собой группу исполняемых команд, с помощью метки можно задать имя анонимного блока (на время его выполнения). Пример:</a:t>
            </a:r>
          </a:p>
        </p:txBody>
      </p:sp>
      <p:pic>
        <p:nvPicPr>
          <p:cNvPr id="5" name="Рисунок 4">
            <a:extLst>
              <a:ext uri="{FF2B5EF4-FFF2-40B4-BE49-F238E27FC236}">
                <a16:creationId xmlns:a16="http://schemas.microsoft.com/office/drawing/2014/main" xmlns="" id="{3E8307C2-9433-438B-9D5C-13A9D5C34667}"/>
              </a:ext>
            </a:extLst>
          </p:cNvPr>
          <p:cNvPicPr>
            <a:picLocks noChangeAspect="1"/>
          </p:cNvPicPr>
          <p:nvPr/>
        </p:nvPicPr>
        <p:blipFill>
          <a:blip r:embed="rId2"/>
          <a:stretch>
            <a:fillRect/>
          </a:stretch>
        </p:blipFill>
        <p:spPr>
          <a:xfrm>
            <a:off x="3299457" y="3107094"/>
            <a:ext cx="5593086" cy="3385781"/>
          </a:xfrm>
          <a:prstGeom prst="rect">
            <a:avLst/>
          </a:prstGeom>
        </p:spPr>
      </p:pic>
    </p:spTree>
    <p:extLst>
      <p:ext uri="{BB962C8B-B14F-4D97-AF65-F5344CB8AC3E}">
        <p14:creationId xmlns:p14="http://schemas.microsoft.com/office/powerpoint/2010/main" val="3399926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6A622A37-7D69-4C32-B43A-08F1AF4D8425}"/>
              </a:ext>
            </a:extLst>
          </p:cNvPr>
          <p:cNvSpPr>
            <a:spLocks noGrp="1"/>
          </p:cNvSpPr>
          <p:nvPr>
            <p:ph type="title"/>
          </p:nvPr>
        </p:nvSpPr>
        <p:spPr/>
        <p:txBody>
          <a:bodyPr/>
          <a:lstStyle/>
          <a:p>
            <a:pPr algn="ctr"/>
            <a:r>
              <a:rPr lang="ru-RU" dirty="0"/>
              <a:t>Плюсы использования меток</a:t>
            </a:r>
          </a:p>
        </p:txBody>
      </p:sp>
      <p:sp>
        <p:nvSpPr>
          <p:cNvPr id="3" name="Объект 2">
            <a:extLst>
              <a:ext uri="{FF2B5EF4-FFF2-40B4-BE49-F238E27FC236}">
                <a16:creationId xmlns:a16="http://schemas.microsoft.com/office/drawing/2014/main" xmlns="" id="{4FDA9DF2-86F9-461D-B7B6-E384870B5E9C}"/>
              </a:ext>
            </a:extLst>
          </p:cNvPr>
          <p:cNvSpPr>
            <a:spLocks noGrp="1"/>
          </p:cNvSpPr>
          <p:nvPr>
            <p:ph idx="1"/>
          </p:nvPr>
        </p:nvSpPr>
        <p:spPr>
          <a:xfrm>
            <a:off x="838200" y="1418253"/>
            <a:ext cx="10515600" cy="4758710"/>
          </a:xfrm>
        </p:spPr>
        <p:txBody>
          <a:bodyPr/>
          <a:lstStyle/>
          <a:p>
            <a:pPr marL="0" indent="0">
              <a:spcBef>
                <a:spcPts val="0"/>
              </a:spcBef>
              <a:buNone/>
            </a:pPr>
            <a:r>
              <a:rPr lang="ru-RU" dirty="0"/>
              <a:t>	Блоки часто именуют для того, чтобы код лучше читался. Заодно вы еще раз задумаетесь над тем, что он делает. Метки используются также для уточнения ссылок на элементы внешнего блока, имена которых совпадают с именами текущего (вложенного) блока. Пример:</a:t>
            </a:r>
          </a:p>
        </p:txBody>
      </p:sp>
      <p:pic>
        <p:nvPicPr>
          <p:cNvPr id="5" name="Рисунок 4">
            <a:extLst>
              <a:ext uri="{FF2B5EF4-FFF2-40B4-BE49-F238E27FC236}">
                <a16:creationId xmlns:a16="http://schemas.microsoft.com/office/drawing/2014/main" xmlns="" id="{3F807325-79D6-4A9F-BBBF-DD31DA4EF0BC}"/>
              </a:ext>
            </a:extLst>
          </p:cNvPr>
          <p:cNvPicPr>
            <a:picLocks noChangeAspect="1"/>
          </p:cNvPicPr>
          <p:nvPr/>
        </p:nvPicPr>
        <p:blipFill>
          <a:blip r:embed="rId2"/>
          <a:stretch>
            <a:fillRect/>
          </a:stretch>
        </p:blipFill>
        <p:spPr>
          <a:xfrm>
            <a:off x="6096000" y="3103011"/>
            <a:ext cx="3706886" cy="3655401"/>
          </a:xfrm>
          <a:prstGeom prst="rect">
            <a:avLst/>
          </a:prstGeom>
        </p:spPr>
      </p:pic>
    </p:spTree>
    <p:extLst>
      <p:ext uri="{BB962C8B-B14F-4D97-AF65-F5344CB8AC3E}">
        <p14:creationId xmlns:p14="http://schemas.microsoft.com/office/powerpoint/2010/main" val="2556370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3D9405F7-27DF-4F00-AD90-8B875232D623}"/>
              </a:ext>
            </a:extLst>
          </p:cNvPr>
          <p:cNvSpPr>
            <a:spLocks noGrp="1"/>
          </p:cNvSpPr>
          <p:nvPr>
            <p:ph type="title"/>
          </p:nvPr>
        </p:nvSpPr>
        <p:spPr/>
        <p:txBody>
          <a:bodyPr/>
          <a:lstStyle/>
          <a:p>
            <a:pPr algn="ctr"/>
            <a:r>
              <a:rPr lang="ru-RU" dirty="0"/>
              <a:t>Команда </a:t>
            </a:r>
            <a:r>
              <a:rPr lang="en-US" dirty="0"/>
              <a:t>GOTO</a:t>
            </a:r>
            <a:endParaRPr lang="ru-RU" dirty="0"/>
          </a:p>
        </p:txBody>
      </p:sp>
      <p:sp>
        <p:nvSpPr>
          <p:cNvPr id="5" name="Объект 4">
            <a:extLst>
              <a:ext uri="{FF2B5EF4-FFF2-40B4-BE49-F238E27FC236}">
                <a16:creationId xmlns:a16="http://schemas.microsoft.com/office/drawing/2014/main" xmlns="" id="{30281596-D2A9-4081-834F-E49D07739FBB}"/>
              </a:ext>
            </a:extLst>
          </p:cNvPr>
          <p:cNvSpPr>
            <a:spLocks noGrp="1"/>
          </p:cNvSpPr>
          <p:nvPr>
            <p:ph idx="1"/>
          </p:nvPr>
        </p:nvSpPr>
        <p:spPr/>
        <p:txBody>
          <a:bodyPr/>
          <a:lstStyle/>
          <a:p>
            <a:pPr marL="0" indent="0">
              <a:buNone/>
            </a:pPr>
            <a:r>
              <a:rPr lang="en-US" dirty="0"/>
              <a:t>	</a:t>
            </a:r>
            <a:r>
              <a:rPr lang="ru-RU" b="1" dirty="0"/>
              <a:t>Команда GOTO </a:t>
            </a:r>
            <a:r>
              <a:rPr lang="ru-RU" dirty="0"/>
              <a:t>выполняет безусловный переход к другой исполняемой команде в том же исполняемом разделе блока PL/SQL. Как и в случае с другими конструкциями языка, уместное и осторожное применение GOTO способно расширить возможности ваших программ. Общий формат команды </a:t>
            </a:r>
            <a:r>
              <a:rPr lang="en-US" dirty="0"/>
              <a:t>GOTO: </a:t>
            </a:r>
          </a:p>
          <a:p>
            <a:pPr marL="0" indent="0">
              <a:buNone/>
            </a:pPr>
            <a:r>
              <a:rPr lang="en-US" dirty="0"/>
              <a:t> GOTO </a:t>
            </a:r>
            <a:r>
              <a:rPr lang="ru-RU" dirty="0"/>
              <a:t>имя_метки;</a:t>
            </a:r>
            <a:endParaRPr lang="en-US" dirty="0"/>
          </a:p>
        </p:txBody>
      </p:sp>
    </p:spTree>
    <p:extLst>
      <p:ext uri="{BB962C8B-B14F-4D97-AF65-F5344CB8AC3E}">
        <p14:creationId xmlns:p14="http://schemas.microsoft.com/office/powerpoint/2010/main" val="3901401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E8EE1AD3-DB53-4673-92DC-A2631CD0753B}"/>
              </a:ext>
            </a:extLst>
          </p:cNvPr>
          <p:cNvSpPr>
            <a:spLocks noGrp="1"/>
          </p:cNvSpPr>
          <p:nvPr>
            <p:ph type="title"/>
          </p:nvPr>
        </p:nvSpPr>
        <p:spPr/>
        <p:txBody>
          <a:bodyPr/>
          <a:lstStyle/>
          <a:p>
            <a:pPr algn="ctr"/>
            <a:r>
              <a:rPr lang="ru-RU" dirty="0"/>
              <a:t>Команда </a:t>
            </a:r>
            <a:r>
              <a:rPr lang="en-US" dirty="0"/>
              <a:t>GOTO</a:t>
            </a:r>
            <a:endParaRPr lang="ru-RU" dirty="0"/>
          </a:p>
        </p:txBody>
      </p:sp>
      <p:sp>
        <p:nvSpPr>
          <p:cNvPr id="3" name="Объект 2">
            <a:extLst>
              <a:ext uri="{FF2B5EF4-FFF2-40B4-BE49-F238E27FC236}">
                <a16:creationId xmlns:a16="http://schemas.microsoft.com/office/drawing/2014/main" xmlns="" id="{70FBA831-CC01-443D-8522-B773BC81E24E}"/>
              </a:ext>
            </a:extLst>
          </p:cNvPr>
          <p:cNvSpPr>
            <a:spLocks noGrp="1"/>
          </p:cNvSpPr>
          <p:nvPr>
            <p:ph idx="1"/>
          </p:nvPr>
        </p:nvSpPr>
        <p:spPr/>
        <p:txBody>
          <a:bodyPr/>
          <a:lstStyle/>
          <a:p>
            <a:pPr marL="0" indent="0">
              <a:buNone/>
            </a:pPr>
            <a:r>
              <a:rPr lang="en-US" dirty="0"/>
              <a:t>	</a:t>
            </a:r>
            <a:r>
              <a:rPr lang="ru-RU" dirty="0"/>
              <a:t>Когда </a:t>
            </a:r>
            <a:r>
              <a:rPr lang="en-US" dirty="0"/>
              <a:t>PL/SQL </a:t>
            </a:r>
            <a:r>
              <a:rPr lang="ru-RU" dirty="0"/>
              <a:t>встречает команду GOTO, он немедленно передает управление первой исполняемой команде, следующей за меткой. Блок кода в следующем примере содержит и метку, и команду GOTO: </a:t>
            </a:r>
          </a:p>
        </p:txBody>
      </p:sp>
      <p:pic>
        <p:nvPicPr>
          <p:cNvPr id="6" name="Рисунок 5" descr="Изображение выглядит как текст&#10;&#10;Автоматически созданное описание">
            <a:extLst>
              <a:ext uri="{FF2B5EF4-FFF2-40B4-BE49-F238E27FC236}">
                <a16:creationId xmlns:a16="http://schemas.microsoft.com/office/drawing/2014/main" xmlns="" id="{2C09FE9F-D1E5-492C-84E3-0E3342D3C9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2502" y="3772881"/>
            <a:ext cx="10706995" cy="2539019"/>
          </a:xfrm>
          <a:prstGeom prst="rect">
            <a:avLst/>
          </a:prstGeom>
        </p:spPr>
      </p:pic>
    </p:spTree>
    <p:extLst>
      <p:ext uri="{BB962C8B-B14F-4D97-AF65-F5344CB8AC3E}">
        <p14:creationId xmlns:p14="http://schemas.microsoft.com/office/powerpoint/2010/main" val="34534283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AD5B497E-8773-41D1-B033-1F1D544FE2CA}"/>
              </a:ext>
            </a:extLst>
          </p:cNvPr>
          <p:cNvSpPr>
            <a:spLocks noGrp="1"/>
          </p:cNvSpPr>
          <p:nvPr>
            <p:ph type="title"/>
          </p:nvPr>
        </p:nvSpPr>
        <p:spPr/>
        <p:txBody>
          <a:bodyPr/>
          <a:lstStyle/>
          <a:p>
            <a:pPr algn="ctr"/>
            <a:r>
              <a:rPr lang="ru-RU" dirty="0"/>
              <a:t>Команда </a:t>
            </a:r>
            <a:r>
              <a:rPr lang="en-US" dirty="0"/>
              <a:t>GOTO</a:t>
            </a:r>
            <a:endParaRPr lang="ru-RU" dirty="0"/>
          </a:p>
        </p:txBody>
      </p:sp>
      <p:sp>
        <p:nvSpPr>
          <p:cNvPr id="3" name="Объект 2">
            <a:extLst>
              <a:ext uri="{FF2B5EF4-FFF2-40B4-BE49-F238E27FC236}">
                <a16:creationId xmlns:a16="http://schemas.microsoft.com/office/drawing/2014/main" xmlns="" id="{7175D201-836C-4215-9365-9E10BCBAE158}"/>
              </a:ext>
            </a:extLst>
          </p:cNvPr>
          <p:cNvSpPr>
            <a:spLocks noGrp="1"/>
          </p:cNvSpPr>
          <p:nvPr>
            <p:ph idx="1"/>
          </p:nvPr>
        </p:nvSpPr>
        <p:spPr/>
        <p:txBody>
          <a:bodyPr>
            <a:normAutofit/>
          </a:bodyPr>
          <a:lstStyle/>
          <a:p>
            <a:pPr marL="0" indent="0">
              <a:buNone/>
            </a:pPr>
            <a:r>
              <a:rPr lang="ru-RU" dirty="0"/>
              <a:t>	В следующем примере управление передается вверх к помеченной последовательности операторов:</a:t>
            </a:r>
          </a:p>
          <a:p>
            <a:pPr marL="0" indent="0">
              <a:buNone/>
            </a:pPr>
            <a:endParaRPr lang="ru-RU" dirty="0"/>
          </a:p>
        </p:txBody>
      </p:sp>
      <p:pic>
        <p:nvPicPr>
          <p:cNvPr id="8" name="Рисунок 7" descr="Изображение выглядит как текст&#10;&#10;Автоматически созданное описание">
            <a:extLst>
              <a:ext uri="{FF2B5EF4-FFF2-40B4-BE49-F238E27FC236}">
                <a16:creationId xmlns:a16="http://schemas.microsoft.com/office/drawing/2014/main" xmlns="" id="{F7129420-63E3-40CC-98C6-C021A68C64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04970" y="2832082"/>
            <a:ext cx="4182059" cy="3848637"/>
          </a:xfrm>
          <a:prstGeom prst="rect">
            <a:avLst/>
          </a:prstGeom>
        </p:spPr>
      </p:pic>
    </p:spTree>
    <p:extLst>
      <p:ext uri="{BB962C8B-B14F-4D97-AF65-F5344CB8AC3E}">
        <p14:creationId xmlns:p14="http://schemas.microsoft.com/office/powerpoint/2010/main" val="29959606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4A662159-DBE4-480C-A471-0E29AE704BFD}"/>
              </a:ext>
            </a:extLst>
          </p:cNvPr>
          <p:cNvSpPr>
            <a:spLocks noGrp="1"/>
          </p:cNvSpPr>
          <p:nvPr>
            <p:ph type="title"/>
          </p:nvPr>
        </p:nvSpPr>
        <p:spPr/>
        <p:txBody>
          <a:bodyPr/>
          <a:lstStyle/>
          <a:p>
            <a:pPr algn="ctr"/>
            <a:r>
              <a:rPr lang="ru-RU" dirty="0"/>
              <a:t>Команда </a:t>
            </a:r>
            <a:r>
              <a:rPr lang="en-US" dirty="0"/>
              <a:t>GOTO</a:t>
            </a:r>
            <a:endParaRPr lang="ru-RU" dirty="0"/>
          </a:p>
        </p:txBody>
      </p:sp>
      <p:sp>
        <p:nvSpPr>
          <p:cNvPr id="3" name="Объект 2">
            <a:extLst>
              <a:ext uri="{FF2B5EF4-FFF2-40B4-BE49-F238E27FC236}">
                <a16:creationId xmlns:a16="http://schemas.microsoft.com/office/drawing/2014/main" xmlns="" id="{5C21F008-2C5C-4AE3-9FE3-9A71427F516B}"/>
              </a:ext>
            </a:extLst>
          </p:cNvPr>
          <p:cNvSpPr>
            <a:spLocks noGrp="1"/>
          </p:cNvSpPr>
          <p:nvPr>
            <p:ph idx="1"/>
          </p:nvPr>
        </p:nvSpPr>
        <p:spPr/>
        <p:txBody>
          <a:bodyPr/>
          <a:lstStyle/>
          <a:p>
            <a:pPr marL="0" indent="0">
              <a:buNone/>
            </a:pPr>
            <a:r>
              <a:rPr lang="en-US" dirty="0"/>
              <a:t>	</a:t>
            </a:r>
            <a:r>
              <a:rPr lang="ru-RU" dirty="0"/>
              <a:t>На использование команды GOTO накладываются некоторые ограничения:</a:t>
            </a:r>
          </a:p>
          <a:p>
            <a:r>
              <a:rPr lang="ru-RU" dirty="0"/>
              <a:t>За меткой должна следовать хотя бы одна исполняемая команда</a:t>
            </a:r>
            <a:r>
              <a:rPr lang="en-US" dirty="0"/>
              <a:t>;</a:t>
            </a:r>
            <a:endParaRPr lang="ru-RU" dirty="0"/>
          </a:p>
          <a:p>
            <a:r>
              <a:rPr lang="ru-RU" dirty="0"/>
              <a:t>Целевая метка должна находиться в пределах области действия оператора GOTO</a:t>
            </a:r>
            <a:r>
              <a:rPr lang="en-US" dirty="0"/>
              <a:t>;</a:t>
            </a:r>
            <a:endParaRPr lang="ru-RU" dirty="0"/>
          </a:p>
          <a:p>
            <a:r>
              <a:rPr lang="ru-RU" dirty="0"/>
              <a:t>Целевая метка должна находиться в той же части блока PL/SQL, что и оператор GOTO</a:t>
            </a:r>
          </a:p>
        </p:txBody>
      </p:sp>
    </p:spTree>
    <p:extLst>
      <p:ext uri="{BB962C8B-B14F-4D97-AF65-F5344CB8AC3E}">
        <p14:creationId xmlns:p14="http://schemas.microsoft.com/office/powerpoint/2010/main" val="724332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51F5BC59-6F46-49A8-BE47-7A0286709C7F}"/>
              </a:ext>
            </a:extLst>
          </p:cNvPr>
          <p:cNvSpPr>
            <a:spLocks noGrp="1"/>
          </p:cNvSpPr>
          <p:nvPr>
            <p:ph type="title"/>
          </p:nvPr>
        </p:nvSpPr>
        <p:spPr/>
        <p:txBody>
          <a:bodyPr/>
          <a:lstStyle/>
          <a:p>
            <a:pPr algn="ctr"/>
            <a:r>
              <a:rPr lang="ru-RU" dirty="0"/>
              <a:t>Минусы использования </a:t>
            </a:r>
            <a:r>
              <a:rPr lang="en-US" dirty="0"/>
              <a:t>GOTO</a:t>
            </a:r>
            <a:endParaRPr lang="ru-RU" dirty="0"/>
          </a:p>
        </p:txBody>
      </p:sp>
      <p:sp>
        <p:nvSpPr>
          <p:cNvPr id="3" name="Объект 2">
            <a:extLst>
              <a:ext uri="{FF2B5EF4-FFF2-40B4-BE49-F238E27FC236}">
                <a16:creationId xmlns:a16="http://schemas.microsoft.com/office/drawing/2014/main" xmlns="" id="{C91A7220-6CA2-4581-B5BA-80B86E04CF60}"/>
              </a:ext>
            </a:extLst>
          </p:cNvPr>
          <p:cNvSpPr>
            <a:spLocks noGrp="1"/>
          </p:cNvSpPr>
          <p:nvPr>
            <p:ph idx="1"/>
          </p:nvPr>
        </p:nvSpPr>
        <p:spPr/>
        <p:txBody>
          <a:bodyPr>
            <a:normAutofit fontScale="92500" lnSpcReduction="10000"/>
          </a:bodyPr>
          <a:lstStyle/>
          <a:p>
            <a:r>
              <a:rPr lang="ru-RU" dirty="0"/>
              <a:t>частое использование оператора </a:t>
            </a:r>
            <a:r>
              <a:rPr lang="en-US" dirty="0"/>
              <a:t>GOTO </a:t>
            </a:r>
            <a:r>
              <a:rPr lang="ru-RU" dirty="0"/>
              <a:t>приводит к плохому, нечитаемому, неструктурированному коду</a:t>
            </a:r>
            <a:endParaRPr lang="en-US" dirty="0"/>
          </a:p>
          <a:p>
            <a:r>
              <a:rPr lang="ru-RU" dirty="0"/>
              <a:t>увеличивает сложность отладки и анализа кода</a:t>
            </a:r>
            <a:endParaRPr lang="en-US" dirty="0"/>
          </a:p>
          <a:p>
            <a:r>
              <a:rPr lang="ru-RU" dirty="0"/>
              <a:t>GOTO довольно противоречив. Многие люди думают, что это всегда признак плохого кода (иногда для описания этого типа кода используется "спагетти-код"). Другие сделают очень редкое исключение для чего-то вроде обработки исключений или некоторых типов конечных автоматов.</a:t>
            </a:r>
            <a:endParaRPr lang="en-US" dirty="0"/>
          </a:p>
          <a:p>
            <a:pPr algn="l" fontAlgn="base">
              <a:buFont typeface="Arial" panose="020B0604020202020204" pitchFamily="34" charset="0"/>
              <a:buChar char="•"/>
            </a:pPr>
            <a:r>
              <a:rPr lang="en-US" dirty="0"/>
              <a:t>GOTO – </a:t>
            </a:r>
            <a:r>
              <a:rPr lang="ru-RU" dirty="0"/>
              <a:t>довольно устаревшая конструкция из старых языков программирования. Вместо неё предпочтительно использовать конструкции </a:t>
            </a:r>
            <a:r>
              <a:rPr lang="en-US" dirty="0"/>
              <a:t>WHILE, IF/BEGIN.</a:t>
            </a:r>
          </a:p>
        </p:txBody>
      </p:sp>
    </p:spTree>
    <p:extLst>
      <p:ext uri="{BB962C8B-B14F-4D97-AF65-F5344CB8AC3E}">
        <p14:creationId xmlns:p14="http://schemas.microsoft.com/office/powerpoint/2010/main" val="1912250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E41681AC-4433-431C-8B0F-766248CC5E9F}"/>
              </a:ext>
            </a:extLst>
          </p:cNvPr>
          <p:cNvSpPr>
            <a:spLocks noGrp="1"/>
          </p:cNvSpPr>
          <p:nvPr>
            <p:ph type="title"/>
          </p:nvPr>
        </p:nvSpPr>
        <p:spPr/>
        <p:txBody>
          <a:bodyPr/>
          <a:lstStyle/>
          <a:p>
            <a:pPr algn="ctr"/>
            <a:r>
              <a:rPr lang="ru-RU" dirty="0"/>
              <a:t>Использование </a:t>
            </a:r>
            <a:r>
              <a:rPr lang="en-US" dirty="0"/>
              <a:t>GOTO</a:t>
            </a:r>
            <a:endParaRPr lang="ru-RU" dirty="0"/>
          </a:p>
        </p:txBody>
      </p:sp>
      <p:sp>
        <p:nvSpPr>
          <p:cNvPr id="3" name="Объект 2">
            <a:extLst>
              <a:ext uri="{FF2B5EF4-FFF2-40B4-BE49-F238E27FC236}">
                <a16:creationId xmlns:a16="http://schemas.microsoft.com/office/drawing/2014/main" xmlns="" id="{F7222EC1-54E9-4E9D-AC6C-239414613981}"/>
              </a:ext>
            </a:extLst>
          </p:cNvPr>
          <p:cNvSpPr>
            <a:spLocks noGrp="1"/>
          </p:cNvSpPr>
          <p:nvPr>
            <p:ph idx="1"/>
          </p:nvPr>
        </p:nvSpPr>
        <p:spPr/>
        <p:txBody>
          <a:bodyPr/>
          <a:lstStyle/>
          <a:p>
            <a:pPr marL="0" indent="0">
              <a:buNone/>
            </a:pPr>
            <a:r>
              <a:rPr lang="en-US" dirty="0"/>
              <a:t>	</a:t>
            </a:r>
            <a:r>
              <a:rPr lang="ru-RU" dirty="0"/>
              <a:t>Поэтому реже используйте GOTO, тем более что этот оператор нельзя использовать для выполнения перехода:</a:t>
            </a:r>
          </a:p>
          <a:p>
            <a:r>
              <a:rPr lang="ru-RU" dirty="0"/>
              <a:t>в IF-блок, LOOP-блок или в другой блок, не включающий текущий;</a:t>
            </a:r>
          </a:p>
          <a:p>
            <a:r>
              <a:rPr lang="ru-RU" dirty="0"/>
              <a:t>из одного предложения IF-оператора к другому;</a:t>
            </a:r>
          </a:p>
          <a:p>
            <a:r>
              <a:rPr lang="ru-RU" dirty="0"/>
              <a:t>из внешнего блока в SUB-блок;</a:t>
            </a:r>
          </a:p>
          <a:p>
            <a:r>
              <a:rPr lang="ru-RU" dirty="0"/>
              <a:t>из обработчика особых ситуаций в текущий блок.</a:t>
            </a:r>
          </a:p>
        </p:txBody>
      </p:sp>
    </p:spTree>
    <p:extLst>
      <p:ext uri="{BB962C8B-B14F-4D97-AF65-F5344CB8AC3E}">
        <p14:creationId xmlns:p14="http://schemas.microsoft.com/office/powerpoint/2010/main" val="2220938251"/>
      </p:ext>
    </p:extLst>
  </p:cSld>
  <p:clrMapOvr>
    <a:masterClrMapping/>
  </p:clrMapOvr>
</p:sld>
</file>

<file path=ppt/theme/theme1.xml><?xml version="1.0" encoding="utf-8"?>
<a:theme xmlns:a="http://schemas.openxmlformats.org/drawingml/2006/main" name="Office Theme">
  <a:themeElements>
    <a:clrScheme name="Тема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Тема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167</TotalTime>
  <Words>103</Words>
  <Application>Microsoft Office PowerPoint</Application>
  <PresentationFormat>Широкоэкранный</PresentationFormat>
  <Paragraphs>42</Paragraphs>
  <Slides>12</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12</vt:i4>
      </vt:variant>
    </vt:vector>
  </HeadingPairs>
  <TitlesOfParts>
    <vt:vector size="16" baseType="lpstr">
      <vt:lpstr>Arial</vt:lpstr>
      <vt:lpstr>Calibri</vt:lpstr>
      <vt:lpstr>Calibri Light</vt:lpstr>
      <vt:lpstr>Office Theme</vt:lpstr>
      <vt:lpstr>Метки, оператор GOTO PL/SQL</vt:lpstr>
      <vt:lpstr>Метки</vt:lpstr>
      <vt:lpstr>Идентификатор</vt:lpstr>
      <vt:lpstr>Метки</vt:lpstr>
      <vt:lpstr>Метки</vt:lpstr>
      <vt:lpstr>Плюсы использования меток</vt:lpstr>
      <vt:lpstr>Команда GOTO</vt:lpstr>
      <vt:lpstr>Команда GOTO</vt:lpstr>
      <vt:lpstr>Команда GOTO</vt:lpstr>
      <vt:lpstr>Команда GOTO</vt:lpstr>
      <vt:lpstr>Минусы использования GOTO</vt:lpstr>
      <vt:lpstr>Использование GOTO</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Метки, оператор GOTO PL/SQL</dc:title>
  <dc:creator>Голомысов Даниил Владиславович</dc:creator>
  <cp:lastModifiedBy>Николай Волков</cp:lastModifiedBy>
  <cp:revision>5</cp:revision>
  <dcterms:created xsi:type="dcterms:W3CDTF">2022-02-16T15:48:15Z</dcterms:created>
  <dcterms:modified xsi:type="dcterms:W3CDTF">2022-02-19T08:59:13Z</dcterms:modified>
</cp:coreProperties>
</file>