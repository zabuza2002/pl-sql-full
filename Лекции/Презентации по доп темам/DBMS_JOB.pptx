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A7F8BC7-73CE-4026-AB84-16A7DF1951F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6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9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2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380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36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0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77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19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79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46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12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60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BBB3107-9523-44DD-83C7-48D9C21A3C2A}" type="datetimeFigureOut">
              <a:rPr lang="ru-RU" smtClean="0"/>
              <a:t>02.03.2022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8B66BB1-92DB-46D0-B8EF-E5203A5018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42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A8E94-C1C9-4F8A-AE27-A3803E5E9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Программы пакета DBMS_JOB на примерах</a:t>
            </a:r>
          </a:p>
        </p:txBody>
      </p:sp>
    </p:spTree>
    <p:extLst>
      <p:ext uri="{BB962C8B-B14F-4D97-AF65-F5344CB8AC3E}">
        <p14:creationId xmlns:p14="http://schemas.microsoft.com/office/powerpoint/2010/main" val="312808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7BAC3-F8DF-4900-8A95-0D12366B1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481" y="1772815"/>
            <a:ext cx="10161037" cy="3984171"/>
          </a:xfrm>
        </p:spPr>
        <p:txBody>
          <a:bodyPr>
            <a:normAutofit/>
          </a:bodyPr>
          <a:lstStyle/>
          <a:p>
            <a:pPr algn="just"/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Пакет DBMS_JOB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Open Sans"/>
              </a:rPr>
              <a:t> 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является API в подсистеме </a:t>
            </a:r>
            <a:r>
              <a:rPr lang="ru-RU" sz="2400" b="0" i="0" dirty="0" err="1">
                <a:solidFill>
                  <a:srgbClr val="222222"/>
                </a:solidFill>
                <a:effectLst/>
                <a:latin typeface="Open Sans"/>
              </a:rPr>
              <a:t>Oracle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, известной как очередь заданий. Очередь заданий </a:t>
            </a:r>
            <a:r>
              <a:rPr lang="ru-RU" sz="2400" b="0" i="0" dirty="0" err="1">
                <a:solidFill>
                  <a:srgbClr val="222222"/>
                </a:solidFill>
                <a:effectLst/>
                <a:latin typeface="Open Sans"/>
              </a:rPr>
              <a:t>Oracle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 позволяет планировать и выполнять подпрограммы PL/SQL (задания) в заранее определенное время и/или повторять выполнение заданий через регулярные промежутки времени. Пакет DBMS_JOB содержит программы для отправки и выполнения заданий, изменения параметров выполнения заданий и удаления или временной приостановки выполнения заданий. Этот пакет является единственным интерфейсом с очередью заданий </a:t>
            </a:r>
            <a:r>
              <a:rPr lang="ru-RU" sz="2400" b="0" i="0" dirty="0" err="1">
                <a:solidFill>
                  <a:srgbClr val="222222"/>
                </a:solidFill>
                <a:effectLst/>
                <a:latin typeface="Open Sans"/>
              </a:rPr>
              <a:t>Oracle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.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Open Sans"/>
              </a:rPr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10214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7BAC3-F8DF-4900-8A95-0D12366B1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343" y="1418253"/>
            <a:ext cx="10161037" cy="5001208"/>
          </a:xfrm>
        </p:spPr>
        <p:txBody>
          <a:bodyPr>
            <a:noAutofit/>
          </a:bodyPr>
          <a:lstStyle/>
          <a:p>
            <a:pPr algn="just"/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DBMS_JOB используется для планирования множества различных типов задач, которые можно выполнять в PL/SQL и которые требуют регулярного выполнения. Очередь заданий широко используется средствами репликации </a:t>
            </a:r>
            <a:r>
              <a:rPr lang="ru-RU" sz="2400" b="0" i="0" dirty="0" err="1">
                <a:solidFill>
                  <a:srgbClr val="222222"/>
                </a:solidFill>
                <a:effectLst/>
                <a:latin typeface="Open Sans"/>
              </a:rPr>
              <a:t>Oracle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 и изначально была разработана для обновления моментальных снимков </a:t>
            </a:r>
            <a:r>
              <a:rPr lang="ru-RU" sz="2400" b="0" i="0" dirty="0" err="1">
                <a:solidFill>
                  <a:srgbClr val="222222"/>
                </a:solidFill>
                <a:effectLst/>
                <a:latin typeface="Open Sans"/>
              </a:rPr>
              <a:t>Oracle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Open Sans"/>
              </a:rPr>
              <a:t>. DBMS_JOB часто используется администраторами баз данных для планирования регулярных действий по обслуживанию баз данных, обычно в периоды низкого использования конечными пользователями. Он также может использоваться приложениями для планирования больших пакетных операций в нерабочее время. Очередь заданий также можно использовать для запуска сервисных программ, которые прослушивают каналы базы данных и отвечают на сервисные запросы сеансами пользователей.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9493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процедуры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D0BF4-6357-49F3-9B69-5E51DE1F4B95}"/>
              </a:ext>
            </a:extLst>
          </p:cNvPr>
          <p:cNvSpPr txBox="1"/>
          <p:nvPr/>
        </p:nvSpPr>
        <p:spPr>
          <a:xfrm>
            <a:off x="908956" y="1362674"/>
            <a:ext cx="1037408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SUBMIT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Отправляет новое задание в очередь заданий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REMOVE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Удаляет указанное задание из очереди заданий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CHANGE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Изменяет любой определяемый пользователем параметр, связанный с заданием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WHAT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Изменяет описание задания для указанного задания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NEXT_DATE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Изменяет время следующего выполнения для указанного задания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INSTANCE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Назначает задание для запуска экземпляром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INTERVAL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Изменяет интервал между выполнениями для указанного задания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BROKEN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Отключает выполнение задания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RUN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Принудительно запускает указанное задание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USER_EXPORT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Восстанавливает данное задание для экспорта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USER_EXPORT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Восстанавливает заданное задание для экспорта с привязкой экземпляров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  <a:endParaRPr lang="ru-RU" sz="22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9351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Синтаксис </a:t>
            </a:r>
            <a:r>
              <a:rPr lang="en-US" dirty="0"/>
              <a:t>submit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7BAC3-F8DF-4900-8A95-0D12366B1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9840" y="1660849"/>
            <a:ext cx="8052318" cy="4730620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DBMS_JOB.SUBMIT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      OUT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what      IN  VARCHAR2,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IN  DATE DEFAULT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sysdate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interval  IN  VARCHAR2 DEFAULT 'null',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no_parse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 IN  BOOLEAN DEFAULT FALSE,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instance  IN  BINARY_INTEGER DEFAULT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any_instance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force     IN  BOOLEAN DEFAULT FALSE);</a:t>
            </a:r>
            <a:endParaRPr lang="ru-RU" sz="22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4971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Параметры </a:t>
            </a:r>
            <a:r>
              <a:rPr lang="en-US" dirty="0"/>
              <a:t>submit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AECEA-A213-4560-ADEF-EF0F5C9948A7}"/>
              </a:ext>
            </a:extLst>
          </p:cNvPr>
          <p:cNvSpPr txBox="1"/>
          <p:nvPr/>
        </p:nvSpPr>
        <p:spPr>
          <a:xfrm>
            <a:off x="1010815" y="1404784"/>
            <a:ext cx="101703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Open Sans"/>
              </a:rPr>
              <a:t>job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Номер выполняемой работы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Open Sans"/>
              </a:rPr>
              <a:t>what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Процедура PL/SQL для запуска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Следующая дата, когда задание будет запущено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Open Sans"/>
              </a:rPr>
              <a:t>interval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Функция даты, которая вычисляет время следующего запуска задания. Значение по умолчанию 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NULL. 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Это должно оцениваться либо как будущий момент времени, либо как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 FALSE)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22222"/>
                </a:solidFill>
                <a:latin typeface="Open Sans"/>
              </a:rPr>
              <a:t>no_parse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Флаг разбора PL/SQL. Если его значение равно FALSE разбор происходит в момент установки задания. Иначе, в момент выполнения задания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Open Sans"/>
              </a:rPr>
              <a:t>instance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При отправке задания указывает, какой экземпляр может выполнять задание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Open Sans"/>
              </a:rPr>
              <a:t>force (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Если значение этого параметра истинно, то в качестве INSTANCE может выступать любое положительное целое число. В противном случае экземпляр, указанный в INSTANCE должен быть обязательно запущен, иначе поднимается исключение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)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9480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</a:t>
            </a:r>
            <a:r>
              <a:rPr lang="en-US" dirty="0"/>
              <a:t>submit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683F6-5E06-4DD4-988F-D7E403E5624C}"/>
              </a:ext>
            </a:extLst>
          </p:cNvPr>
          <p:cNvSpPr txBox="1"/>
          <p:nvPr/>
        </p:nvSpPr>
        <p:spPr>
          <a:xfrm>
            <a:off x="2801516" y="1645133"/>
            <a:ext cx="69039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VARIABLE </a:t>
            </a:r>
            <a:r>
              <a:rPr lang="en-US" sz="2000" dirty="0" err="1">
                <a:solidFill>
                  <a:srgbClr val="222222"/>
                </a:solidFill>
                <a:latin typeface="Open Sans"/>
              </a:rPr>
              <a:t>jobno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 NUMBER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BEGIN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 DBMS_JOB.SUBMIT(:</a:t>
            </a:r>
            <a:r>
              <a:rPr lang="en-US" sz="2000" dirty="0" err="1">
                <a:solidFill>
                  <a:srgbClr val="222222"/>
                </a:solidFill>
                <a:latin typeface="Open Sans"/>
              </a:rPr>
              <a:t>jobno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    'SYS.DBMS_LOCK.SLEEP(20);',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    TO_DATE(‘02.03.2022 01:05','DD.MM.YYYY HH24:MI’), </a:t>
            </a:r>
            <a:r>
              <a:rPr lang="ru-RU" sz="2000" dirty="0">
                <a:solidFill>
                  <a:srgbClr val="222222"/>
                </a:solidFill>
                <a:latin typeface="Open Sans"/>
              </a:rPr>
              <a:t>	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'TRUNC(SYSDATE+1)+(1+(5/60))/24’);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 COMMIT; 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END;</a:t>
            </a:r>
          </a:p>
          <a:p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Затрачено времени: 0.0 секунд(ы)</a:t>
            </a:r>
          </a:p>
          <a:p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PRINT </a:t>
            </a:r>
            <a:r>
              <a:rPr lang="ru-RU" sz="2000" dirty="0" err="1">
                <a:solidFill>
                  <a:srgbClr val="222222"/>
                </a:solidFill>
                <a:latin typeface="Open Sans"/>
              </a:rPr>
              <a:t>jobno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 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Переменная:  JOBNO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Значение:    24</a:t>
            </a:r>
          </a:p>
        </p:txBody>
      </p:sp>
    </p:spTree>
    <p:extLst>
      <p:ext uri="{BB962C8B-B14F-4D97-AF65-F5344CB8AC3E}">
        <p14:creationId xmlns:p14="http://schemas.microsoft.com/office/powerpoint/2010/main" val="292142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/>
              <a:t>remove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7215E-44F3-400E-AA4D-3FF212156657}"/>
              </a:ext>
            </a:extLst>
          </p:cNvPr>
          <p:cNvSpPr txBox="1"/>
          <p:nvPr/>
        </p:nvSpPr>
        <p:spPr>
          <a:xfrm>
            <a:off x="2452395" y="2090172"/>
            <a:ext cx="7287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Синтаксис:</a:t>
            </a:r>
            <a:endParaRPr lang="en-US" sz="2800" dirty="0">
              <a:solidFill>
                <a:srgbClr val="222222"/>
              </a:solidFill>
              <a:latin typeface="Open Sans"/>
            </a:endParaRP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DBMS_JOB.REMOVE ( 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job       IN  BINARY_INTEGER );</a:t>
            </a:r>
            <a:endParaRPr lang="ru-RU" sz="2800" dirty="0">
              <a:solidFill>
                <a:srgbClr val="222222"/>
              </a:solidFill>
              <a:latin typeface="Open Sans"/>
            </a:endParaRPr>
          </a:p>
          <a:p>
            <a:endParaRPr lang="ru-RU" sz="2800" dirty="0">
              <a:solidFill>
                <a:srgbClr val="222222"/>
              </a:solidFill>
              <a:latin typeface="Open Sans"/>
            </a:endParaRPr>
          </a:p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Пример:</a:t>
            </a:r>
            <a:endParaRPr lang="en-US" sz="2800" dirty="0">
              <a:solidFill>
                <a:srgbClr val="222222"/>
              </a:solidFill>
              <a:latin typeface="Open Sans"/>
            </a:endParaRP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EXECUTE DBMS_JOB.REMOVE(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jobno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);</a:t>
            </a:r>
            <a:endParaRPr lang="ru-RU" sz="28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5312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6AA4DD-3163-473C-80EE-F73B094B2375}"/>
              </a:ext>
            </a:extLst>
          </p:cNvPr>
          <p:cNvSpPr txBox="1"/>
          <p:nvPr/>
        </p:nvSpPr>
        <p:spPr>
          <a:xfrm>
            <a:off x="3061227" y="1516562"/>
            <a:ext cx="63613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Синтаксис: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DBMS_JOB.CHANGE ( 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what      IN  VARCHAR2,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0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 IN  DATE,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interval  IN  VARCHAR2,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instance  IN  BINARY_INTEGER DEFAULT NULL,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   force     IN  BOOLEAN DEFAULT FALSE);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endParaRPr lang="ru-RU" sz="2000" dirty="0">
              <a:solidFill>
                <a:srgbClr val="222222"/>
              </a:solidFill>
              <a:latin typeface="Open Sans"/>
            </a:endParaRP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Пример: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BEGIN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	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DBMS_JOB.CHANGE(24,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		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'SYS.DBMS_LOCK.SLEEP(30);’,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		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NULL, 'TRUNC(SYSDATE+1)+(3+(15/60))/24’);</a:t>
            </a:r>
          </a:p>
          <a:p>
            <a:r>
              <a:rPr lang="ru-RU" sz="2000" dirty="0">
                <a:solidFill>
                  <a:srgbClr val="222222"/>
                </a:solidFill>
                <a:latin typeface="Open Sans"/>
              </a:rPr>
              <a:t>	</a:t>
            </a:r>
            <a:r>
              <a:rPr lang="en-US" sz="2000" dirty="0">
                <a:solidFill>
                  <a:srgbClr val="222222"/>
                </a:solidFill>
                <a:latin typeface="Open Sans"/>
              </a:rPr>
              <a:t>COMMIT;</a:t>
            </a:r>
          </a:p>
          <a:p>
            <a:r>
              <a:rPr lang="en-US" sz="2000" dirty="0">
                <a:solidFill>
                  <a:srgbClr val="222222"/>
                </a:solidFill>
                <a:latin typeface="Open Sans"/>
              </a:rPr>
              <a:t>END;</a:t>
            </a:r>
            <a:endParaRPr lang="ru-RU" sz="20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9349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/>
              <a:t>what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BC696E-D199-4890-8B30-F76F73449C0E}"/>
              </a:ext>
            </a:extLst>
          </p:cNvPr>
          <p:cNvSpPr txBox="1"/>
          <p:nvPr/>
        </p:nvSpPr>
        <p:spPr>
          <a:xfrm>
            <a:off x="956387" y="1520889"/>
            <a:ext cx="1027922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Синтаксис:</a:t>
            </a:r>
            <a:endParaRPr lang="en-US" sz="2800" dirty="0">
              <a:solidFill>
                <a:srgbClr val="222222"/>
              </a:solidFill>
              <a:latin typeface="Open Sans"/>
            </a:endParaRP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DBMS_JOB.WHAT ( 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what      IN  VARCHAR2);</a:t>
            </a:r>
          </a:p>
          <a:p>
            <a:endParaRPr lang="en-US" sz="2800" dirty="0">
              <a:solidFill>
                <a:srgbClr val="222222"/>
              </a:solidFill>
              <a:latin typeface="Open Sans"/>
            </a:endParaRPr>
          </a:p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Некоторые допустимые значения 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what</a:t>
            </a:r>
            <a:r>
              <a:rPr lang="ru-RU" sz="2800" dirty="0">
                <a:solidFill>
                  <a:srgbClr val="222222"/>
                </a:solidFill>
                <a:latin typeface="Open Sans"/>
              </a:rPr>
              <a:t> 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(</a:t>
            </a:r>
            <a:r>
              <a:rPr lang="ru-RU" sz="2800" dirty="0">
                <a:solidFill>
                  <a:srgbClr val="222222"/>
                </a:solidFill>
                <a:latin typeface="Open Sans"/>
              </a:rPr>
              <a:t>при условии, что подпрограммы существуют):</a:t>
            </a:r>
          </a:p>
          <a:p>
            <a:endParaRPr lang="ru-RU" sz="2800" dirty="0">
              <a:solidFill>
                <a:srgbClr val="222222"/>
              </a:solidFill>
              <a:latin typeface="Open Sans"/>
            </a:endParaRPr>
          </a:p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myproc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( ''10-JAN-82'', 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, broken);'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scott.emppackage.give_raise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( ''JENKINS'', 30000.00);'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dbms_job.remove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(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jobno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);'</a:t>
            </a:r>
            <a:endParaRPr lang="ru-RU" sz="28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0228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Next_date</a:t>
            </a:r>
            <a:r>
              <a:rPr lang="ru-RU" dirty="0"/>
              <a:t> и </a:t>
            </a:r>
            <a:r>
              <a:rPr lang="en-US" dirty="0"/>
              <a:t>instance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FA75F-240D-4C88-AF19-D748B37EB98D}"/>
              </a:ext>
            </a:extLst>
          </p:cNvPr>
          <p:cNvSpPr txBox="1"/>
          <p:nvPr/>
        </p:nvSpPr>
        <p:spPr>
          <a:xfrm>
            <a:off x="2535592" y="1632857"/>
            <a:ext cx="71208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Синтаксис 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NEXT_DATE: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DBMS_JOB.NEXT_DATE ( 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8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 IN  DATE);</a:t>
            </a:r>
          </a:p>
          <a:p>
            <a:endParaRPr lang="en-US" sz="2800" dirty="0">
              <a:solidFill>
                <a:srgbClr val="222222"/>
              </a:solidFill>
              <a:latin typeface="Open Sans"/>
            </a:endParaRPr>
          </a:p>
          <a:p>
            <a:r>
              <a:rPr lang="ru-RU" sz="2800" dirty="0">
                <a:solidFill>
                  <a:srgbClr val="222222"/>
                </a:solidFill>
                <a:latin typeface="Open Sans"/>
              </a:rPr>
              <a:t>Синтаксис </a:t>
            </a:r>
            <a:r>
              <a:rPr lang="en-US" sz="2800" dirty="0">
                <a:solidFill>
                  <a:srgbClr val="222222"/>
                </a:solidFill>
                <a:latin typeface="Open Sans"/>
              </a:rPr>
              <a:t>INSTANCE: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DBMS_JOB.INSTANCE ( 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job        IN BINARY_INTEGER,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instance   IN BINARY_INTEGER,</a:t>
            </a:r>
          </a:p>
          <a:p>
            <a:r>
              <a:rPr lang="en-US" sz="2800" dirty="0">
                <a:solidFill>
                  <a:srgbClr val="222222"/>
                </a:solidFill>
                <a:latin typeface="Open Sans"/>
              </a:rPr>
              <a:t>   force      IN BOOLEAN DEFAULT FALSE);</a:t>
            </a:r>
            <a:endParaRPr lang="ru-RU" sz="2800" dirty="0">
              <a:solidFill>
                <a:srgbClr val="222222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41544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/>
              <a:t>interval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66B53-94D7-43E4-BB91-8FAF12B9F3C1}"/>
              </a:ext>
            </a:extLst>
          </p:cNvPr>
          <p:cNvSpPr txBox="1"/>
          <p:nvPr/>
        </p:nvSpPr>
        <p:spPr>
          <a:xfrm>
            <a:off x="646921" y="1449624"/>
            <a:ext cx="1089815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Синтаксис: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DBMS_JOB.INTERVAL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interval  IN  VARCHAR2);</a:t>
            </a:r>
          </a:p>
          <a:p>
            <a:endParaRPr lang="en-US" sz="2200" dirty="0">
              <a:solidFill>
                <a:srgbClr val="222222"/>
              </a:solidFill>
              <a:latin typeface="Open Sans"/>
            </a:endParaRP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Параметр 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interval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должен оценивать время в будущем. Допустимые интервалы включают:</a:t>
            </a:r>
          </a:p>
          <a:p>
            <a:endParaRPr lang="ru-RU" sz="2200" dirty="0">
              <a:solidFill>
                <a:srgbClr val="222222"/>
              </a:solidFill>
              <a:latin typeface="Open Sans"/>
            </a:endParaRP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sysdate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+ 7’ 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Запуск раз в неделю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</a:t>
            </a: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next_day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(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sysdate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,''TUESDAY'')’ 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Запуск один раз каждый вторник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 </a:t>
            </a: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'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null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’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Запуск только один раз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 </a:t>
            </a:r>
          </a:p>
          <a:p>
            <a:endParaRPr lang="ru-RU" sz="2200" dirty="0">
              <a:solidFill>
                <a:srgbClr val="222222"/>
              </a:solidFill>
              <a:latin typeface="Open Sans"/>
            </a:endParaRP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Если 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interva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l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оценивается NULL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и если задание завершается успешно, то задание автоматически удаляется из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4217406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/>
              <a:t>Broken </a:t>
            </a:r>
            <a:r>
              <a:rPr lang="ru-RU" dirty="0"/>
              <a:t>и </a:t>
            </a:r>
            <a:r>
              <a:rPr lang="en-US" dirty="0"/>
              <a:t>run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4B9A7-472A-45E9-B942-64BF6E634F57}"/>
              </a:ext>
            </a:extLst>
          </p:cNvPr>
          <p:cNvSpPr txBox="1"/>
          <p:nvPr/>
        </p:nvSpPr>
        <p:spPr>
          <a:xfrm>
            <a:off x="967273" y="1959428"/>
            <a:ext cx="40868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Синтаксис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BROKEN: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DBMS_JOB.BROKEN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broken    IN  BOOLEAN,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next_date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IN  DATE DEFAULT SYSDATE);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1988F-FD36-4CFB-8373-5618D307EBCB}"/>
              </a:ext>
            </a:extLst>
          </p:cNvPr>
          <p:cNvSpPr txBox="1"/>
          <p:nvPr/>
        </p:nvSpPr>
        <p:spPr>
          <a:xfrm>
            <a:off x="5434673" y="1959428"/>
            <a:ext cx="57900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Синтаксис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RUN: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DBMS_JOB.RUN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      IN 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force     IN  BOOLEAN DEFAULT FALSE);</a:t>
            </a:r>
          </a:p>
          <a:p>
            <a:endParaRPr lang="en-US" sz="2200" dirty="0">
              <a:solidFill>
                <a:srgbClr val="222222"/>
              </a:solidFill>
              <a:latin typeface="Open Sans"/>
            </a:endParaRP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Пример 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RUN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:</a:t>
            </a:r>
            <a:endParaRPr lang="en-US" sz="2200" dirty="0">
              <a:solidFill>
                <a:srgbClr val="222222"/>
              </a:solidFill>
              <a:latin typeface="Open Sans"/>
            </a:endParaRP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EXECUTE DBMS_JOB.RUN(14144);</a:t>
            </a:r>
          </a:p>
          <a:p>
            <a:endParaRPr lang="en-US" sz="2200" dirty="0">
              <a:solidFill>
                <a:srgbClr val="222222"/>
              </a:solidFill>
              <a:latin typeface="Open Sans"/>
            </a:endParaRP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Исключения:</a:t>
            </a:r>
          </a:p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Исключение возникает, если </a:t>
            </a:r>
            <a:r>
              <a:rPr lang="ru-RU" sz="2200" dirty="0" err="1">
                <a:solidFill>
                  <a:srgbClr val="222222"/>
                </a:solidFill>
                <a:latin typeface="Open Sans"/>
              </a:rPr>
              <a:t>force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 есть FALSE, и если подключенный экземпляр является неправильным.</a:t>
            </a:r>
          </a:p>
        </p:txBody>
      </p:sp>
    </p:spTree>
    <p:extLst>
      <p:ext uri="{BB962C8B-B14F-4D97-AF65-F5344CB8AC3E}">
        <p14:creationId xmlns:p14="http://schemas.microsoft.com/office/powerpoint/2010/main" val="261162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516" y="324680"/>
            <a:ext cx="6588967" cy="78566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user_export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F748E-5392-42E4-A1BE-FD605BEDFE4B}"/>
              </a:ext>
            </a:extLst>
          </p:cNvPr>
          <p:cNvSpPr txBox="1"/>
          <p:nvPr/>
        </p:nvSpPr>
        <p:spPr>
          <a:xfrm>
            <a:off x="1468014" y="1926819"/>
            <a:ext cx="46279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Синтаксис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первого:</a:t>
            </a:r>
            <a:endParaRPr lang="en-US" sz="2200" dirty="0">
              <a:solidFill>
                <a:srgbClr val="222222"/>
              </a:solidFill>
              <a:latin typeface="Open Sans"/>
            </a:endParaRP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DBMS_JOB.USER_EXPORT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   IN    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mycall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IN OUT VARCHAR2);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5C9D9-3C39-42A7-815D-EAAC9A1C118C}"/>
              </a:ext>
            </a:extLst>
          </p:cNvPr>
          <p:cNvSpPr txBox="1"/>
          <p:nvPr/>
        </p:nvSpPr>
        <p:spPr>
          <a:xfrm>
            <a:off x="6627844" y="1926819"/>
            <a:ext cx="46279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solidFill>
                  <a:srgbClr val="222222"/>
                </a:solidFill>
                <a:latin typeface="Open Sans"/>
              </a:rPr>
              <a:t>Синтаксис второго: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DBMS_JOB.USER_EXPORT ( 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job IN BINARY_INTEGER,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latin typeface="Open Sans"/>
              </a:rPr>
              <a:t>mycall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IN OUT VARCHAR2,</a:t>
            </a:r>
          </a:p>
          <a:p>
            <a:r>
              <a:rPr lang="en-US" sz="2200" dirty="0">
                <a:solidFill>
                  <a:srgbClr val="222222"/>
                </a:solidFill>
                <a:latin typeface="Open Sans"/>
              </a:rPr>
              <a:t>   </a:t>
            </a:r>
            <a:r>
              <a:rPr lang="en-US" sz="2200" dirty="0" err="1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myinst</a:t>
            </a:r>
            <a:r>
              <a:rPr lang="en-US" sz="2200" dirty="0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 IN OUT VARCHAR2);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1302D-24FB-4E9A-B1A4-52796C5521FE}"/>
              </a:ext>
            </a:extLst>
          </p:cNvPr>
          <p:cNvSpPr txBox="1"/>
          <p:nvPr/>
        </p:nvSpPr>
        <p:spPr>
          <a:xfrm>
            <a:off x="1924805" y="4189844"/>
            <a:ext cx="83423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Open Sans"/>
              </a:rPr>
              <a:t>job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Номер выполняемой работы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222222"/>
                </a:solidFill>
                <a:latin typeface="Open Sans"/>
              </a:rPr>
              <a:t>mycall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 (</a:t>
            </a:r>
            <a:r>
              <a:rPr lang="ru-RU" sz="2200" dirty="0">
                <a:solidFill>
                  <a:srgbClr val="222222"/>
                </a:solidFill>
                <a:latin typeface="Open Sans"/>
              </a:rPr>
              <a:t>Текст призыва воссоздать данное задание</a:t>
            </a:r>
            <a:r>
              <a:rPr lang="en-US" sz="2200" dirty="0">
                <a:solidFill>
                  <a:srgbClr val="222222"/>
                </a:solidFill>
                <a:latin typeface="Open Sans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myinst</a:t>
            </a:r>
            <a:r>
              <a:rPr lang="en-US" sz="2200" dirty="0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 (</a:t>
            </a:r>
            <a:r>
              <a:rPr lang="ru-RU" sz="2200" dirty="0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Текст вызова для изменения привязки экземпляра</a:t>
            </a:r>
            <a:r>
              <a:rPr lang="en-US" sz="2200" dirty="0">
                <a:solidFill>
                  <a:srgbClr val="222222"/>
                </a:solidFill>
                <a:highlight>
                  <a:srgbClr val="808000"/>
                </a:highlight>
                <a:latin typeface="Open Sans"/>
              </a:rPr>
              <a:t>)</a:t>
            </a:r>
            <a:endParaRPr lang="ru-RU" sz="2200" dirty="0">
              <a:solidFill>
                <a:srgbClr val="222222"/>
              </a:solidFill>
              <a:highlight>
                <a:srgbClr val="808000"/>
              </a:highlight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0058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2E17D4-0052-48E9-BB1B-A4AA64172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Спасибо </a:t>
            </a:r>
            <a:r>
              <a:rPr lang="ru-RU"/>
              <a:t>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851626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358</TotalTime>
  <Words>1077</Words>
  <Application>Microsoft Office PowerPoint</Application>
  <PresentationFormat>Широкоэкранный</PresentationFormat>
  <Paragraphs>138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Corbel</vt:lpstr>
      <vt:lpstr>Gill Sans MT</vt:lpstr>
      <vt:lpstr>Open Sans</vt:lpstr>
      <vt:lpstr>Посылка</vt:lpstr>
      <vt:lpstr>Программы пакета DBMS_JOB на примерах</vt:lpstr>
      <vt:lpstr>Определение</vt:lpstr>
      <vt:lpstr>использование</vt:lpstr>
      <vt:lpstr>Основные процедуры</vt:lpstr>
      <vt:lpstr>Синтаксис submit</vt:lpstr>
      <vt:lpstr>Параметры submit</vt:lpstr>
      <vt:lpstr>пример submit</vt:lpstr>
      <vt:lpstr>remove</vt:lpstr>
      <vt:lpstr>change</vt:lpstr>
      <vt:lpstr>what</vt:lpstr>
      <vt:lpstr>Next_date и instance</vt:lpstr>
      <vt:lpstr>interval</vt:lpstr>
      <vt:lpstr>Broken и run</vt:lpstr>
      <vt:lpstr>user_export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Программы пакета DBMS_JOB на примерах</dc:title>
  <dc:creator>Андрей Черных</dc:creator>
  <cp:lastModifiedBy>Андрей Черных</cp:lastModifiedBy>
  <cp:revision>11</cp:revision>
  <dcterms:created xsi:type="dcterms:W3CDTF">2022-02-27T12:40:53Z</dcterms:created>
  <dcterms:modified xsi:type="dcterms:W3CDTF">2022-03-02T16:34:20Z</dcterms:modified>
</cp:coreProperties>
</file>