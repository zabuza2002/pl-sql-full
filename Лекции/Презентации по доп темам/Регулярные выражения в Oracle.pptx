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94" r:id="rId1"/>
  </p:sldMasterIdLst>
  <p:sldIdLst>
    <p:sldId id="256" r:id="rId2"/>
    <p:sldId id="257" r:id="rId3"/>
    <p:sldId id="258" r:id="rId4"/>
    <p:sldId id="271" r:id="rId5"/>
    <p:sldId id="272" r:id="rId6"/>
    <p:sldId id="273" r:id="rId7"/>
    <p:sldId id="274" r:id="rId8"/>
    <p:sldId id="275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Раздел по умолчанию" id="{BEE8254E-CEEF-4036-AFC4-AD21E4213A0E}">
          <p14:sldIdLst>
            <p14:sldId id="256"/>
            <p14:sldId id="257"/>
            <p14:sldId id="258"/>
            <p14:sldId id="271"/>
            <p14:sldId id="272"/>
            <p14:sldId id="273"/>
            <p14:sldId id="274"/>
            <p14:sldId id="275"/>
            <p14:sldId id="259"/>
            <p14:sldId id="260"/>
            <p14:sldId id="261"/>
            <p14:sldId id="262"/>
            <p14:sldId id="263"/>
            <p14:sldId id="264"/>
            <p14:sldId id="265"/>
            <p14:sldId id="266"/>
            <p14:sldId id="267"/>
            <p14:sldId id="268"/>
            <p14:sldId id="269"/>
            <p14:sldId id="27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998" autoAdjust="0"/>
    <p:restoredTop sz="94660"/>
  </p:normalViewPr>
  <p:slideViewPr>
    <p:cSldViewPr snapToGrid="0">
      <p:cViewPr varScale="1">
        <p:scale>
          <a:sx n="159" d="100"/>
          <a:sy n="159" d="100"/>
        </p:scale>
        <p:origin x="150" y="2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B9EBBA-996F-894A-B54A-D6246ED52CEA}" type="datetimeFigureOut">
              <a:rPr lang="en-US" smtClean="0"/>
              <a:pPr/>
              <a:t>2/28/2022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181503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3A1323-8D79-1946-B0D7-40001CF92E9D}" type="datetimeFigureOut">
              <a:rPr lang="en-US" smtClean="0"/>
              <a:pPr/>
              <a:t>2/28/2022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6577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Заголовок раздела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FA1846-DA80-1C48-A609-854EA85C59AD}" type="datetimeFigureOut">
              <a:rPr lang="en-US" smtClean="0"/>
              <a:pPr/>
              <a:t>2/28/2022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781556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302355-E14B-8545-A8F8-0FE83CC9D524}" type="datetimeFigureOut">
              <a:rPr lang="en-US" smtClean="0"/>
              <a:pPr/>
              <a:t>2/28/2022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409580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640F58-564D-2B4F-AE67-E407BA4FCF45}" type="datetimeFigureOut">
              <a:rPr lang="en-US" smtClean="0"/>
              <a:pPr/>
              <a:t>2/28/2022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022844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3A34C8-038E-2045-AF43-DF7DBB8E0E9E}" type="datetimeFigureOut">
              <a:rPr lang="en-US" smtClean="0"/>
              <a:pPr/>
              <a:t>2/28/2022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278274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18C68F-D26B-8F47-958C-23B49CF8A634}" type="datetimeFigureOut">
              <a:rPr lang="en-US" smtClean="0"/>
              <a:pPr/>
              <a:t>2/28/2022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97118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D0DF5E60-9974-AC48-9591-99C2BB44B7CF}" type="datetimeFigureOut">
              <a:rPr lang="en-US" smtClean="0"/>
              <a:pPr/>
              <a:t>2/28/2022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720978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482E8-6E0E-1B4F-B1FD-C69DB9E858D9}" type="datetimeFigureOut">
              <a:rPr lang="en-US" smtClean="0"/>
              <a:pPr/>
              <a:t>2/28/2022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3707243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C52C72-DE31-F449-A4ED-4C594FD91407}" type="datetimeFigureOut">
              <a:rPr lang="en-US" smtClean="0"/>
              <a:pPr/>
              <a:t>2/28/2022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309570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62726E-379B-B349-9EED-81ED093FA806}" type="datetimeFigureOut">
              <a:rPr lang="en-US" smtClean="0"/>
              <a:pPr/>
              <a:t>2/28/2022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921197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09B482E8-6E0E-1B4F-B1FD-C69DB9E858D9}" type="datetimeFigureOut">
              <a:rPr lang="en-US" smtClean="0"/>
              <a:pPr/>
              <a:t>2/28/2022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415128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5" r:id="rId1"/>
    <p:sldLayoutId id="2147483696" r:id="rId2"/>
    <p:sldLayoutId id="2147483697" r:id="rId3"/>
    <p:sldLayoutId id="2147483698" r:id="rId4"/>
    <p:sldLayoutId id="2147483699" r:id="rId5"/>
    <p:sldLayoutId id="2147483700" r:id="rId6"/>
    <p:sldLayoutId id="2147483701" r:id="rId7"/>
    <p:sldLayoutId id="2147483702" r:id="rId8"/>
    <p:sldLayoutId id="2147483703" r:id="rId9"/>
    <p:sldLayoutId id="2147483704" r:id="rId10"/>
    <p:sldLayoutId id="2147483705" r:id="rId11"/>
  </p:sldLayoutIdLst>
  <p:hf sldNum="0" hdr="0" ftr="0" dt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4582479-2DC9-4144-9F9F-28EBB8AB59D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dirty="0"/>
              <a:t>Регулярные выражения в </a:t>
            </a:r>
            <a:r>
              <a:rPr lang="en-US" dirty="0">
                <a:solidFill>
                  <a:srgbClr val="FF0000"/>
                </a:solidFill>
              </a:rPr>
              <a:t>Oracle</a:t>
            </a:r>
            <a:endParaRPr lang="ru-RU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5162104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F22F4E17-E1A3-48FE-B222-3777CFB1CE7F}"/>
              </a:ext>
            </a:extLst>
          </p:cNvPr>
          <p:cNvSpPr txBox="1"/>
          <p:nvPr/>
        </p:nvSpPr>
        <p:spPr>
          <a:xfrm>
            <a:off x="697330" y="487278"/>
            <a:ext cx="10797339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ru-RU" sz="2400" dirty="0">
              <a:solidFill>
                <a:srgbClr val="111111"/>
              </a:solidFill>
              <a:effectLst/>
              <a:latin typeface="Arial" panose="020B0604020202020204" pitchFamily="34" charset="0"/>
              <a:ea typeface="Calibri" panose="020F0502020204030204" pitchFamily="34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ru-RU" sz="2400" dirty="0">
                <a:solidFill>
                  <a:srgbClr val="111111"/>
                </a:solidFill>
                <a:effectLst/>
                <a:ea typeface="Calibri" panose="020F0502020204030204" pitchFamily="34" charset="0"/>
              </a:rPr>
              <a:t>Регулярные выражения (</a:t>
            </a:r>
            <a:r>
              <a:rPr lang="ru-RU" sz="2400" dirty="0" err="1">
                <a:solidFill>
                  <a:srgbClr val="111111"/>
                </a:solidFill>
                <a:effectLst/>
                <a:ea typeface="Calibri" panose="020F0502020204030204" pitchFamily="34" charset="0"/>
              </a:rPr>
              <a:t>Regular</a:t>
            </a:r>
            <a:r>
              <a:rPr lang="ru-RU" sz="2400" dirty="0">
                <a:solidFill>
                  <a:srgbClr val="111111"/>
                </a:solidFill>
                <a:effectLst/>
                <a:ea typeface="Calibri" panose="020F0502020204030204" pitchFamily="34" charset="0"/>
              </a:rPr>
              <a:t> </a:t>
            </a:r>
            <a:r>
              <a:rPr lang="ru-RU" sz="2400" dirty="0" err="1">
                <a:solidFill>
                  <a:srgbClr val="111111"/>
                </a:solidFill>
                <a:effectLst/>
                <a:ea typeface="Calibri" panose="020F0502020204030204" pitchFamily="34" charset="0"/>
              </a:rPr>
              <a:t>Expressions</a:t>
            </a:r>
            <a:r>
              <a:rPr lang="ru-RU" sz="2400" dirty="0">
                <a:solidFill>
                  <a:srgbClr val="111111"/>
                </a:solidFill>
                <a:effectLst/>
                <a:ea typeface="Calibri" panose="020F0502020204030204" pitchFamily="34" charset="0"/>
              </a:rPr>
              <a:t> или как их еще называют </a:t>
            </a:r>
            <a:r>
              <a:rPr lang="ru-RU" sz="2400" i="1" dirty="0" err="1">
                <a:effectLst/>
                <a:ea typeface="Calibri" panose="020F0502020204030204" pitchFamily="34" charset="0"/>
              </a:rPr>
              <a:t>regexp</a:t>
            </a:r>
            <a:r>
              <a:rPr lang="ru-RU" sz="2400" dirty="0">
                <a:solidFill>
                  <a:srgbClr val="111111"/>
                </a:solidFill>
                <a:effectLst/>
                <a:ea typeface="Calibri" panose="020F0502020204030204" pitchFamily="34" charset="0"/>
              </a:rPr>
              <a:t>, или </a:t>
            </a:r>
            <a:r>
              <a:rPr lang="ru-RU" sz="2400" i="1" dirty="0" err="1">
                <a:effectLst/>
                <a:ea typeface="Calibri" panose="020F0502020204030204" pitchFamily="34" charset="0"/>
              </a:rPr>
              <a:t>regex</a:t>
            </a:r>
            <a:r>
              <a:rPr lang="ru-RU" sz="2400" dirty="0">
                <a:solidFill>
                  <a:srgbClr val="111111"/>
                </a:solidFill>
                <a:effectLst/>
                <a:ea typeface="Calibri" panose="020F0502020204030204" pitchFamily="34" charset="0"/>
              </a:rPr>
              <a:t>) — это механизм для поиска и замены текста</a:t>
            </a:r>
            <a:r>
              <a:rPr lang="en-US" sz="2400" dirty="0">
                <a:solidFill>
                  <a:srgbClr val="111111"/>
                </a:solidFill>
                <a:ea typeface="Calibri" panose="020F0502020204030204" pitchFamily="34" charset="0"/>
              </a:rPr>
              <a:t> </a:t>
            </a:r>
            <a:r>
              <a:rPr lang="ru-RU" sz="2400" dirty="0">
                <a:solidFill>
                  <a:srgbClr val="111111"/>
                </a:solidFill>
                <a:ea typeface="Calibri" panose="020F0502020204030204" pitchFamily="34" charset="0"/>
              </a:rPr>
              <a:t>в</a:t>
            </a:r>
            <a:r>
              <a:rPr lang="ru-RU" sz="2400" dirty="0">
                <a:solidFill>
                  <a:srgbClr val="111111"/>
                </a:solidFill>
                <a:effectLst/>
                <a:ea typeface="Calibri" panose="020F0502020204030204" pitchFamily="34" charset="0"/>
              </a:rPr>
              <a:t> строке, файле или нескольких файлах. </a:t>
            </a:r>
            <a:r>
              <a:rPr lang="ru-RU" sz="2400" dirty="0">
                <a:solidFill>
                  <a:srgbClr val="111111"/>
                </a:solidFill>
                <a:ea typeface="Calibri" panose="020F0502020204030204" pitchFamily="34" charset="0"/>
              </a:rPr>
              <a:t>Они</a:t>
            </a:r>
            <a:r>
              <a:rPr lang="ru-RU" sz="2400" dirty="0">
                <a:solidFill>
                  <a:srgbClr val="111111"/>
                </a:solidFill>
                <a:effectLst/>
                <a:ea typeface="Calibri" panose="020F0502020204030204" pitchFamily="34" charset="0"/>
              </a:rPr>
              <a:t> произошли из теорий автоматов и формальных языков.</a:t>
            </a:r>
          </a:p>
          <a:p>
            <a:pPr algn="just"/>
            <a:endParaRPr lang="ru-RU" sz="2400" dirty="0">
              <a:solidFill>
                <a:srgbClr val="111111"/>
              </a:solidFill>
              <a:effectLst/>
              <a:ea typeface="Calibri" panose="020F0502020204030204" pitchFamily="34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ru-RU" sz="2400" dirty="0">
                <a:solidFill>
                  <a:srgbClr val="111111"/>
                </a:solidFill>
                <a:ea typeface="Calibri" panose="020F0502020204030204" pitchFamily="34" charset="0"/>
              </a:rPr>
              <a:t>Р</a:t>
            </a:r>
            <a:r>
              <a:rPr lang="ru-RU" sz="2400" dirty="0">
                <a:solidFill>
                  <a:srgbClr val="111111"/>
                </a:solidFill>
                <a:effectLst/>
                <a:ea typeface="Calibri" panose="020F0502020204030204" pitchFamily="34" charset="0"/>
              </a:rPr>
              <a:t>егулярные выражения — специальный язык для описания шаблонов строк.</a:t>
            </a:r>
          </a:p>
          <a:p>
            <a:pPr algn="just"/>
            <a:endParaRPr lang="ru-RU" sz="2400" dirty="0">
              <a:solidFill>
                <a:srgbClr val="111111"/>
              </a:solidFill>
              <a:effectLst/>
              <a:ea typeface="Calibri" panose="020F0502020204030204" pitchFamily="34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ru-RU" sz="2400" dirty="0">
                <a:solidFill>
                  <a:srgbClr val="111111"/>
                </a:solidFill>
                <a:ea typeface="Calibri" panose="020F0502020204030204" pitchFamily="34" charset="0"/>
              </a:rPr>
              <a:t>Р</a:t>
            </a:r>
            <a:r>
              <a:rPr lang="ru-RU" sz="2400" dirty="0">
                <a:solidFill>
                  <a:srgbClr val="111111"/>
                </a:solidFill>
                <a:effectLst/>
                <a:ea typeface="Calibri" panose="020F0502020204030204" pitchFamily="34" charset="0"/>
              </a:rPr>
              <a:t>егулярные выражения </a:t>
            </a:r>
            <a:r>
              <a:rPr lang="ru-RU" sz="2400" dirty="0">
                <a:solidFill>
                  <a:srgbClr val="111111"/>
                </a:solidFill>
              </a:rPr>
              <a:t>поддерживаются во всех современных средах разработки.</a:t>
            </a:r>
          </a:p>
          <a:p>
            <a:pPr algn="just"/>
            <a:endParaRPr lang="ru-RU" sz="2400" dirty="0">
              <a:solidFill>
                <a:srgbClr val="111111"/>
              </a:solidFill>
              <a:effectLst/>
              <a:ea typeface="Calibri" panose="020F0502020204030204" pitchFamily="34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ru-RU" sz="2400" dirty="0">
                <a:solidFill>
                  <a:srgbClr val="111111"/>
                </a:solidFill>
              </a:rPr>
              <a:t>Синтаксис регулярных выражений, не зависимо от среды, везде одинаков.</a:t>
            </a:r>
          </a:p>
        </p:txBody>
      </p:sp>
    </p:spTree>
    <p:extLst>
      <p:ext uri="{BB962C8B-B14F-4D97-AF65-F5344CB8AC3E}">
        <p14:creationId xmlns:p14="http://schemas.microsoft.com/office/powerpoint/2010/main" val="20507728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8261DD9-B3FF-40E3-B4B5-2F1265855368}"/>
              </a:ext>
            </a:extLst>
          </p:cNvPr>
          <p:cNvSpPr txBox="1"/>
          <p:nvPr/>
        </p:nvSpPr>
        <p:spPr>
          <a:xfrm>
            <a:off x="697330" y="601578"/>
            <a:ext cx="10797339" cy="52014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450000" algn="just"/>
            <a:r>
              <a:rPr lang="ru-RU" sz="2400" dirty="0">
                <a:solidFill>
                  <a:srgbClr val="111111"/>
                </a:solidFill>
              </a:rPr>
              <a:t>Шаблон регулярных выражений выражается в виде строки, содержащей следующие конструкции:</a:t>
            </a:r>
          </a:p>
          <a:p>
            <a:pPr indent="450000" algn="just"/>
            <a:endParaRPr lang="ru-RU" sz="2400" dirty="0">
              <a:solidFill>
                <a:srgbClr val="111111"/>
              </a:solidFill>
            </a:endParaRPr>
          </a:p>
          <a:p>
            <a:pPr lvl="1" algn="just">
              <a:buFont typeface="Arial" panose="020B0604020202020204" pitchFamily="34" charset="0"/>
              <a:buChar char="•"/>
            </a:pPr>
            <a:r>
              <a:rPr lang="ru-RU" sz="2400" b="1" dirty="0">
                <a:solidFill>
                  <a:schemeClr val="accent1"/>
                </a:solidFill>
              </a:rPr>
              <a:t>Литеральные символы </a:t>
            </a:r>
            <a:r>
              <a:rPr lang="ru-RU" sz="2400" dirty="0">
                <a:solidFill>
                  <a:srgbClr val="111111"/>
                </a:solidFill>
              </a:rPr>
              <a:t>- фактические символы, которые следует искать (шаблон xyz соответствует только вхождению «xyz»)</a:t>
            </a:r>
          </a:p>
          <a:p>
            <a:pPr algn="just"/>
            <a:endParaRPr lang="ru-RU" sz="2400" dirty="0">
              <a:solidFill>
                <a:srgbClr val="111111"/>
              </a:solidFill>
            </a:endParaRPr>
          </a:p>
          <a:p>
            <a:pPr lvl="1" algn="just">
              <a:buFont typeface="Arial" panose="020B0604020202020204" pitchFamily="34" charset="0"/>
              <a:buChar char="•"/>
            </a:pPr>
            <a:r>
              <a:rPr lang="ru-RU" sz="2400" b="1" dirty="0">
                <a:solidFill>
                  <a:schemeClr val="accent1"/>
                </a:solidFill>
              </a:rPr>
              <a:t>Метасимволы</a:t>
            </a:r>
            <a:r>
              <a:rPr lang="en-US" sz="2400" b="1" dirty="0">
                <a:solidFill>
                  <a:schemeClr val="accent1"/>
                </a:solidFill>
              </a:rPr>
              <a:t>, </a:t>
            </a:r>
            <a:r>
              <a:rPr lang="ru-RU" sz="2400" b="1" dirty="0">
                <a:solidFill>
                  <a:schemeClr val="accent1"/>
                </a:solidFill>
              </a:rPr>
              <a:t>квантификаторы и операторы повтора</a:t>
            </a:r>
            <a:r>
              <a:rPr lang="en-US" sz="2400" b="1" dirty="0">
                <a:solidFill>
                  <a:schemeClr val="accent1"/>
                </a:solidFill>
              </a:rPr>
              <a:t>, </a:t>
            </a:r>
            <a:r>
              <a:rPr lang="ru-RU" sz="2400" b="1" dirty="0">
                <a:solidFill>
                  <a:schemeClr val="accent1"/>
                </a:solidFill>
              </a:rPr>
              <a:t>предопределенные символьные классы </a:t>
            </a:r>
            <a:r>
              <a:rPr lang="ru-RU" sz="2400" dirty="0">
                <a:solidFill>
                  <a:srgbClr val="111111"/>
                </a:solidFill>
              </a:rPr>
              <a:t>- операции, определяющие алгоритмы, которые должны применяться во время поиска (шаблон ^xyz соответствует только строке, начинающейся с «xyz» — другие вхождения не учитываются)</a:t>
            </a:r>
          </a:p>
          <a:p>
            <a:pPr algn="just"/>
            <a:endParaRPr lang="ru-RU" sz="2400" dirty="0">
              <a:solidFill>
                <a:srgbClr val="111111"/>
              </a:solidFill>
            </a:endParaRPr>
          </a:p>
          <a:p>
            <a:pPr algn="just"/>
            <a:r>
              <a:rPr lang="ru-RU" sz="2400" dirty="0">
                <a:solidFill>
                  <a:srgbClr val="111111"/>
                </a:solidFill>
              </a:rPr>
              <a:t>Пример(проверка корректности </a:t>
            </a:r>
            <a:r>
              <a:rPr lang="en-US" sz="2400" dirty="0">
                <a:solidFill>
                  <a:srgbClr val="111111"/>
                </a:solidFill>
              </a:rPr>
              <a:t>e-mail</a:t>
            </a:r>
            <a:r>
              <a:rPr lang="ru-RU" sz="2400" dirty="0">
                <a:solidFill>
                  <a:srgbClr val="111111"/>
                </a:solidFill>
              </a:rPr>
              <a:t>):</a:t>
            </a:r>
          </a:p>
          <a:p>
            <a:pPr algn="just"/>
            <a:endParaRPr lang="ru-RU" sz="2400" dirty="0">
              <a:solidFill>
                <a:srgbClr val="111111"/>
              </a:solidFill>
              <a:latin typeface="Arial" panose="020B0604020202020204" pitchFamily="34" charset="0"/>
            </a:endParaRPr>
          </a:p>
          <a:p>
            <a:pPr algn="just"/>
            <a:r>
              <a:rPr lang="en-US" sz="2000" b="0" i="0" dirty="0">
                <a:solidFill>
                  <a:srgbClr val="333333"/>
                </a:solidFill>
                <a:effectLst/>
                <a:latin typeface="Courier New" panose="02070309020205020404" pitchFamily="49" charset="0"/>
              </a:rPr>
              <a:t>^([a-z0-9_-]+\.)*[a-z0-9_-]+@[a-z0-9_-]+(\.[a-z0-9_-]+)*\.[a-z]{2,6}$</a:t>
            </a:r>
            <a:endParaRPr lang="ru-RU" sz="2000" dirty="0"/>
          </a:p>
        </p:txBody>
      </p:sp>
    </p:spTree>
    <p:extLst>
      <p:ext uri="{BB962C8B-B14F-4D97-AF65-F5344CB8AC3E}">
        <p14:creationId xmlns:p14="http://schemas.microsoft.com/office/powerpoint/2010/main" val="4027400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Таблица 4">
            <a:extLst>
              <a:ext uri="{FF2B5EF4-FFF2-40B4-BE49-F238E27FC236}">
                <a16:creationId xmlns:a16="http://schemas.microsoft.com/office/drawing/2014/main" id="{78E98BE7-696E-4FA3-9D3E-6BD9FD8B08D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84287127"/>
              </p:ext>
            </p:extLst>
          </p:nvPr>
        </p:nvGraphicFramePr>
        <p:xfrm>
          <a:off x="951853" y="0"/>
          <a:ext cx="10288293" cy="6131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29431">
                  <a:extLst>
                    <a:ext uri="{9D8B030D-6E8A-4147-A177-3AD203B41FA5}">
                      <a16:colId xmlns:a16="http://schemas.microsoft.com/office/drawing/2014/main" val="716293471"/>
                    </a:ext>
                  </a:extLst>
                </a:gridCol>
                <a:gridCol w="3429431">
                  <a:extLst>
                    <a:ext uri="{9D8B030D-6E8A-4147-A177-3AD203B41FA5}">
                      <a16:colId xmlns:a16="http://schemas.microsoft.com/office/drawing/2014/main" val="31805397"/>
                    </a:ext>
                  </a:extLst>
                </a:gridCol>
                <a:gridCol w="3429431">
                  <a:extLst>
                    <a:ext uri="{9D8B030D-6E8A-4147-A177-3AD203B41FA5}">
                      <a16:colId xmlns:a16="http://schemas.microsoft.com/office/drawing/2014/main" val="108829253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l" fontAlgn="t"/>
                      <a:r>
                        <a:rPr lang="ru-RU" sz="1800" dirty="0">
                          <a:solidFill>
                            <a:sysClr val="windowText" lastClr="000000"/>
                          </a:solidFill>
                          <a:effectLst/>
                        </a:rPr>
                        <a:t>Метасимвол</a:t>
                      </a:r>
                    </a:p>
                  </a:txBody>
                  <a:tcPr marL="76200" marR="76200" marT="22860" marB="2286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ru-RU" sz="1800" dirty="0">
                          <a:solidFill>
                            <a:sysClr val="windowText" lastClr="000000"/>
                          </a:solidFill>
                          <a:effectLst/>
                        </a:rPr>
                        <a:t>Описание</a:t>
                      </a:r>
                    </a:p>
                  </a:txBody>
                  <a:tcPr marL="76200" marR="76200" marT="22860" marB="2286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ru-RU" sz="1800">
                          <a:solidFill>
                            <a:sysClr val="windowText" lastClr="000000"/>
                          </a:solidFill>
                          <a:effectLst/>
                        </a:rPr>
                        <a:t>Пример</a:t>
                      </a:r>
                    </a:p>
                  </a:txBody>
                  <a:tcPr marL="76200" marR="76200" marT="22860" marB="2286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2466462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t"/>
                      <a:r>
                        <a:rPr lang="ru-RU" sz="1800" dirty="0">
                          <a:solidFill>
                            <a:sysClr val="windowText" lastClr="000000"/>
                          </a:solidFill>
                          <a:effectLst/>
                        </a:rPr>
                        <a:t>^</a:t>
                      </a:r>
                    </a:p>
                  </a:txBody>
                  <a:tcPr marL="76200" marR="76200" marT="22860" marB="2286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ru-RU" sz="1800">
                          <a:solidFill>
                            <a:sysClr val="windowText" lastClr="000000"/>
                          </a:solidFill>
                          <a:effectLst/>
                        </a:rPr>
                        <a:t>Привязать выражение к началу строки</a:t>
                      </a:r>
                    </a:p>
                  </a:txBody>
                  <a:tcPr marL="76200" marR="76200" marT="22860" marB="2286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ru-RU" sz="1800">
                          <a:solidFill>
                            <a:sysClr val="windowText" lastClr="000000"/>
                          </a:solidFill>
                          <a:effectLst/>
                        </a:rPr>
                        <a:t>«^привет» соответствует «привет, как дела», но не «как дела, привет»</a:t>
                      </a:r>
                    </a:p>
                  </a:txBody>
                  <a:tcPr marL="76200" marR="76200" marT="22860" marB="2286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1022183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t"/>
                      <a:r>
                        <a:rPr lang="ru-RU" sz="1800" dirty="0">
                          <a:solidFill>
                            <a:sysClr val="windowText" lastClr="000000"/>
                          </a:solidFill>
                          <a:effectLst/>
                        </a:rPr>
                        <a:t>$</a:t>
                      </a:r>
                    </a:p>
                  </a:txBody>
                  <a:tcPr marL="76200" marR="76200" marT="22860" marB="2286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ru-RU" sz="1800">
                          <a:solidFill>
                            <a:sysClr val="windowText" lastClr="000000"/>
                          </a:solidFill>
                          <a:effectLst/>
                        </a:rPr>
                        <a:t>Привязать выражение к концу строки</a:t>
                      </a:r>
                    </a:p>
                  </a:txBody>
                  <a:tcPr marL="76200" marR="76200" marT="22860" marB="2286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ru-RU" sz="1800" dirty="0">
                          <a:solidFill>
                            <a:sysClr val="windowText" lastClr="000000"/>
                          </a:solidFill>
                          <a:effectLst/>
                        </a:rPr>
                        <a:t>«привет$» соответствует «как дела, привет», но не «привет, как дела»</a:t>
                      </a:r>
                    </a:p>
                  </a:txBody>
                  <a:tcPr marL="76200" marR="76200" marT="22860" marB="2286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1728645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t"/>
                      <a:r>
                        <a:rPr lang="ru-RU" sz="1800" dirty="0">
                          <a:effectLst/>
                        </a:rPr>
                        <a:t>|</a:t>
                      </a:r>
                    </a:p>
                  </a:txBody>
                  <a:tcPr marL="76200" marR="76200" marT="22860" marB="2286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ru-RU" sz="1800" dirty="0">
                          <a:effectLst/>
                        </a:rPr>
                        <a:t>Разделяет альтернативные варианты, часто используется с оператором группировки ( )</a:t>
                      </a:r>
                    </a:p>
                  </a:txBody>
                  <a:tcPr marL="76200" marR="76200" marT="22860" marB="2286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ru-RU" sz="1800" dirty="0">
                        <a:effectLst/>
                      </a:endParaRPr>
                    </a:p>
                  </a:txBody>
                  <a:tcPr marL="76200" marR="76200" marT="22860" marB="2286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044527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t"/>
                      <a:r>
                        <a:rPr lang="ru-RU" sz="1800">
                          <a:effectLst/>
                        </a:rPr>
                        <a:t>( )</a:t>
                      </a:r>
                    </a:p>
                  </a:txBody>
                  <a:tcPr marL="76200" marR="76200" marT="22860" marB="2286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ru-RU" sz="1800" dirty="0">
                          <a:effectLst/>
                        </a:rPr>
                        <a:t>Группирует подвыражения для альтернативы или квантификатора</a:t>
                      </a:r>
                    </a:p>
                  </a:txBody>
                  <a:tcPr marL="76200" marR="76200" marT="22860" marB="2286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800" dirty="0">
                          <a:effectLst/>
                        </a:rPr>
                        <a:t>a(</a:t>
                      </a:r>
                      <a:r>
                        <a:rPr lang="en-US" sz="1800" dirty="0" err="1">
                          <a:effectLst/>
                        </a:rPr>
                        <a:t>b|c</a:t>
                      </a:r>
                      <a:r>
                        <a:rPr lang="en-US" sz="1800" dirty="0">
                          <a:effectLst/>
                        </a:rPr>
                        <a:t>)</a:t>
                      </a:r>
                    </a:p>
                    <a:p>
                      <a:pPr algn="l" fontAlgn="t"/>
                      <a:endParaRPr lang="en-US" sz="1800" dirty="0">
                        <a:effectLst/>
                      </a:endParaRPr>
                    </a:p>
                    <a:p>
                      <a:pPr algn="l" fontAlgn="t"/>
                      <a:r>
                        <a:rPr lang="en-US" sz="1800" dirty="0" err="1">
                          <a:effectLst/>
                          <a:highlight>
                            <a:srgbClr val="FFFF00"/>
                          </a:highlight>
                        </a:rPr>
                        <a:t>ab</a:t>
                      </a:r>
                      <a:r>
                        <a:rPr lang="en-US" sz="1800" dirty="0" err="1">
                          <a:effectLst/>
                        </a:rPr>
                        <a:t>c</a:t>
                      </a:r>
                      <a:r>
                        <a:rPr lang="en-US" sz="1800" dirty="0">
                          <a:effectLst/>
                        </a:rPr>
                        <a:t> </a:t>
                      </a:r>
                      <a:r>
                        <a:rPr lang="en-US" sz="1800" dirty="0">
                          <a:effectLst/>
                          <a:highlight>
                            <a:srgbClr val="FFFF00"/>
                          </a:highlight>
                        </a:rPr>
                        <a:t>ac</a:t>
                      </a:r>
                      <a:r>
                        <a:rPr lang="en-US" sz="1800" dirty="0">
                          <a:effectLst/>
                        </a:rPr>
                        <a:t> </a:t>
                      </a:r>
                      <a:r>
                        <a:rPr lang="en-US" sz="1800" dirty="0" err="1">
                          <a:effectLst/>
                        </a:rPr>
                        <a:t>adb</a:t>
                      </a:r>
                      <a:endParaRPr lang="ru-RU" sz="1800" dirty="0">
                        <a:effectLst/>
                      </a:endParaRPr>
                    </a:p>
                  </a:txBody>
                  <a:tcPr marL="76200" marR="76200" marT="22860" marB="2286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6024557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t"/>
                      <a:r>
                        <a:rPr lang="en-US" sz="1800" dirty="0">
                          <a:effectLst/>
                        </a:rPr>
                        <a:t>[char]</a:t>
                      </a:r>
                    </a:p>
                  </a:txBody>
                  <a:tcPr marL="76200" marR="76200" marT="22860" marB="2286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ru-RU" sz="1800" dirty="0">
                          <a:effectLst/>
                        </a:rPr>
                        <a:t>Обозначает список символов; большинство метасимволов в списке символов представляют собой литеры, за исключением символьных классов и метасимволов ^ и —</a:t>
                      </a:r>
                    </a:p>
                  </a:txBody>
                  <a:tcPr marL="76200" marR="76200" marT="22860" marB="2286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effectLst/>
                        </a:rPr>
                        <a:t>a[</a:t>
                      </a:r>
                      <a:r>
                        <a:rPr lang="en-US" sz="1800" dirty="0" err="1">
                          <a:effectLst/>
                        </a:rPr>
                        <a:t>bc</a:t>
                      </a:r>
                      <a:r>
                        <a:rPr lang="en-US" sz="1800" dirty="0">
                          <a:effectLst/>
                        </a:rPr>
                        <a:t>]</a:t>
                      </a: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800" dirty="0">
                        <a:effectLst/>
                      </a:endParaRP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 err="1">
                          <a:effectLst/>
                          <a:highlight>
                            <a:srgbClr val="FFFF00"/>
                          </a:highlight>
                        </a:rPr>
                        <a:t>ab</a:t>
                      </a:r>
                      <a:r>
                        <a:rPr lang="en-US" sz="1800" dirty="0" err="1">
                          <a:effectLst/>
                        </a:rPr>
                        <a:t>c</a:t>
                      </a:r>
                      <a:r>
                        <a:rPr lang="en-US" sz="1800" dirty="0">
                          <a:effectLst/>
                        </a:rPr>
                        <a:t> </a:t>
                      </a:r>
                      <a:r>
                        <a:rPr lang="en-US" sz="1800" dirty="0">
                          <a:effectLst/>
                          <a:highlight>
                            <a:srgbClr val="FFFF00"/>
                          </a:highlight>
                        </a:rPr>
                        <a:t>ac</a:t>
                      </a:r>
                      <a:r>
                        <a:rPr lang="en-US" sz="1800" dirty="0">
                          <a:effectLst/>
                        </a:rPr>
                        <a:t> </a:t>
                      </a:r>
                      <a:r>
                        <a:rPr lang="en-US" sz="1800" dirty="0" err="1">
                          <a:effectLst/>
                        </a:rPr>
                        <a:t>adb</a:t>
                      </a:r>
                      <a:endParaRPr lang="ru-RU" sz="1800" dirty="0">
                        <a:effectLst/>
                      </a:endParaRPr>
                    </a:p>
                  </a:txBody>
                  <a:tcPr marL="76200" marR="76200" marT="22860" marB="2286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3795576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t"/>
                      <a:r>
                        <a:rPr lang="en-US" sz="1800">
                          <a:effectLst/>
                        </a:rPr>
                        <a:t>[^char]</a:t>
                      </a:r>
                    </a:p>
                  </a:txBody>
                  <a:tcPr marL="76200" marR="76200" marT="22860" marB="2286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ru-RU" sz="1800" dirty="0">
                          <a:effectLst/>
                        </a:rPr>
                        <a:t>Список символов, которые не должны присутствовать в строке</a:t>
                      </a:r>
                    </a:p>
                  </a:txBody>
                  <a:tcPr marL="76200" marR="76200" marT="22860" marB="2286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800" dirty="0">
                          <a:effectLst/>
                        </a:rPr>
                        <a:t>^[A-Za-z]</a:t>
                      </a:r>
                      <a:endParaRPr lang="ru-RU" sz="1800" dirty="0">
                        <a:effectLst/>
                      </a:endParaRPr>
                    </a:p>
                  </a:txBody>
                  <a:tcPr marL="76200" marR="76200" marT="22860" marB="2286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2345157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073577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Таблица 4">
            <a:extLst>
              <a:ext uri="{FF2B5EF4-FFF2-40B4-BE49-F238E27FC236}">
                <a16:creationId xmlns:a16="http://schemas.microsoft.com/office/drawing/2014/main" id="{C5B02C20-7356-43B0-A651-75EC4BB7A7D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76623825"/>
              </p:ext>
            </p:extLst>
          </p:nvPr>
        </p:nvGraphicFramePr>
        <p:xfrm>
          <a:off x="2032000" y="257452"/>
          <a:ext cx="8127999" cy="5908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09333">
                  <a:extLst>
                    <a:ext uri="{9D8B030D-6E8A-4147-A177-3AD203B41FA5}">
                      <a16:colId xmlns:a16="http://schemas.microsoft.com/office/drawing/2014/main" val="801221761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1654219615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333378535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l" fontAlgn="t"/>
                      <a:r>
                        <a:rPr lang="ru-RU" b="1" dirty="0">
                          <a:solidFill>
                            <a:schemeClr val="tx1"/>
                          </a:solidFill>
                          <a:effectLst/>
                        </a:rPr>
                        <a:t>Квантификатор</a:t>
                      </a:r>
                    </a:p>
                  </a:txBody>
                  <a:tcPr marL="76200" marR="76200" marT="22860" marB="2286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ru-RU" b="1">
                          <a:solidFill>
                            <a:schemeClr val="tx1"/>
                          </a:solidFill>
                          <a:effectLst/>
                        </a:rPr>
                        <a:t>Описание</a:t>
                      </a:r>
                    </a:p>
                  </a:txBody>
                  <a:tcPr marL="76200" marR="76200" marT="22860" marB="2286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ru-RU" b="1" dirty="0">
                          <a:solidFill>
                            <a:schemeClr val="tx1"/>
                          </a:solidFill>
                          <a:effectLst/>
                        </a:rPr>
                        <a:t>Пример</a:t>
                      </a:r>
                    </a:p>
                  </a:txBody>
                  <a:tcPr marL="76200" marR="76200" marT="22860" marB="2286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560618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t"/>
                      <a:r>
                        <a:rPr lang="ru-RU" b="0" dirty="0">
                          <a:solidFill>
                            <a:schemeClr val="tx1"/>
                          </a:solidFill>
                          <a:effectLst/>
                        </a:rPr>
                        <a:t>*</a:t>
                      </a:r>
                    </a:p>
                  </a:txBody>
                  <a:tcPr marL="76200" marR="76200" marT="22860" marB="2286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ru-RU" b="0">
                          <a:solidFill>
                            <a:schemeClr val="tx1"/>
                          </a:solidFill>
                          <a:effectLst/>
                        </a:rPr>
                        <a:t>Встречается 0 и более раз</a:t>
                      </a:r>
                    </a:p>
                  </a:txBody>
                  <a:tcPr marL="76200" marR="76200" marT="22860" marB="2286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b="0" dirty="0">
                          <a:solidFill>
                            <a:schemeClr val="tx1"/>
                          </a:solidFill>
                          <a:effectLst/>
                        </a:rPr>
                        <a:t>REGEXP_REPLACE(str, ’11*’, ‘1’)</a:t>
                      </a:r>
                      <a:br>
                        <a:rPr lang="en-US" b="0" dirty="0">
                          <a:solidFill>
                            <a:schemeClr val="tx1"/>
                          </a:solidFill>
                          <a:effectLst/>
                        </a:rPr>
                      </a:br>
                      <a:r>
                        <a:rPr lang="en-US" b="0" dirty="0" err="1">
                          <a:solidFill>
                            <a:schemeClr val="tx1"/>
                          </a:solidFill>
                          <a:effectLst/>
                        </a:rPr>
                        <a:t>Результат</a:t>
                      </a:r>
                      <a:r>
                        <a:rPr lang="en-US" b="0" dirty="0">
                          <a:solidFill>
                            <a:schemeClr val="tx1"/>
                          </a:solidFill>
                          <a:effectLst/>
                        </a:rPr>
                        <a:t>:</a:t>
                      </a:r>
                      <a:br>
                        <a:rPr lang="en-US" b="0" dirty="0">
                          <a:solidFill>
                            <a:schemeClr val="tx1"/>
                          </a:solidFill>
                          <a:effectLst/>
                        </a:rPr>
                      </a:br>
                      <a:r>
                        <a:rPr lang="en-US" b="0" dirty="0">
                          <a:solidFill>
                            <a:schemeClr val="tx1"/>
                          </a:solidFill>
                          <a:effectLst/>
                        </a:rPr>
                        <a:t>test11 =&gt; test1</a:t>
                      </a:r>
                      <a:br>
                        <a:rPr lang="en-US" b="0" dirty="0">
                          <a:solidFill>
                            <a:schemeClr val="tx1"/>
                          </a:solidFill>
                          <a:effectLst/>
                        </a:rPr>
                      </a:br>
                      <a:r>
                        <a:rPr lang="en-US" b="0" dirty="0">
                          <a:solidFill>
                            <a:schemeClr val="tx1"/>
                          </a:solidFill>
                          <a:effectLst/>
                        </a:rPr>
                        <a:t>11123345 =&gt; 123345</a:t>
                      </a:r>
                    </a:p>
                  </a:txBody>
                  <a:tcPr marL="76200" marR="76200" marT="22860" marB="2286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369278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t"/>
                      <a:r>
                        <a:rPr lang="ru-RU" b="0">
                          <a:solidFill>
                            <a:schemeClr val="tx1"/>
                          </a:solidFill>
                          <a:effectLst/>
                        </a:rPr>
                        <a:t>?</a:t>
                      </a:r>
                    </a:p>
                  </a:txBody>
                  <a:tcPr marL="76200" marR="76200" marT="22860" marB="2286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ru-RU" b="0">
                          <a:solidFill>
                            <a:schemeClr val="tx1"/>
                          </a:solidFill>
                          <a:effectLst/>
                        </a:rPr>
                        <a:t>Встречается 0 или 1 раз</a:t>
                      </a:r>
                    </a:p>
                  </a:txBody>
                  <a:tcPr marL="76200" marR="76200" marT="22860" marB="2286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ru-RU" b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76200" marR="76200" marT="22860" marB="2286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042677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t"/>
                      <a:r>
                        <a:rPr lang="ru-RU" b="0">
                          <a:solidFill>
                            <a:schemeClr val="tx1"/>
                          </a:solidFill>
                          <a:effectLst/>
                        </a:rPr>
                        <a:t>+</a:t>
                      </a:r>
                    </a:p>
                  </a:txBody>
                  <a:tcPr marL="76200" marR="76200" marT="22860" marB="2286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ru-RU" b="0">
                          <a:solidFill>
                            <a:schemeClr val="tx1"/>
                          </a:solidFill>
                          <a:effectLst/>
                        </a:rPr>
                        <a:t>Встречается 1 и более раз</a:t>
                      </a:r>
                    </a:p>
                  </a:txBody>
                  <a:tcPr marL="76200" marR="76200" marT="22860" marB="2286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b="0">
                          <a:solidFill>
                            <a:schemeClr val="tx1"/>
                          </a:solidFill>
                          <a:effectLst/>
                        </a:rPr>
                        <a:t>REGEXP_LIKE(str,’5+’)</a:t>
                      </a:r>
                      <a:br>
                        <a:rPr lang="en-US" b="0">
                          <a:solidFill>
                            <a:schemeClr val="tx1"/>
                          </a:solidFill>
                          <a:effectLst/>
                        </a:rPr>
                      </a:br>
                      <a:r>
                        <a:rPr lang="ru-RU" b="0">
                          <a:solidFill>
                            <a:schemeClr val="tx1"/>
                          </a:solidFill>
                          <a:effectLst/>
                        </a:rPr>
                        <a:t>Результат:</a:t>
                      </a:r>
                      <a:br>
                        <a:rPr lang="ru-RU" b="0">
                          <a:solidFill>
                            <a:schemeClr val="tx1"/>
                          </a:solidFill>
                          <a:effectLst/>
                        </a:rPr>
                      </a:br>
                      <a:r>
                        <a:rPr lang="en-US" b="0">
                          <a:solidFill>
                            <a:schemeClr val="tx1"/>
                          </a:solidFill>
                          <a:effectLst/>
                        </a:rPr>
                        <a:t>test11 =&gt; false</a:t>
                      </a:r>
                      <a:br>
                        <a:rPr lang="en-US" b="0">
                          <a:solidFill>
                            <a:schemeClr val="tx1"/>
                          </a:solidFill>
                          <a:effectLst/>
                        </a:rPr>
                      </a:br>
                      <a:r>
                        <a:rPr lang="en-US" b="0">
                          <a:solidFill>
                            <a:schemeClr val="tx1"/>
                          </a:solidFill>
                          <a:effectLst/>
                        </a:rPr>
                        <a:t>11123345 =&gt; true</a:t>
                      </a:r>
                    </a:p>
                  </a:txBody>
                  <a:tcPr marL="76200" marR="76200" marT="22860" marB="2286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18933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t"/>
                      <a:r>
                        <a:rPr lang="en-US" b="0">
                          <a:solidFill>
                            <a:schemeClr val="tx1"/>
                          </a:solidFill>
                          <a:effectLst/>
                        </a:rPr>
                        <a:t>{m}</a:t>
                      </a:r>
                    </a:p>
                  </a:txBody>
                  <a:tcPr marL="76200" marR="76200" marT="22860" marB="2286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ru-RU" b="0">
                          <a:solidFill>
                            <a:schemeClr val="tx1"/>
                          </a:solidFill>
                          <a:effectLst/>
                        </a:rPr>
                        <a:t>Встречается ровно </a:t>
                      </a:r>
                      <a:r>
                        <a:rPr lang="en-US" b="0">
                          <a:solidFill>
                            <a:schemeClr val="tx1"/>
                          </a:solidFill>
                          <a:effectLst/>
                        </a:rPr>
                        <a:t>m </a:t>
                      </a:r>
                      <a:r>
                        <a:rPr lang="ru-RU" b="0">
                          <a:solidFill>
                            <a:schemeClr val="tx1"/>
                          </a:solidFill>
                          <a:effectLst/>
                        </a:rPr>
                        <a:t>раз</a:t>
                      </a:r>
                    </a:p>
                  </a:txBody>
                  <a:tcPr marL="76200" marR="76200" marT="22860" marB="2286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b="0">
                          <a:solidFill>
                            <a:schemeClr val="tx1"/>
                          </a:solidFill>
                          <a:effectLst/>
                        </a:rPr>
                        <a:t>REGEXP_LIKE(str,’3{2}’)</a:t>
                      </a:r>
                      <a:br>
                        <a:rPr lang="en-US" b="0">
                          <a:solidFill>
                            <a:schemeClr val="tx1"/>
                          </a:solidFill>
                          <a:effectLst/>
                        </a:rPr>
                      </a:br>
                      <a:r>
                        <a:rPr lang="ru-RU" b="0">
                          <a:solidFill>
                            <a:schemeClr val="tx1"/>
                          </a:solidFill>
                          <a:effectLst/>
                        </a:rPr>
                        <a:t>Результат:</a:t>
                      </a:r>
                      <a:br>
                        <a:rPr lang="ru-RU" b="0">
                          <a:solidFill>
                            <a:schemeClr val="tx1"/>
                          </a:solidFill>
                          <a:effectLst/>
                        </a:rPr>
                      </a:br>
                      <a:r>
                        <a:rPr lang="en-US" b="0">
                          <a:solidFill>
                            <a:schemeClr val="tx1"/>
                          </a:solidFill>
                          <a:effectLst/>
                        </a:rPr>
                        <a:t>test11 =&gt; false</a:t>
                      </a:r>
                      <a:br>
                        <a:rPr lang="en-US" b="0">
                          <a:solidFill>
                            <a:schemeClr val="tx1"/>
                          </a:solidFill>
                          <a:effectLst/>
                        </a:rPr>
                      </a:br>
                      <a:r>
                        <a:rPr lang="en-US" b="0">
                          <a:solidFill>
                            <a:schemeClr val="tx1"/>
                          </a:solidFill>
                          <a:effectLst/>
                        </a:rPr>
                        <a:t>11123345 =&gt; true</a:t>
                      </a:r>
                    </a:p>
                  </a:txBody>
                  <a:tcPr marL="76200" marR="76200" marT="22860" marB="2286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3341581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t"/>
                      <a:r>
                        <a:rPr lang="en-US" b="0">
                          <a:solidFill>
                            <a:schemeClr val="tx1"/>
                          </a:solidFill>
                          <a:effectLst/>
                        </a:rPr>
                        <a:t>{m,}</a:t>
                      </a:r>
                    </a:p>
                  </a:txBody>
                  <a:tcPr marL="76200" marR="76200" marT="22860" marB="2286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ru-RU" b="0">
                          <a:solidFill>
                            <a:schemeClr val="tx1"/>
                          </a:solidFill>
                          <a:effectLst/>
                        </a:rPr>
                        <a:t>Встречается по крайней мере m раз</a:t>
                      </a:r>
                    </a:p>
                  </a:txBody>
                  <a:tcPr marL="76200" marR="76200" marT="22860" marB="2286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ru-RU" b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76200" marR="76200" marT="22860" marB="2286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468094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t"/>
                      <a:r>
                        <a:rPr lang="en-US" b="0">
                          <a:solidFill>
                            <a:schemeClr val="tx1"/>
                          </a:solidFill>
                          <a:effectLst/>
                        </a:rPr>
                        <a:t>{m, n}</a:t>
                      </a:r>
                    </a:p>
                  </a:txBody>
                  <a:tcPr marL="76200" marR="76200" marT="22860" marB="2286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ru-RU" b="0">
                          <a:solidFill>
                            <a:schemeClr val="tx1"/>
                          </a:solidFill>
                          <a:effectLst/>
                        </a:rPr>
                        <a:t>Встречается по крайней мере m раз, но не более n раз</a:t>
                      </a:r>
                    </a:p>
                  </a:txBody>
                  <a:tcPr marL="76200" marR="76200" marT="22860" marB="2286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7872916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3497235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Таблица 2">
            <a:extLst>
              <a:ext uri="{FF2B5EF4-FFF2-40B4-BE49-F238E27FC236}">
                <a16:creationId xmlns:a16="http://schemas.microsoft.com/office/drawing/2014/main" id="{8A1F965E-3243-4120-A4F6-C2BAD764A81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78344745"/>
              </p:ext>
            </p:extLst>
          </p:nvPr>
        </p:nvGraphicFramePr>
        <p:xfrm>
          <a:off x="2032000" y="0"/>
          <a:ext cx="8127999" cy="6040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09333">
                  <a:extLst>
                    <a:ext uri="{9D8B030D-6E8A-4147-A177-3AD203B41FA5}">
                      <a16:colId xmlns:a16="http://schemas.microsoft.com/office/drawing/2014/main" val="401499670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2657100504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247044632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l" fontAlgn="t"/>
                      <a:r>
                        <a:rPr lang="ru-RU" sz="1600" b="1" dirty="0">
                          <a:solidFill>
                            <a:sysClr val="windowText" lastClr="000000"/>
                          </a:solidFill>
                          <a:effectLst/>
                        </a:rPr>
                        <a:t>Классы символов</a:t>
                      </a:r>
                    </a:p>
                  </a:txBody>
                  <a:tcPr marL="76200" marR="76200" marT="22860" marB="2286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ru-RU" sz="1600" b="1">
                          <a:solidFill>
                            <a:sysClr val="windowText" lastClr="000000"/>
                          </a:solidFill>
                          <a:effectLst/>
                        </a:rPr>
                        <a:t>Описание</a:t>
                      </a:r>
                    </a:p>
                  </a:txBody>
                  <a:tcPr marL="76200" marR="76200" marT="22860" marB="2286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600" b="1" dirty="0">
                          <a:solidFill>
                            <a:schemeClr val="tx1"/>
                          </a:solidFill>
                          <a:effectLst/>
                        </a:rPr>
                        <a:t>Пример</a:t>
                      </a:r>
                      <a:endParaRPr lang="ru-RU" sz="16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7003553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t"/>
                      <a:r>
                        <a:rPr lang="ru-RU" sz="1600" b="0" dirty="0">
                          <a:solidFill>
                            <a:sysClr val="windowText" lastClr="000000"/>
                          </a:solidFill>
                          <a:effectLst/>
                        </a:rPr>
                        <a:t>.</a:t>
                      </a:r>
                    </a:p>
                  </a:txBody>
                  <a:tcPr marL="76200" marR="76200" marT="22860" marB="2286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ru-RU" sz="1600" b="0">
                          <a:solidFill>
                            <a:sysClr val="windowText" lastClr="000000"/>
                          </a:solidFill>
                          <a:effectLst/>
                        </a:rPr>
                        <a:t>Любой символ</a:t>
                      </a:r>
                    </a:p>
                  </a:txBody>
                  <a:tcPr marL="76200" marR="76200" marT="22860" marB="2286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^a.*b$</a:t>
                      </a:r>
                      <a:r>
                        <a:rPr lang="ru-RU" sz="16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- строка, которая начинается с буквы a и заканчивается буквой b</a:t>
                      </a:r>
                      <a:endParaRPr lang="ru-RU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892568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t"/>
                      <a:r>
                        <a:rPr lang="en-US" sz="1600" b="0" dirty="0">
                          <a:solidFill>
                            <a:sysClr val="windowText" lastClr="000000"/>
                          </a:solidFill>
                          <a:effectLst/>
                        </a:rPr>
                        <a:t>[:alpha:]</a:t>
                      </a:r>
                    </a:p>
                  </a:txBody>
                  <a:tcPr marL="76200" marR="76200" marT="22860" marB="2286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ru-RU" sz="1600" b="0">
                          <a:solidFill>
                            <a:sysClr val="windowText" lastClr="000000"/>
                          </a:solidFill>
                          <a:effectLst/>
                        </a:rPr>
                        <a:t>Буквы</a:t>
                      </a:r>
                    </a:p>
                  </a:txBody>
                  <a:tcPr marL="76200" marR="76200" marT="22860" marB="2286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[[:</a:t>
                      </a:r>
                      <a:r>
                        <a:rPr lang="en-US" sz="1600" b="0" dirty="0">
                          <a:solidFill>
                            <a:sysClr val="windowText" lastClr="000000"/>
                          </a:solidFill>
                          <a:effectLst/>
                        </a:rPr>
                        <a:t>alpha</a:t>
                      </a:r>
                      <a:r>
                        <a:rPr lang="en-US" sz="16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:]]{5}</a:t>
                      </a:r>
                      <a:r>
                        <a:rPr lang="ru-RU" sz="16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- пять последовательно идущих букв</a:t>
                      </a:r>
                      <a:endParaRPr lang="ru-RU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5394434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t"/>
                      <a:r>
                        <a:rPr lang="en-US" sz="1600" b="0">
                          <a:solidFill>
                            <a:sysClr val="windowText" lastClr="000000"/>
                          </a:solidFill>
                          <a:effectLst/>
                        </a:rPr>
                        <a:t>[:lower:]</a:t>
                      </a:r>
                    </a:p>
                  </a:txBody>
                  <a:tcPr marL="76200" marR="76200" marT="22860" marB="2286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ru-RU" sz="1600" b="0" dirty="0">
                          <a:solidFill>
                            <a:sysClr val="windowText" lastClr="000000"/>
                          </a:solidFill>
                          <a:effectLst/>
                        </a:rPr>
                        <a:t>Буквы в нижнем регистре</a:t>
                      </a:r>
                    </a:p>
                  </a:txBody>
                  <a:tcPr marL="76200" marR="76200" marT="22860" marB="2286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147123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t"/>
                      <a:r>
                        <a:rPr lang="en-US" sz="1600" b="0">
                          <a:solidFill>
                            <a:sysClr val="windowText" lastClr="000000"/>
                          </a:solidFill>
                          <a:effectLst/>
                        </a:rPr>
                        <a:t>[:upper:]</a:t>
                      </a:r>
                    </a:p>
                  </a:txBody>
                  <a:tcPr marL="76200" marR="76200" marT="22860" marB="2286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ru-RU" sz="1600" b="0">
                          <a:solidFill>
                            <a:sysClr val="windowText" lastClr="000000"/>
                          </a:solidFill>
                          <a:effectLst/>
                        </a:rPr>
                        <a:t>Буквы в верхнем регистре</a:t>
                      </a:r>
                    </a:p>
                  </a:txBody>
                  <a:tcPr marL="76200" marR="76200" marT="22860" marB="2286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6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353709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t"/>
                      <a:r>
                        <a:rPr lang="en-US" sz="1600" b="0">
                          <a:solidFill>
                            <a:sysClr val="windowText" lastClr="000000"/>
                          </a:solidFill>
                          <a:effectLst/>
                        </a:rPr>
                        <a:t>[:digit:]</a:t>
                      </a:r>
                    </a:p>
                  </a:txBody>
                  <a:tcPr marL="76200" marR="76200" marT="22860" marB="2286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ru-RU" sz="1600" b="0">
                          <a:solidFill>
                            <a:sysClr val="windowText" lastClr="000000"/>
                          </a:solidFill>
                          <a:effectLst/>
                        </a:rPr>
                        <a:t>Цифры</a:t>
                      </a:r>
                    </a:p>
                  </a:txBody>
                  <a:tcPr marL="76200" marR="76200" marT="22860" marB="2286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6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0536427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t"/>
                      <a:r>
                        <a:rPr lang="en-US" sz="1600" b="0">
                          <a:solidFill>
                            <a:sysClr val="windowText" lastClr="000000"/>
                          </a:solidFill>
                          <a:effectLst/>
                        </a:rPr>
                        <a:t>[:alnum:]</a:t>
                      </a:r>
                    </a:p>
                  </a:txBody>
                  <a:tcPr marL="76200" marR="76200" marT="22860" marB="2286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ru-RU" sz="1600" b="0">
                          <a:solidFill>
                            <a:sysClr val="windowText" lastClr="000000"/>
                          </a:solidFill>
                          <a:effectLst/>
                        </a:rPr>
                        <a:t>Буквы и цифры</a:t>
                      </a:r>
                    </a:p>
                  </a:txBody>
                  <a:tcPr marL="76200" marR="76200" marT="22860" marB="2286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6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294222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t"/>
                      <a:r>
                        <a:rPr lang="en-US" sz="1600" b="0">
                          <a:solidFill>
                            <a:sysClr val="windowText" lastClr="000000"/>
                          </a:solidFill>
                          <a:effectLst/>
                        </a:rPr>
                        <a:t>[:space:]</a:t>
                      </a:r>
                    </a:p>
                  </a:txBody>
                  <a:tcPr marL="76200" marR="76200" marT="22860" marB="2286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ru-RU" sz="1600" b="0" dirty="0">
                          <a:solidFill>
                            <a:sysClr val="windowText" lastClr="000000"/>
                          </a:solidFill>
                          <a:effectLst/>
                        </a:rPr>
                        <a:t>Пробелы (не печатаемые символы), такие как перевод каретки, новая строка, вертикальная табуляция и подача страницы</a:t>
                      </a:r>
                    </a:p>
                  </a:txBody>
                  <a:tcPr marL="76200" marR="76200" marT="22860" marB="2286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5783465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t"/>
                      <a:r>
                        <a:rPr lang="en-US" sz="1600" b="0" dirty="0">
                          <a:solidFill>
                            <a:sysClr val="windowText" lastClr="000000"/>
                          </a:solidFill>
                          <a:effectLst/>
                        </a:rPr>
                        <a:t>[:</a:t>
                      </a:r>
                      <a:r>
                        <a:rPr lang="en-US" sz="1600" b="0" dirty="0" err="1">
                          <a:solidFill>
                            <a:sysClr val="windowText" lastClr="000000"/>
                          </a:solidFill>
                          <a:effectLst/>
                        </a:rPr>
                        <a:t>punct</a:t>
                      </a:r>
                      <a:r>
                        <a:rPr lang="en-US" sz="1600" b="0" dirty="0">
                          <a:solidFill>
                            <a:sysClr val="windowText" lastClr="000000"/>
                          </a:solidFill>
                          <a:effectLst/>
                        </a:rPr>
                        <a:t>:]</a:t>
                      </a:r>
                    </a:p>
                  </a:txBody>
                  <a:tcPr marL="76200" marR="76200" marT="22860" marB="2286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ru-RU" sz="1600" b="0" dirty="0">
                          <a:solidFill>
                            <a:sysClr val="windowText" lastClr="000000"/>
                          </a:solidFill>
                          <a:effectLst/>
                        </a:rPr>
                        <a:t>Знаки препинания</a:t>
                      </a:r>
                    </a:p>
                  </a:txBody>
                  <a:tcPr marL="76200" marR="76200" marT="22860" marB="2286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6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2213837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t"/>
                      <a:r>
                        <a:rPr lang="en-US" sz="1600" b="0">
                          <a:solidFill>
                            <a:sysClr val="windowText" lastClr="000000"/>
                          </a:solidFill>
                          <a:effectLst/>
                        </a:rPr>
                        <a:t>[:cntrl:]</a:t>
                      </a:r>
                    </a:p>
                  </a:txBody>
                  <a:tcPr marL="76200" marR="76200" marT="22860" marB="2286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ru-RU" sz="1600" b="0">
                          <a:solidFill>
                            <a:sysClr val="windowText" lastClr="000000"/>
                          </a:solidFill>
                          <a:effectLst/>
                        </a:rPr>
                        <a:t>Управляющие символы (не печатаемые)</a:t>
                      </a:r>
                    </a:p>
                  </a:txBody>
                  <a:tcPr marL="76200" marR="76200" marT="22860" marB="2286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6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367713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t"/>
                      <a:r>
                        <a:rPr lang="en-US" sz="1600" b="0">
                          <a:solidFill>
                            <a:sysClr val="windowText" lastClr="000000"/>
                          </a:solidFill>
                          <a:effectLst/>
                        </a:rPr>
                        <a:t>[:print:]</a:t>
                      </a:r>
                    </a:p>
                  </a:txBody>
                  <a:tcPr marL="76200" marR="76200" marT="22860" marB="2286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ru-RU" sz="1600" b="0" dirty="0">
                          <a:solidFill>
                            <a:sysClr val="windowText" lastClr="000000"/>
                          </a:solidFill>
                          <a:effectLst/>
                        </a:rPr>
                        <a:t>Печатаемые символы</a:t>
                      </a:r>
                    </a:p>
                  </a:txBody>
                  <a:tcPr marL="76200" marR="76200" marT="22860" marB="2286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0259558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7852752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Таблица 2">
            <a:extLst>
              <a:ext uri="{FF2B5EF4-FFF2-40B4-BE49-F238E27FC236}">
                <a16:creationId xmlns:a16="http://schemas.microsoft.com/office/drawing/2014/main" id="{812BD126-B3AF-4821-832A-C89A9B1C4A9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49164696"/>
              </p:ext>
            </p:extLst>
          </p:nvPr>
        </p:nvGraphicFramePr>
        <p:xfrm>
          <a:off x="1381960" y="0"/>
          <a:ext cx="9428079" cy="6131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42693">
                  <a:extLst>
                    <a:ext uri="{9D8B030D-6E8A-4147-A177-3AD203B41FA5}">
                      <a16:colId xmlns:a16="http://schemas.microsoft.com/office/drawing/2014/main" val="282224709"/>
                    </a:ext>
                  </a:extLst>
                </a:gridCol>
                <a:gridCol w="3142693">
                  <a:extLst>
                    <a:ext uri="{9D8B030D-6E8A-4147-A177-3AD203B41FA5}">
                      <a16:colId xmlns:a16="http://schemas.microsoft.com/office/drawing/2014/main" val="3567094075"/>
                    </a:ext>
                  </a:extLst>
                </a:gridCol>
                <a:gridCol w="3142693">
                  <a:extLst>
                    <a:ext uri="{9D8B030D-6E8A-4147-A177-3AD203B41FA5}">
                      <a16:colId xmlns:a16="http://schemas.microsoft.com/office/drawing/2014/main" val="272847718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l" fontAlgn="t"/>
                      <a:r>
                        <a:rPr lang="ru-RU" sz="1600" b="1" dirty="0">
                          <a:solidFill>
                            <a:sysClr val="windowText" lastClr="000000"/>
                          </a:solidFill>
                          <a:effectLst/>
                        </a:rPr>
                        <a:t>Классы символов</a:t>
                      </a:r>
                    </a:p>
                  </a:txBody>
                  <a:tcPr marL="76200" marR="76200" marT="22860" marB="2286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ru-RU" sz="1600" b="1">
                          <a:solidFill>
                            <a:sysClr val="windowText" lastClr="000000"/>
                          </a:solidFill>
                          <a:effectLst/>
                        </a:rPr>
                        <a:t>Описание</a:t>
                      </a:r>
                    </a:p>
                  </a:txBody>
                  <a:tcPr marL="76200" marR="76200" marT="22860" marB="2286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600" b="1" dirty="0">
                          <a:solidFill>
                            <a:schemeClr val="tx1"/>
                          </a:solidFill>
                          <a:effectLst/>
                        </a:rPr>
                        <a:t>Пример</a:t>
                      </a:r>
                      <a:endParaRPr lang="ru-RU" sz="16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722790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ysClr val="windowText" lastClr="000000"/>
                          </a:solidFill>
                        </a:rPr>
                        <a:t>\s</a:t>
                      </a:r>
                      <a:endParaRPr lang="ru-RU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соответствует символу пробела (включая табуляцию и прерывание строки)</a:t>
                      </a:r>
                      <a:endParaRPr lang="ru-RU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ysClr val="windowText" lastClr="000000"/>
                          </a:solidFill>
                        </a:rPr>
                        <a:t>d\s</a:t>
                      </a:r>
                    </a:p>
                    <a:p>
                      <a:endParaRPr lang="en-US" dirty="0">
                        <a:solidFill>
                          <a:sysClr val="windowText" lastClr="000000"/>
                        </a:solidFill>
                      </a:endParaRPr>
                    </a:p>
                    <a:p>
                      <a:r>
                        <a:rPr lang="en-US" dirty="0">
                          <a:solidFill>
                            <a:sysClr val="windowText" lastClr="000000"/>
                          </a:solidFill>
                        </a:rPr>
                        <a:t>An</a:t>
                      </a:r>
                      <a:r>
                        <a:rPr lang="en-US" dirty="0">
                          <a:solidFill>
                            <a:sysClr val="windowText" lastClr="000000"/>
                          </a:solidFill>
                          <a:highlight>
                            <a:srgbClr val="FFFF00"/>
                          </a:highlight>
                        </a:rPr>
                        <a:t>d</a:t>
                      </a:r>
                      <a:r>
                        <a:rPr lang="en-US" dirty="0">
                          <a:solidFill>
                            <a:schemeClr val="bg1"/>
                          </a:solidFill>
                          <a:highlight>
                            <a:srgbClr val="FFFF00"/>
                          </a:highlight>
                        </a:rPr>
                        <a:t>_</a:t>
                      </a:r>
                      <a:endParaRPr lang="ru-RU" dirty="0">
                        <a:solidFill>
                          <a:schemeClr val="bg1"/>
                        </a:solidFill>
                        <a:highlight>
                          <a:srgbClr val="FFFF00"/>
                        </a:highlight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1111826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ysClr val="windowText" lastClr="000000"/>
                          </a:solidFill>
                        </a:rPr>
                        <a:t>\d</a:t>
                      </a:r>
                      <a:endParaRPr lang="ru-RU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соответствует одному символу, который является цифрой</a:t>
                      </a:r>
                      <a:endParaRPr lang="ru-RU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ysClr val="windowText" lastClr="000000"/>
                          </a:solidFill>
                        </a:rPr>
                        <a:t>a\d</a:t>
                      </a:r>
                    </a:p>
                    <a:p>
                      <a:endParaRPr lang="en-US" dirty="0">
                        <a:solidFill>
                          <a:sysClr val="windowText" lastClr="000000"/>
                        </a:solidFill>
                      </a:endParaRPr>
                    </a:p>
                    <a:p>
                      <a:r>
                        <a:rPr lang="en-US" dirty="0">
                          <a:solidFill>
                            <a:sysClr val="windowText" lastClr="000000"/>
                          </a:solidFill>
                          <a:highlight>
                            <a:srgbClr val="FFFF00"/>
                          </a:highlight>
                        </a:rPr>
                        <a:t>A1</a:t>
                      </a:r>
                      <a:r>
                        <a:rPr lang="en-US" dirty="0">
                          <a:solidFill>
                            <a:sysClr val="windowText" lastClr="000000"/>
                          </a:solidFill>
                        </a:rPr>
                        <a:t>12</a:t>
                      </a:r>
                      <a:endParaRPr lang="ru-RU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512387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ysClr val="windowText" lastClr="000000"/>
                          </a:solidFill>
                        </a:rPr>
                        <a:t>\w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соответствует слову (может состоять из букв, цифр и подчёркивания)</a:t>
                      </a:r>
                      <a:endParaRPr lang="ru-RU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ysClr val="windowText" lastClr="000000"/>
                          </a:solidFill>
                        </a:rPr>
                        <a:t>a\w</a:t>
                      </a:r>
                    </a:p>
                    <a:p>
                      <a:endParaRPr lang="en-US" dirty="0">
                        <a:solidFill>
                          <a:sysClr val="windowText" lastClr="000000"/>
                        </a:solidFill>
                      </a:endParaRPr>
                    </a:p>
                    <a:p>
                      <a:r>
                        <a:rPr lang="en-US" dirty="0">
                          <a:solidFill>
                            <a:sysClr val="windowText" lastClr="000000"/>
                          </a:solidFill>
                          <a:highlight>
                            <a:srgbClr val="FFFF00"/>
                          </a:highlight>
                        </a:rPr>
                        <a:t>a2</a:t>
                      </a:r>
                      <a:r>
                        <a:rPr lang="en-US" dirty="0">
                          <a:solidFill>
                            <a:sysClr val="windowText" lastClr="000000"/>
                          </a:solidFill>
                        </a:rPr>
                        <a:t>1</a:t>
                      </a:r>
                    </a:p>
                    <a:p>
                      <a:r>
                        <a:rPr lang="en-US" dirty="0" err="1">
                          <a:solidFill>
                            <a:sysClr val="windowText" lastClr="000000"/>
                          </a:solidFill>
                          <a:highlight>
                            <a:srgbClr val="FFFF00"/>
                          </a:highlight>
                        </a:rPr>
                        <a:t>ar</a:t>
                      </a:r>
                      <a:r>
                        <a:rPr lang="en-US" dirty="0" err="1">
                          <a:solidFill>
                            <a:sysClr val="windowText" lastClr="000000"/>
                          </a:solidFill>
                        </a:rPr>
                        <a:t>g</a:t>
                      </a:r>
                      <a:endParaRPr lang="ru-RU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11447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ysClr val="windowText" lastClr="000000"/>
                          </a:solidFill>
                        </a:rPr>
                        <a:t>\S</a:t>
                      </a:r>
                      <a:endParaRPr lang="ru-RU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dirty="0">
                          <a:solidFill>
                            <a:sysClr val="windowText" lastClr="000000"/>
                          </a:solidFill>
                        </a:rPr>
                        <a:t>Отрицание \</a:t>
                      </a:r>
                      <a:r>
                        <a:rPr lang="en-US" dirty="0">
                          <a:solidFill>
                            <a:sysClr val="windowText" lastClr="000000"/>
                          </a:solidFill>
                        </a:rPr>
                        <a:t>s</a:t>
                      </a:r>
                      <a:endParaRPr lang="ru-RU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ysClr val="windowText" lastClr="000000"/>
                          </a:solidFill>
                        </a:rPr>
                        <a:t>a.\S</a:t>
                      </a:r>
                    </a:p>
                    <a:p>
                      <a:endParaRPr lang="en-US" dirty="0">
                        <a:solidFill>
                          <a:sysClr val="windowText" lastClr="000000"/>
                        </a:solidFill>
                      </a:endParaRPr>
                    </a:p>
                    <a:p>
                      <a:r>
                        <a:rPr lang="en-US" dirty="0" err="1">
                          <a:solidFill>
                            <a:sysClr val="windowText" lastClr="000000"/>
                          </a:solidFill>
                          <a:highlight>
                            <a:srgbClr val="FFFF00"/>
                          </a:highlight>
                        </a:rPr>
                        <a:t>abc</a:t>
                      </a:r>
                      <a:r>
                        <a:rPr lang="en-US" dirty="0">
                          <a:solidFill>
                            <a:sysClr val="windowText" lastClr="000000"/>
                          </a:solidFill>
                        </a:rPr>
                        <a:t> ac </a:t>
                      </a:r>
                      <a:r>
                        <a:rPr lang="en-US" dirty="0" err="1">
                          <a:solidFill>
                            <a:sysClr val="windowText" lastClr="000000"/>
                          </a:solidFill>
                          <a:highlight>
                            <a:srgbClr val="FFFF00"/>
                          </a:highlight>
                        </a:rPr>
                        <a:t>acb</a:t>
                      </a:r>
                      <a:endParaRPr lang="ru-RU" dirty="0">
                        <a:solidFill>
                          <a:sysClr val="windowText" lastClr="000000"/>
                        </a:solidFill>
                        <a:highlight>
                          <a:srgbClr val="FFFF00"/>
                        </a:highlight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5721693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ysClr val="windowText" lastClr="000000"/>
                          </a:solidFill>
                        </a:rPr>
                        <a:t>\D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dirty="0">
                          <a:solidFill>
                            <a:sysClr val="windowText" lastClr="000000"/>
                          </a:solidFill>
                        </a:rPr>
                        <a:t>Отрицание \</a:t>
                      </a:r>
                      <a:r>
                        <a:rPr lang="en-US" dirty="0">
                          <a:solidFill>
                            <a:sysClr val="windowText" lastClr="000000"/>
                          </a:solidFill>
                        </a:rPr>
                        <a:t>d</a:t>
                      </a:r>
                      <a:endParaRPr lang="ru-RU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ysClr val="windowText" lastClr="000000"/>
                          </a:solidFill>
                        </a:rPr>
                        <a:t>a.\D</a:t>
                      </a:r>
                    </a:p>
                    <a:p>
                      <a:endParaRPr lang="en-US" dirty="0">
                        <a:solidFill>
                          <a:sysClr val="windowText" lastClr="000000"/>
                        </a:solidFill>
                      </a:endParaRPr>
                    </a:p>
                    <a:p>
                      <a:r>
                        <a:rPr lang="en-US" dirty="0">
                          <a:solidFill>
                            <a:sysClr val="windowText" lastClr="000000"/>
                          </a:solidFill>
                          <a:highlight>
                            <a:srgbClr val="FFFF00"/>
                          </a:highlight>
                        </a:rPr>
                        <a:t>a2b</a:t>
                      </a:r>
                      <a:r>
                        <a:rPr lang="en-US" dirty="0">
                          <a:solidFill>
                            <a:sysClr val="windowText" lastClr="000000"/>
                          </a:solidFill>
                        </a:rPr>
                        <a:t> a42c</a:t>
                      </a:r>
                      <a:endParaRPr lang="ru-RU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0131608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ysClr val="windowText" lastClr="000000"/>
                          </a:solidFill>
                        </a:rPr>
                        <a:t>\W</a:t>
                      </a:r>
                      <a:endParaRPr lang="ru-RU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dirty="0">
                          <a:solidFill>
                            <a:sysClr val="windowText" lastClr="000000"/>
                          </a:solidFill>
                        </a:rPr>
                        <a:t>Отрицание \</a:t>
                      </a:r>
                      <a:r>
                        <a:rPr lang="en-US" dirty="0">
                          <a:solidFill>
                            <a:sysClr val="windowText" lastClr="000000"/>
                          </a:solidFill>
                        </a:rPr>
                        <a:t>w</a:t>
                      </a:r>
                      <a:endParaRPr lang="ru-RU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ysClr val="windowText" lastClr="000000"/>
                          </a:solidFill>
                        </a:rPr>
                        <a:t>a.\W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dirty="0">
                        <a:solidFill>
                          <a:sysClr val="windowText" lastClr="000000"/>
                        </a:solidFill>
                      </a:endParaRPr>
                    </a:p>
                    <a:p>
                      <a:r>
                        <a:rPr lang="en-US" dirty="0">
                          <a:solidFill>
                            <a:sysClr val="windowText" lastClr="000000"/>
                          </a:solidFill>
                          <a:highlight>
                            <a:srgbClr val="FFFF00"/>
                          </a:highlight>
                        </a:rPr>
                        <a:t>ac </a:t>
                      </a:r>
                      <a:r>
                        <a:rPr lang="en-US" dirty="0" err="1">
                          <a:solidFill>
                            <a:sysClr val="windowText" lastClr="000000"/>
                          </a:solidFill>
                        </a:rPr>
                        <a:t>acb</a:t>
                      </a:r>
                      <a:endParaRPr lang="ru-RU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2730897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3953797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85BC078-AD0B-4480-B902-12D921C10467}"/>
              </a:ext>
            </a:extLst>
          </p:cNvPr>
          <p:cNvSpPr txBox="1"/>
          <p:nvPr/>
        </p:nvSpPr>
        <p:spPr>
          <a:xfrm>
            <a:off x="1795587" y="1490008"/>
            <a:ext cx="8600825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450000" algn="just"/>
            <a:r>
              <a:rPr lang="ru-RU" sz="2400" dirty="0">
                <a:solidFill>
                  <a:sysClr val="windowText" lastClr="000000"/>
                </a:solidFill>
              </a:rPr>
              <a:t>Если же в строке мы хотим найти символ, который соответствует символу регулярного выражения(спец. символ), то для этого его необходимо экранировать «\».</a:t>
            </a:r>
          </a:p>
          <a:p>
            <a:pPr indent="450000" algn="just"/>
            <a:r>
              <a:rPr lang="ru-RU" sz="2400" dirty="0">
                <a:solidFill>
                  <a:sysClr val="windowText" lastClr="000000"/>
                </a:solidFill>
              </a:rPr>
              <a:t>Например, если мы хотим найти</a:t>
            </a:r>
            <a:r>
              <a:rPr lang="en-US" sz="2400" dirty="0">
                <a:solidFill>
                  <a:sysClr val="windowText" lastClr="000000"/>
                </a:solidFill>
              </a:rPr>
              <a:t> </a:t>
            </a:r>
            <a:r>
              <a:rPr lang="ru-RU" sz="2400" dirty="0">
                <a:solidFill>
                  <a:sysClr val="windowText" lastClr="000000"/>
                </a:solidFill>
              </a:rPr>
              <a:t>«</a:t>
            </a:r>
            <a:r>
              <a:rPr lang="en-US" sz="2400" dirty="0">
                <a:solidFill>
                  <a:sysClr val="windowText" lastClr="000000"/>
                </a:solidFill>
              </a:rPr>
              <a:t>a^</a:t>
            </a:r>
            <a:r>
              <a:rPr lang="ru-RU" sz="2400" dirty="0">
                <a:solidFill>
                  <a:sysClr val="windowText" lastClr="000000"/>
                </a:solidFill>
              </a:rPr>
              <a:t>»</a:t>
            </a:r>
            <a:r>
              <a:rPr lang="en-US" sz="2400" dirty="0">
                <a:solidFill>
                  <a:sysClr val="windowText" lastClr="000000"/>
                </a:solidFill>
              </a:rPr>
              <a:t> </a:t>
            </a:r>
            <a:r>
              <a:rPr lang="ru-RU" sz="2400" dirty="0">
                <a:solidFill>
                  <a:sysClr val="windowText" lastClr="000000"/>
                </a:solidFill>
              </a:rPr>
              <a:t>в строке «</a:t>
            </a:r>
            <a:r>
              <a:rPr lang="en-US" sz="2400" dirty="0" err="1">
                <a:solidFill>
                  <a:sysClr val="windowText" lastClr="000000"/>
                </a:solidFill>
              </a:rPr>
              <a:t>abc</a:t>
            </a:r>
            <a:r>
              <a:rPr lang="en-US" sz="2400" dirty="0">
                <a:solidFill>
                  <a:sysClr val="windowText" lastClr="000000"/>
                </a:solidFill>
              </a:rPr>
              <a:t> ac </a:t>
            </a:r>
            <a:r>
              <a:rPr lang="en-US" sz="2400" dirty="0" err="1">
                <a:solidFill>
                  <a:sysClr val="windowText" lastClr="000000"/>
                </a:solidFill>
              </a:rPr>
              <a:t>a^cb</a:t>
            </a:r>
            <a:r>
              <a:rPr lang="ru-RU" sz="2400" dirty="0">
                <a:solidFill>
                  <a:sysClr val="windowText" lastClr="000000"/>
                </a:solidFill>
              </a:rPr>
              <a:t>», то в регулярном выражении мы напишем «</a:t>
            </a:r>
            <a:r>
              <a:rPr lang="en-US" sz="2400" dirty="0">
                <a:solidFill>
                  <a:sysClr val="windowText" lastClr="000000"/>
                </a:solidFill>
              </a:rPr>
              <a:t>a\^</a:t>
            </a:r>
            <a:r>
              <a:rPr lang="ru-RU" sz="2400" dirty="0">
                <a:solidFill>
                  <a:sysClr val="windowText" lastClr="000000"/>
                </a:solidFill>
              </a:rPr>
              <a:t>».</a:t>
            </a:r>
            <a:endParaRPr lang="en-US" sz="2400" dirty="0">
              <a:solidFill>
                <a:sysClr val="windowText" lastClr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5159577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1FDB8A5-F41F-4E3B-9B6A-F84D4409676F}"/>
              </a:ext>
            </a:extLst>
          </p:cNvPr>
          <p:cNvSpPr txBox="1"/>
          <p:nvPr/>
        </p:nvSpPr>
        <p:spPr>
          <a:xfrm>
            <a:off x="697330" y="932446"/>
            <a:ext cx="10797339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450000" algn="just"/>
            <a:r>
              <a:rPr lang="ru-RU" sz="2400" dirty="0"/>
              <a:t>В </a:t>
            </a:r>
            <a:r>
              <a:rPr lang="en-US" sz="2400" dirty="0"/>
              <a:t>Oracle </a:t>
            </a:r>
            <a:r>
              <a:rPr lang="ru-RU" sz="2400" dirty="0"/>
              <a:t>регулярные выражения представлены в виде оператора и 3 функций:</a:t>
            </a:r>
          </a:p>
          <a:p>
            <a:pPr indent="450000" algn="just"/>
            <a:endParaRPr lang="ru-RU" sz="2400" dirty="0"/>
          </a:p>
          <a:p>
            <a:pPr marL="800100" lvl="1" indent="-342900" algn="just">
              <a:buFont typeface="Arial" panose="020B0604020202020204" pitchFamily="34" charset="0"/>
              <a:buChar char="•"/>
            </a:pPr>
            <a:r>
              <a:rPr lang="ru-RU" sz="2400" b="1" i="0" dirty="0">
                <a:solidFill>
                  <a:schemeClr val="accent1"/>
                </a:solidFill>
                <a:effectLst/>
              </a:rPr>
              <a:t>Оператор </a:t>
            </a:r>
            <a:r>
              <a:rPr lang="en-US" sz="2400" b="1" i="0" dirty="0">
                <a:solidFill>
                  <a:schemeClr val="accent1"/>
                </a:solidFill>
                <a:effectLst/>
              </a:rPr>
              <a:t>REGEXP_LIKE</a:t>
            </a:r>
            <a:endParaRPr lang="ru-RU" sz="2400" b="1" i="0" dirty="0">
              <a:solidFill>
                <a:schemeClr val="accent1"/>
              </a:solidFill>
              <a:effectLst/>
            </a:endParaRPr>
          </a:p>
          <a:p>
            <a:pPr marL="800100" lvl="1" indent="-342900" algn="just">
              <a:buFont typeface="Arial" panose="020B0604020202020204" pitchFamily="34" charset="0"/>
              <a:buChar char="•"/>
            </a:pPr>
            <a:endParaRPr lang="ru-RU" sz="2400" b="1" dirty="0">
              <a:solidFill>
                <a:schemeClr val="accent1"/>
              </a:solidFill>
            </a:endParaRPr>
          </a:p>
          <a:p>
            <a:pPr marL="800100" lvl="1" indent="-342900" algn="just">
              <a:buFont typeface="Arial" panose="020B0604020202020204" pitchFamily="34" charset="0"/>
              <a:buChar char="•"/>
            </a:pPr>
            <a:r>
              <a:rPr lang="ru-RU" sz="2400" b="1" i="0" dirty="0">
                <a:solidFill>
                  <a:schemeClr val="accent1"/>
                </a:solidFill>
                <a:effectLst/>
              </a:rPr>
              <a:t>Функция </a:t>
            </a:r>
            <a:r>
              <a:rPr lang="en-US" sz="2400" b="1" i="0" dirty="0">
                <a:solidFill>
                  <a:schemeClr val="accent1"/>
                </a:solidFill>
                <a:effectLst/>
              </a:rPr>
              <a:t>REGEXP_INSTR</a:t>
            </a:r>
            <a:endParaRPr lang="ru-RU" sz="2400" b="1" i="0" dirty="0">
              <a:solidFill>
                <a:schemeClr val="accent1"/>
              </a:solidFill>
              <a:effectLst/>
            </a:endParaRPr>
          </a:p>
          <a:p>
            <a:pPr marL="800100" lvl="1" indent="-342900" algn="just">
              <a:buFont typeface="Arial" panose="020B0604020202020204" pitchFamily="34" charset="0"/>
              <a:buChar char="•"/>
            </a:pPr>
            <a:endParaRPr lang="ru-RU" sz="2400" b="1" dirty="0">
              <a:solidFill>
                <a:schemeClr val="accent1"/>
              </a:solidFill>
            </a:endParaRPr>
          </a:p>
          <a:p>
            <a:pPr marL="800100" lvl="1" indent="-342900" algn="just">
              <a:buFont typeface="Arial" panose="020B0604020202020204" pitchFamily="34" charset="0"/>
              <a:buChar char="•"/>
            </a:pPr>
            <a:r>
              <a:rPr lang="ru-RU" sz="2400" b="1" i="0" dirty="0">
                <a:solidFill>
                  <a:schemeClr val="accent1"/>
                </a:solidFill>
                <a:effectLst/>
              </a:rPr>
              <a:t>Функция </a:t>
            </a:r>
            <a:r>
              <a:rPr lang="en-US" sz="2400" b="1" i="0" dirty="0">
                <a:solidFill>
                  <a:schemeClr val="accent1"/>
                </a:solidFill>
                <a:effectLst/>
              </a:rPr>
              <a:t>REGEXP_SUBSTR</a:t>
            </a:r>
            <a:endParaRPr lang="ru-RU" sz="2400" b="1" i="0" dirty="0">
              <a:solidFill>
                <a:schemeClr val="accent1"/>
              </a:solidFill>
              <a:effectLst/>
            </a:endParaRPr>
          </a:p>
          <a:p>
            <a:pPr marL="800100" lvl="1" indent="-342900" algn="just">
              <a:buFont typeface="Arial" panose="020B0604020202020204" pitchFamily="34" charset="0"/>
              <a:buChar char="•"/>
            </a:pPr>
            <a:endParaRPr lang="ru-RU" sz="2400" b="1" dirty="0">
              <a:solidFill>
                <a:schemeClr val="accent1"/>
              </a:solidFill>
            </a:endParaRPr>
          </a:p>
          <a:p>
            <a:pPr marL="800100" lvl="1" indent="-342900" algn="just">
              <a:buFont typeface="Arial" panose="020B0604020202020204" pitchFamily="34" charset="0"/>
              <a:buChar char="•"/>
            </a:pPr>
            <a:r>
              <a:rPr lang="ru-RU" sz="2400" b="1" i="0" dirty="0">
                <a:solidFill>
                  <a:schemeClr val="accent1"/>
                </a:solidFill>
                <a:effectLst/>
              </a:rPr>
              <a:t>Функция </a:t>
            </a:r>
            <a:r>
              <a:rPr lang="en-US" sz="2400" b="1" i="0" dirty="0">
                <a:solidFill>
                  <a:schemeClr val="accent1"/>
                </a:solidFill>
                <a:effectLst/>
              </a:rPr>
              <a:t>REGEXP_REPLACE</a:t>
            </a:r>
            <a:endParaRPr lang="ru-RU" sz="2400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9609174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F9FB680-A7EC-4860-867C-5BB0F669F2C0}"/>
              </a:ext>
            </a:extLst>
          </p:cNvPr>
          <p:cNvSpPr txBox="1"/>
          <p:nvPr/>
        </p:nvSpPr>
        <p:spPr>
          <a:xfrm>
            <a:off x="697329" y="0"/>
            <a:ext cx="10797339" cy="27392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450000" algn="ctr"/>
            <a:r>
              <a:rPr lang="ru-RU" sz="2800" b="1" i="0" dirty="0">
                <a:solidFill>
                  <a:schemeClr val="accent1"/>
                </a:solidFill>
                <a:effectLst/>
              </a:rPr>
              <a:t>Оператор </a:t>
            </a:r>
            <a:r>
              <a:rPr lang="en-US" sz="2800" b="1" i="0" dirty="0">
                <a:solidFill>
                  <a:schemeClr val="accent1"/>
                </a:solidFill>
                <a:effectLst/>
              </a:rPr>
              <a:t>REGEXP_LIKE</a:t>
            </a:r>
            <a:endParaRPr lang="ru-RU" sz="2800" b="1" i="0" dirty="0">
              <a:solidFill>
                <a:schemeClr val="accent1"/>
              </a:solidFill>
              <a:effectLst/>
            </a:endParaRPr>
          </a:p>
          <a:p>
            <a:pPr indent="450000"/>
            <a:endParaRPr lang="ru-RU" sz="2400" dirty="0">
              <a:solidFill>
                <a:schemeClr val="accent1"/>
              </a:solidFill>
            </a:endParaRPr>
          </a:p>
          <a:p>
            <a:pPr indent="450000" algn="just"/>
            <a:r>
              <a:rPr lang="en-US" sz="2400" dirty="0"/>
              <a:t>REGEXP_LIKE </a:t>
            </a:r>
            <a:r>
              <a:rPr lang="ru-RU" sz="2400" dirty="0"/>
              <a:t>используется </a:t>
            </a:r>
            <a:r>
              <a:rPr lang="ru-RU" sz="2400" b="0" i="0" dirty="0">
                <a:effectLst/>
              </a:rPr>
              <a:t>подобно оператору </a:t>
            </a:r>
            <a:r>
              <a:rPr lang="en-US" sz="2400" b="0" i="0" dirty="0">
                <a:effectLst/>
              </a:rPr>
              <a:t>LIKE</a:t>
            </a:r>
            <a:r>
              <a:rPr lang="ru-RU" sz="2400" b="0" i="0" dirty="0">
                <a:effectLst/>
              </a:rPr>
              <a:t> в части </a:t>
            </a:r>
            <a:r>
              <a:rPr lang="en-US" sz="2400" b="0" i="0" dirty="0">
                <a:effectLst/>
              </a:rPr>
              <a:t>WHERE</a:t>
            </a:r>
            <a:r>
              <a:rPr lang="ru-RU" sz="2400" b="0" i="0" dirty="0">
                <a:effectLst/>
              </a:rPr>
              <a:t> или же при определении ограничения на таблицу (</a:t>
            </a:r>
            <a:r>
              <a:rPr lang="en-US" sz="2400" b="0" i="0" dirty="0">
                <a:effectLst/>
              </a:rPr>
              <a:t>CONSTRAINT</a:t>
            </a:r>
            <a:r>
              <a:rPr lang="ru-RU" sz="2400" b="0" i="0" dirty="0">
                <a:effectLst/>
              </a:rPr>
              <a:t>)</a:t>
            </a:r>
            <a:r>
              <a:rPr lang="en-US" sz="2400" b="0" i="0" dirty="0">
                <a:effectLst/>
              </a:rPr>
              <a:t>.</a:t>
            </a:r>
          </a:p>
          <a:p>
            <a:pPr indent="450000" algn="just"/>
            <a:r>
              <a:rPr lang="ru-RU" sz="2400" dirty="0"/>
              <a:t>Имеет следующий синтаксис:</a:t>
            </a:r>
          </a:p>
          <a:p>
            <a:pPr indent="450000"/>
            <a:endParaRPr lang="ru-RU" sz="2400" dirty="0"/>
          </a:p>
          <a:p>
            <a:pPr indent="450000"/>
            <a:r>
              <a:rPr lang="ru-RU" sz="2400" dirty="0"/>
              <a:t>		</a:t>
            </a:r>
            <a:r>
              <a:rPr lang="ru-RU" sz="2400" b="0" i="0" dirty="0">
                <a:solidFill>
                  <a:srgbClr val="555555"/>
                </a:solidFill>
                <a:effectLst/>
                <a:latin typeface="Verdana" panose="020B0604030504040204" pitchFamily="34" charset="0"/>
              </a:rPr>
              <a:t> </a:t>
            </a:r>
            <a:r>
              <a:rPr lang="ru-RU" sz="2400" dirty="0"/>
              <a:t>REGEXP_LIKE(исходная строка, шаблон[, параметр сопоставления]).</a:t>
            </a:r>
          </a:p>
        </p:txBody>
      </p:sp>
      <p:graphicFrame>
        <p:nvGraphicFramePr>
          <p:cNvPr id="3" name="Таблица 3">
            <a:extLst>
              <a:ext uri="{FF2B5EF4-FFF2-40B4-BE49-F238E27FC236}">
                <a16:creationId xmlns:a16="http://schemas.microsoft.com/office/drawing/2014/main" id="{E5D2C5F5-2507-4064-8D99-5E5B67E1B15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00908897"/>
              </p:ext>
            </p:extLst>
          </p:nvPr>
        </p:nvGraphicFramePr>
        <p:xfrm>
          <a:off x="1639664" y="2923841"/>
          <a:ext cx="8912668" cy="294894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4456334">
                  <a:extLst>
                    <a:ext uri="{9D8B030D-6E8A-4147-A177-3AD203B41FA5}">
                      <a16:colId xmlns:a16="http://schemas.microsoft.com/office/drawing/2014/main" val="2793126465"/>
                    </a:ext>
                  </a:extLst>
                </a:gridCol>
                <a:gridCol w="4456334">
                  <a:extLst>
                    <a:ext uri="{9D8B030D-6E8A-4147-A177-3AD203B41FA5}">
                      <a16:colId xmlns:a16="http://schemas.microsoft.com/office/drawing/2014/main" val="183507532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l" fontAlgn="t"/>
                      <a:r>
                        <a:rPr lang="ru-RU" dirty="0">
                          <a:solidFill>
                            <a:sysClr val="windowText" lastClr="000000"/>
                          </a:solidFill>
                          <a:effectLst/>
                        </a:rPr>
                        <a:t>Исходная строка</a:t>
                      </a:r>
                    </a:p>
                  </a:txBody>
                  <a:tcPr marL="95250" marR="95250" marT="28575" marB="285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Поддерживает символьные типы данных (CHAR, VARCHAR2, CLOB, NCHAR, NVARCHAR2 и NCLOB, но не LONG)</a:t>
                      </a:r>
                      <a:endParaRPr lang="ru-RU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7993257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t"/>
                      <a:r>
                        <a:rPr lang="ru-RU" dirty="0">
                          <a:effectLst/>
                        </a:rPr>
                        <a:t>Шаблон</a:t>
                      </a:r>
                    </a:p>
                  </a:txBody>
                  <a:tcPr marL="95250" marR="95250" marT="28575" marB="285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ru-RU" dirty="0">
                          <a:effectLst/>
                        </a:rPr>
                        <a:t>Это другое название регулярного выражения</a:t>
                      </a:r>
                    </a:p>
                  </a:txBody>
                  <a:tcPr marL="95250" marR="95250" marT="28575" marB="285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5998299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t"/>
                      <a:r>
                        <a:rPr lang="ru-RU" dirty="0">
                          <a:effectLst/>
                        </a:rPr>
                        <a:t>Параметр сопоставления</a:t>
                      </a:r>
                    </a:p>
                  </a:txBody>
                  <a:tcPr marL="95250" marR="95250" marT="28575" marB="285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ru-RU" dirty="0">
                          <a:effectLst/>
                        </a:rPr>
                        <a:t>Позволяет использовать дополнительные параметры, такие как символ перехода на новую строку, многострочное форматирование и обеспечение управления учетом регистра</a:t>
                      </a:r>
                    </a:p>
                  </a:txBody>
                  <a:tcPr marL="95250" marR="95250" marT="28575" marB="285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8434164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115112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ED78513-5DD4-4F29-B78E-7FCDCFBB98A5}"/>
              </a:ext>
            </a:extLst>
          </p:cNvPr>
          <p:cNvSpPr txBox="1"/>
          <p:nvPr/>
        </p:nvSpPr>
        <p:spPr>
          <a:xfrm>
            <a:off x="697329" y="0"/>
            <a:ext cx="1079733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 algn="ctr"/>
            <a:r>
              <a:rPr lang="ru-RU" sz="2800" b="1"/>
              <a:t>Примеры использования:</a:t>
            </a:r>
            <a:endParaRPr lang="ru-RU" sz="2800" b="1" dirty="0"/>
          </a:p>
        </p:txBody>
      </p:sp>
      <p:graphicFrame>
        <p:nvGraphicFramePr>
          <p:cNvPr id="3" name="Таблица 3">
            <a:extLst>
              <a:ext uri="{FF2B5EF4-FFF2-40B4-BE49-F238E27FC236}">
                <a16:creationId xmlns:a16="http://schemas.microsoft.com/office/drawing/2014/main" id="{1BD3458C-DEA5-4904-9F67-DF406CB2FE9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92738118"/>
              </p:ext>
            </p:extLst>
          </p:nvPr>
        </p:nvGraphicFramePr>
        <p:xfrm>
          <a:off x="1227991" y="1636542"/>
          <a:ext cx="9736014" cy="3017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868007">
                  <a:extLst>
                    <a:ext uri="{9D8B030D-6E8A-4147-A177-3AD203B41FA5}">
                      <a16:colId xmlns:a16="http://schemas.microsoft.com/office/drawing/2014/main" val="262119943"/>
                    </a:ext>
                  </a:extLst>
                </a:gridCol>
                <a:gridCol w="4868007">
                  <a:extLst>
                    <a:ext uri="{9D8B030D-6E8A-4147-A177-3AD203B41FA5}">
                      <a16:colId xmlns:a16="http://schemas.microsoft.com/office/drawing/2014/main" val="421509616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2400" b="0" dirty="0">
                          <a:solidFill>
                            <a:sysClr val="windowText" lastClr="000000"/>
                          </a:solidFill>
                        </a:rPr>
                        <a:t>SELECT ORDER_NUM </a:t>
                      </a:r>
                      <a:r>
                        <a:rPr lang="en-US" sz="2400" b="0" kern="1200" dirty="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rPr>
                        <a:t>FROM ORDERS</a:t>
                      </a:r>
                    </a:p>
                    <a:p>
                      <a:r>
                        <a:rPr lang="en-US" sz="2400" b="0" dirty="0">
                          <a:solidFill>
                            <a:sysClr val="windowText" lastClr="000000"/>
                          </a:solidFill>
                        </a:rPr>
                        <a:t>    WHERE</a:t>
                      </a:r>
                    </a:p>
                    <a:p>
                      <a:r>
                        <a:rPr lang="en-US" sz="2400" b="0" dirty="0">
                          <a:solidFill>
                            <a:sysClr val="windowText" lastClr="000000"/>
                          </a:solidFill>
                        </a:rPr>
                        <a:t>REGEXP_LIKE(TO_CHAR(ORDER_NUM), '^1000');</a:t>
                      </a:r>
                      <a:endParaRPr lang="ru-RU" sz="24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b="0" dirty="0">
                          <a:solidFill>
                            <a:sysClr val="windowText" lastClr="000000"/>
                          </a:solidFill>
                        </a:rPr>
                        <a:t>CREATE TABLE ASD(</a:t>
                      </a:r>
                    </a:p>
                    <a:p>
                      <a:r>
                        <a:rPr lang="en-US" sz="2400" b="0" dirty="0">
                          <a:solidFill>
                            <a:sysClr val="windowText" lastClr="000000"/>
                          </a:solidFill>
                        </a:rPr>
                        <a:t>    ID_A INT NOT NULL,</a:t>
                      </a:r>
                    </a:p>
                    <a:p>
                      <a:r>
                        <a:rPr lang="en-US" sz="2400" b="0" dirty="0">
                          <a:solidFill>
                            <a:sysClr val="windowText" lastClr="000000"/>
                          </a:solidFill>
                        </a:rPr>
                        <a:t>    NAME_A VARCHAR2(30) not null,</a:t>
                      </a:r>
                    </a:p>
                    <a:p>
                      <a:r>
                        <a:rPr lang="en-US" sz="2400" b="0" dirty="0">
                          <a:solidFill>
                            <a:sysClr val="windowText" lastClr="000000"/>
                          </a:solidFill>
                        </a:rPr>
                        <a:t>    TEL VARCHAR2(15)</a:t>
                      </a:r>
                    </a:p>
                    <a:p>
                      <a:r>
                        <a:rPr lang="en-US" sz="2400" b="0" dirty="0">
                          <a:solidFill>
                            <a:sysClr val="windowText" lastClr="000000"/>
                          </a:solidFill>
                        </a:rPr>
                        <a:t>CHECK</a:t>
                      </a:r>
                    </a:p>
                    <a:p>
                      <a:r>
                        <a:rPr lang="en-US" sz="2400" b="0" dirty="0">
                          <a:solidFill>
                            <a:sysClr val="windowText" lastClr="000000"/>
                          </a:solidFill>
                        </a:rPr>
                        <a:t>(REGEXP_LIKE(TEL,'^8\(\d{3}\)\d{3}-\d{2}-\d{2}$'))</a:t>
                      </a:r>
                    </a:p>
                    <a:p>
                      <a:r>
                        <a:rPr lang="en-US" sz="2400" b="0" dirty="0">
                          <a:solidFill>
                            <a:sysClr val="windowText" lastClr="000000"/>
                          </a:solidFill>
                        </a:rPr>
                        <a:t>    );</a:t>
                      </a:r>
                      <a:endParaRPr lang="ru-RU" sz="24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1233027"/>
                  </a:ext>
                </a:extLst>
              </a:tr>
            </a:tbl>
          </a:graphicData>
        </a:graphic>
      </p:graphicFrame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04BD6D1C-99EE-40EA-887F-CEACC7CD10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7990" y="3429000"/>
            <a:ext cx="1559891" cy="2218999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A645C896-C8B4-4BFE-8498-EA9D6DC7A37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5132" y="3429000"/>
            <a:ext cx="1559891" cy="2857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226020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E6EAF76-B287-4B25-892C-DE9C1FBD7E6B}"/>
              </a:ext>
            </a:extLst>
          </p:cNvPr>
          <p:cNvSpPr txBox="1"/>
          <p:nvPr/>
        </p:nvSpPr>
        <p:spPr>
          <a:xfrm>
            <a:off x="697329" y="0"/>
            <a:ext cx="10797339" cy="56938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 algn="ctr"/>
            <a:r>
              <a:rPr lang="ru-RU" sz="2800" b="1" i="0" dirty="0">
                <a:solidFill>
                  <a:schemeClr val="accent1"/>
                </a:solidFill>
                <a:effectLst/>
              </a:rPr>
              <a:t>Функция </a:t>
            </a:r>
            <a:r>
              <a:rPr lang="en-US" sz="2800" b="1" i="0" dirty="0">
                <a:solidFill>
                  <a:schemeClr val="accent1"/>
                </a:solidFill>
                <a:effectLst/>
              </a:rPr>
              <a:t>REGEXP_INSTR</a:t>
            </a:r>
            <a:endParaRPr lang="ru-RU" sz="2800" b="1" i="0" dirty="0">
              <a:solidFill>
                <a:schemeClr val="accent1"/>
              </a:solidFill>
              <a:effectLst/>
            </a:endParaRPr>
          </a:p>
          <a:p>
            <a:pPr indent="450000"/>
            <a:endParaRPr lang="en-US" sz="2400" dirty="0">
              <a:solidFill>
                <a:schemeClr val="accent1"/>
              </a:solidFill>
            </a:endParaRPr>
          </a:p>
          <a:p>
            <a:pPr indent="450000"/>
            <a:endParaRPr lang="en-US" sz="2400" dirty="0">
              <a:solidFill>
                <a:schemeClr val="accent1"/>
              </a:solidFill>
            </a:endParaRPr>
          </a:p>
          <a:p>
            <a:pPr indent="450000"/>
            <a:endParaRPr lang="ru-RU" sz="2400" dirty="0">
              <a:solidFill>
                <a:schemeClr val="accent1"/>
              </a:solidFill>
            </a:endParaRPr>
          </a:p>
          <a:p>
            <a:pPr indent="450000" algn="just"/>
            <a:r>
              <a:rPr lang="ru-RU" sz="2400" b="0" dirty="0">
                <a:effectLst/>
              </a:rPr>
              <a:t>Функция возвращает позицию символа, находящегося в начале или конце соответствия для шаблона, так же как и ее аналог</a:t>
            </a:r>
            <a:r>
              <a:rPr lang="en-US" sz="2400" b="0" dirty="0">
                <a:effectLst/>
              </a:rPr>
              <a:t> INSTR</a:t>
            </a:r>
            <a:r>
              <a:rPr lang="ru-RU" sz="2400" b="0" dirty="0">
                <a:effectLst/>
              </a:rPr>
              <a:t>.</a:t>
            </a:r>
            <a:endParaRPr lang="en-US" sz="2400" b="0" dirty="0">
              <a:effectLst/>
            </a:endParaRPr>
          </a:p>
          <a:p>
            <a:pPr indent="450000" algn="just"/>
            <a:endParaRPr lang="ru-RU" sz="2400" b="0" dirty="0">
              <a:effectLst/>
            </a:endParaRPr>
          </a:p>
          <a:p>
            <a:pPr indent="450000" algn="just"/>
            <a:r>
              <a:rPr lang="ru-RU" sz="2400" b="0" dirty="0">
                <a:effectLst/>
              </a:rPr>
              <a:t>В отличие от </a:t>
            </a:r>
            <a:r>
              <a:rPr lang="en-US" sz="2400" b="0" dirty="0">
                <a:effectLst/>
              </a:rPr>
              <a:t>INSTR</a:t>
            </a:r>
            <a:r>
              <a:rPr lang="ru-RU" sz="2400" b="0" dirty="0">
                <a:effectLst/>
              </a:rPr>
              <a:t>, функция </a:t>
            </a:r>
            <a:r>
              <a:rPr lang="en-US" sz="2400" b="0" dirty="0">
                <a:effectLst/>
              </a:rPr>
              <a:t>REGEXP</a:t>
            </a:r>
            <a:r>
              <a:rPr lang="ru-RU" sz="2400" b="0" dirty="0">
                <a:effectLst/>
              </a:rPr>
              <a:t>_</a:t>
            </a:r>
            <a:r>
              <a:rPr lang="en-US" sz="2400" b="0" dirty="0">
                <a:effectLst/>
              </a:rPr>
              <a:t>INSTR</a:t>
            </a:r>
            <a:r>
              <a:rPr lang="ru-RU" sz="2400" b="0" dirty="0">
                <a:effectLst/>
              </a:rPr>
              <a:t> работает с начала строки и двигается вперед в поисках шаблона. Она не может начать с конца строки и перемещаться в обратном направлении.</a:t>
            </a:r>
          </a:p>
          <a:p>
            <a:pPr indent="450000" algn="just"/>
            <a:endParaRPr lang="ru-RU" sz="2400" dirty="0"/>
          </a:p>
          <a:p>
            <a:pPr indent="450000" algn="just"/>
            <a:r>
              <a:rPr lang="ru-RU" sz="2400" b="1" dirty="0"/>
              <a:t>Синтаксис:</a:t>
            </a:r>
          </a:p>
          <a:p>
            <a:pPr lvl="1"/>
            <a:endParaRPr lang="ru-RU" sz="2400" dirty="0"/>
          </a:p>
          <a:p>
            <a:pPr lvl="1" algn="just"/>
            <a:r>
              <a:rPr lang="ru-RU" sz="2400" dirty="0"/>
              <a:t>REGEXP_INSTR(исходная строка, шаблон[, начальная позиция [, вхождение [, 				  опция возврата [, параметр сопоставления ] ] ] ] )</a:t>
            </a:r>
          </a:p>
        </p:txBody>
      </p:sp>
    </p:spTree>
    <p:extLst>
      <p:ext uri="{BB962C8B-B14F-4D97-AF65-F5344CB8AC3E}">
        <p14:creationId xmlns:p14="http://schemas.microsoft.com/office/powerpoint/2010/main" val="45348672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Таблица 3">
            <a:extLst>
              <a:ext uri="{FF2B5EF4-FFF2-40B4-BE49-F238E27FC236}">
                <a16:creationId xmlns:a16="http://schemas.microsoft.com/office/drawing/2014/main" id="{88F56A7C-421C-4A18-9FF6-26572764621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2710035"/>
              </p:ext>
            </p:extLst>
          </p:nvPr>
        </p:nvGraphicFramePr>
        <p:xfrm>
          <a:off x="1643184" y="473482"/>
          <a:ext cx="8905632" cy="53200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452816">
                  <a:extLst>
                    <a:ext uri="{9D8B030D-6E8A-4147-A177-3AD203B41FA5}">
                      <a16:colId xmlns:a16="http://schemas.microsoft.com/office/drawing/2014/main" val="1668227021"/>
                    </a:ext>
                  </a:extLst>
                </a:gridCol>
                <a:gridCol w="4452816">
                  <a:extLst>
                    <a:ext uri="{9D8B030D-6E8A-4147-A177-3AD203B41FA5}">
                      <a16:colId xmlns:a16="http://schemas.microsoft.com/office/drawing/2014/main" val="34943018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l" fontAlgn="t"/>
                      <a:r>
                        <a:rPr lang="ru-RU" b="0" dirty="0">
                          <a:solidFill>
                            <a:schemeClr val="tx1"/>
                          </a:solidFill>
                          <a:effectLst/>
                        </a:rPr>
                        <a:t>Исходная строка</a:t>
                      </a:r>
                    </a:p>
                  </a:txBody>
                  <a:tcPr marL="95250" marR="95250" marT="28575" marB="285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ru-RU" b="0">
                          <a:solidFill>
                            <a:schemeClr val="tx1"/>
                          </a:solidFill>
                          <a:effectLst/>
                        </a:rPr>
                        <a:t>поддерживает символьные типы данных (CHAR, VARCHAR2, CLOB, NCHAR, NVARCHAR2 и NCLOB, но не LONG)</a:t>
                      </a:r>
                    </a:p>
                  </a:txBody>
                  <a:tcPr marL="95250" marR="95250" marT="28575" marB="285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3101873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t"/>
                      <a:r>
                        <a:rPr lang="ru-RU" b="0" dirty="0">
                          <a:solidFill>
                            <a:schemeClr val="tx1"/>
                          </a:solidFill>
                          <a:effectLst/>
                        </a:rPr>
                        <a:t>Шаблон</a:t>
                      </a:r>
                    </a:p>
                  </a:txBody>
                  <a:tcPr marL="95250" marR="95250" marT="28575" marB="285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ru-RU" b="0">
                          <a:solidFill>
                            <a:schemeClr val="tx1"/>
                          </a:solidFill>
                          <a:effectLst/>
                        </a:rPr>
                        <a:t>регулярное выражение</a:t>
                      </a:r>
                    </a:p>
                  </a:txBody>
                  <a:tcPr marL="95250" marR="95250" marT="28575" marB="285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082647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t"/>
                      <a:r>
                        <a:rPr lang="ru-RU" b="0" dirty="0">
                          <a:solidFill>
                            <a:schemeClr val="tx1"/>
                          </a:solidFill>
                          <a:effectLst/>
                        </a:rPr>
                        <a:t>Начальная позиция</a:t>
                      </a:r>
                    </a:p>
                  </a:txBody>
                  <a:tcPr marL="95250" marR="95250" marT="28575" marB="285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ru-RU" b="0" dirty="0">
                          <a:solidFill>
                            <a:schemeClr val="tx1"/>
                          </a:solidFill>
                          <a:effectLst/>
                        </a:rPr>
                        <a:t>позиция, с которой должен начинаться поиск</a:t>
                      </a:r>
                    </a:p>
                  </a:txBody>
                  <a:tcPr marL="95250" marR="95250" marT="28575" marB="285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4427047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t"/>
                      <a:r>
                        <a:rPr lang="ru-RU" b="0" dirty="0">
                          <a:solidFill>
                            <a:schemeClr val="tx1"/>
                          </a:solidFill>
                          <a:effectLst/>
                        </a:rPr>
                        <a:t>Вхождение</a:t>
                      </a:r>
                    </a:p>
                  </a:txBody>
                  <a:tcPr marL="95250" marR="95250" marT="28575" marB="285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ru-RU" b="0">
                          <a:solidFill>
                            <a:schemeClr val="tx1"/>
                          </a:solidFill>
                          <a:effectLst/>
                        </a:rPr>
                        <a:t>по умолчанию имеет значение 1, если пользователь не укажет поиск последовательных вхождений</a:t>
                      </a:r>
                    </a:p>
                  </a:txBody>
                  <a:tcPr marL="95250" marR="95250" marT="28575" marB="285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4499343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t"/>
                      <a:r>
                        <a:rPr lang="ru-RU" b="0" dirty="0">
                          <a:solidFill>
                            <a:schemeClr val="tx1"/>
                          </a:solidFill>
                          <a:effectLst/>
                        </a:rPr>
                        <a:t>Опция возврата</a:t>
                      </a:r>
                    </a:p>
                  </a:txBody>
                  <a:tcPr marL="95250" marR="95250" marT="28575" marB="285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ru-RU" b="0">
                          <a:solidFill>
                            <a:schemeClr val="tx1"/>
                          </a:solidFill>
                          <a:effectLst/>
                        </a:rPr>
                        <a:t>значение по умолчанию 0, тогда возвратится начальная позиция шаблона; при значении 1 возвращается позиция символа, следующего за шаблоном</a:t>
                      </a:r>
                    </a:p>
                  </a:txBody>
                  <a:tcPr marL="95250" marR="95250" marT="28575" marB="285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128600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t"/>
                      <a:r>
                        <a:rPr lang="ru-RU" b="0" dirty="0">
                          <a:solidFill>
                            <a:schemeClr val="tx1"/>
                          </a:solidFill>
                          <a:effectLst/>
                        </a:rPr>
                        <a:t>Параметр сопоставления</a:t>
                      </a:r>
                    </a:p>
                  </a:txBody>
                  <a:tcPr marL="95250" marR="95250" marT="28575" marB="285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ru-RU" b="0" dirty="0">
                          <a:solidFill>
                            <a:schemeClr val="tx1"/>
                          </a:solidFill>
                          <a:effectLst/>
                        </a:rPr>
                        <a:t>позволяет использовать дополнительные параметры, такие как символ перехода на новую строку, многострочное форматирование и обеспечение управления учетом регистра</a:t>
                      </a:r>
                    </a:p>
                  </a:txBody>
                  <a:tcPr marL="95250" marR="95250" marT="28575" marB="285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805673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055848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5C55D39-42B2-484E-A49E-20BAD8C867E0}"/>
              </a:ext>
            </a:extLst>
          </p:cNvPr>
          <p:cNvSpPr txBox="1"/>
          <p:nvPr/>
        </p:nvSpPr>
        <p:spPr>
          <a:xfrm>
            <a:off x="472929" y="7034"/>
            <a:ext cx="11246142" cy="46474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 algn="ctr"/>
            <a:r>
              <a:rPr lang="ru-RU" sz="2800" b="1" dirty="0"/>
              <a:t>Пример использования:</a:t>
            </a:r>
          </a:p>
          <a:p>
            <a:pPr lvl="1"/>
            <a:endParaRPr lang="ru-RU" sz="2800" b="1" dirty="0"/>
          </a:p>
          <a:p>
            <a:pPr lvl="1"/>
            <a:r>
              <a:rPr lang="en-US" sz="2400" dirty="0"/>
              <a:t>SELECT REGEXP_INSTR ('The example shows how to use the REGEXP_INSTR function’,</a:t>
            </a:r>
            <a:endParaRPr lang="ru-RU" sz="2400" dirty="0"/>
          </a:p>
          <a:p>
            <a:pPr lvl="1"/>
            <a:r>
              <a:rPr lang="en-US" sz="2400" dirty="0"/>
              <a:t>'ow', 1, 2, 0, 'i') FROM dual;</a:t>
            </a:r>
            <a:endParaRPr lang="ru-RU" sz="2400" dirty="0"/>
          </a:p>
          <a:p>
            <a:pPr lvl="1"/>
            <a:endParaRPr lang="ru-RU" sz="2400" dirty="0"/>
          </a:p>
          <a:p>
            <a:pPr lvl="1"/>
            <a:r>
              <a:rPr lang="ru-RU" sz="2400" b="1" dirty="0"/>
              <a:t>Результат: 20</a:t>
            </a:r>
          </a:p>
          <a:p>
            <a:pPr lvl="1"/>
            <a:endParaRPr lang="ru-RU" sz="2400" dirty="0"/>
          </a:p>
          <a:p>
            <a:pPr lvl="1"/>
            <a:r>
              <a:rPr lang="en-US" sz="2400" dirty="0"/>
              <a:t>'ow’</a:t>
            </a:r>
            <a:r>
              <a:rPr lang="ru-RU" sz="2400" dirty="0"/>
              <a:t> – подстрока, которую мы ищем;</a:t>
            </a:r>
          </a:p>
          <a:p>
            <a:pPr lvl="1"/>
            <a:r>
              <a:rPr lang="ru-RU" sz="2400" dirty="0"/>
              <a:t>1 – позиция, с которой мы начинаем поиск;</a:t>
            </a:r>
          </a:p>
          <a:p>
            <a:pPr lvl="1"/>
            <a:r>
              <a:rPr lang="ru-RU" sz="2400" dirty="0"/>
              <a:t>2 – вхождение, после которого мы возвращаем номер позиции;</a:t>
            </a:r>
          </a:p>
          <a:p>
            <a:pPr lvl="1"/>
            <a:r>
              <a:rPr lang="ru-RU" sz="2400" dirty="0"/>
              <a:t>0 – начальная позиция шаблона;</a:t>
            </a:r>
          </a:p>
          <a:p>
            <a:pPr lvl="1"/>
            <a:r>
              <a:rPr lang="en-US" sz="2400" dirty="0"/>
              <a:t>‘i’</a:t>
            </a:r>
            <a:r>
              <a:rPr lang="ru-RU" sz="2400" dirty="0"/>
              <a:t> – не чувствительное к регистру согласование.</a:t>
            </a:r>
          </a:p>
        </p:txBody>
      </p:sp>
    </p:spTree>
    <p:extLst>
      <p:ext uri="{BB962C8B-B14F-4D97-AF65-F5344CB8AC3E}">
        <p14:creationId xmlns:p14="http://schemas.microsoft.com/office/powerpoint/2010/main" val="408465230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70A4CCF-4456-497C-9B5A-D8CF4C7FE521}"/>
              </a:ext>
            </a:extLst>
          </p:cNvPr>
          <p:cNvSpPr txBox="1"/>
          <p:nvPr/>
        </p:nvSpPr>
        <p:spPr>
          <a:xfrm>
            <a:off x="697329" y="0"/>
            <a:ext cx="10797339" cy="38472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 algn="ctr"/>
            <a:r>
              <a:rPr lang="ru-RU" sz="2800" b="1" i="0" dirty="0">
                <a:solidFill>
                  <a:schemeClr val="accent1"/>
                </a:solidFill>
                <a:effectLst/>
              </a:rPr>
              <a:t>Функция </a:t>
            </a:r>
            <a:r>
              <a:rPr lang="en-US" sz="2800" b="1" i="0" dirty="0">
                <a:solidFill>
                  <a:schemeClr val="accent1"/>
                </a:solidFill>
                <a:effectLst/>
              </a:rPr>
              <a:t>REGEXP_SUBSTR</a:t>
            </a:r>
            <a:endParaRPr lang="ru-RU" sz="2800" b="1" i="0" dirty="0">
              <a:solidFill>
                <a:schemeClr val="accent1"/>
              </a:solidFill>
              <a:effectLst/>
            </a:endParaRPr>
          </a:p>
          <a:p>
            <a:pPr indent="450000"/>
            <a:endParaRPr lang="en-US" sz="2400" dirty="0">
              <a:solidFill>
                <a:schemeClr val="accent1"/>
              </a:solidFill>
            </a:endParaRPr>
          </a:p>
          <a:p>
            <a:pPr indent="450000"/>
            <a:endParaRPr lang="en-US" sz="2400" dirty="0">
              <a:solidFill>
                <a:schemeClr val="accent1"/>
              </a:solidFill>
            </a:endParaRPr>
          </a:p>
          <a:p>
            <a:pPr indent="450000" algn="just"/>
            <a:r>
              <a:rPr lang="ru-RU" sz="2400" dirty="0"/>
              <a:t>Функция REGEXP_SUBSTR является расширением функции </a:t>
            </a:r>
            <a:r>
              <a:rPr lang="en-US" sz="2400" dirty="0"/>
              <a:t>SUBSTR</a:t>
            </a:r>
            <a:r>
              <a:rPr lang="ru-RU" sz="2400" dirty="0"/>
              <a:t> и возвращает подстроку, </a:t>
            </a:r>
            <a:r>
              <a:rPr lang="ru-RU" sz="2400" b="0" i="0" dirty="0">
                <a:effectLst/>
              </a:rPr>
              <a:t>которая соответствует шаблону.</a:t>
            </a:r>
          </a:p>
          <a:p>
            <a:pPr indent="450000"/>
            <a:endParaRPr lang="ru-RU" sz="2400" dirty="0"/>
          </a:p>
          <a:p>
            <a:pPr indent="450000"/>
            <a:r>
              <a:rPr lang="ru-RU" sz="2400" b="1" dirty="0"/>
              <a:t>Синтаксис:</a:t>
            </a:r>
          </a:p>
          <a:p>
            <a:pPr indent="450000"/>
            <a:r>
              <a:rPr lang="ru-RU" sz="2400" b="1" dirty="0"/>
              <a:t>		</a:t>
            </a:r>
          </a:p>
          <a:p>
            <a:pPr indent="450000"/>
            <a:r>
              <a:rPr lang="ru-RU" sz="2400" b="1" dirty="0"/>
              <a:t>		</a:t>
            </a:r>
            <a:r>
              <a:rPr lang="ru-RU" sz="2400" dirty="0"/>
              <a:t>REGEXP_SUBSTR(исходная строка, шаблон[, позиция [, вхождение [,параметр сопоставления]]])</a:t>
            </a:r>
          </a:p>
        </p:txBody>
      </p:sp>
    </p:spTree>
    <p:extLst>
      <p:ext uri="{BB962C8B-B14F-4D97-AF65-F5344CB8AC3E}">
        <p14:creationId xmlns:p14="http://schemas.microsoft.com/office/powerpoint/2010/main" val="369762023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Таблица 2">
            <a:extLst>
              <a:ext uri="{FF2B5EF4-FFF2-40B4-BE49-F238E27FC236}">
                <a16:creationId xmlns:a16="http://schemas.microsoft.com/office/drawing/2014/main" id="{C5BDBEBA-6230-4E9E-BF28-C8EBA44C50D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423202"/>
              </p:ext>
            </p:extLst>
          </p:nvPr>
        </p:nvGraphicFramePr>
        <p:xfrm>
          <a:off x="2032000" y="993986"/>
          <a:ext cx="8128000" cy="420497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1874745650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297038812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l" fontAlgn="t"/>
                      <a:r>
                        <a:rPr lang="ru-RU" b="0" dirty="0">
                          <a:solidFill>
                            <a:sysClr val="windowText" lastClr="000000"/>
                          </a:solidFill>
                          <a:effectLst/>
                        </a:rPr>
                        <a:t>Исходная строка</a:t>
                      </a:r>
                    </a:p>
                  </a:txBody>
                  <a:tcPr marL="95250" marR="95250" marT="28575" marB="285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ru-RU" b="0">
                          <a:solidFill>
                            <a:sysClr val="windowText" lastClr="000000"/>
                          </a:solidFill>
                          <a:effectLst/>
                        </a:rPr>
                        <a:t>поддерживает символьные типы данных (CHAR, VARCHAR2, CLOB, NCHAR, NVARCHAR2 и NCLOB, но не LONG)</a:t>
                      </a:r>
                    </a:p>
                  </a:txBody>
                  <a:tcPr marL="95250" marR="95250" marT="28575" marB="285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7717347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t"/>
                      <a:r>
                        <a:rPr lang="ru-RU" b="0" dirty="0">
                          <a:solidFill>
                            <a:sysClr val="windowText" lastClr="000000"/>
                          </a:solidFill>
                          <a:effectLst/>
                        </a:rPr>
                        <a:t>Шаблон </a:t>
                      </a:r>
                    </a:p>
                  </a:txBody>
                  <a:tcPr marL="95250" marR="95250" marT="28575" marB="285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ru-RU" b="0">
                          <a:solidFill>
                            <a:sysClr val="windowText" lastClr="000000"/>
                          </a:solidFill>
                          <a:effectLst/>
                        </a:rPr>
                        <a:t>регулярное выражение</a:t>
                      </a:r>
                    </a:p>
                  </a:txBody>
                  <a:tcPr marL="95250" marR="95250" marT="28575" marB="285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1318263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t"/>
                      <a:r>
                        <a:rPr lang="ru-RU" b="0" dirty="0">
                          <a:solidFill>
                            <a:sysClr val="windowText" lastClr="000000"/>
                          </a:solidFill>
                          <a:effectLst/>
                        </a:rPr>
                        <a:t>Позиция </a:t>
                      </a:r>
                    </a:p>
                  </a:txBody>
                  <a:tcPr marL="95250" marR="95250" marT="28575" marB="285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ru-RU" b="0">
                          <a:solidFill>
                            <a:sysClr val="windowText" lastClr="000000"/>
                          </a:solidFill>
                          <a:effectLst/>
                        </a:rPr>
                        <a:t>позиция, с которой необходимо начинать поиск</a:t>
                      </a:r>
                    </a:p>
                  </a:txBody>
                  <a:tcPr marL="95250" marR="95250" marT="28575" marB="285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969739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t"/>
                      <a:r>
                        <a:rPr lang="ru-RU" b="0" dirty="0">
                          <a:solidFill>
                            <a:sysClr val="windowText" lastClr="000000"/>
                          </a:solidFill>
                          <a:effectLst/>
                        </a:rPr>
                        <a:t>Вхождение </a:t>
                      </a:r>
                    </a:p>
                  </a:txBody>
                  <a:tcPr marL="95250" marR="95250" marT="28575" marB="285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ru-RU" b="0">
                          <a:solidFill>
                            <a:sysClr val="windowText" lastClr="000000"/>
                          </a:solidFill>
                          <a:effectLst/>
                        </a:rPr>
                        <a:t>по умолчанию имеет значение 1</a:t>
                      </a:r>
                    </a:p>
                  </a:txBody>
                  <a:tcPr marL="95250" marR="95250" marT="28575" marB="285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929544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t"/>
                      <a:r>
                        <a:rPr lang="ru-RU" b="0" dirty="0">
                          <a:solidFill>
                            <a:sysClr val="windowText" lastClr="000000"/>
                          </a:solidFill>
                          <a:effectLst/>
                        </a:rPr>
                        <a:t>Параметр сопоставления</a:t>
                      </a:r>
                    </a:p>
                  </a:txBody>
                  <a:tcPr marL="95250" marR="95250" marT="28575" marB="285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ru-RU" b="0" dirty="0">
                          <a:solidFill>
                            <a:sysClr val="windowText" lastClr="000000"/>
                          </a:solidFill>
                          <a:effectLst/>
                        </a:rPr>
                        <a:t>позволяет использовать дополнительные параметры, такие как символ перехода на новую строку, многострочное форматирование и обеспечение управления учетом регистра</a:t>
                      </a:r>
                    </a:p>
                  </a:txBody>
                  <a:tcPr marL="95250" marR="95250" marT="28575" marB="285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58764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5407332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E905063D-D79D-432E-9E90-74770DB8257D}"/>
              </a:ext>
            </a:extLst>
          </p:cNvPr>
          <p:cNvSpPr txBox="1"/>
          <p:nvPr/>
        </p:nvSpPr>
        <p:spPr>
          <a:xfrm>
            <a:off x="472929" y="7034"/>
            <a:ext cx="11246142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 algn="ctr"/>
            <a:r>
              <a:rPr lang="ru-RU" sz="2800" b="1" dirty="0"/>
              <a:t>Пример использования:</a:t>
            </a:r>
          </a:p>
          <a:p>
            <a:pPr lvl="1"/>
            <a:endParaRPr lang="ru-RU" sz="2800" b="1" dirty="0"/>
          </a:p>
          <a:p>
            <a:pPr lvl="1" indent="450000"/>
            <a:r>
              <a:rPr lang="en-US" sz="2400" dirty="0"/>
              <a:t>SELECT REGEXP_SUBSTR ('Google is a great search engine.', '(\S*)(\s)', 1, 2)</a:t>
            </a:r>
          </a:p>
          <a:p>
            <a:pPr lvl="1" indent="450000"/>
            <a:r>
              <a:rPr lang="ru-RU" sz="2400" dirty="0"/>
              <a:t>	</a:t>
            </a:r>
            <a:r>
              <a:rPr lang="en-US" sz="2400" dirty="0"/>
              <a:t>FROM dual;</a:t>
            </a:r>
            <a:endParaRPr lang="ru-RU" sz="2400" dirty="0"/>
          </a:p>
          <a:p>
            <a:pPr lvl="1" indent="450000"/>
            <a:endParaRPr lang="ru-RU" sz="2400" dirty="0"/>
          </a:p>
          <a:p>
            <a:pPr lvl="1" indent="450000"/>
            <a:r>
              <a:rPr lang="ru-RU" sz="2400" dirty="0"/>
              <a:t>Будут извлекаться все символы без пробелов, как указано (\S*), а затем первый символ пробела, заданный (\s). А так как вхождение равно 2, то результатом будет 2-я строка, подходящая под условия выборки.</a:t>
            </a:r>
          </a:p>
          <a:p>
            <a:pPr lvl="1" indent="450000"/>
            <a:r>
              <a:rPr lang="ru-RU" sz="2400" dirty="0"/>
              <a:t>Результат: </a:t>
            </a:r>
            <a:r>
              <a:rPr lang="en-US" sz="2400" dirty="0"/>
              <a:t>‘is ’</a:t>
            </a:r>
            <a:endParaRPr lang="ru-RU" sz="2400" dirty="0"/>
          </a:p>
        </p:txBody>
      </p:sp>
    </p:spTree>
    <p:extLst>
      <p:ext uri="{BB962C8B-B14F-4D97-AF65-F5344CB8AC3E}">
        <p14:creationId xmlns:p14="http://schemas.microsoft.com/office/powerpoint/2010/main" val="257971889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C7CD5620-B2AB-4CD2-8383-12BB012DB15F}"/>
              </a:ext>
            </a:extLst>
          </p:cNvPr>
          <p:cNvSpPr txBox="1"/>
          <p:nvPr/>
        </p:nvSpPr>
        <p:spPr>
          <a:xfrm>
            <a:off x="549891" y="8878"/>
            <a:ext cx="11092217" cy="34778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 algn="ctr"/>
            <a:r>
              <a:rPr lang="ru-RU" sz="2800" b="1" i="0" dirty="0">
                <a:solidFill>
                  <a:schemeClr val="accent1"/>
                </a:solidFill>
                <a:effectLst/>
              </a:rPr>
              <a:t>Функция </a:t>
            </a:r>
            <a:r>
              <a:rPr lang="en-US" sz="2800" b="1" i="0" dirty="0">
                <a:solidFill>
                  <a:schemeClr val="accent1"/>
                </a:solidFill>
                <a:effectLst/>
              </a:rPr>
              <a:t>REGEXP_RE</a:t>
            </a:r>
            <a:r>
              <a:rPr lang="en-US" sz="2800" b="1" dirty="0">
                <a:solidFill>
                  <a:schemeClr val="accent1"/>
                </a:solidFill>
              </a:rPr>
              <a:t>PLACE</a:t>
            </a:r>
            <a:endParaRPr lang="ru-RU" sz="2800" b="1" i="0" dirty="0">
              <a:solidFill>
                <a:schemeClr val="accent1"/>
              </a:solidFill>
              <a:effectLst/>
            </a:endParaRPr>
          </a:p>
          <a:p>
            <a:pPr indent="450000"/>
            <a:endParaRPr lang="en-US" sz="2400" dirty="0">
              <a:solidFill>
                <a:schemeClr val="accent1"/>
              </a:solidFill>
            </a:endParaRPr>
          </a:p>
          <a:p>
            <a:pPr indent="450000"/>
            <a:endParaRPr lang="en-US" sz="2400" dirty="0">
              <a:solidFill>
                <a:schemeClr val="accent1"/>
              </a:solidFill>
            </a:endParaRPr>
          </a:p>
          <a:p>
            <a:pPr indent="450000" algn="just"/>
            <a:r>
              <a:rPr lang="ru-RU" sz="2400" dirty="0"/>
              <a:t>Функция</a:t>
            </a:r>
            <a:r>
              <a:rPr lang="en-US" sz="2400" dirty="0"/>
              <a:t> </a:t>
            </a:r>
            <a:r>
              <a:rPr lang="ru-RU" sz="2400" dirty="0"/>
              <a:t>возвращает измененную входную строку, в которой все вхождения шаблона заменены значением, переданным в параметре «строка</a:t>
            </a:r>
            <a:r>
              <a:rPr lang="en-US" sz="2400" dirty="0"/>
              <a:t> </a:t>
            </a:r>
            <a:r>
              <a:rPr lang="ru-RU" sz="2400" dirty="0"/>
              <a:t>замены».</a:t>
            </a:r>
            <a:endParaRPr lang="en-US" sz="2400" dirty="0"/>
          </a:p>
          <a:p>
            <a:pPr indent="450000" algn="just"/>
            <a:endParaRPr lang="en-US" sz="2400" dirty="0"/>
          </a:p>
          <a:p>
            <a:pPr indent="450000" algn="just"/>
            <a:r>
              <a:rPr lang="ru-RU" sz="2400" b="1" dirty="0"/>
              <a:t>Синтаксис:</a:t>
            </a:r>
          </a:p>
          <a:p>
            <a:pPr indent="450000"/>
            <a:r>
              <a:rPr lang="ru-RU" sz="2400" dirty="0"/>
              <a:t>		REGEXP_REPLACE(исходная строка, шаблон [, строка замены [, позиция[,вхождение, [параметр сопоставления]]]])</a:t>
            </a:r>
          </a:p>
        </p:txBody>
      </p:sp>
    </p:spTree>
    <p:extLst>
      <p:ext uri="{BB962C8B-B14F-4D97-AF65-F5344CB8AC3E}">
        <p14:creationId xmlns:p14="http://schemas.microsoft.com/office/powerpoint/2010/main" val="423017515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Таблица 2">
            <a:extLst>
              <a:ext uri="{FF2B5EF4-FFF2-40B4-BE49-F238E27FC236}">
                <a16:creationId xmlns:a16="http://schemas.microsoft.com/office/drawing/2014/main" id="{4CD9D0C0-690D-49F1-9EAA-83407339A51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73121449"/>
              </p:ext>
            </p:extLst>
          </p:nvPr>
        </p:nvGraphicFramePr>
        <p:xfrm>
          <a:off x="2032000" y="719666"/>
          <a:ext cx="8128000" cy="454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2678521403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413180583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l" fontAlgn="t"/>
                      <a:r>
                        <a:rPr lang="ru-RU" b="0" dirty="0">
                          <a:solidFill>
                            <a:sysClr val="windowText" lastClr="000000"/>
                          </a:solidFill>
                          <a:effectLst/>
                        </a:rPr>
                        <a:t>Исходная строка</a:t>
                      </a:r>
                    </a:p>
                  </a:txBody>
                  <a:tcPr marL="76200" marR="76200" marT="22860" marB="2286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ru-RU" b="0">
                          <a:solidFill>
                            <a:sysClr val="windowText" lastClr="000000"/>
                          </a:solidFill>
                          <a:effectLst/>
                        </a:rPr>
                        <a:t>поддерживает символьные типы данных (CHAR, VARCHAR2, CLOB, NCHAR, NVARCHAR2 и NCLOB, но не LONG)</a:t>
                      </a:r>
                    </a:p>
                  </a:txBody>
                  <a:tcPr marL="76200" marR="76200" marT="22860" marB="2286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1207458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t"/>
                      <a:r>
                        <a:rPr lang="ru-RU" b="0" dirty="0">
                          <a:solidFill>
                            <a:sysClr val="windowText" lastClr="000000"/>
                          </a:solidFill>
                          <a:effectLst/>
                        </a:rPr>
                        <a:t>Шаблон</a:t>
                      </a:r>
                    </a:p>
                  </a:txBody>
                  <a:tcPr marL="76200" marR="76200" marT="22860" marB="2286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ru-RU" b="0">
                          <a:solidFill>
                            <a:sysClr val="windowText" lastClr="000000"/>
                          </a:solidFill>
                          <a:effectLst/>
                        </a:rPr>
                        <a:t>регулярное выражение</a:t>
                      </a:r>
                    </a:p>
                  </a:txBody>
                  <a:tcPr marL="76200" marR="76200" marT="22860" marB="2286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2137786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t"/>
                      <a:r>
                        <a:rPr lang="ru-RU" b="0" dirty="0">
                          <a:solidFill>
                            <a:sysClr val="windowText" lastClr="000000"/>
                          </a:solidFill>
                          <a:effectLst/>
                        </a:rPr>
                        <a:t>Шаблон замены</a:t>
                      </a:r>
                    </a:p>
                  </a:txBody>
                  <a:tcPr marL="76200" marR="76200" marT="22860" marB="2286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ru-RU" b="0">
                          <a:solidFill>
                            <a:sysClr val="windowText" lastClr="000000"/>
                          </a:solidFill>
                          <a:effectLst/>
                        </a:rPr>
                        <a:t>текст для замены каждого вхождения</a:t>
                      </a:r>
                    </a:p>
                  </a:txBody>
                  <a:tcPr marL="76200" marR="76200" marT="22860" marB="2286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4234955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t"/>
                      <a:r>
                        <a:rPr lang="ru-RU" b="0" dirty="0">
                          <a:solidFill>
                            <a:sysClr val="windowText" lastClr="000000"/>
                          </a:solidFill>
                          <a:effectLst/>
                        </a:rPr>
                        <a:t>Позиция</a:t>
                      </a:r>
                    </a:p>
                  </a:txBody>
                  <a:tcPr marL="76200" marR="76200" marT="22860" marB="2286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ru-RU" b="0">
                          <a:solidFill>
                            <a:sysClr val="windowText" lastClr="000000"/>
                          </a:solidFill>
                          <a:effectLst/>
                        </a:rPr>
                        <a:t>позиция, с которой необходимо начинать поиск</a:t>
                      </a:r>
                    </a:p>
                  </a:txBody>
                  <a:tcPr marL="76200" marR="76200" marT="22860" marB="2286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2543133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t"/>
                      <a:r>
                        <a:rPr lang="ru-RU" b="0" dirty="0">
                          <a:solidFill>
                            <a:sysClr val="windowText" lastClr="000000"/>
                          </a:solidFill>
                          <a:effectLst/>
                        </a:rPr>
                        <a:t>Вхождение</a:t>
                      </a:r>
                    </a:p>
                  </a:txBody>
                  <a:tcPr marL="76200" marR="76200" marT="22860" marB="2286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ru-RU" b="0">
                          <a:solidFill>
                            <a:sysClr val="windowText" lastClr="000000"/>
                          </a:solidFill>
                          <a:effectLst/>
                        </a:rPr>
                        <a:t>по умолчанию имеет значение 1</a:t>
                      </a:r>
                    </a:p>
                  </a:txBody>
                  <a:tcPr marL="76200" marR="76200" marT="22860" marB="2286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3480466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t"/>
                      <a:r>
                        <a:rPr lang="ru-RU" b="0" dirty="0">
                          <a:solidFill>
                            <a:sysClr val="windowText" lastClr="000000"/>
                          </a:solidFill>
                          <a:effectLst/>
                        </a:rPr>
                        <a:t>Параметр сопоставления</a:t>
                      </a:r>
                    </a:p>
                  </a:txBody>
                  <a:tcPr marL="76200" marR="76200" marT="22860" marB="2286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ru-RU" b="0" dirty="0">
                          <a:solidFill>
                            <a:sysClr val="windowText" lastClr="000000"/>
                          </a:solidFill>
                          <a:effectLst/>
                        </a:rPr>
                        <a:t>позволяет использовать дополнительные параметры, такие как символ перехода на новую строку, многострочное форматирование и обеспечение управления учетом регистра</a:t>
                      </a:r>
                    </a:p>
                  </a:txBody>
                  <a:tcPr marL="76200" marR="76200" marT="22860" marB="2286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3371349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5408840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7CBDCF7-F983-4C06-AD53-A8792DC51522}"/>
              </a:ext>
            </a:extLst>
          </p:cNvPr>
          <p:cNvSpPr txBox="1"/>
          <p:nvPr/>
        </p:nvSpPr>
        <p:spPr>
          <a:xfrm>
            <a:off x="472929" y="7034"/>
            <a:ext cx="11246142" cy="50167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 algn="ctr"/>
            <a:r>
              <a:rPr lang="ru-RU" sz="2800" b="1" dirty="0"/>
              <a:t>Пример использования</a:t>
            </a:r>
            <a:r>
              <a:rPr lang="en-US" sz="2800" b="1" dirty="0"/>
              <a:t>(</a:t>
            </a:r>
            <a:r>
              <a:rPr lang="ru-RU" sz="2800" b="1" dirty="0"/>
              <a:t>замена кратных пробелов на один</a:t>
            </a:r>
            <a:r>
              <a:rPr lang="en-US" sz="2800" b="1" dirty="0"/>
              <a:t>)</a:t>
            </a:r>
            <a:r>
              <a:rPr lang="ru-RU" sz="2800" b="1" dirty="0"/>
              <a:t>:</a:t>
            </a:r>
          </a:p>
          <a:p>
            <a:pPr lvl="1" algn="ctr"/>
            <a:endParaRPr lang="ru-RU" sz="2800" b="1" dirty="0"/>
          </a:p>
          <a:p>
            <a:pPr lvl="1"/>
            <a:r>
              <a:rPr kumimoji="0" lang="ru-RU" altLang="ru-RU" sz="2400" u="none" strike="noStrike" cap="none" normalizeH="0" baseline="0" dirty="0" err="1">
                <a:ln>
                  <a:noFill/>
                </a:ln>
                <a:effectLst/>
              </a:rPr>
              <a:t>with</a:t>
            </a:r>
            <a:r>
              <a:rPr kumimoji="0" lang="ru-RU" altLang="ru-RU" sz="2400" u="none" strike="noStrike" cap="none" normalizeH="0" baseline="0" dirty="0">
                <a:ln>
                  <a:noFill/>
                </a:ln>
                <a:effectLst/>
              </a:rPr>
              <a:t> t </a:t>
            </a:r>
            <a:r>
              <a:rPr kumimoji="0" lang="ru-RU" altLang="ru-RU" sz="2400" u="none" strike="noStrike" cap="none" normalizeH="0" baseline="0" dirty="0" err="1">
                <a:ln>
                  <a:noFill/>
                </a:ln>
                <a:effectLst/>
              </a:rPr>
              <a:t>as</a:t>
            </a:r>
            <a:r>
              <a:rPr kumimoji="0" lang="ru-RU" altLang="ru-RU" sz="2400" u="none" strike="noStrike" cap="none" normalizeH="0" baseline="0" dirty="0">
                <a:ln>
                  <a:noFill/>
                </a:ln>
                <a:effectLst/>
              </a:rPr>
              <a:t> (</a:t>
            </a:r>
            <a:br>
              <a:rPr kumimoji="0" lang="ru-RU" altLang="ru-RU" sz="2400" u="none" strike="noStrike" cap="none" normalizeH="0" baseline="0" dirty="0">
                <a:ln>
                  <a:noFill/>
                </a:ln>
                <a:effectLst/>
              </a:rPr>
            </a:br>
            <a:r>
              <a:rPr kumimoji="0" lang="ru-RU" altLang="ru-RU" sz="2400" u="none" strike="noStrike" cap="none" normalizeH="0" baseline="0" dirty="0">
                <a:ln>
                  <a:noFill/>
                </a:ln>
                <a:effectLst/>
              </a:rPr>
              <a:t>  </a:t>
            </a:r>
            <a:r>
              <a:rPr kumimoji="0" lang="ru-RU" altLang="ru-RU" sz="2400" u="none" strike="noStrike" cap="none" normalizeH="0" baseline="0" dirty="0" err="1">
                <a:ln>
                  <a:noFill/>
                </a:ln>
                <a:effectLst/>
              </a:rPr>
              <a:t>select</a:t>
            </a:r>
            <a:r>
              <a:rPr kumimoji="0" lang="ru-RU" altLang="ru-RU" sz="2400" u="none" strike="noStrike" cap="none" normalizeH="0" baseline="0" dirty="0">
                <a:ln>
                  <a:noFill/>
                </a:ln>
                <a:effectLst/>
              </a:rPr>
              <a:t> 1 </a:t>
            </a:r>
            <a:r>
              <a:rPr kumimoji="0" lang="ru-RU" altLang="ru-RU" sz="2400" u="none" strike="noStrike" cap="none" normalizeH="0" baseline="0" dirty="0" err="1">
                <a:ln>
                  <a:noFill/>
                </a:ln>
                <a:effectLst/>
              </a:rPr>
              <a:t>id</a:t>
            </a:r>
            <a:r>
              <a:rPr kumimoji="0" lang="ru-RU" altLang="ru-RU" sz="2400" u="none" strike="noStrike" cap="none" normalizeH="0" baseline="0" dirty="0">
                <a:ln>
                  <a:noFill/>
                </a:ln>
                <a:effectLst/>
              </a:rPr>
              <a:t>, 'a s        </a:t>
            </a:r>
            <a:r>
              <a:rPr kumimoji="0" lang="ru-RU" altLang="ru-RU" sz="2400" u="none" strike="noStrike" cap="none" normalizeH="0" baseline="0" dirty="0" err="1">
                <a:ln>
                  <a:noFill/>
                </a:ln>
                <a:effectLst/>
              </a:rPr>
              <a:t>sfd</a:t>
            </a:r>
            <a:r>
              <a:rPr kumimoji="0" lang="ru-RU" altLang="ru-RU" sz="2400" u="none" strike="noStrike" cap="none" normalizeH="0" baseline="0" dirty="0">
                <a:ln>
                  <a:noFill/>
                </a:ln>
                <a:effectLst/>
              </a:rPr>
              <a:t>' </a:t>
            </a:r>
            <a:r>
              <a:rPr kumimoji="0" lang="ru-RU" altLang="ru-RU" sz="2400" u="none" strike="noStrike" cap="none" normalizeH="0" baseline="0" dirty="0" err="1">
                <a:ln>
                  <a:noFill/>
                </a:ln>
                <a:effectLst/>
              </a:rPr>
              <a:t>info</a:t>
            </a:r>
            <a:r>
              <a:rPr kumimoji="0" lang="ru-RU" altLang="ru-RU" sz="2400" u="none" strike="noStrike" cap="none" normalizeH="0" baseline="0" dirty="0">
                <a:ln>
                  <a:noFill/>
                </a:ln>
                <a:effectLst/>
              </a:rPr>
              <a:t> </a:t>
            </a:r>
            <a:r>
              <a:rPr kumimoji="0" lang="ru-RU" altLang="ru-RU" sz="2400" u="none" strike="noStrike" cap="none" normalizeH="0" baseline="0" dirty="0" err="1">
                <a:ln>
                  <a:noFill/>
                </a:ln>
                <a:effectLst/>
              </a:rPr>
              <a:t>from</a:t>
            </a:r>
            <a:r>
              <a:rPr kumimoji="0" lang="ru-RU" altLang="ru-RU" sz="2400" u="none" strike="noStrike" cap="none" normalizeH="0" baseline="0" dirty="0">
                <a:ln>
                  <a:noFill/>
                </a:ln>
                <a:effectLst/>
              </a:rPr>
              <a:t> </a:t>
            </a:r>
            <a:r>
              <a:rPr kumimoji="0" lang="ru-RU" altLang="ru-RU" sz="2400" u="none" strike="noStrike" cap="none" normalizeH="0" baseline="0" dirty="0" err="1">
                <a:ln>
                  <a:noFill/>
                </a:ln>
                <a:effectLst/>
              </a:rPr>
              <a:t>dual</a:t>
            </a:r>
            <a:br>
              <a:rPr kumimoji="0" lang="ru-RU" altLang="ru-RU" sz="2400" u="none" strike="noStrike" cap="none" normalizeH="0" baseline="0" dirty="0">
                <a:ln>
                  <a:noFill/>
                </a:ln>
                <a:effectLst/>
              </a:rPr>
            </a:br>
            <a:r>
              <a:rPr kumimoji="0" lang="ru-RU" altLang="ru-RU" sz="2400" u="none" strike="noStrike" cap="none" normalizeH="0" baseline="0" dirty="0">
                <a:ln>
                  <a:noFill/>
                </a:ln>
                <a:effectLst/>
              </a:rPr>
              <a:t>   </a:t>
            </a:r>
            <a:r>
              <a:rPr kumimoji="0" lang="ru-RU" altLang="ru-RU" sz="2400" u="none" strike="noStrike" cap="none" normalizeH="0" baseline="0" dirty="0" err="1">
                <a:ln>
                  <a:noFill/>
                </a:ln>
                <a:effectLst/>
              </a:rPr>
              <a:t>union</a:t>
            </a:r>
            <a:r>
              <a:rPr kumimoji="0" lang="ru-RU" altLang="ru-RU" sz="2400" u="none" strike="noStrike" cap="none" normalizeH="0" baseline="0" dirty="0">
                <a:ln>
                  <a:noFill/>
                </a:ln>
                <a:effectLst/>
              </a:rPr>
              <a:t> </a:t>
            </a:r>
            <a:r>
              <a:rPr kumimoji="0" lang="ru-RU" altLang="ru-RU" sz="2400" u="none" strike="noStrike" cap="none" normalizeH="0" baseline="0" dirty="0" err="1">
                <a:ln>
                  <a:noFill/>
                </a:ln>
                <a:effectLst/>
              </a:rPr>
              <a:t>all</a:t>
            </a:r>
            <a:br>
              <a:rPr kumimoji="0" lang="ru-RU" altLang="ru-RU" sz="2400" u="none" strike="noStrike" cap="none" normalizeH="0" baseline="0" dirty="0">
                <a:ln>
                  <a:noFill/>
                </a:ln>
                <a:effectLst/>
              </a:rPr>
            </a:br>
            <a:r>
              <a:rPr kumimoji="0" lang="ru-RU" altLang="ru-RU" sz="2400" u="none" strike="noStrike" cap="none" normalizeH="0" baseline="0" dirty="0">
                <a:ln>
                  <a:noFill/>
                </a:ln>
                <a:effectLst/>
              </a:rPr>
              <a:t>  </a:t>
            </a:r>
            <a:r>
              <a:rPr kumimoji="0" lang="ru-RU" altLang="ru-RU" sz="2400" u="none" strike="noStrike" cap="none" normalizeH="0" baseline="0" dirty="0" err="1">
                <a:ln>
                  <a:noFill/>
                </a:ln>
                <a:effectLst/>
              </a:rPr>
              <a:t>select</a:t>
            </a:r>
            <a:r>
              <a:rPr kumimoji="0" lang="ru-RU" altLang="ru-RU" sz="2400" u="none" strike="noStrike" cap="none" normalizeH="0" baseline="0" dirty="0">
                <a:ln>
                  <a:noFill/>
                </a:ln>
                <a:effectLst/>
              </a:rPr>
              <a:t> 2 </a:t>
            </a:r>
            <a:r>
              <a:rPr kumimoji="0" lang="ru-RU" altLang="ru-RU" sz="2400" u="none" strike="noStrike" cap="none" normalizeH="0" baseline="0" dirty="0" err="1">
                <a:ln>
                  <a:noFill/>
                </a:ln>
                <a:effectLst/>
              </a:rPr>
              <a:t>id</a:t>
            </a:r>
            <a:r>
              <a:rPr kumimoji="0" lang="ru-RU" altLang="ru-RU" sz="2400" u="none" strike="noStrike" cap="none" normalizeH="0" baseline="0" dirty="0">
                <a:ln>
                  <a:noFill/>
                </a:ln>
                <a:effectLst/>
              </a:rPr>
              <a:t>, 'a        b; </a:t>
            </a:r>
            <a:r>
              <a:rPr kumimoji="0" lang="ru-RU" altLang="ru-RU" sz="2400" u="none" strike="noStrike" cap="none" normalizeH="0" baseline="0" dirty="0" err="1">
                <a:ln>
                  <a:noFill/>
                </a:ln>
                <a:effectLst/>
              </a:rPr>
              <a:t>g;g</a:t>
            </a:r>
            <a:r>
              <a:rPr kumimoji="0" lang="ru-RU" altLang="ru-RU" sz="2400" u="none" strike="noStrike" cap="none" normalizeH="0" baseline="0" dirty="0">
                <a:ln>
                  <a:noFill/>
                </a:ln>
                <a:effectLst/>
              </a:rPr>
              <a:t> ;g  f' </a:t>
            </a:r>
            <a:r>
              <a:rPr kumimoji="0" lang="ru-RU" altLang="ru-RU" sz="2400" u="none" strike="noStrike" cap="none" normalizeH="0" baseline="0" dirty="0" err="1">
                <a:ln>
                  <a:noFill/>
                </a:ln>
                <a:effectLst/>
              </a:rPr>
              <a:t>info</a:t>
            </a:r>
            <a:r>
              <a:rPr kumimoji="0" lang="ru-RU" altLang="ru-RU" sz="2400" u="none" strike="noStrike" cap="none" normalizeH="0" baseline="0" dirty="0">
                <a:ln>
                  <a:noFill/>
                </a:ln>
                <a:effectLst/>
              </a:rPr>
              <a:t> </a:t>
            </a:r>
            <a:r>
              <a:rPr kumimoji="0" lang="ru-RU" altLang="ru-RU" sz="2400" u="none" strike="noStrike" cap="none" normalizeH="0" baseline="0" dirty="0" err="1">
                <a:ln>
                  <a:noFill/>
                </a:ln>
                <a:effectLst/>
              </a:rPr>
              <a:t>from</a:t>
            </a:r>
            <a:r>
              <a:rPr kumimoji="0" lang="ru-RU" altLang="ru-RU" sz="2400" u="none" strike="noStrike" cap="none" normalizeH="0" baseline="0" dirty="0">
                <a:ln>
                  <a:noFill/>
                </a:ln>
                <a:effectLst/>
              </a:rPr>
              <a:t> </a:t>
            </a:r>
            <a:r>
              <a:rPr kumimoji="0" lang="ru-RU" altLang="ru-RU" sz="2400" u="none" strike="noStrike" cap="none" normalizeH="0" baseline="0" dirty="0" err="1">
                <a:ln>
                  <a:noFill/>
                </a:ln>
                <a:effectLst/>
              </a:rPr>
              <a:t>dual</a:t>
            </a:r>
            <a:br>
              <a:rPr kumimoji="0" lang="ru-RU" altLang="ru-RU" sz="2400" u="none" strike="noStrike" cap="none" normalizeH="0" baseline="0" dirty="0">
                <a:ln>
                  <a:noFill/>
                </a:ln>
                <a:effectLst/>
              </a:rPr>
            </a:br>
            <a:r>
              <a:rPr kumimoji="0" lang="ru-RU" altLang="ru-RU" sz="2400" u="none" strike="noStrike" cap="none" normalizeH="0" baseline="0" dirty="0">
                <a:ln>
                  <a:noFill/>
                </a:ln>
                <a:effectLst/>
              </a:rPr>
              <a:t>   </a:t>
            </a:r>
            <a:r>
              <a:rPr kumimoji="0" lang="ru-RU" altLang="ru-RU" sz="2400" u="none" strike="noStrike" cap="none" normalizeH="0" baseline="0" dirty="0" err="1">
                <a:ln>
                  <a:noFill/>
                </a:ln>
                <a:effectLst/>
              </a:rPr>
              <a:t>union</a:t>
            </a:r>
            <a:r>
              <a:rPr kumimoji="0" lang="ru-RU" altLang="ru-RU" sz="2400" u="none" strike="noStrike" cap="none" normalizeH="0" baseline="0" dirty="0">
                <a:ln>
                  <a:noFill/>
                </a:ln>
                <a:effectLst/>
              </a:rPr>
              <a:t> </a:t>
            </a:r>
            <a:r>
              <a:rPr kumimoji="0" lang="ru-RU" altLang="ru-RU" sz="2400" u="none" strike="noStrike" cap="none" normalizeH="0" baseline="0" dirty="0" err="1">
                <a:ln>
                  <a:noFill/>
                </a:ln>
                <a:effectLst/>
              </a:rPr>
              <a:t>all</a:t>
            </a:r>
            <a:br>
              <a:rPr kumimoji="0" lang="ru-RU" altLang="ru-RU" sz="2400" u="none" strike="noStrike" cap="none" normalizeH="0" baseline="0" dirty="0">
                <a:ln>
                  <a:noFill/>
                </a:ln>
                <a:effectLst/>
              </a:rPr>
            </a:br>
            <a:r>
              <a:rPr kumimoji="0" lang="ru-RU" altLang="ru-RU" sz="2400" u="none" strike="noStrike" cap="none" normalizeH="0" baseline="0" dirty="0">
                <a:ln>
                  <a:noFill/>
                </a:ln>
                <a:effectLst/>
              </a:rPr>
              <a:t>  </a:t>
            </a:r>
            <a:r>
              <a:rPr kumimoji="0" lang="ru-RU" altLang="ru-RU" sz="2400" u="none" strike="noStrike" cap="none" normalizeH="0" baseline="0" dirty="0" err="1">
                <a:ln>
                  <a:noFill/>
                </a:ln>
                <a:effectLst/>
              </a:rPr>
              <a:t>select</a:t>
            </a:r>
            <a:r>
              <a:rPr kumimoji="0" lang="ru-RU" altLang="ru-RU" sz="2400" u="none" strike="noStrike" cap="none" normalizeH="0" baseline="0" dirty="0">
                <a:ln>
                  <a:noFill/>
                </a:ln>
                <a:effectLst/>
              </a:rPr>
              <a:t> 3 </a:t>
            </a:r>
            <a:r>
              <a:rPr kumimoji="0" lang="ru-RU" altLang="ru-RU" sz="2400" u="none" strike="noStrike" cap="none" normalizeH="0" baseline="0" dirty="0" err="1">
                <a:ln>
                  <a:noFill/>
                </a:ln>
                <a:effectLst/>
              </a:rPr>
              <a:t>id</a:t>
            </a:r>
            <a:r>
              <a:rPr kumimoji="0" lang="ru-RU" altLang="ru-RU" sz="2400" u="none" strike="noStrike" cap="none" normalizeH="0" baseline="0" dirty="0">
                <a:ln>
                  <a:noFill/>
                </a:ln>
                <a:effectLst/>
              </a:rPr>
              <a:t>, 'a     ' </a:t>
            </a:r>
            <a:r>
              <a:rPr kumimoji="0" lang="ru-RU" altLang="ru-RU" sz="2400" u="none" strike="noStrike" cap="none" normalizeH="0" baseline="0" dirty="0" err="1">
                <a:ln>
                  <a:noFill/>
                </a:ln>
                <a:effectLst/>
              </a:rPr>
              <a:t>info</a:t>
            </a:r>
            <a:r>
              <a:rPr kumimoji="0" lang="ru-RU" altLang="ru-RU" sz="2400" u="none" strike="noStrike" cap="none" normalizeH="0" baseline="0" dirty="0">
                <a:ln>
                  <a:noFill/>
                </a:ln>
                <a:effectLst/>
              </a:rPr>
              <a:t> </a:t>
            </a:r>
            <a:r>
              <a:rPr kumimoji="0" lang="ru-RU" altLang="ru-RU" sz="2400" u="none" strike="noStrike" cap="none" normalizeH="0" baseline="0" dirty="0" err="1">
                <a:ln>
                  <a:noFill/>
                </a:ln>
                <a:effectLst/>
              </a:rPr>
              <a:t>from</a:t>
            </a:r>
            <a:r>
              <a:rPr kumimoji="0" lang="ru-RU" altLang="ru-RU" sz="2400" u="none" strike="noStrike" cap="none" normalizeH="0" baseline="0" dirty="0">
                <a:ln>
                  <a:noFill/>
                </a:ln>
                <a:effectLst/>
              </a:rPr>
              <a:t> </a:t>
            </a:r>
            <a:r>
              <a:rPr kumimoji="0" lang="ru-RU" altLang="ru-RU" sz="2400" u="none" strike="noStrike" cap="none" normalizeH="0" baseline="0" dirty="0" err="1">
                <a:ln>
                  <a:noFill/>
                </a:ln>
                <a:effectLst/>
              </a:rPr>
              <a:t>dual</a:t>
            </a:r>
            <a:br>
              <a:rPr kumimoji="0" lang="ru-RU" altLang="ru-RU" sz="2400" u="none" strike="noStrike" cap="none" normalizeH="0" baseline="0" dirty="0">
                <a:ln>
                  <a:noFill/>
                </a:ln>
                <a:effectLst/>
              </a:rPr>
            </a:br>
            <a:r>
              <a:rPr kumimoji="0" lang="ru-RU" altLang="ru-RU" sz="2400" u="none" strike="noStrike" cap="none" normalizeH="0" baseline="0" dirty="0">
                <a:ln>
                  <a:noFill/>
                </a:ln>
                <a:effectLst/>
              </a:rPr>
              <a:t>   </a:t>
            </a:r>
            <a:r>
              <a:rPr kumimoji="0" lang="ru-RU" altLang="ru-RU" sz="2400" u="none" strike="noStrike" cap="none" normalizeH="0" baseline="0" dirty="0" err="1">
                <a:ln>
                  <a:noFill/>
                </a:ln>
                <a:effectLst/>
              </a:rPr>
              <a:t>union</a:t>
            </a:r>
            <a:r>
              <a:rPr kumimoji="0" lang="ru-RU" altLang="ru-RU" sz="2400" u="none" strike="noStrike" cap="none" normalizeH="0" baseline="0" dirty="0">
                <a:ln>
                  <a:noFill/>
                </a:ln>
                <a:effectLst/>
              </a:rPr>
              <a:t> </a:t>
            </a:r>
            <a:r>
              <a:rPr kumimoji="0" lang="ru-RU" altLang="ru-RU" sz="2400" u="none" strike="noStrike" cap="none" normalizeH="0" baseline="0" dirty="0" err="1">
                <a:ln>
                  <a:noFill/>
                </a:ln>
                <a:effectLst/>
              </a:rPr>
              <a:t>all</a:t>
            </a:r>
            <a:br>
              <a:rPr kumimoji="0" lang="ru-RU" altLang="ru-RU" sz="2400" u="none" strike="noStrike" cap="none" normalizeH="0" baseline="0" dirty="0">
                <a:ln>
                  <a:noFill/>
                </a:ln>
                <a:effectLst/>
              </a:rPr>
            </a:br>
            <a:r>
              <a:rPr kumimoji="0" lang="ru-RU" altLang="ru-RU" sz="2400" u="none" strike="noStrike" cap="none" normalizeH="0" baseline="0" dirty="0">
                <a:ln>
                  <a:noFill/>
                </a:ln>
                <a:effectLst/>
              </a:rPr>
              <a:t>  </a:t>
            </a:r>
            <a:r>
              <a:rPr kumimoji="0" lang="ru-RU" altLang="ru-RU" sz="2400" u="none" strike="noStrike" cap="none" normalizeH="0" baseline="0" dirty="0" err="1">
                <a:ln>
                  <a:noFill/>
                </a:ln>
                <a:effectLst/>
              </a:rPr>
              <a:t>select</a:t>
            </a:r>
            <a:r>
              <a:rPr kumimoji="0" lang="ru-RU" altLang="ru-RU" sz="2400" u="none" strike="noStrike" cap="none" normalizeH="0" baseline="0" dirty="0">
                <a:ln>
                  <a:noFill/>
                </a:ln>
                <a:effectLst/>
              </a:rPr>
              <a:t> 4 </a:t>
            </a:r>
            <a:r>
              <a:rPr kumimoji="0" lang="ru-RU" altLang="ru-RU" sz="2400" u="none" strike="noStrike" cap="none" normalizeH="0" baseline="0" dirty="0" err="1">
                <a:ln>
                  <a:noFill/>
                </a:ln>
                <a:effectLst/>
              </a:rPr>
              <a:t>id</a:t>
            </a:r>
            <a:r>
              <a:rPr kumimoji="0" lang="ru-RU" altLang="ru-RU" sz="2400" u="none" strike="noStrike" cap="none" normalizeH="0" baseline="0" dirty="0">
                <a:ln>
                  <a:noFill/>
                </a:ln>
                <a:effectLst/>
              </a:rPr>
              <a:t>, '     ' </a:t>
            </a:r>
            <a:r>
              <a:rPr kumimoji="0" lang="ru-RU" altLang="ru-RU" sz="2400" u="none" strike="noStrike" cap="none" normalizeH="0" baseline="0" dirty="0" err="1">
                <a:ln>
                  <a:noFill/>
                </a:ln>
                <a:effectLst/>
              </a:rPr>
              <a:t>info</a:t>
            </a:r>
            <a:r>
              <a:rPr kumimoji="0" lang="ru-RU" altLang="ru-RU" sz="2400" u="none" strike="noStrike" cap="none" normalizeH="0" baseline="0" dirty="0">
                <a:ln>
                  <a:noFill/>
                </a:ln>
                <a:effectLst/>
              </a:rPr>
              <a:t> </a:t>
            </a:r>
            <a:r>
              <a:rPr kumimoji="0" lang="ru-RU" altLang="ru-RU" sz="2400" u="none" strike="noStrike" cap="none" normalizeH="0" baseline="0" dirty="0" err="1">
                <a:ln>
                  <a:noFill/>
                </a:ln>
                <a:effectLst/>
              </a:rPr>
              <a:t>from</a:t>
            </a:r>
            <a:r>
              <a:rPr kumimoji="0" lang="ru-RU" altLang="ru-RU" sz="2400" u="none" strike="noStrike" cap="none" normalizeH="0" baseline="0" dirty="0">
                <a:ln>
                  <a:noFill/>
                </a:ln>
                <a:effectLst/>
              </a:rPr>
              <a:t> </a:t>
            </a:r>
            <a:r>
              <a:rPr kumimoji="0" lang="ru-RU" altLang="ru-RU" sz="2400" u="none" strike="noStrike" cap="none" normalizeH="0" baseline="0" dirty="0" err="1">
                <a:ln>
                  <a:noFill/>
                </a:ln>
                <a:effectLst/>
              </a:rPr>
              <a:t>dual</a:t>
            </a:r>
            <a:br>
              <a:rPr kumimoji="0" lang="ru-RU" altLang="ru-RU" sz="2400" u="none" strike="noStrike" cap="none" normalizeH="0" baseline="0" dirty="0">
                <a:ln>
                  <a:noFill/>
                </a:ln>
                <a:effectLst/>
              </a:rPr>
            </a:br>
            <a:r>
              <a:rPr kumimoji="0" lang="ru-RU" altLang="ru-RU" sz="2400" u="none" strike="noStrike" cap="none" normalizeH="0" baseline="0" dirty="0">
                <a:ln>
                  <a:noFill/>
                </a:ln>
                <a:effectLst/>
              </a:rPr>
              <a:t>)</a:t>
            </a:r>
            <a:br>
              <a:rPr kumimoji="0" lang="ru-RU" altLang="ru-RU" sz="2400" u="none" strike="noStrike" cap="none" normalizeH="0" baseline="0" dirty="0">
                <a:ln>
                  <a:noFill/>
                </a:ln>
                <a:effectLst/>
              </a:rPr>
            </a:br>
            <a:r>
              <a:rPr kumimoji="0" lang="ru-RU" altLang="ru-RU" sz="2400" u="none" strike="noStrike" cap="none" normalizeH="0" baseline="0" dirty="0">
                <a:ln>
                  <a:noFill/>
                </a:ln>
                <a:effectLst/>
              </a:rPr>
              <a:t>SELECT </a:t>
            </a:r>
            <a:r>
              <a:rPr kumimoji="0" lang="ru-RU" altLang="ru-RU" sz="2400" u="none" strike="noStrike" cap="none" normalizeH="0" baseline="0" dirty="0" err="1">
                <a:ln>
                  <a:noFill/>
                </a:ln>
                <a:effectLst/>
              </a:rPr>
              <a:t>id</a:t>
            </a:r>
            <a:r>
              <a:rPr kumimoji="0" lang="ru-RU" altLang="ru-RU" sz="2400" u="none" strike="noStrike" cap="none" normalizeH="0" baseline="0" dirty="0">
                <a:ln>
                  <a:noFill/>
                </a:ln>
                <a:effectLst/>
              </a:rPr>
              <a:t>, REGEXP_REPLACE(TRIM(</a:t>
            </a:r>
            <a:r>
              <a:rPr kumimoji="0" lang="ru-RU" altLang="ru-RU" sz="2400" u="none" strike="noStrike" cap="none" normalizeH="0" baseline="0" dirty="0" err="1">
                <a:ln>
                  <a:noFill/>
                </a:ln>
                <a:effectLst/>
              </a:rPr>
              <a:t>info</a:t>
            </a:r>
            <a:r>
              <a:rPr kumimoji="0" lang="ru-RU" altLang="ru-RU" sz="2400" u="none" strike="noStrike" cap="none" normalizeH="0" baseline="0" dirty="0">
                <a:ln>
                  <a:noFill/>
                </a:ln>
                <a:effectLst/>
              </a:rPr>
              <a:t>), '</a:t>
            </a:r>
            <a:r>
              <a:rPr kumimoji="0" lang="ru-RU" altLang="ru-RU" sz="2400" u="none" strike="noStrike" cap="none" normalizeH="0" baseline="0" dirty="0">
                <a:ln>
                  <a:noFill/>
                </a:ln>
                <a:effectLst/>
                <a:highlight>
                  <a:srgbClr val="FFFF00"/>
                </a:highlight>
              </a:rPr>
              <a:t>  </a:t>
            </a:r>
            <a:r>
              <a:rPr kumimoji="0" lang="ru-RU" altLang="ru-RU" sz="2400" u="none" strike="noStrike" cap="none" normalizeH="0" baseline="0" dirty="0">
                <a:ln>
                  <a:noFill/>
                </a:ln>
                <a:effectLst/>
              </a:rPr>
              <a:t>*', '</a:t>
            </a:r>
            <a:r>
              <a:rPr kumimoji="0" lang="ru-RU" altLang="ru-RU" sz="2400" u="none" strike="noStrike" cap="none" normalizeH="0" baseline="0" dirty="0">
                <a:ln>
                  <a:noFill/>
                </a:ln>
                <a:effectLst/>
                <a:highlight>
                  <a:srgbClr val="FF0000"/>
                </a:highlight>
              </a:rPr>
              <a:t> </a:t>
            </a:r>
            <a:r>
              <a:rPr kumimoji="0" lang="ru-RU" altLang="ru-RU" sz="2400" u="none" strike="noStrike" cap="none" normalizeH="0" baseline="0" dirty="0">
                <a:ln>
                  <a:noFill/>
                </a:ln>
                <a:effectLst/>
              </a:rPr>
              <a:t>') AS </a:t>
            </a:r>
            <a:r>
              <a:rPr kumimoji="0" lang="ru-RU" altLang="ru-RU" sz="2400" u="none" strike="noStrike" cap="none" normalizeH="0" baseline="0" dirty="0" err="1">
                <a:ln>
                  <a:noFill/>
                </a:ln>
                <a:effectLst/>
              </a:rPr>
              <a:t>info_new</a:t>
            </a:r>
            <a:r>
              <a:rPr kumimoji="0" lang="ru-RU" altLang="ru-RU" sz="2400" u="none" strike="noStrike" cap="none" normalizeH="0" baseline="0" dirty="0">
                <a:ln>
                  <a:noFill/>
                </a:ln>
                <a:effectLst/>
              </a:rPr>
              <a:t> FROM t</a:t>
            </a:r>
            <a:br>
              <a:rPr kumimoji="0" lang="ru-RU" altLang="ru-RU" sz="2400" u="none" strike="noStrike" cap="none" normalizeH="0" baseline="0" dirty="0">
                <a:ln>
                  <a:noFill/>
                </a:ln>
                <a:effectLst/>
              </a:rPr>
            </a:br>
            <a:r>
              <a:rPr kumimoji="0" lang="ru-RU" altLang="ru-RU" sz="2400" u="none" strike="noStrike" cap="none" normalizeH="0" baseline="0" dirty="0">
                <a:ln>
                  <a:noFill/>
                </a:ln>
                <a:effectLst/>
              </a:rPr>
              <a:t>ORDER BY </a:t>
            </a:r>
            <a:r>
              <a:rPr kumimoji="0" lang="ru-RU" altLang="ru-RU" sz="2400" u="none" strike="noStrike" cap="none" normalizeH="0" baseline="0" dirty="0" err="1">
                <a:ln>
                  <a:noFill/>
                </a:ln>
                <a:effectLst/>
              </a:rPr>
              <a:t>id</a:t>
            </a:r>
            <a:r>
              <a:rPr kumimoji="0" lang="ru-RU" altLang="ru-RU" sz="2400" u="none" strike="noStrike" cap="none" normalizeH="0" baseline="0" dirty="0">
                <a:ln>
                  <a:noFill/>
                </a:ln>
                <a:effectLst/>
              </a:rPr>
              <a:t>;</a:t>
            </a:r>
            <a:endParaRPr kumimoji="0" lang="ru-RU" altLang="ru-RU" sz="4800" u="none" strike="noStrike" cap="none" normalizeH="0" baseline="0" dirty="0">
              <a:ln>
                <a:noFill/>
              </a:ln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3011895523"/>
      </p:ext>
    </p:extLst>
  </p:cSld>
  <p:clrMapOvr>
    <a:masterClrMapping/>
  </p:clrMapOvr>
</p:sld>
</file>

<file path=ppt/theme/theme1.xml><?xml version="1.0" encoding="utf-8"?>
<a:theme xmlns:a="http://schemas.openxmlformats.org/drawingml/2006/main" name="Ретро">
  <a:themeElements>
    <a:clrScheme name="Ретро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Ретро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Ретро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474</TotalTime>
  <Words>1520</Words>
  <Application>Microsoft Office PowerPoint</Application>
  <PresentationFormat>Широкоэкранный</PresentationFormat>
  <Paragraphs>235</Paragraphs>
  <Slides>20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20</vt:i4>
      </vt:variant>
    </vt:vector>
  </HeadingPairs>
  <TitlesOfParts>
    <vt:vector size="26" baseType="lpstr">
      <vt:lpstr>Arial</vt:lpstr>
      <vt:lpstr>Calibri</vt:lpstr>
      <vt:lpstr>Calibri Light</vt:lpstr>
      <vt:lpstr>Courier New</vt:lpstr>
      <vt:lpstr>Verdana</vt:lpstr>
      <vt:lpstr>Ретро</vt:lpstr>
      <vt:lpstr>Регулярные выражения в Oracle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Регулярные выражения в Oracle</dc:title>
  <dc:creator>Nikita Volodin</dc:creator>
  <cp:lastModifiedBy>Nikita Volodin</cp:lastModifiedBy>
  <cp:revision>66</cp:revision>
  <dcterms:created xsi:type="dcterms:W3CDTF">2022-02-21T13:04:03Z</dcterms:created>
  <dcterms:modified xsi:type="dcterms:W3CDTF">2022-02-28T17:04:46Z</dcterms:modified>
</cp:coreProperties>
</file>