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1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 и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Текст заголовка</a:t>
            </a:r>
          </a:p>
        </p:txBody>
      </p:sp>
      <p:sp>
        <p:nvSpPr>
          <p:cNvPr id="12" name="Уровень текста 1…"/>
          <p:cNvSpPr txBox="1"/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 — горизонт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Изображение"/>
          <p:cNvSpPr/>
          <p:nvPr>
            <p:ph type="pic" idx="13"/>
          </p:nvPr>
        </p:nvSpPr>
        <p:spPr>
          <a:xfrm>
            <a:off x="1622088" y="289099"/>
            <a:ext cx="9753603" cy="65057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Текст заголовка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Текст заголовка</a:t>
            </a:r>
          </a:p>
        </p:txBody>
      </p:sp>
      <p:sp>
        <p:nvSpPr>
          <p:cNvPr id="22" name="Уровень текста 1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 — по центр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Текст заголовка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 — вертик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Изображение"/>
          <p:cNvSpPr/>
          <p:nvPr>
            <p:ph type="pic" idx="13"/>
          </p:nvPr>
        </p:nvSpPr>
        <p:spPr>
          <a:xfrm>
            <a:off x="2263775" y="613833"/>
            <a:ext cx="12401550" cy="8267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Текст заголовка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0" name="Уровень текста 1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 —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4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7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Изображение"/>
          <p:cNvSpPr/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67" name="Уровень текста 1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8" name="Номер слайда"/>
          <p:cNvSpPr txBox="1"/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Уровень текста 1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Изображение"/>
          <p:cNvSpPr/>
          <p:nvPr>
            <p:ph type="pic" sz="quarter" idx="13"/>
          </p:nvPr>
        </p:nvSpPr>
        <p:spPr>
          <a:xfrm>
            <a:off x="6680200" y="5029200"/>
            <a:ext cx="6054748" cy="4038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Изображение"/>
          <p:cNvSpPr/>
          <p:nvPr>
            <p:ph type="pic" sz="quarter" idx="14"/>
          </p:nvPr>
        </p:nvSpPr>
        <p:spPr>
          <a:xfrm>
            <a:off x="6502400" y="889000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Изображение"/>
          <p:cNvSpPr/>
          <p:nvPr>
            <p:ph type="pic" idx="15"/>
          </p:nvPr>
        </p:nvSpPr>
        <p:spPr>
          <a:xfrm>
            <a:off x="-2374900" y="889000"/>
            <a:ext cx="11982450" cy="7988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— Иван Арсентьев"/>
          <p:cNvSpPr txBox="1"/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2400"/>
            </a:lvl1pPr>
          </a:lstStyle>
          <a:p>
            <a:pPr/>
            <a:r>
              <a:t>— Иван Арсентьев</a:t>
            </a:r>
          </a:p>
        </p:txBody>
      </p:sp>
      <p:sp>
        <p:nvSpPr>
          <p:cNvPr id="94" name="«Место ввода цитаты»."/>
          <p:cNvSpPr txBox="1"/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«Место ввода цитаты».</a:t>
            </a:r>
          </a:p>
        </p:txBody>
      </p:sp>
      <p:sp>
        <p:nvSpPr>
          <p:cNvPr id="9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Изображение"/>
          <p:cNvSpPr/>
          <p:nvPr>
            <p:ph type="pic" idx="13"/>
          </p:nvPr>
        </p:nvSpPr>
        <p:spPr>
          <a:xfrm>
            <a:off x="-949853" y="0"/>
            <a:ext cx="14904506" cy="994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b="0"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Приведение кода PL/SQL к нечитаемому виду"/>
          <p:cNvSpPr txBox="1"/>
          <p:nvPr>
            <p:ph type="ctrTitle"/>
          </p:nvPr>
        </p:nvSpPr>
        <p:spPr>
          <a:xfrm>
            <a:off x="472678" y="3225800"/>
            <a:ext cx="12059444" cy="3302000"/>
          </a:xfrm>
          <a:prstGeom prst="rect">
            <a:avLst/>
          </a:prstGeom>
        </p:spPr>
        <p:txBody>
          <a:bodyPr/>
          <a:lstStyle>
            <a:lvl1pPr>
              <a:defRPr sz="7400"/>
            </a:lvl1pPr>
          </a:lstStyle>
          <a:p>
            <a:pPr/>
            <a:r>
              <a:t>Приведение кода PL/SQL к нечитаемому виду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Защита хранимого ко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1622">
              <a:defRPr sz="7280"/>
            </a:lvl1pPr>
          </a:lstStyle>
          <a:p>
            <a:pPr/>
            <a:r>
              <a:t>Защита хранимого кода </a:t>
            </a:r>
            <a:endParaRPr sz="1092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2" name="Разобраться в коде PL/SQL довольно легко и у кого-то может возникнуть желание внести изменения в логику чужой программы или в ее настройки. Довольно часто настройки программ PL/SQL «зашивают» в коде как локальные константы тел пакетов, и может возникнуть желание несанкционированно их поменять. Помимо этого на исходный код программ PL/SQL могут иметься права как на интеллектуальную собственность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Разобраться в коде PL/SQL довольно легко и у кого-то может возникнуть желание внести изменения в логику чужой программы или в ее настройки. Довольно часто настройки программ PL/SQL «зашивают» в коде как локальные константы тел пакетов, и может возникнуть желание несанкционированно их поменять. Помимо этого на исходный код программ PL/SQL могут иметься права как на интеллектуальную собственность.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Защита хранимого ко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31622">
              <a:defRPr sz="7280"/>
            </a:lvl1pPr>
          </a:lstStyle>
          <a:p>
            <a:pPr/>
            <a:r>
              <a:t>Защита хранимого кода </a:t>
            </a:r>
            <a:endParaRPr sz="1092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" name="По этим причинам возникает необходимость защитить исходный код программ PL/SQL от чтения и изменения. Сделать так, чтобы исходный код не распространялся вместе с программами нельзя, но можно его специальным образом обработать — привести к нечитаемому виду. Далее я буду использовать термин «нечитаемый код» («скрытый код»), а процесс приведения кода к нечитаемому виду называть сокрытием кода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По этим причинам возникает необходимость защитить исходный код программ PL/SQL от чтения и изменения. Сделать так, чтобы исходный код не распространялся вместе с программами нельзя, но можно его специальным образом обработать — привести к нечитаемому виду. Далее я буду использовать термин «нечитаемый код» («скрытый код»), а процесс приведения кода к нечитаемому виду называть сокрытием кода.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Словарь данных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Словарь данных</a:t>
            </a:r>
          </a:p>
        </p:txBody>
      </p:sp>
      <p:sp>
        <p:nvSpPr>
          <p:cNvPr id="128" name="При создании программы PL/SQL ее исходный код сохраняется в словаре данных в виде обычного текста, который администратор базы данных может просмотреть и даже изменить."/>
          <p:cNvSpPr txBox="1"/>
          <p:nvPr>
            <p:ph type="body" idx="1"/>
          </p:nvPr>
        </p:nvSpPr>
        <p:spPr>
          <a:xfrm>
            <a:off x="952500" y="985291"/>
            <a:ext cx="11099800" cy="6286501"/>
          </a:xfrm>
          <a:prstGeom prst="rect">
            <a:avLst/>
          </a:prstGeom>
        </p:spPr>
        <p:txBody>
          <a:bodyPr/>
          <a:lstStyle/>
          <a:p>
            <a:pPr/>
            <a:r>
              <a:t>При создании программы PL/SQL ее исходный код сохраняется в словаре данных в виде обычного текста, который администратор базы данных может просмотреть и даже изменить. </a:t>
            </a:r>
          </a:p>
        </p:txBody>
      </p:sp>
      <p:pic>
        <p:nvPicPr>
          <p:cNvPr id="129" name="Снимок экрана 2022-02-28 в 16.30.31.png" descr="Снимок экрана 2022-02-28 в 16.30.31.png"/>
          <p:cNvPicPr>
            <a:picLocks noChangeAspect="1"/>
          </p:cNvPicPr>
          <p:nvPr/>
        </p:nvPicPr>
        <p:blipFill>
          <a:blip r:embed="rId2">
            <a:extLst/>
          </a:blip>
          <a:srcRect l="1399" t="9029" r="0" b="0"/>
          <a:stretch>
            <a:fillRect/>
          </a:stretch>
        </p:blipFill>
        <p:spPr>
          <a:xfrm>
            <a:off x="377378" y="6257379"/>
            <a:ext cx="6432570" cy="70970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Снимок экрана 2022-02-28 в 16.30.58.png" descr="Снимок экрана 2022-02-28 в 16.30.5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54800" y="6373808"/>
            <a:ext cx="5270501" cy="406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Снимок экрана 2022-02-28 в 16.31.59.png" descr="Снимок экрана 2022-02-28 в 16.31.59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56000" y="7824837"/>
            <a:ext cx="5892800" cy="1130301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Создание процедуры"/>
          <p:cNvSpPr txBox="1"/>
          <p:nvPr/>
        </p:nvSpPr>
        <p:spPr>
          <a:xfrm>
            <a:off x="1913291" y="5636870"/>
            <a:ext cx="3360725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Создание процедуры</a:t>
            </a:r>
          </a:p>
        </p:txBody>
      </p:sp>
      <p:sp>
        <p:nvSpPr>
          <p:cNvPr id="133" name="Обращение к словарю данных"/>
          <p:cNvSpPr txBox="1"/>
          <p:nvPr/>
        </p:nvSpPr>
        <p:spPr>
          <a:xfrm>
            <a:off x="7710781" y="5636870"/>
            <a:ext cx="4758539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Обращение к словарю данных</a:t>
            </a:r>
          </a:p>
        </p:txBody>
      </p:sp>
      <p:sp>
        <p:nvSpPr>
          <p:cNvPr id="134" name="Результат"/>
          <p:cNvSpPr txBox="1"/>
          <p:nvPr/>
        </p:nvSpPr>
        <p:spPr>
          <a:xfrm>
            <a:off x="5679135" y="7317785"/>
            <a:ext cx="1646530" cy="461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Результат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Средства приведения к нечитаемому виду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886">
              <a:defRPr sz="6640"/>
            </a:lvl1pPr>
          </a:lstStyle>
          <a:p>
            <a:pPr/>
            <a:r>
              <a:t>Средства приведения к нечитаемому виду</a:t>
            </a:r>
          </a:p>
        </p:txBody>
      </p:sp>
      <p:sp>
        <p:nvSpPr>
          <p:cNvPr id="137" name="Для приведения кода PL/SQL к нечитаемому виду есть три средства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Для приведения кода PL/SQL к нечитаемому виду есть три средства: </a:t>
            </a:r>
          </a:p>
          <a:p>
            <a:pPr lvl="1">
              <a:buSzPct val="50000"/>
              <a:buBlip>
                <a:blip r:embed="rId2"/>
              </a:buBlip>
            </a:pPr>
            <a:r>
              <a:t>утилита wrap;</a:t>
            </a:r>
          </a:p>
          <a:p>
            <a:pPr lvl="1">
              <a:buSzPct val="50000"/>
              <a:buBlip>
                <a:blip r:embed="rId2"/>
              </a:buBlip>
            </a:pPr>
            <a:r>
              <a:t>встроенный пакет DBMS_DDL;</a:t>
            </a:r>
          </a:p>
          <a:p>
            <a:pPr lvl="1">
              <a:buSzPct val="50000"/>
              <a:buBlip>
                <a:blip r:embed="rId2"/>
              </a:buBlip>
            </a:pPr>
            <a:r>
              <a:t>встроенный пакет DBMS_WRAP (с Oracle 10g Release 2).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Общая схема сокрытия исходного кода PL/SQ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84886">
              <a:defRPr sz="6640"/>
            </a:lvl1pPr>
          </a:lstStyle>
          <a:p>
            <a:pPr/>
            <a:r>
              <a:t>Общая схема сокрытия исходного кода PL/SQL</a:t>
            </a:r>
          </a:p>
        </p:txBody>
      </p:sp>
      <p:sp>
        <p:nvSpPr>
          <p:cNvPr id="140" name="программист разрабатывает программу PL/SQL как обычно;"/>
          <p:cNvSpPr/>
          <p:nvPr/>
        </p:nvSpPr>
        <p:spPr>
          <a:xfrm>
            <a:off x="4846290" y="2984500"/>
            <a:ext cx="3312220" cy="1270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55600" dist="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457200">
              <a:spcBef>
                <a:spcPts val="1200"/>
              </a:spcBef>
              <a:defRPr b="0" sz="1200">
                <a:latin typeface="Times"/>
                <a:ea typeface="Times"/>
                <a:cs typeface="Times"/>
                <a:sym typeface="Times"/>
              </a:defRPr>
            </a:pPr>
          </a:p>
          <a:p>
            <a:pPr defTabSz="457200">
              <a:spcBef>
                <a:spcPts val="1200"/>
              </a:spcBef>
              <a:defRPr b="0" sz="1200">
                <a:latin typeface="Times"/>
                <a:ea typeface="Times"/>
                <a:cs typeface="Times"/>
                <a:sym typeface="Times"/>
              </a:defRPr>
            </a:pPr>
            <a:r>
              <a:rPr b="1">
                <a:solidFill>
                  <a:srgbClr val="FFFFFF"/>
                </a:solidFill>
              </a:rPr>
              <a:t>программист разрабатывает программу PL/SQL как обычно; </a:t>
            </a:r>
            <a:br/>
          </a:p>
        </p:txBody>
      </p:sp>
      <p:sp>
        <p:nvSpPr>
          <p:cNvPr id="141" name="выгружает исходный код программы в текстовый файл (операция Extract DDL средства разработки на PL/SQL);"/>
          <p:cNvSpPr/>
          <p:nvPr/>
        </p:nvSpPr>
        <p:spPr>
          <a:xfrm>
            <a:off x="8084790" y="4908550"/>
            <a:ext cx="3312220" cy="1270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55600" dist="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457200">
              <a:spcBef>
                <a:spcPts val="1200"/>
              </a:spcBef>
              <a:defRPr b="0" sz="1200">
                <a:latin typeface="Times"/>
                <a:ea typeface="Times"/>
                <a:cs typeface="Times"/>
                <a:sym typeface="Times"/>
              </a:defRPr>
            </a:pPr>
            <a:r>
              <a:rPr b="1">
                <a:solidFill>
                  <a:srgbClr val="FFFFFF"/>
                </a:solidFill>
              </a:rPr>
              <a:t>выгружает исходный код программы в текстовый файл (операция Extract DDL средства разработки на PL/SQL); </a:t>
            </a:r>
            <a:br>
              <a:rPr b="1">
                <a:solidFill>
                  <a:srgbClr val="FFFFFF"/>
                </a:solidFill>
              </a:rPr>
            </a:br>
            <a:endParaRPr b="1">
              <a:solidFill>
                <a:srgbClr val="FFFFFF"/>
              </a:solidFill>
            </a:endParaRPr>
          </a:p>
          <a:p>
            <a:pPr defTabSz="457200">
              <a:spcBef>
                <a:spcPts val="1200"/>
              </a:spcBef>
              <a:defRPr b="0" sz="1200">
                <a:latin typeface="Times"/>
                <a:ea typeface="Times"/>
                <a:cs typeface="Times"/>
                <a:sym typeface="Times"/>
              </a:defRPr>
            </a:pPr>
            <a:br/>
          </a:p>
        </p:txBody>
      </p:sp>
      <p:sp>
        <p:nvSpPr>
          <p:cNvPr id="142" name="обрабатывает исходный код в файле утилитой wrap;"/>
          <p:cNvSpPr/>
          <p:nvPr/>
        </p:nvSpPr>
        <p:spPr>
          <a:xfrm>
            <a:off x="4846290" y="6832600"/>
            <a:ext cx="3312220" cy="1270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55600" dist="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457200">
              <a:spcBef>
                <a:spcPts val="1200"/>
              </a:spcBef>
              <a:defRPr b="0" sz="1200">
                <a:latin typeface="Times"/>
                <a:ea typeface="Times"/>
                <a:cs typeface="Times"/>
                <a:sym typeface="Times"/>
              </a:defRPr>
            </a:pPr>
          </a:p>
          <a:p>
            <a:pPr defTabSz="457200">
              <a:spcBef>
                <a:spcPts val="1200"/>
              </a:spcBef>
              <a:defRPr b="0" sz="1200">
                <a:latin typeface="Times"/>
                <a:ea typeface="Times"/>
                <a:cs typeface="Times"/>
                <a:sym typeface="Times"/>
              </a:defRPr>
            </a:pPr>
            <a:r>
              <a:rPr b="1">
                <a:solidFill>
                  <a:srgbClr val="FFFFFF"/>
                </a:solidFill>
              </a:rPr>
              <a:t>обрабатывает исходный код в файле утилитой wrap; </a:t>
            </a:r>
            <a:endParaRPr b="1">
              <a:solidFill>
                <a:srgbClr val="FFFFFF"/>
              </a:solidFill>
            </a:endParaRPr>
          </a:p>
          <a:p>
            <a:pPr defTabSz="457200">
              <a:spcBef>
                <a:spcPts val="1200"/>
              </a:spcBef>
              <a:defRPr b="0" sz="1200">
                <a:latin typeface="Times"/>
                <a:ea typeface="Times"/>
                <a:cs typeface="Times"/>
                <a:sym typeface="Times"/>
              </a:defRPr>
            </a:pPr>
            <a:br/>
          </a:p>
        </p:txBody>
      </p:sp>
      <p:sp>
        <p:nvSpPr>
          <p:cNvPr id="143" name="полученный DDL-скрипт с нечитаемым исходным кодом программы PL/SQL доставляется администратору, который «прогоняет» его в базе данных."/>
          <p:cNvSpPr/>
          <p:nvPr/>
        </p:nvSpPr>
        <p:spPr>
          <a:xfrm>
            <a:off x="1544290" y="4908550"/>
            <a:ext cx="3312220" cy="1270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ffectLst>
            <a:outerShdw sx="100000" sy="100000" kx="0" ky="0" algn="b" rotWithShape="0" blurRad="355600" dist="0" dir="0">
              <a:srgbClr val="000000">
                <a:alpha val="7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defTabSz="457200">
              <a:spcBef>
                <a:spcPts val="1200"/>
              </a:spcBef>
              <a:defRPr b="0" sz="1200">
                <a:latin typeface="Times"/>
                <a:ea typeface="Times"/>
                <a:cs typeface="Times"/>
                <a:sym typeface="Times"/>
              </a:defRPr>
            </a:pPr>
            <a:r>
              <a:rPr b="1">
                <a:solidFill>
                  <a:srgbClr val="FFFFFF"/>
                </a:solidFill>
              </a:rPr>
              <a:t>полученный DDL-скрипт с нечитаемым исходным кодом программы PL/SQL доставляется администратору, который «прогоняет» его в базе данных. </a:t>
            </a:r>
            <a:endParaRPr b="1">
              <a:solidFill>
                <a:srgbClr val="FFFFFF"/>
              </a:solidFill>
            </a:endParaRPr>
          </a:p>
          <a:p>
            <a:pPr defTabSz="457200">
              <a:spcBef>
                <a:spcPts val="1200"/>
              </a:spcBef>
              <a:defRPr b="0" sz="1200">
                <a:latin typeface="Times"/>
                <a:ea typeface="Times"/>
                <a:cs typeface="Times"/>
                <a:sym typeface="Times"/>
              </a:defRPr>
            </a:pPr>
          </a:p>
        </p:txBody>
      </p:sp>
      <p:cxnSp>
        <p:nvCxnSpPr>
          <p:cNvPr id="144" name="Соединит. линия"/>
          <p:cNvCxnSpPr>
            <a:stCxn id="140" idx="0"/>
            <a:endCxn id="141" idx="0"/>
          </p:cNvCxnSpPr>
          <p:nvPr/>
        </p:nvCxnSpPr>
        <p:spPr>
          <a:xfrm>
            <a:off x="6502400" y="3619500"/>
            <a:ext cx="3238500" cy="192405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145" name="Соединит. линия"/>
          <p:cNvCxnSpPr>
            <a:stCxn id="142" idx="0"/>
            <a:endCxn id="141" idx="0"/>
          </p:cNvCxnSpPr>
          <p:nvPr/>
        </p:nvCxnSpPr>
        <p:spPr>
          <a:xfrm flipV="1">
            <a:off x="6502400" y="5543550"/>
            <a:ext cx="3238500" cy="192405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146" name="Соединит. линия"/>
          <p:cNvCxnSpPr>
            <a:stCxn id="143" idx="0"/>
            <a:endCxn id="142" idx="0"/>
          </p:cNvCxnSpPr>
          <p:nvPr/>
        </p:nvCxnSpPr>
        <p:spPr>
          <a:xfrm>
            <a:off x="3200400" y="5543550"/>
            <a:ext cx="3302000" cy="192405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sp>
        <p:nvSpPr>
          <p:cNvPr id="147" name="1"/>
          <p:cNvSpPr txBox="1"/>
          <p:nvPr/>
        </p:nvSpPr>
        <p:spPr>
          <a:xfrm>
            <a:off x="6360515" y="2468220"/>
            <a:ext cx="283770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1</a:t>
            </a:r>
          </a:p>
        </p:txBody>
      </p:sp>
      <p:sp>
        <p:nvSpPr>
          <p:cNvPr id="148" name="2"/>
          <p:cNvSpPr txBox="1"/>
          <p:nvPr/>
        </p:nvSpPr>
        <p:spPr>
          <a:xfrm>
            <a:off x="9599015" y="4411320"/>
            <a:ext cx="283770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2</a:t>
            </a:r>
          </a:p>
        </p:txBody>
      </p:sp>
      <p:sp>
        <p:nvSpPr>
          <p:cNvPr id="149" name="3"/>
          <p:cNvSpPr txBox="1"/>
          <p:nvPr/>
        </p:nvSpPr>
        <p:spPr>
          <a:xfrm>
            <a:off x="6360515" y="6341720"/>
            <a:ext cx="283770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3</a:t>
            </a:r>
          </a:p>
        </p:txBody>
      </p:sp>
      <p:sp>
        <p:nvSpPr>
          <p:cNvPr id="150" name="4"/>
          <p:cNvSpPr txBox="1"/>
          <p:nvPr/>
        </p:nvSpPr>
        <p:spPr>
          <a:xfrm>
            <a:off x="3058515" y="4411320"/>
            <a:ext cx="283770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Wra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Wrap</a:t>
            </a:r>
          </a:p>
        </p:txBody>
      </p:sp>
      <p:sp>
        <p:nvSpPr>
          <p:cNvPr id="153" name="Некоторые разработчики считают, что программа wrap «шифрует» код, но это неверно. Если вам нужно передать действительно секретную информацию (например, пароль), полагаться на эту программу не стоит. Однако следует иметь в виду, что с помощью встроенного пакета DBMS_CRYPTO (или DBMS_OBFUSCATION_ TOOLKIT до выхода Oracle10g) Oracle позволяет реализовать в приложении полноценную защиту данных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Некоторые разработчики считают, что программа wrap «шифрует» код, но это неверно. Если вам нужно передать действительно секретную информацию (например, пароль), полагаться на эту программу не стоит. Однако следует иметь в виду, что с помощью встроенного пакета DBMS_CRYPTO (или DBMS_OBFUSCATION_ TOOLKIT до выхода Oracle10g) Oracle позволяет реализовать в приложении полноценную защиту данных.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Использование программы wra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20624">
              <a:defRPr sz="5760"/>
            </a:pPr>
            <a:r>
              <a:t> Использование программы wrap </a:t>
            </a:r>
            <a:br>
              <a:rPr sz="864">
                <a:latin typeface="Times"/>
                <a:ea typeface="Times"/>
                <a:cs typeface="Times"/>
                <a:sym typeface="Times"/>
              </a:rPr>
            </a:br>
            <a:endParaRPr sz="864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6" name="Чтобы скрыть исходный код PL/SQL, нужно запустить исполняемый файл wrap.exe из каталога bin экземпляра Oracle. Формат команды:   wrap iname=исх_файл [oname=рез_файл]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Чтобы скрыть исходный код PL/SQL, нужно запустить исполняемый файл </a:t>
            </a:r>
            <a:r>
              <a:rPr i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wrap.exe</a:t>
            </a:r>
            <a:r>
              <a:rPr sz="1200"/>
              <a:t> </a:t>
            </a:r>
            <a:r>
              <a:t>из каталога </a:t>
            </a:r>
            <a:r>
              <a:rPr i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bin</a:t>
            </a:r>
            <a:r>
              <a:rPr sz="120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t>экземпляра Oracle. Формат команды: </a:t>
            </a:r>
            <a:br>
              <a:rPr sz="1200"/>
            </a:br>
            <a:br>
              <a:rPr sz="1200"/>
            </a:br>
            <a:r>
              <a:rPr sz="270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Apple Braille Outline 6 Dot"/>
                <a:ea typeface="Apple Braille Outline 6 Dot"/>
                <a:cs typeface="Apple Braille Outline 6 Dot"/>
                <a:sym typeface="Apple Braille Outline 6 Dot"/>
              </a:rPr>
              <a:t>wrap iname=исх_файл [oname=рез_файл]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Пример №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Пример №1</a:t>
            </a:r>
            <a:br>
              <a:rPr sz="1200">
                <a:latin typeface="Times"/>
                <a:ea typeface="Times"/>
                <a:cs typeface="Times"/>
                <a:sym typeface="Times"/>
              </a:rPr>
            </a:br>
            <a:endParaRPr sz="1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" name="Сокрытие программы с параметрами по умолчанию:…"/>
          <p:cNvSpPr txBox="1"/>
          <p:nvPr>
            <p:ph type="body" idx="1"/>
          </p:nvPr>
        </p:nvSpPr>
        <p:spPr>
          <a:xfrm>
            <a:off x="952500" y="2051050"/>
            <a:ext cx="11099800" cy="6286500"/>
          </a:xfrm>
          <a:prstGeom prst="rect">
            <a:avLst/>
          </a:prstGeom>
        </p:spPr>
        <p:txBody>
          <a:bodyPr/>
          <a:lstStyle/>
          <a:p>
            <a:pPr/>
            <a:r>
              <a:t>Сокрытие программы с параметрами по умолчанию: </a:t>
            </a:r>
            <a:br/>
            <a:br>
              <a:rPr sz="1200"/>
            </a:br>
            <a:r>
              <a:t>	</a:t>
            </a:r>
          </a:p>
          <a:p>
            <a:pPr/>
          </a:p>
          <a:p>
            <a:pPr/>
            <a:r>
              <a:t>Сокрытие тела пакета с переопределением всех параметров. Обратите внимание: скрытый файл не обязательно должен иметь то же имя или расширение, что и исходный: </a:t>
            </a:r>
          </a:p>
        </p:txBody>
      </p:sp>
      <p:sp>
        <p:nvSpPr>
          <p:cNvPr id="160" name="wrap iname=secretprog"/>
          <p:cNvSpPr txBox="1"/>
          <p:nvPr/>
        </p:nvSpPr>
        <p:spPr>
          <a:xfrm>
            <a:off x="4263615" y="4207622"/>
            <a:ext cx="4477570" cy="500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4200"/>
              </a:spcBef>
              <a:defRPr b="0" sz="270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Apple Braille Outline 6 Dot"/>
                <a:ea typeface="Apple Braille Outline 6 Dot"/>
                <a:cs typeface="Apple Braille Outline 6 Dot"/>
                <a:sym typeface="Apple Braille Outline 6 Dot"/>
              </a:defRPr>
            </a:lvl1pPr>
          </a:lstStyle>
          <a:p>
            <a:pPr/>
            <a:r>
              <a:t>wrap iname=secretprog </a:t>
            </a:r>
          </a:p>
        </p:txBody>
      </p:sp>
      <p:sp>
        <p:nvSpPr>
          <p:cNvPr id="161" name="wrap iname=secretbody.spb oname=shhhhhh.bin"/>
          <p:cNvSpPr txBox="1"/>
          <p:nvPr/>
        </p:nvSpPr>
        <p:spPr>
          <a:xfrm>
            <a:off x="2037360" y="8201772"/>
            <a:ext cx="8930080" cy="500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spcBef>
                <a:spcPts val="4200"/>
              </a:spcBef>
              <a:defRPr b="0" sz="270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  <a:latin typeface="Apple Braille Outline 6 Dot"/>
                <a:ea typeface="Apple Braille Outline 6 Dot"/>
                <a:cs typeface="Apple Braille Outline 6 Dot"/>
                <a:sym typeface="Apple Braille Outline 6 Dot"/>
              </a:defRPr>
            </a:lvl1pPr>
          </a:lstStyle>
          <a:p>
            <a:pPr/>
            <a:r>
              <a:t>wrap iname=secretbody.spb oname=shhhhhh.bin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Пример №2 (Полный алгоритм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20624">
              <a:defRPr sz="5760"/>
            </a:pPr>
            <a:r>
              <a:t>Пример №2 (Полный алгоритм)</a:t>
            </a:r>
            <a:br>
              <a:rPr sz="864">
                <a:latin typeface="Times"/>
                <a:ea typeface="Times"/>
                <a:cs typeface="Times"/>
                <a:sym typeface="Times"/>
              </a:rPr>
            </a:br>
            <a:endParaRPr sz="864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4" name="Допустим, мы создали какую-то функцию в Oracle"/>
          <p:cNvSpPr txBox="1"/>
          <p:nvPr/>
        </p:nvSpPr>
        <p:spPr>
          <a:xfrm>
            <a:off x="2575966" y="2569820"/>
            <a:ext cx="7852868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Допустим, мы создали какую-то функцию в Oracle</a:t>
            </a:r>
          </a:p>
        </p:txBody>
      </p:sp>
      <p:pic>
        <p:nvPicPr>
          <p:cNvPr id="165" name="Снимок экрана 2022-02-27 в 16.24.13.png" descr="Снимок экрана 2022-02-27 в 16.24.1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70200" y="3187700"/>
            <a:ext cx="7264400" cy="1625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Снимок экрана 2022-02-27 в 16.28.39.png" descr="Снимок экрана 2022-02-27 в 16.28.3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59050" y="6353075"/>
            <a:ext cx="7886700" cy="1651001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Имеем файл, к которому в дальнейшем…"/>
          <p:cNvSpPr txBox="1"/>
          <p:nvPr/>
        </p:nvSpPr>
        <p:spPr>
          <a:xfrm>
            <a:off x="3379114" y="5168508"/>
            <a:ext cx="6246572" cy="82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Имеем файл, к которому в дальнейшем </a:t>
            </a:r>
          </a:p>
          <a:p>
            <a:pPr/>
            <a:r>
              <a:t>мы будем обращаться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Пример №2 (Полный алгоритм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20624">
              <a:defRPr sz="5760"/>
            </a:pPr>
            <a:r>
              <a:t>Пример №2 (Полный алгоритм)</a:t>
            </a:r>
            <a:br>
              <a:rPr sz="864">
                <a:latin typeface="Times"/>
                <a:ea typeface="Times"/>
                <a:cs typeface="Times"/>
                <a:sym typeface="Times"/>
              </a:rPr>
            </a:br>
            <a:endParaRPr sz="864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" name="Открываем командную строку…"/>
          <p:cNvSpPr txBox="1"/>
          <p:nvPr/>
        </p:nvSpPr>
        <p:spPr>
          <a:xfrm>
            <a:off x="2972854" y="2607920"/>
            <a:ext cx="7059092" cy="1197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33375" indent="-333375">
              <a:buSzPct val="145000"/>
              <a:buChar char="•"/>
            </a:pPr>
            <a:r>
              <a:t>Открываем командную строку </a:t>
            </a:r>
          </a:p>
          <a:p>
            <a:pPr marL="333375" indent="-333375">
              <a:buSzPct val="145000"/>
              <a:buChar char="•"/>
            </a:pPr>
            <a:r>
              <a:t>Переходим к расположению нашего файла</a:t>
            </a:r>
          </a:p>
          <a:p>
            <a:pPr marL="333375" indent="-333375">
              <a:buSzPct val="145000"/>
              <a:buChar char="•"/>
            </a:pPr>
            <a:r>
              <a:t>Прописываем команду для сокрытия кода</a:t>
            </a:r>
          </a:p>
        </p:txBody>
      </p:sp>
      <p:pic>
        <p:nvPicPr>
          <p:cNvPr id="171" name="Снимок экрана 2022-02-27 в 16.30.04.png" descr="Снимок экрана 2022-02-27 в 16.30.0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24200" y="4449861"/>
            <a:ext cx="6756400" cy="4470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Пример №2 (Полный алгоритм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20624">
              <a:defRPr sz="5760"/>
            </a:pPr>
            <a:r>
              <a:t>Пример №2 (Полный алгоритм)</a:t>
            </a:r>
            <a:br>
              <a:rPr sz="864">
                <a:latin typeface="Times"/>
                <a:ea typeface="Times"/>
                <a:cs typeface="Times"/>
                <a:sym typeface="Times"/>
              </a:rPr>
            </a:br>
            <a:endParaRPr sz="864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" name="Создается новый файл, с параметрами по умолчанию"/>
          <p:cNvSpPr txBox="1"/>
          <p:nvPr/>
        </p:nvSpPr>
        <p:spPr>
          <a:xfrm>
            <a:off x="2307894" y="2773020"/>
            <a:ext cx="8389012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Создается новый файл, с параметрами по умолчанию</a:t>
            </a:r>
          </a:p>
        </p:txBody>
      </p:sp>
      <p:pic>
        <p:nvPicPr>
          <p:cNvPr id="175" name="Снимок экрана 2022-02-27 в 16.31.55.png" descr="Снимок экрана 2022-02-27 в 16.31.5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63912" y="3594100"/>
            <a:ext cx="6470387" cy="15444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" name="Снимок экрана 2022-02-27 в 16.33.01.png" descr="Снимок экрана 2022-02-27 в 16.33.0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40162" y="5859660"/>
            <a:ext cx="6324476" cy="3959143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Так выглядит нечитаемый код"/>
          <p:cNvSpPr txBox="1"/>
          <p:nvPr/>
        </p:nvSpPr>
        <p:spPr>
          <a:xfrm>
            <a:off x="4125112" y="5268570"/>
            <a:ext cx="4754576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Так выглядит нечитаемый код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Wrap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Wrap</a:t>
            </a:r>
          </a:p>
        </p:txBody>
      </p:sp>
      <p:sp>
        <p:nvSpPr>
          <p:cNvPr id="180" name="Нечитаемый исходный код еще называют «wrap’ленный исходник». Отметим его следующие свойства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95579" indent="-195579" defTabSz="257047">
              <a:spcBef>
                <a:spcPts val="1800"/>
              </a:spcBef>
              <a:defRPr sz="1408"/>
            </a:pPr>
            <a:r>
              <a:t>Нечитаемый исходный код еще называют «wrap’ленный исходник». Отметим его следующие свойства: </a:t>
            </a:r>
          </a:p>
          <a:p>
            <a:pPr lvl="1" marL="391159" indent="-195579" defTabSz="257047">
              <a:spcBef>
                <a:spcPts val="1800"/>
              </a:spcBef>
              <a:buSzPct val="50000"/>
              <a:buBlip>
                <a:blip r:embed="rId2"/>
              </a:buBlip>
              <a:defRPr sz="1408"/>
            </a:pPr>
            <a:r>
              <a:t>исходный текст функции «wrap_sum» стал совершенно нечитаемым; </a:t>
            </a:r>
            <a:br/>
          </a:p>
          <a:p>
            <a:pPr lvl="1" marL="391159" indent="-195579" defTabSz="257047">
              <a:spcBef>
                <a:spcPts val="1800"/>
              </a:spcBef>
              <a:buSzPct val="50000"/>
              <a:buBlip>
                <a:blip r:embed="rId2"/>
              </a:buBlip>
              <a:defRPr sz="1408"/>
            </a:pPr>
            <a:r>
              <a:t>после названия хранимой функции «wrap_sum» есть слово wrapped, говорящее о проведенном сокрытии кода. </a:t>
            </a:r>
          </a:p>
          <a:p>
            <a:pPr marL="195579" indent="-195579" defTabSz="257047">
              <a:spcBef>
                <a:spcPts val="1800"/>
              </a:spcBef>
              <a:defRPr sz="1408"/>
            </a:pPr>
            <a:r>
              <a:t>При сокрытии исходного кода PL/SQL следует учитывать следующие обстоятельства: </a:t>
            </a:r>
            <a:br/>
          </a:p>
          <a:p>
            <a:pPr lvl="1" marL="391159" indent="-195579" defTabSz="257047">
              <a:spcBef>
                <a:spcPts val="1800"/>
              </a:spcBef>
              <a:buSzPct val="50000"/>
              <a:buBlip>
                <a:blip r:embed="rId2"/>
              </a:buBlip>
              <a:defRPr sz="1408"/>
            </a:pPr>
            <a:r>
              <a:t>сокрытие кода никак не влияет на функциональность программы PL/SQL, просто становится нечитаемым ее исходный код; </a:t>
            </a:r>
            <a:br/>
          </a:p>
          <a:p>
            <a:pPr lvl="1" marL="391159" indent="-195579" defTabSz="257047">
              <a:spcBef>
                <a:spcPts val="1800"/>
              </a:spcBef>
              <a:buSzPct val="50000"/>
              <a:buBlip>
                <a:blip r:embed="rId2"/>
              </a:buBlip>
              <a:defRPr sz="1408"/>
            </a:pPr>
            <a:r>
              <a:t>общепринято оставлять читаемым спецификации пакетов (то есть интерфейсную часть) и «закрывать» их тела (в частности, так сделано практически для всех встроенных пакетов); </a:t>
            </a:r>
            <a:br/>
          </a:p>
          <a:p>
            <a:pPr lvl="1" marL="391159" indent="-195579" defTabSz="257047">
              <a:spcBef>
                <a:spcPts val="1800"/>
              </a:spcBef>
              <a:buSzPct val="50000"/>
              <a:buBlip>
                <a:blip r:embed="rId2"/>
              </a:buBlip>
              <a:defRPr sz="1408"/>
            </a:pPr>
            <a:r>
              <a:t>нельзя делать нечитаемым исходный код триггеров (для этого следует вынести логику из триггеров в хранимые процедуры и функции с нечитаемым кодом и в триггерах только вызывать их); </a:t>
            </a:r>
            <a:br/>
          </a:p>
          <a:p>
            <a:pPr lvl="1" marL="391159" indent="-195579" defTabSz="257047">
              <a:spcBef>
                <a:spcPts val="1800"/>
              </a:spcBef>
              <a:buSzPct val="50000"/>
              <a:buBlip>
                <a:blip r:embed="rId2"/>
              </a:buBlip>
              <a:defRPr sz="1408"/>
            </a:pPr>
            <a:r>
              <a:t>программы с нечитаемым кодом не могут быть созданы в базе данных версии ниже той, чем версия утилиты, которой они были обработаны; </a:t>
            </a:r>
            <a:br/>
          </a:p>
          <a:p>
            <a:pPr lvl="1" marL="391159" indent="-195579" defTabSz="257047">
              <a:spcBef>
                <a:spcPts val="1800"/>
              </a:spcBef>
              <a:buSzPct val="50000"/>
              <a:buBlip>
                <a:blip r:embed="rId2"/>
              </a:buBlip>
              <a:defRPr sz="1408"/>
            </a:pPr>
            <a:r>
              <a:t>на каждую версию wrap рано или поздно найдется unwrap или rewrap. 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Динамическое сокрытие кода с использованием DBMS_DD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20624">
              <a:defRPr sz="5760"/>
            </a:pPr>
            <a:r>
              <a:t>Динамическое сокрытие кода с использованием DBMS_DDL </a:t>
            </a:r>
            <a:br>
              <a:rPr sz="864">
                <a:latin typeface="Times"/>
                <a:ea typeface="Times"/>
                <a:cs typeface="Times"/>
                <a:sym typeface="Times"/>
              </a:rPr>
            </a:br>
            <a:endParaRPr sz="864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" name="В Oracle10g Release 2 появился механизм сокрытия динамически генерируемого кода: программы WRAP и CREATE_WRAPPED из пакета DBMS_DDL: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В Oracle10g Release 2 появился механизм сокрытия динамически генерируемого кода: программы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pple Braille Outline 6 Dot"/>
                <a:ea typeface="Apple Braille Outline 6 Dot"/>
                <a:cs typeface="Apple Braille Outline 6 Dot"/>
                <a:sym typeface="Apple Braille Outline 6 Dot"/>
              </a:rPr>
              <a:t>WRAP</a:t>
            </a:r>
            <a:r>
              <a:rPr sz="1200"/>
              <a:t> </a:t>
            </a:r>
            <a:r>
              <a:t>и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pple Braille Outline 6 Dot"/>
                <a:ea typeface="Apple Braille Outline 6 Dot"/>
                <a:cs typeface="Apple Braille Outline 6 Dot"/>
                <a:sym typeface="Apple Braille Outline 6 Dot"/>
              </a:rPr>
              <a:t>CREATE_WRAPPED</a:t>
            </a:r>
            <a:r>
              <a:rPr sz="1200"/>
              <a:t> </a:t>
            </a:r>
            <a:r>
              <a:t>из пакета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DBMS_DDL</a:t>
            </a:r>
            <a:r>
              <a:t>: </a:t>
            </a:r>
          </a:p>
          <a:p>
            <a:pPr lvl="1">
              <a:buSzPct val="50000"/>
              <a:buBlip>
                <a:blip r:embed="rId2"/>
              </a:buBlip>
              <a:defRPr sz="1900"/>
            </a:pP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pple Braille Outline 6 Dot"/>
                <a:ea typeface="Apple Braille Outline 6 Dot"/>
                <a:cs typeface="Apple Braille Outline 6 Dot"/>
                <a:sym typeface="Apple Braille Outline 6 Dot"/>
              </a:rPr>
              <a:t>DBMS_DDL.WRAP</a:t>
            </a:r>
            <a:r>
              <a:t> — возвращает строку, содержащую скрытую версию кода.</a:t>
            </a:r>
          </a:p>
          <a:p>
            <a:pPr lvl="1">
              <a:buSzPct val="50000"/>
              <a:buBlip>
                <a:blip r:embed="rId2"/>
              </a:buBlip>
              <a:defRPr sz="1900"/>
            </a:pP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Apple Braille Outline 6 Dot"/>
                <a:ea typeface="Apple Braille Outline 6 Dot"/>
                <a:cs typeface="Apple Braille Outline 6 Dot"/>
                <a:sym typeface="Apple Braille Outline 6 Dot"/>
              </a:rPr>
              <a:t>DBMS_DDL.CREATE_WRAPPED </a:t>
            </a:r>
            <a:r>
              <a:t>— компилирует скрытую версию кода в базу данных.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Пример №3 (DBMS_DDL.CREATE_WRAPPED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08940"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Пример №3 (DBMS_DDL.CREATE_WRAPPED)</a:t>
            </a:r>
          </a:p>
        </p:txBody>
      </p:sp>
      <p:sp>
        <p:nvSpPr>
          <p:cNvPr id="186" name="Создадим обычную функцию, которая подсчитывает и возвращает суммарную заработную плату сотрудника."/>
          <p:cNvSpPr txBox="1"/>
          <p:nvPr/>
        </p:nvSpPr>
        <p:spPr>
          <a:xfrm>
            <a:off x="1360132" y="2475386"/>
            <a:ext cx="5723781" cy="1565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Создадим обычную функцию, которая подсчитывает и возвращает суммарную заработную плату сотрудника.  </a:t>
            </a:r>
          </a:p>
        </p:txBody>
      </p:sp>
      <p:pic>
        <p:nvPicPr>
          <p:cNvPr id="187" name="Снимок экрана 2022-02-27 в 23.23.08.png" descr="Снимок экрана 2022-02-27 в 23.23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5150" y="4103731"/>
            <a:ext cx="7313746" cy="4049669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70000"/>
              </a:srgbClr>
            </a:outerShdw>
          </a:effectLst>
        </p:spPr>
      </p:pic>
      <p:pic>
        <p:nvPicPr>
          <p:cNvPr id="188" name="Снимок экрана 2022-02-27 в 23.24.41.png" descr="Снимок экрана 2022-02-27 в 23.24.41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17197" y="5513189"/>
            <a:ext cx="3634112" cy="1230753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70000"/>
              </a:srgbClr>
            </a:outerShdw>
          </a:effectLst>
        </p:spPr>
      </p:pic>
      <p:sp>
        <p:nvSpPr>
          <p:cNvPr id="189" name="Можем видеть, что функция выполняется"/>
          <p:cNvSpPr txBox="1"/>
          <p:nvPr/>
        </p:nvSpPr>
        <p:spPr>
          <a:xfrm>
            <a:off x="8730712" y="4462120"/>
            <a:ext cx="3807082" cy="82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Можем видеть, что функция выполняется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Пример №3 (DBMS_DDL.CREATE_WRAPPED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08940">
              <a:defRPr sz="56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Пример №3 (DBMS_DDL.CREATE_WRAPPED)</a:t>
            </a:r>
          </a:p>
        </p:txBody>
      </p:sp>
      <p:sp>
        <p:nvSpPr>
          <p:cNvPr id="192" name="Как мы видим, функция приведена к нечитаемому виду"/>
          <p:cNvSpPr txBox="1"/>
          <p:nvPr/>
        </p:nvSpPr>
        <p:spPr>
          <a:xfrm>
            <a:off x="4798487" y="2458224"/>
            <a:ext cx="3807082" cy="1197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Как мы видим, функция приведена к нечитаемому виду</a:t>
            </a:r>
          </a:p>
        </p:txBody>
      </p:sp>
      <p:pic>
        <p:nvPicPr>
          <p:cNvPr id="193" name="Снимок экрана 2022-02-27 в 23.27.48.png" descr="Снимок экрана 2022-02-27 в 23.27.4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24111" y="3701107"/>
            <a:ext cx="5755834" cy="5909322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Пример №4 (DBMS_DDL.WRAP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496570">
              <a:defRPr sz="6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Пример №4 (</a:t>
            </a:r>
            <a:r>
              <a:rPr>
                <a:latin typeface="Apple Braille Outline 6 Dot"/>
                <a:ea typeface="Apple Braille Outline 6 Dot"/>
                <a:cs typeface="Apple Braille Outline 6 Dot"/>
                <a:sym typeface="Apple Braille Outline 6 Dot"/>
              </a:rPr>
              <a:t>DBMS_DDL.WRAP</a:t>
            </a:r>
            <a:r>
              <a:t>)</a:t>
            </a:r>
          </a:p>
        </p:txBody>
      </p:sp>
      <p:pic>
        <p:nvPicPr>
          <p:cNvPr id="196" name="Снимок экрана 2022-02-27 в 23.36.53.png" descr="Снимок экрана 2022-02-27 в 23.36.5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1900" y="4192240"/>
            <a:ext cx="8204200" cy="1549401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Сокрытие строки, создающей небольшую процедуру, и ее вывод:"/>
          <p:cNvSpPr txBox="1"/>
          <p:nvPr/>
        </p:nvSpPr>
        <p:spPr>
          <a:xfrm>
            <a:off x="1544593" y="2790480"/>
            <a:ext cx="9915614" cy="102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Сокрытие строки, создающей небольшую процедуру, и ее вывод: </a:t>
            </a:r>
            <a:endParaRPr sz="1200"/>
          </a:p>
        </p:txBody>
      </p:sp>
      <p:pic>
        <p:nvPicPr>
          <p:cNvPr id="198" name="Снимок экрана 2022-02-27 в 23.43.17.png" descr="Снимок экрана 2022-02-27 в 23.43.17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60140" y="6733778"/>
            <a:ext cx="7289801" cy="1651001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Результат:"/>
          <p:cNvSpPr txBox="1"/>
          <p:nvPr/>
        </p:nvSpPr>
        <p:spPr>
          <a:xfrm>
            <a:off x="1407668" y="6119120"/>
            <a:ext cx="1731265" cy="46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Результат: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Объем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Объем</a:t>
            </a:r>
          </a:p>
        </p:txBody>
      </p:sp>
      <p:sp>
        <p:nvSpPr>
          <p:cNvPr id="202" name="Скрытый код имеет намного больший объем, чем исходный. Так, пакет размером 57 Кбайт после сокрытия занял 153 Кбайт, а пакет размером 86 Кбайт увеличился до 357 Кбайт. Таким образом, для хранения скрытого кода в базе данных требуется больше места. Размер откомпилированного кода остается неизменным, хотя время компиляции тоже может увеличиться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Скрытый код имеет намного больший объем, чем исходный. Так, пакет размером 57 Кбайт после сокрытия занял 153 Кбайт, а пакет размером 86 Кбайт увеличился до 357 Кбайт. Таким образом, для хранения скрытого кода в базе данных требуется больше места. Размер откомпилированного кода остается неизменным, хотя время компиляции тоже может увеличиться.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Пример №5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Пример №5</a:t>
            </a:r>
          </a:p>
        </p:txBody>
      </p:sp>
      <p:pic>
        <p:nvPicPr>
          <p:cNvPr id="205" name="Снимок экрана 2022-02-28 в 18.25.07.png" descr="Снимок экрана 2022-02-28 в 18.25.0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0385" y="3734772"/>
            <a:ext cx="4470401" cy="5105401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70000"/>
              </a:srgbClr>
            </a:outerShdw>
          </a:effectLst>
        </p:spPr>
      </p:pic>
      <p:pic>
        <p:nvPicPr>
          <p:cNvPr id="206" name="Снимок экрана 2022-02-28 в 18.26.12.png" descr="Снимок экрана 2022-02-28 в 18.26.1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24731" y="3148965"/>
            <a:ext cx="5987585" cy="6277015"/>
          </a:xfrm>
          <a:prstGeom prst="rect">
            <a:avLst/>
          </a:prstGeom>
          <a:ln w="25400">
            <a:miter lim="400000"/>
          </a:ln>
          <a:effectLst>
            <a:outerShdw sx="100000" sy="100000" kx="0" ky="0" algn="b" rotWithShape="0" blurRad="254000" dist="127000" dir="5400000">
              <a:srgbClr val="000000">
                <a:alpha val="70000"/>
              </a:srgbClr>
            </a:outerShdw>
          </a:effectLst>
        </p:spPr>
      </p:pic>
      <p:sp>
        <p:nvSpPr>
          <p:cNvPr id="207" name="До приведения к нечитаемому виду"/>
          <p:cNvSpPr txBox="1"/>
          <p:nvPr/>
        </p:nvSpPr>
        <p:spPr>
          <a:xfrm>
            <a:off x="700385" y="2659207"/>
            <a:ext cx="4470401" cy="82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До приведения к нечитаемому виду</a:t>
            </a:r>
          </a:p>
        </p:txBody>
      </p:sp>
      <p:sp>
        <p:nvSpPr>
          <p:cNvPr id="208" name="После приведения к нечитаемому виду"/>
          <p:cNvSpPr txBox="1"/>
          <p:nvPr/>
        </p:nvSpPr>
        <p:spPr>
          <a:xfrm>
            <a:off x="7183323" y="2100407"/>
            <a:ext cx="4470401" cy="829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t>После приведения к нечитаемому виду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