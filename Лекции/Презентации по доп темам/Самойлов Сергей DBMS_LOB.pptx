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7" r:id="rId7"/>
    <p:sldId id="272" r:id="rId8"/>
    <p:sldId id="266" r:id="rId9"/>
    <p:sldId id="273" r:id="rId10"/>
    <p:sldId id="275" r:id="rId11"/>
    <p:sldId id="276" r:id="rId12"/>
    <p:sldId id="274" r:id="rId13"/>
    <p:sldId id="261" r:id="rId14"/>
    <p:sldId id="262" r:id="rId15"/>
    <p:sldId id="263" r:id="rId16"/>
    <p:sldId id="264" r:id="rId17"/>
    <p:sldId id="265" r:id="rId18"/>
    <p:sldId id="26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/>
    <p:restoredTop sz="94648"/>
  </p:normalViewPr>
  <p:slideViewPr>
    <p:cSldViewPr snapToGrid="0" snapToObjects="1">
      <p:cViewPr varScale="1">
        <p:scale>
          <a:sx n="69" d="100"/>
          <a:sy n="69" d="100"/>
        </p:scale>
        <p:origin x="21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EC5BE-1EBF-B541-8FA7-870370500CE2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099DC-6195-DD41-AED1-C73C3F6209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592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099DC-6195-DD41-AED1-C73C3F62095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770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099DC-6195-DD41-AED1-C73C3F62095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78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099DC-6195-DD41-AED1-C73C3F62095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712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2/28/2022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0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9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6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2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9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3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3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8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2/28/2022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7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19CEE8C5-C8F9-4C73-8C80-6EAF86515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976" b="2643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A08C2-4D5E-354C-A435-EB9A2CB6F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105" y="1701808"/>
            <a:ext cx="4863466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" sz="6200" dirty="0"/>
              <a:t>DBMS_LOB </a:t>
            </a:r>
            <a:r>
              <a:rPr lang="ru-RU" sz="6200" dirty="0"/>
              <a:t>на примерах</a:t>
            </a:r>
            <a:br>
              <a:rPr lang="ru-RU" sz="6200" dirty="0"/>
            </a:br>
            <a:endParaRPr lang="ru-RU" sz="6200" dirty="0"/>
          </a:p>
        </p:txBody>
      </p:sp>
    </p:spTree>
    <p:extLst>
      <p:ext uri="{BB962C8B-B14F-4D97-AF65-F5344CB8AC3E}">
        <p14:creationId xmlns:p14="http://schemas.microsoft.com/office/powerpoint/2010/main" val="1385451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51BAD0FF-E824-4446-B45B-97AE0909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510659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ss 11">
            <a:extLst>
              <a:ext uri="{FF2B5EF4-FFF2-40B4-BE49-F238E27FC236}">
                <a16:creationId xmlns:a16="http://schemas.microsoft.com/office/drawing/2014/main" id="{0D8FDD6E-0FB9-5542-B194-9DD8BD806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16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0FD98-601D-EB4E-9CB2-574DBC08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08252"/>
            <a:ext cx="4114800" cy="4371971"/>
          </a:xfrm>
        </p:spPr>
        <p:txBody>
          <a:bodyPr>
            <a:normAutofit/>
          </a:bodyPr>
          <a:lstStyle/>
          <a:p>
            <a:r>
              <a:rPr lang="ru-RU" dirty="0"/>
              <a:t>ВВЕДЕНИЕ В РАБОТУ С БОЛЬШИМИ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C94F65-868F-C545-AD8F-6FB3EC448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335" y="1628394"/>
            <a:ext cx="5484998" cy="46864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Для работы с данными большого объема СУБД </a:t>
            </a:r>
            <a:r>
              <a:rPr lang="en" dirty="0"/>
              <a:t>Oracle </a:t>
            </a:r>
            <a:r>
              <a:rPr lang="ru-RU" dirty="0"/>
              <a:t>предоставляет типы данных </a:t>
            </a:r>
            <a:r>
              <a:rPr lang="en" dirty="0"/>
              <a:t>BLOB, CLOB, NCLOB </a:t>
            </a:r>
            <a:r>
              <a:rPr lang="ru-RU" dirty="0"/>
              <a:t>и </a:t>
            </a:r>
            <a:r>
              <a:rPr lang="en" dirty="0"/>
              <a:t>BFILE. LOB </a:t>
            </a:r>
            <a:r>
              <a:rPr lang="ru-RU" dirty="0"/>
              <a:t>означает </a:t>
            </a:r>
            <a:r>
              <a:rPr lang="en" dirty="0"/>
              <a:t>large object, </a:t>
            </a:r>
            <a:r>
              <a:rPr lang="ru-RU" dirty="0"/>
              <a:t>или большой объект. По сути, большой объект - это абстрактный тип для манипуляции данными большого объема внутри БД, а типы </a:t>
            </a:r>
            <a:r>
              <a:rPr lang="en" dirty="0"/>
              <a:t>BLOB, CLOB, NCLOB </a:t>
            </a:r>
            <a:r>
              <a:rPr lang="ru-RU" dirty="0"/>
              <a:t>и </a:t>
            </a:r>
            <a:r>
              <a:rPr lang="en" dirty="0"/>
              <a:t>BFILE - </a:t>
            </a:r>
            <a:r>
              <a:rPr lang="ru-RU" dirty="0"/>
              <a:t>его конкретные реализации.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283910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4C682-72A2-9E40-A8C6-1DA9E87E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 типов больших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E14C26-A6CF-A04D-959C-E959BC4CC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7"/>
            <a:ext cx="8267296" cy="353499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" sz="1800" b="1" dirty="0"/>
              <a:t>BFILE</a:t>
            </a:r>
            <a:r>
              <a:rPr lang="en" sz="1800" dirty="0"/>
              <a:t> (</a:t>
            </a:r>
            <a:r>
              <a:rPr lang="ru-RU" sz="1800" dirty="0"/>
              <a:t>от </a:t>
            </a:r>
            <a:r>
              <a:rPr lang="en" sz="1800" dirty="0"/>
              <a:t>binary file) - </a:t>
            </a:r>
            <a:r>
              <a:rPr lang="ru-RU" sz="1800" dirty="0"/>
              <a:t>данные хранятся во внешнем по отношению к БД файле, а значение типа </a:t>
            </a:r>
            <a:r>
              <a:rPr lang="en" sz="1800" dirty="0"/>
              <a:t>BFILE </a:t>
            </a:r>
            <a:r>
              <a:rPr lang="ru-RU" sz="1800" dirty="0"/>
              <a:t>содержит указатель на файл; данные считаются двоичными.</a:t>
            </a:r>
          </a:p>
          <a:p>
            <a:pPr algn="just"/>
            <a:r>
              <a:rPr lang="en" sz="1800" b="1" dirty="0"/>
              <a:t>BLOB</a:t>
            </a:r>
            <a:r>
              <a:rPr lang="en" sz="1800" dirty="0"/>
              <a:t> (</a:t>
            </a:r>
            <a:r>
              <a:rPr lang="ru-RU" sz="1800" dirty="0"/>
              <a:t>от </a:t>
            </a:r>
            <a:r>
              <a:rPr lang="en" sz="1800" dirty="0"/>
              <a:t>binary large object) - </a:t>
            </a:r>
            <a:r>
              <a:rPr lang="ru-RU" sz="1800" dirty="0"/>
              <a:t>данные хранятся в базе данных в отдельном сегменте</a:t>
            </a:r>
            <a:r>
              <a:rPr lang="ru-RU" sz="1800" baseline="30000" dirty="0"/>
              <a:t>*</a:t>
            </a:r>
            <a:r>
              <a:rPr lang="ru-RU" sz="1800" dirty="0"/>
              <a:t>, а значение типа </a:t>
            </a:r>
            <a:r>
              <a:rPr lang="en" sz="1800" dirty="0"/>
              <a:t>BLOB </a:t>
            </a:r>
            <a:r>
              <a:rPr lang="ru-RU" sz="1800" dirty="0"/>
              <a:t>содержит указатель на них (</a:t>
            </a:r>
            <a:r>
              <a:rPr lang="en" sz="1800" dirty="0"/>
              <a:t>LOB locator); </a:t>
            </a:r>
            <a:r>
              <a:rPr lang="ru-RU" sz="1800" dirty="0"/>
              <a:t>данные считаются двоичными.</a:t>
            </a:r>
          </a:p>
          <a:p>
            <a:pPr algn="just"/>
            <a:r>
              <a:rPr lang="en" sz="1800" b="1" dirty="0"/>
              <a:t>CLOB</a:t>
            </a:r>
            <a:r>
              <a:rPr lang="en" sz="1800" dirty="0"/>
              <a:t> (</a:t>
            </a:r>
            <a:r>
              <a:rPr lang="ru-RU" sz="1800" dirty="0"/>
              <a:t>от </a:t>
            </a:r>
            <a:r>
              <a:rPr lang="en" sz="1800" dirty="0"/>
              <a:t>character large object) - </a:t>
            </a:r>
            <a:r>
              <a:rPr lang="ru-RU" sz="1800" dirty="0"/>
              <a:t>данные хранятся в базе данных в отдельном сегменте</a:t>
            </a:r>
            <a:r>
              <a:rPr lang="ru-RU" sz="1800" baseline="30000" dirty="0"/>
              <a:t>*</a:t>
            </a:r>
            <a:r>
              <a:rPr lang="ru-RU" sz="1800" dirty="0"/>
              <a:t>, а значение типа </a:t>
            </a:r>
            <a:r>
              <a:rPr lang="en" sz="1800" dirty="0"/>
              <a:t>CLOB </a:t>
            </a:r>
            <a:r>
              <a:rPr lang="ru-RU" sz="1800" dirty="0"/>
              <a:t>содержит указатель на них (</a:t>
            </a:r>
            <a:r>
              <a:rPr lang="en" sz="1800" dirty="0"/>
              <a:t>LOB locator); </a:t>
            </a:r>
            <a:r>
              <a:rPr lang="ru-RU" sz="1800" dirty="0"/>
              <a:t>данные интерпретируются как текст в кодировке базы данных (</a:t>
            </a:r>
            <a:r>
              <a:rPr lang="en" sz="1800" dirty="0"/>
              <a:t>database character set).</a:t>
            </a:r>
          </a:p>
          <a:p>
            <a:pPr algn="just"/>
            <a:r>
              <a:rPr lang="en" sz="1800" b="1" dirty="0"/>
              <a:t>NCLOB</a:t>
            </a:r>
            <a:r>
              <a:rPr lang="en" sz="1800" dirty="0"/>
              <a:t> (</a:t>
            </a:r>
            <a:r>
              <a:rPr lang="ru-RU" sz="1800" dirty="0"/>
              <a:t>от </a:t>
            </a:r>
            <a:r>
              <a:rPr lang="en" sz="1800" dirty="0"/>
              <a:t>national character large object) - </a:t>
            </a:r>
            <a:r>
              <a:rPr lang="ru-RU" sz="1800" dirty="0"/>
              <a:t>данные хранятся в базе данных в отдельном сегменте</a:t>
            </a:r>
            <a:r>
              <a:rPr lang="ru-RU" sz="1800" baseline="30000" dirty="0"/>
              <a:t>*</a:t>
            </a:r>
            <a:r>
              <a:rPr lang="ru-RU" sz="1800" dirty="0"/>
              <a:t>, а значение типа </a:t>
            </a:r>
            <a:r>
              <a:rPr lang="en" sz="1800" dirty="0"/>
              <a:t>CLOB </a:t>
            </a:r>
            <a:r>
              <a:rPr lang="ru-RU" sz="1800" dirty="0"/>
              <a:t>содержит указатель на них (</a:t>
            </a:r>
            <a:r>
              <a:rPr lang="en" sz="1800" dirty="0"/>
              <a:t>LOB locator); </a:t>
            </a:r>
            <a:r>
              <a:rPr lang="ru-RU" sz="1800" dirty="0"/>
              <a:t>данные интерпретируются как текст в национальной кодировке (</a:t>
            </a:r>
            <a:r>
              <a:rPr lang="en" sz="1800" dirty="0"/>
              <a:t>national character set)</a:t>
            </a:r>
            <a:r>
              <a:rPr lang="ru-RU" sz="1800" dirty="0"/>
              <a:t>.</a:t>
            </a:r>
            <a:endParaRPr lang="en" sz="1800" dirty="0"/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09850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4671BA-2F91-E04F-A3A0-48E2ED41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/>
              <a:t>DBMS_LOB </a:t>
            </a:r>
            <a:r>
              <a:rPr lang="ru-RU" dirty="0"/>
              <a:t>как инструмент работы с типами</a:t>
            </a:r>
            <a:r>
              <a:rPr lang="en-US" dirty="0"/>
              <a:t> </a:t>
            </a:r>
            <a:r>
              <a:rPr lang="ru-RU" dirty="0"/>
              <a:t>больших объектов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1E055E-5682-B240-9BA1-FA3670E67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Пакет DBMS_LOB предоставляет подпрограммы для работы с BLOB, CLOB, NCLOB, BFILE и временными LOB. Вы можете использовать DBMS_LOB для доступа и манипулирования определенными частями больших объектов или целыми большими объектами.</a:t>
            </a:r>
          </a:p>
        </p:txBody>
      </p:sp>
    </p:spTree>
    <p:extLst>
      <p:ext uri="{BB962C8B-B14F-4D97-AF65-F5344CB8AC3E}">
        <p14:creationId xmlns:p14="http://schemas.microsoft.com/office/powerpoint/2010/main" val="21583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9BBB9-5065-0B44-AA35-3C119009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 </a:t>
            </a:r>
            <a:r>
              <a:rPr lang="en-US" dirty="0"/>
              <a:t>DBMS_LOB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996A8-7FCF-FE43-AA95-BBF1626D0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Создание таблицы </a:t>
            </a:r>
            <a:r>
              <a:rPr lang="ru-RU" sz="2800" dirty="0" err="1"/>
              <a:t>лобов</a:t>
            </a:r>
            <a:endParaRPr lang="ru-RU" sz="2800" dirty="0"/>
          </a:p>
          <a:p>
            <a:pPr marL="0" indent="0">
              <a:buNone/>
            </a:pPr>
            <a:r>
              <a:rPr lang="en" b="1" dirty="0"/>
              <a:t>create table </a:t>
            </a:r>
            <a:r>
              <a:rPr lang="en" b="1" dirty="0" err="1"/>
              <a:t>lobs_tab</a:t>
            </a:r>
            <a:r>
              <a:rPr lang="en" b="1" dirty="0"/>
              <a:t> ( 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id number(5), </a:t>
            </a:r>
            <a:endParaRPr lang="ru-RU" b="1" dirty="0"/>
          </a:p>
          <a:p>
            <a:pPr marL="0" indent="0">
              <a:buNone/>
            </a:pPr>
            <a:r>
              <a:rPr lang="en" b="1" dirty="0" err="1"/>
              <a:t>clob_col</a:t>
            </a:r>
            <a:r>
              <a:rPr lang="en" b="1" dirty="0"/>
              <a:t> </a:t>
            </a:r>
            <a:r>
              <a:rPr lang="en" b="1" dirty="0" err="1"/>
              <a:t>clob</a:t>
            </a:r>
            <a:r>
              <a:rPr lang="en" b="1" dirty="0"/>
              <a:t>, </a:t>
            </a:r>
            <a:endParaRPr lang="ru-RU" b="1" dirty="0"/>
          </a:p>
          <a:p>
            <a:pPr marL="0" indent="0">
              <a:buNone/>
            </a:pPr>
            <a:r>
              <a:rPr lang="en" b="1" dirty="0" err="1"/>
              <a:t>nclob_col</a:t>
            </a:r>
            <a:r>
              <a:rPr lang="en" b="1" dirty="0"/>
              <a:t> </a:t>
            </a:r>
            <a:r>
              <a:rPr lang="en" b="1" dirty="0" err="1"/>
              <a:t>nclob</a:t>
            </a:r>
            <a:r>
              <a:rPr lang="en" b="1" dirty="0"/>
              <a:t>, </a:t>
            </a:r>
            <a:endParaRPr lang="ru-RU" b="1" dirty="0"/>
          </a:p>
          <a:p>
            <a:pPr marL="0" indent="0">
              <a:buNone/>
            </a:pPr>
            <a:r>
              <a:rPr lang="en" b="1" dirty="0" err="1"/>
              <a:t>blob_col</a:t>
            </a:r>
            <a:r>
              <a:rPr lang="en" b="1" dirty="0"/>
              <a:t> blob,</a:t>
            </a:r>
            <a:r>
              <a:rPr lang="ru-RU" b="1" dirty="0"/>
              <a:t> </a:t>
            </a:r>
          </a:p>
          <a:p>
            <a:pPr marL="0" indent="0">
              <a:buNone/>
            </a:pPr>
            <a:r>
              <a:rPr lang="en" b="1" dirty="0" err="1"/>
              <a:t>bfile_col</a:t>
            </a:r>
            <a:r>
              <a:rPr lang="en" b="1" dirty="0"/>
              <a:t> </a:t>
            </a:r>
            <a:r>
              <a:rPr lang="en" b="1" dirty="0" err="1"/>
              <a:t>bfile</a:t>
            </a:r>
            <a:r>
              <a:rPr lang="en" b="1" dirty="0"/>
              <a:t> );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661E1-0915-FB4E-B359-AA6E8C3FA1F0}"/>
              </a:ext>
            </a:extLst>
          </p:cNvPr>
          <p:cNvSpPr txBox="1"/>
          <p:nvPr/>
        </p:nvSpPr>
        <p:spPr>
          <a:xfrm>
            <a:off x="6334173" y="2677689"/>
            <a:ext cx="52042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Заполнение таблицы </a:t>
            </a:r>
            <a:r>
              <a:rPr lang="ru-RU" sz="2600" dirty="0" err="1"/>
              <a:t>лобов</a:t>
            </a:r>
            <a:endParaRPr lang="ru-RU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32299-6FF5-FB44-B1C0-346A1E9405EC}"/>
              </a:ext>
            </a:extLst>
          </p:cNvPr>
          <p:cNvSpPr txBox="1"/>
          <p:nvPr/>
        </p:nvSpPr>
        <p:spPr>
          <a:xfrm>
            <a:off x="6410373" y="3389935"/>
            <a:ext cx="4844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b="1" dirty="0"/>
              <a:t>insert into </a:t>
            </a:r>
            <a:r>
              <a:rPr lang="en" b="1" dirty="0" err="1"/>
              <a:t>lobs_tab</a:t>
            </a:r>
            <a:r>
              <a:rPr lang="en" b="1" dirty="0"/>
              <a:t> (</a:t>
            </a:r>
            <a:endParaRPr lang="ru-RU" b="1" dirty="0"/>
          </a:p>
          <a:p>
            <a:r>
              <a:rPr lang="en" b="1" dirty="0"/>
              <a:t>id, </a:t>
            </a:r>
            <a:r>
              <a:rPr lang="en" b="1" dirty="0" err="1"/>
              <a:t>clob_col</a:t>
            </a:r>
            <a:r>
              <a:rPr lang="en" b="1" dirty="0"/>
              <a:t>, </a:t>
            </a:r>
            <a:r>
              <a:rPr lang="en" b="1" dirty="0" err="1"/>
              <a:t>nclob_col</a:t>
            </a:r>
            <a:r>
              <a:rPr lang="en" b="1" dirty="0"/>
              <a:t>, </a:t>
            </a:r>
            <a:r>
              <a:rPr lang="en" b="1" dirty="0" err="1"/>
              <a:t>blob_col</a:t>
            </a:r>
            <a:r>
              <a:rPr lang="en" b="1" dirty="0"/>
              <a:t>, </a:t>
            </a:r>
            <a:r>
              <a:rPr lang="en" b="1" dirty="0" err="1"/>
              <a:t>bfile_col</a:t>
            </a:r>
            <a:r>
              <a:rPr lang="en" b="1" dirty="0"/>
              <a:t>)</a:t>
            </a:r>
            <a:endParaRPr lang="ru-RU" b="1" dirty="0"/>
          </a:p>
          <a:p>
            <a:r>
              <a:rPr lang="en" b="1" dirty="0"/>
              <a:t>values (</a:t>
            </a:r>
            <a:endParaRPr lang="ru-RU" b="1" dirty="0"/>
          </a:p>
          <a:p>
            <a:r>
              <a:rPr lang="en" b="1" dirty="0"/>
              <a:t>1, null, </a:t>
            </a:r>
            <a:r>
              <a:rPr lang="en" b="1" dirty="0" err="1"/>
              <a:t>empty_clob</a:t>
            </a:r>
            <a:r>
              <a:rPr lang="en" b="1" dirty="0"/>
              <a:t>(), </a:t>
            </a:r>
            <a:r>
              <a:rPr lang="en" b="1" dirty="0" err="1"/>
              <a:t>empty_blob</a:t>
            </a:r>
            <a:r>
              <a:rPr lang="en" b="1" dirty="0"/>
              <a:t>(), null);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3167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1B18-7D1C-9B49-AF3D-2A2130D4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9993994" cy="1446550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временных </a:t>
            </a:r>
            <a:r>
              <a:rPr lang="ru-RU" dirty="0" err="1"/>
              <a:t>лобов</a:t>
            </a:r>
            <a:r>
              <a:rPr lang="ru-RU" dirty="0"/>
              <a:t> и присвоение его значения переменной (копия)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D1C57D-7149-844E-A65B-C0262FABC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2691638"/>
            <a:ext cx="9612993" cy="3188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b="1" dirty="0"/>
              <a:t>DECLARE 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a blob;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b blob; 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BEGIN </a:t>
            </a:r>
            <a:r>
              <a:rPr lang="en" b="1" dirty="0" err="1"/>
              <a:t>dbms_lob.createtemporary</a:t>
            </a:r>
            <a:r>
              <a:rPr lang="en" b="1" dirty="0"/>
              <a:t>(b, TRUE); -- the following assignment results in a deep copy 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a := b; 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END; </a:t>
            </a:r>
            <a:endParaRPr lang="ru-RU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65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40A3F-ED38-0642-A7F4-93DF5507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0"/>
            <a:ext cx="8267296" cy="1446550"/>
          </a:xfrm>
        </p:spPr>
        <p:txBody>
          <a:bodyPr/>
          <a:lstStyle/>
          <a:p>
            <a:r>
              <a:rPr lang="ru-RU" dirty="0"/>
              <a:t>Создание копий </a:t>
            </a:r>
            <a:r>
              <a:rPr lang="ru-RU" dirty="0" err="1"/>
              <a:t>лобов</a:t>
            </a:r>
            <a:r>
              <a:rPr lang="ru-RU" dirty="0"/>
              <a:t> с помощью </a:t>
            </a:r>
            <a:r>
              <a:rPr lang="en-US" dirty="0"/>
              <a:t>DBMS_LOB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B93D5-A4B7-E24F-8FD2-6EC72A2B3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5036" y="1379985"/>
            <a:ext cx="3734707" cy="3188586"/>
          </a:xfrm>
        </p:spPr>
        <p:txBody>
          <a:bodyPr/>
          <a:lstStyle/>
          <a:p>
            <a:pPr marL="0" indent="0">
              <a:buNone/>
            </a:pPr>
            <a:r>
              <a:rPr lang="en" dirty="0"/>
              <a:t>--</a:t>
            </a:r>
            <a:r>
              <a:rPr lang="ru-RU" dirty="0"/>
              <a:t>Структура таблицы для примера</a:t>
            </a:r>
            <a:endParaRPr lang="en" dirty="0"/>
          </a:p>
          <a:p>
            <a:pPr marL="0" indent="0">
              <a:buNone/>
            </a:pPr>
            <a:r>
              <a:rPr lang="en" b="1" dirty="0"/>
              <a:t>CREATE TABLE </a:t>
            </a:r>
            <a:r>
              <a:rPr lang="en" b="1" dirty="0" err="1"/>
              <a:t>lobdemo</a:t>
            </a:r>
            <a:r>
              <a:rPr lang="en" b="1" dirty="0"/>
              <a:t> ( key NUMBER, </a:t>
            </a:r>
            <a:r>
              <a:rPr lang="en" b="1" dirty="0" err="1"/>
              <a:t>clob_col</a:t>
            </a:r>
            <a:r>
              <a:rPr lang="en" b="1" dirty="0"/>
              <a:t> CLOB, </a:t>
            </a:r>
            <a:r>
              <a:rPr lang="en" b="1" dirty="0" err="1"/>
              <a:t>blob_col</a:t>
            </a:r>
            <a:r>
              <a:rPr lang="en" b="1" dirty="0"/>
              <a:t> BLOB);</a:t>
            </a:r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821075-19A0-D84E-8884-5F065E9E6732}"/>
              </a:ext>
            </a:extLst>
          </p:cNvPr>
          <p:cNvSpPr/>
          <p:nvPr/>
        </p:nvSpPr>
        <p:spPr>
          <a:xfrm>
            <a:off x="565150" y="1359464"/>
            <a:ext cx="67647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--Скрипт</a:t>
            </a:r>
          </a:p>
          <a:p>
            <a:r>
              <a:rPr lang="en" b="1" dirty="0"/>
              <a:t>DECLARE</a:t>
            </a:r>
            <a:endParaRPr lang="ru-RU" b="1" dirty="0"/>
          </a:p>
          <a:p>
            <a:r>
              <a:rPr lang="ru-RU" b="1" dirty="0"/>
              <a:t> </a:t>
            </a:r>
            <a:r>
              <a:rPr lang="en" b="1" dirty="0"/>
              <a:t>v_Row100 </a:t>
            </a:r>
            <a:r>
              <a:rPr lang="en" b="1" dirty="0" err="1"/>
              <a:t>lobdemo%ROWTYPE</a:t>
            </a:r>
            <a:r>
              <a:rPr lang="en" b="1" dirty="0"/>
              <a:t>;</a:t>
            </a:r>
            <a:endParaRPr lang="ru-RU" b="1" dirty="0"/>
          </a:p>
          <a:p>
            <a:r>
              <a:rPr lang="en" b="1" dirty="0"/>
              <a:t> v_Row101 </a:t>
            </a:r>
            <a:r>
              <a:rPr lang="en" b="1" dirty="0" err="1"/>
              <a:t>lobdemo%ROWTYPE</a:t>
            </a:r>
            <a:r>
              <a:rPr lang="en" b="1" dirty="0"/>
              <a:t>;</a:t>
            </a:r>
            <a:r>
              <a:rPr lang="ru-RU" b="1" dirty="0"/>
              <a:t> </a:t>
            </a:r>
          </a:p>
          <a:p>
            <a:r>
              <a:rPr lang="en" b="1" dirty="0"/>
              <a:t>BEGIN </a:t>
            </a:r>
            <a:endParaRPr lang="ru-RU" b="1" dirty="0"/>
          </a:p>
          <a:p>
            <a:r>
              <a:rPr lang="en" b="1" dirty="0"/>
              <a:t>SELECT *  INTO v_Row100  FROM </a:t>
            </a:r>
            <a:r>
              <a:rPr lang="en" b="1" dirty="0" err="1"/>
              <a:t>lobdemo</a:t>
            </a:r>
            <a:r>
              <a:rPr lang="en" b="1" dirty="0"/>
              <a:t> WHERE key = 100;</a:t>
            </a:r>
            <a:endParaRPr lang="ru-RU" b="1" dirty="0"/>
          </a:p>
          <a:p>
            <a:r>
              <a:rPr lang="en" b="1" dirty="0"/>
              <a:t>SELECT *  INTO v_Row101  FROM </a:t>
            </a:r>
            <a:r>
              <a:rPr lang="en" b="1" dirty="0" err="1"/>
              <a:t>lobdemo</a:t>
            </a:r>
            <a:r>
              <a:rPr lang="en" b="1" dirty="0"/>
              <a:t>  WHERE key =</a:t>
            </a:r>
            <a:r>
              <a:rPr lang="ru-RU" b="1" dirty="0"/>
              <a:t> </a:t>
            </a:r>
            <a:r>
              <a:rPr lang="en" b="1" dirty="0"/>
              <a:t>101 FOR UPDATE; </a:t>
            </a:r>
            <a:endParaRPr lang="ru-RU" b="1" dirty="0"/>
          </a:p>
          <a:p>
            <a:r>
              <a:rPr lang="en" b="1" dirty="0"/>
              <a:t>DBMS_OUTPUT.PUT_LINE(</a:t>
            </a:r>
            <a:r>
              <a:rPr lang="en" b="1" dirty="0">
                <a:effectLst/>
              </a:rPr>
              <a:t>'Initial values of row 101:’</a:t>
            </a:r>
            <a:r>
              <a:rPr lang="en" b="1" dirty="0"/>
              <a:t>); </a:t>
            </a:r>
            <a:r>
              <a:rPr lang="en" b="1" dirty="0" err="1"/>
              <a:t>LOBUtils.Print</a:t>
            </a:r>
            <a:r>
              <a:rPr lang="en" b="1" dirty="0"/>
              <a:t>(v_Row101.clob_col); </a:t>
            </a:r>
            <a:r>
              <a:rPr lang="en" b="1" dirty="0" err="1"/>
              <a:t>LOBUtils.Print</a:t>
            </a:r>
            <a:r>
              <a:rPr lang="en" b="1" dirty="0"/>
              <a:t>(v_Row101.blob_col); DBMS_LOB.COPY(v_Row101.clob_col, v_Row100.clob_col, 26, 50, 1); </a:t>
            </a:r>
            <a:endParaRPr lang="ru-RU" b="1" dirty="0"/>
          </a:p>
          <a:p>
            <a:r>
              <a:rPr lang="en" b="1" dirty="0"/>
              <a:t>DBMS_LOB.COPY(v_Row101.blob_col, v_Row100.blob_col, 5, 2, 1); </a:t>
            </a:r>
            <a:endParaRPr lang="ru-RU" b="1" dirty="0"/>
          </a:p>
          <a:p>
            <a:r>
              <a:rPr lang="en" b="1" dirty="0"/>
              <a:t>DBMS_OUTPUT.PUT_LINE(</a:t>
            </a:r>
            <a:r>
              <a:rPr lang="en" b="1" dirty="0">
                <a:effectLst/>
              </a:rPr>
              <a:t>'After copy, values of row 101:'</a:t>
            </a:r>
            <a:r>
              <a:rPr lang="en" b="1" dirty="0"/>
              <a:t>); </a:t>
            </a:r>
            <a:r>
              <a:rPr lang="en" b="1" dirty="0" err="1"/>
              <a:t>LOBUtils.Print</a:t>
            </a:r>
            <a:r>
              <a:rPr lang="en" b="1" dirty="0"/>
              <a:t>(v_Row101.clob_col); </a:t>
            </a:r>
            <a:r>
              <a:rPr lang="en" b="1" dirty="0" err="1"/>
              <a:t>LOBUtils.Print</a:t>
            </a:r>
            <a:r>
              <a:rPr lang="en" b="1" dirty="0"/>
              <a:t>(v_Row101.blob_col); </a:t>
            </a:r>
            <a:endParaRPr lang="ru-RU" b="1" dirty="0"/>
          </a:p>
          <a:p>
            <a:r>
              <a:rPr lang="en" b="1" dirty="0"/>
              <a:t>END; </a:t>
            </a:r>
            <a:endParaRPr lang="ru-RU" b="1" dirty="0"/>
          </a:p>
          <a:p>
            <a:r>
              <a:rPr lang="en" b="1" dirty="0"/>
              <a:t>/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88362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B2DEF72E-9A56-3A45-8ADA-E6F93BA8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4175133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67725-7872-3F42-B3B7-D7F47DD9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08250"/>
            <a:ext cx="3198777" cy="40248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 err="1">
                <a:latin typeface="+mj-lt"/>
                <a:ea typeface="+mj-ea"/>
                <a:cs typeface="+mj-cs"/>
              </a:rPr>
              <a:t>Функции</a:t>
            </a:r>
            <a:r>
              <a:rPr lang="en-US" kern="1200" dirty="0"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и</a:t>
            </a:r>
            <a:r>
              <a:rPr lang="en-US" kern="1200" dirty="0"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процедуры</a:t>
            </a:r>
            <a:r>
              <a:rPr lang="en-US" kern="1200" dirty="0">
                <a:latin typeface="+mj-lt"/>
                <a:ea typeface="+mj-ea"/>
                <a:cs typeface="+mj-cs"/>
              </a:rPr>
              <a:t> DBMS_LOB </a:t>
            </a:r>
            <a:r>
              <a:rPr lang="ru-RU" kern="1200" dirty="0">
                <a:latin typeface="+mj-lt"/>
                <a:ea typeface="+mj-ea"/>
                <a:cs typeface="+mj-cs"/>
              </a:rPr>
              <a:t>для работы с </a:t>
            </a:r>
            <a:r>
              <a:rPr lang="ru-RU" kern="1200" dirty="0" err="1">
                <a:latin typeface="+mj-lt"/>
                <a:ea typeface="+mj-ea"/>
                <a:cs typeface="+mj-cs"/>
              </a:rPr>
              <a:t>лобами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ross 2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770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D47D42C-6145-8042-BEA4-8C52FEFEC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370885"/>
              </p:ext>
            </p:extLst>
          </p:nvPr>
        </p:nvGraphicFramePr>
        <p:xfrm>
          <a:off x="4740282" y="1134871"/>
          <a:ext cx="6937828" cy="568503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2798359">
                  <a:extLst>
                    <a:ext uri="{9D8B030D-6E8A-4147-A177-3AD203B41FA5}">
                      <a16:colId xmlns:a16="http://schemas.microsoft.com/office/drawing/2014/main" val="2455806376"/>
                    </a:ext>
                  </a:extLst>
                </a:gridCol>
                <a:gridCol w="4139469">
                  <a:extLst>
                    <a:ext uri="{9D8B030D-6E8A-4147-A177-3AD203B41FA5}">
                      <a16:colId xmlns:a16="http://schemas.microsoft.com/office/drawing/2014/main" val="2741997465"/>
                    </a:ext>
                  </a:extLst>
                </a:gridCol>
              </a:tblGrid>
              <a:tr h="437310">
                <a:tc>
                  <a:txBody>
                    <a:bodyPr/>
                    <a:lstStyle/>
                    <a:p>
                      <a:r>
                        <a:rPr lang="ru-RU" sz="1000" b="0" cap="none" spc="0">
                          <a:solidFill>
                            <a:schemeClr val="bg1"/>
                          </a:solidFill>
                        </a:rPr>
                        <a:t>Процедура / Функция</a:t>
                      </a:r>
                    </a:p>
                  </a:txBody>
                  <a:tcPr marL="86491" marR="3771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cap="none" spc="0" dirty="0">
                          <a:solidFill>
                            <a:schemeClr val="bg1"/>
                          </a:solidFill>
                        </a:rPr>
                        <a:t>Что делает</a:t>
                      </a:r>
                    </a:p>
                  </a:txBody>
                  <a:tcPr marL="86491" marR="37713" marT="66532" marB="665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862673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APPEND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добавляет один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 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в конец другого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533342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COPY</a:t>
                      </a:r>
                      <a:endParaRPr lang="en" sz="10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копирует все или часть содержимого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 в другой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654900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ERASE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удаляет все или часть содержимого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469680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GETLENGTH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возвращает размер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263144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 dirty="0">
                          <a:solidFill>
                            <a:schemeClr val="tx1"/>
                          </a:solidFill>
                          <a:effectLst/>
                        </a:rPr>
                        <a:t>INSTR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 dirty="0">
                          <a:solidFill>
                            <a:schemeClr val="tx1"/>
                          </a:solidFill>
                          <a:effectLst/>
                        </a:rPr>
                        <a:t>ищет "подстроку" в </a:t>
                      </a:r>
                      <a:r>
                        <a:rPr lang="en" sz="1000" cap="none" spc="0" dirty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 dirty="0">
                          <a:solidFill>
                            <a:schemeClr val="tx1"/>
                          </a:solidFill>
                          <a:effectLst/>
                        </a:rPr>
                        <a:t>е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561760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 dirty="0">
                          <a:solidFill>
                            <a:schemeClr val="tx1"/>
                          </a:solidFill>
                          <a:effectLst/>
                        </a:rPr>
                        <a:t>ISOPEN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проверяет, открыт ли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</a:t>
                      </a:r>
                      <a:endParaRPr lang="en" sz="10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952671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 dirty="0">
                          <a:solidFill>
                            <a:schemeClr val="tx1"/>
                          </a:solidFill>
                          <a:effectLst/>
                        </a:rPr>
                        <a:t>ISTEMPORARY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проверяет, временный ли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380529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READ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читает данные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405125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SUBSTR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получает "подстроку" из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1221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TRIM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сокращает размер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а до указанного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55770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WRITE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>
                          <a:solidFill>
                            <a:schemeClr val="tx1"/>
                          </a:solidFill>
                          <a:effectLst/>
                        </a:rPr>
                        <a:t>записывает данные в </a:t>
                      </a:r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LOB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55195"/>
                  </a:ext>
                </a:extLst>
              </a:tr>
              <a:tr h="437310">
                <a:tc>
                  <a:txBody>
                    <a:bodyPr/>
                    <a:lstStyle/>
                    <a:p>
                      <a:r>
                        <a:rPr lang="en" sz="1000" cap="none" spc="0">
                          <a:solidFill>
                            <a:schemeClr val="tx1"/>
                          </a:solidFill>
                          <a:effectLst/>
                        </a:rPr>
                        <a:t>WRITEAPPEND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cap="none" spc="0" dirty="0">
                          <a:solidFill>
                            <a:schemeClr val="tx1"/>
                          </a:solidFill>
                          <a:effectLst/>
                        </a:rPr>
                        <a:t>записывает данные в конец </a:t>
                      </a:r>
                      <a:r>
                        <a:rPr lang="en" sz="1000" cap="none" spc="0" dirty="0">
                          <a:solidFill>
                            <a:schemeClr val="tx1"/>
                          </a:solidFill>
                          <a:effectLst/>
                        </a:rPr>
                        <a:t>LOB'</a:t>
                      </a:r>
                      <a:r>
                        <a:rPr lang="ru-RU" sz="1000" cap="none" spc="0" dirty="0">
                          <a:solidFill>
                            <a:schemeClr val="tx1"/>
                          </a:solidFill>
                          <a:effectLst/>
                        </a:rPr>
                        <a:t>а</a:t>
                      </a:r>
                    </a:p>
                  </a:txBody>
                  <a:tcPr marL="86491" marR="19643" marT="66532" marB="665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2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79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18CBA-CFC1-1346-B40E-8F1470DF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0"/>
            <a:ext cx="8267296" cy="1446550"/>
          </a:xfrm>
        </p:spPr>
        <p:txBody>
          <a:bodyPr/>
          <a:lstStyle/>
          <a:p>
            <a:r>
              <a:rPr lang="en-US" dirty="0"/>
              <a:t>APPEND</a:t>
            </a:r>
            <a:r>
              <a:rPr lang="ru-RU" dirty="0"/>
              <a:t>.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62712-1193-E542-98CF-8E2F2637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22067"/>
            <a:ext cx="6220782" cy="3188586"/>
          </a:xfrm>
        </p:spPr>
        <p:txBody>
          <a:bodyPr/>
          <a:lstStyle/>
          <a:p>
            <a:pPr marL="0" indent="0">
              <a:buNone/>
            </a:pPr>
            <a:r>
              <a:rPr lang="en" dirty="0"/>
              <a:t>--</a:t>
            </a:r>
            <a:r>
              <a:rPr lang="ru-RU" dirty="0"/>
              <a:t>Структура таблицы для примера</a:t>
            </a:r>
            <a:endParaRPr lang="ru-RU" b="1" dirty="0"/>
          </a:p>
          <a:p>
            <a:pPr marL="0" indent="0">
              <a:buNone/>
            </a:pPr>
            <a:r>
              <a:rPr lang="en" b="1" dirty="0"/>
              <a:t>create table t1 (a int, c </a:t>
            </a:r>
            <a:r>
              <a:rPr lang="en" b="1" dirty="0" err="1"/>
              <a:t>clob</a:t>
            </a:r>
            <a:r>
              <a:rPr lang="en" b="1" dirty="0"/>
              <a:t>);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C59B0B-D4EE-974B-9057-B3F59AE558B8}"/>
              </a:ext>
            </a:extLst>
          </p:cNvPr>
          <p:cNvSpPr/>
          <p:nvPr/>
        </p:nvSpPr>
        <p:spPr>
          <a:xfrm>
            <a:off x="6096000" y="2299285"/>
            <a:ext cx="3834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b="1" dirty="0"/>
              <a:t>insert into t1(</a:t>
            </a:r>
            <a:r>
              <a:rPr lang="en" b="1" dirty="0" err="1"/>
              <a:t>a,c</a:t>
            </a:r>
            <a:r>
              <a:rPr lang="en" b="1" dirty="0"/>
              <a:t>) values(1, '</a:t>
            </a:r>
            <a:r>
              <a:rPr lang="en" b="1" dirty="0" err="1"/>
              <a:t>abcde</a:t>
            </a:r>
            <a:r>
              <a:rPr lang="en" b="1" dirty="0"/>
              <a:t>');</a:t>
            </a:r>
            <a:endParaRPr lang="ru-RU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F4BF3D-C557-2848-8CF8-C3BF7D408488}"/>
              </a:ext>
            </a:extLst>
          </p:cNvPr>
          <p:cNvSpPr/>
          <p:nvPr/>
        </p:nvSpPr>
        <p:spPr>
          <a:xfrm>
            <a:off x="282575" y="1006623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--Скрипт примера</a:t>
            </a:r>
          </a:p>
          <a:p>
            <a:r>
              <a:rPr lang="en" dirty="0"/>
              <a:t>declare </a:t>
            </a:r>
            <a:endParaRPr lang="ru-RU" dirty="0"/>
          </a:p>
          <a:p>
            <a:r>
              <a:rPr lang="en" dirty="0"/>
              <a:t>c1 </a:t>
            </a:r>
            <a:r>
              <a:rPr lang="en" dirty="0" err="1"/>
              <a:t>clob</a:t>
            </a:r>
            <a:r>
              <a:rPr lang="en" dirty="0"/>
              <a:t>; </a:t>
            </a:r>
            <a:endParaRPr lang="ru-RU" dirty="0"/>
          </a:p>
          <a:p>
            <a:r>
              <a:rPr lang="en" dirty="0"/>
              <a:t>c2 </a:t>
            </a:r>
            <a:r>
              <a:rPr lang="en" dirty="0" err="1"/>
              <a:t>clob</a:t>
            </a:r>
            <a:r>
              <a:rPr lang="en" dirty="0"/>
              <a:t>; </a:t>
            </a:r>
            <a:endParaRPr lang="ru-RU" dirty="0"/>
          </a:p>
          <a:p>
            <a:r>
              <a:rPr lang="en" dirty="0"/>
              <a:t>begin </a:t>
            </a:r>
            <a:endParaRPr lang="ru-RU" dirty="0"/>
          </a:p>
          <a:p>
            <a:r>
              <a:rPr lang="en" dirty="0"/>
              <a:t>c1 := '</a:t>
            </a:r>
            <a:r>
              <a:rPr lang="en" dirty="0" err="1"/>
              <a:t>abc</a:t>
            </a:r>
            <a:r>
              <a:rPr lang="en" dirty="0"/>
              <a:t>’; </a:t>
            </a:r>
            <a:endParaRPr lang="ru-RU" dirty="0"/>
          </a:p>
          <a:p>
            <a:r>
              <a:rPr lang="en" dirty="0"/>
              <a:t>select c into c2 from t1 where a = 1; </a:t>
            </a:r>
            <a:r>
              <a:rPr lang="en" dirty="0" err="1"/>
              <a:t>dbms_output.put_line</a:t>
            </a:r>
            <a:r>
              <a:rPr lang="en" dirty="0"/>
              <a:t>('c1 before append is ' || c1); </a:t>
            </a:r>
            <a:r>
              <a:rPr lang="en" dirty="0" err="1"/>
              <a:t>dbms_output.put_line</a:t>
            </a:r>
            <a:r>
              <a:rPr lang="en" dirty="0"/>
              <a:t>('c2 before append is ' || c2); </a:t>
            </a:r>
            <a:r>
              <a:rPr lang="en" dirty="0" err="1"/>
              <a:t>dbms_lob.append</a:t>
            </a:r>
            <a:r>
              <a:rPr lang="en" dirty="0"/>
              <a:t>(c1, c2); </a:t>
            </a:r>
            <a:endParaRPr lang="ru-RU" dirty="0"/>
          </a:p>
          <a:p>
            <a:r>
              <a:rPr lang="en" dirty="0" err="1"/>
              <a:t>dbms_output.put_line</a:t>
            </a:r>
            <a:r>
              <a:rPr lang="en" dirty="0"/>
              <a:t>('c1 after append is ' || c1); </a:t>
            </a:r>
            <a:r>
              <a:rPr lang="en" dirty="0" err="1"/>
              <a:t>dbms_output.put_line</a:t>
            </a:r>
            <a:r>
              <a:rPr lang="en" dirty="0"/>
              <a:t>('c2 after append is ' || c2); </a:t>
            </a:r>
            <a:endParaRPr lang="ru-RU" dirty="0"/>
          </a:p>
          <a:p>
            <a:r>
              <a:rPr lang="en" dirty="0"/>
              <a:t>insert into t1 values (2, c1); </a:t>
            </a:r>
            <a:endParaRPr lang="ru-RU" dirty="0"/>
          </a:p>
          <a:p>
            <a:r>
              <a:rPr lang="en" dirty="0"/>
              <a:t>end; </a:t>
            </a:r>
            <a:endParaRPr lang="ru-RU" dirty="0"/>
          </a:p>
          <a:p>
            <a:endParaRPr lang="ru-RU" dirty="0"/>
          </a:p>
          <a:p>
            <a:r>
              <a:rPr lang="ru-RU" dirty="0"/>
              <a:t>ВЫВОД:</a:t>
            </a:r>
          </a:p>
          <a:p>
            <a:r>
              <a:rPr lang="en" dirty="0"/>
              <a:t>c1 before append is </a:t>
            </a:r>
            <a:r>
              <a:rPr lang="en" dirty="0" err="1"/>
              <a:t>abc</a:t>
            </a:r>
            <a:r>
              <a:rPr lang="en" dirty="0"/>
              <a:t> </a:t>
            </a:r>
            <a:endParaRPr lang="ru-RU" dirty="0"/>
          </a:p>
          <a:p>
            <a:r>
              <a:rPr lang="en" dirty="0"/>
              <a:t>c2 before append is </a:t>
            </a:r>
            <a:r>
              <a:rPr lang="en" dirty="0" err="1"/>
              <a:t>abcde</a:t>
            </a:r>
            <a:r>
              <a:rPr lang="en" dirty="0"/>
              <a:t> </a:t>
            </a:r>
            <a:endParaRPr lang="ru-RU" dirty="0"/>
          </a:p>
          <a:p>
            <a:r>
              <a:rPr lang="en" dirty="0"/>
              <a:t>c1 after append is </a:t>
            </a:r>
            <a:r>
              <a:rPr lang="en" dirty="0" err="1"/>
              <a:t>abcabcde</a:t>
            </a:r>
            <a:r>
              <a:rPr lang="en" dirty="0"/>
              <a:t> </a:t>
            </a:r>
            <a:endParaRPr lang="ru-RU" dirty="0"/>
          </a:p>
          <a:p>
            <a:r>
              <a:rPr lang="en" dirty="0"/>
              <a:t>c2 after append is </a:t>
            </a:r>
            <a:r>
              <a:rPr lang="en" dirty="0" err="1"/>
              <a:t>abcde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04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8793F-C68E-724E-8C73-992296AE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</a:t>
            </a:r>
            <a:r>
              <a:rPr lang="ru-RU" dirty="0" err="1"/>
              <a:t>лобов</a:t>
            </a:r>
            <a:r>
              <a:rPr lang="ru-RU" dirty="0"/>
              <a:t> с помощью функции </a:t>
            </a:r>
            <a:r>
              <a:rPr lang="en-US" dirty="0"/>
              <a:t>COMPARE</a:t>
            </a:r>
            <a:r>
              <a:rPr lang="ru-RU" dirty="0"/>
              <a:t>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DA5A47-599A-A64D-BA1E-E70F4388E541}"/>
              </a:ext>
            </a:extLst>
          </p:cNvPr>
          <p:cNvSpPr/>
          <p:nvPr/>
        </p:nvSpPr>
        <p:spPr>
          <a:xfrm>
            <a:off x="653143" y="3067956"/>
            <a:ext cx="753291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Функция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dbms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_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lob.compare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принимает 5 аргументов:</a:t>
            </a:r>
            <a:endParaRPr lang="e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аргумент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1 –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первый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clob</a:t>
            </a:r>
            <a:endParaRPr lang="e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аргумент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2 –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второй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clob</a:t>
            </a:r>
            <a:endParaRPr lang="e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аргумент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3-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количество байтов для сравнения</a:t>
            </a:r>
            <a:endParaRPr lang="e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аргумент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4 -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отступ в символах первого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clob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’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аргумент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5 -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отступ в символах второго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clob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’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</a:p>
          <a:p>
            <a:pPr algn="just"/>
            <a:br>
              <a:rPr lang="en" dirty="0"/>
            </a:b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Возвращаемые значения: -1 если сравниваемые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clob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’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ы или их части не совпадают, 0 – когда совпадают.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722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B2C61BAB-4B72-ED4D-A774-31521D2B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93" y="240414"/>
            <a:ext cx="8267296" cy="26660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" b="1" dirty="0"/>
              <a:t>declare</a:t>
            </a:r>
            <a:br>
              <a:rPr lang="en" b="1" dirty="0"/>
            </a:br>
            <a:r>
              <a:rPr lang="en" b="1" dirty="0"/>
              <a:t>   c1 </a:t>
            </a:r>
            <a:r>
              <a:rPr lang="en" b="1" dirty="0" err="1"/>
              <a:t>clob</a:t>
            </a:r>
            <a:r>
              <a:rPr lang="en" b="1" dirty="0"/>
              <a:t> := '</a:t>
            </a:r>
            <a:r>
              <a:rPr lang="en-US" b="1" dirty="0" err="1"/>
              <a:t>Proverka</a:t>
            </a:r>
            <a:r>
              <a:rPr lang="en" b="1" dirty="0"/>
              <a:t>';</a:t>
            </a:r>
            <a:br>
              <a:rPr lang="en" b="1" dirty="0"/>
            </a:br>
            <a:r>
              <a:rPr lang="en" b="1" dirty="0"/>
              <a:t>   c2 </a:t>
            </a:r>
            <a:r>
              <a:rPr lang="en" b="1" dirty="0" err="1"/>
              <a:t>clob</a:t>
            </a:r>
            <a:r>
              <a:rPr lang="en" b="1" dirty="0"/>
              <a:t> := ’Proverka_1';</a:t>
            </a:r>
            <a:br>
              <a:rPr lang="en" b="1" dirty="0"/>
            </a:br>
            <a:r>
              <a:rPr lang="en" b="1" dirty="0"/>
              <a:t>begin</a:t>
            </a:r>
            <a:br>
              <a:rPr lang="en" b="1" dirty="0"/>
            </a:br>
            <a:r>
              <a:rPr lang="en" b="1" dirty="0"/>
              <a:t>      </a:t>
            </a:r>
            <a:r>
              <a:rPr lang="en" b="1" dirty="0" err="1"/>
              <a:t>dbms_output.put_line</a:t>
            </a:r>
            <a:r>
              <a:rPr lang="en" b="1" dirty="0"/>
              <a:t>(</a:t>
            </a:r>
            <a:r>
              <a:rPr lang="en" b="1" dirty="0" err="1"/>
              <a:t>dbms_lob.compare</a:t>
            </a:r>
            <a:r>
              <a:rPr lang="en" b="1" dirty="0"/>
              <a:t>( c1, c2 ) );</a:t>
            </a:r>
            <a:br>
              <a:rPr lang="en" b="1" dirty="0"/>
            </a:br>
            <a:r>
              <a:rPr lang="en" b="1" dirty="0"/>
              <a:t>end;</a:t>
            </a:r>
            <a:br>
              <a:rPr lang="en" b="1" dirty="0"/>
            </a:br>
            <a:r>
              <a:rPr lang="en" b="1" dirty="0"/>
              <a:t>/</a:t>
            </a:r>
          </a:p>
          <a:p>
            <a:pPr marL="0" indent="0">
              <a:buNone/>
            </a:pPr>
            <a:r>
              <a:rPr lang="ru-RU" dirty="0"/>
              <a:t>Вывод: Функция вернёт в стандартный поток вывода -1, так как </a:t>
            </a:r>
            <a:r>
              <a:rPr lang="en-US" dirty="0" err="1"/>
              <a:t>clob</a:t>
            </a:r>
            <a:r>
              <a:rPr lang="en-US" dirty="0"/>
              <a:t>’</a:t>
            </a:r>
            <a:r>
              <a:rPr lang="ru-RU" dirty="0"/>
              <a:t>ы в данном случае не равны</a:t>
            </a:r>
            <a:r>
              <a:rPr lang="en-US" dirty="0"/>
              <a:t>.</a:t>
            </a: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75CFDF-6FD4-3C4F-851F-5B8D4B6C8C61}"/>
              </a:ext>
            </a:extLst>
          </p:cNvPr>
          <p:cNvSpPr/>
          <p:nvPr/>
        </p:nvSpPr>
        <p:spPr>
          <a:xfrm>
            <a:off x="151493" y="2906486"/>
            <a:ext cx="79801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2400" b="1" dirty="0">
                <a:solidFill>
                  <a:srgbClr val="000000"/>
                </a:solidFill>
              </a:rPr>
              <a:t>declare</a:t>
            </a:r>
            <a:br>
              <a:rPr lang="en" sz="2400" b="1" dirty="0"/>
            </a:br>
            <a:r>
              <a:rPr lang="en" sz="2400" b="1" dirty="0">
                <a:solidFill>
                  <a:srgbClr val="000000"/>
                </a:solidFill>
              </a:rPr>
              <a:t>    c1 </a:t>
            </a:r>
            <a:r>
              <a:rPr lang="en" sz="2400" b="1" dirty="0" err="1">
                <a:solidFill>
                  <a:srgbClr val="000000"/>
                </a:solidFill>
              </a:rPr>
              <a:t>clob</a:t>
            </a:r>
            <a:r>
              <a:rPr lang="en" sz="2400" b="1" dirty="0">
                <a:solidFill>
                  <a:srgbClr val="000000"/>
                </a:solidFill>
              </a:rPr>
              <a:t> := 'dam';</a:t>
            </a:r>
            <a:br>
              <a:rPr lang="en" sz="2400" b="1" dirty="0">
                <a:solidFill>
                  <a:srgbClr val="000000"/>
                </a:solidFill>
              </a:rPr>
            </a:br>
            <a:r>
              <a:rPr lang="en" sz="2400" b="1" dirty="0">
                <a:solidFill>
                  <a:srgbClr val="000000"/>
                </a:solidFill>
              </a:rPr>
              <a:t>   c2 </a:t>
            </a:r>
            <a:r>
              <a:rPr lang="en" sz="2400" b="1" dirty="0" err="1">
                <a:solidFill>
                  <a:srgbClr val="000000"/>
                </a:solidFill>
              </a:rPr>
              <a:t>clob</a:t>
            </a:r>
            <a:r>
              <a:rPr lang="en" sz="2400" b="1" dirty="0">
                <a:solidFill>
                  <a:srgbClr val="000000"/>
                </a:solidFill>
              </a:rPr>
              <a:t> := '</a:t>
            </a:r>
            <a:r>
              <a:rPr lang="en" sz="2400" b="1" dirty="0" err="1">
                <a:solidFill>
                  <a:srgbClr val="000000"/>
                </a:solidFill>
              </a:rPr>
              <a:t>amsterdam</a:t>
            </a:r>
            <a:r>
              <a:rPr lang="en" sz="2400" b="1" dirty="0">
                <a:solidFill>
                  <a:srgbClr val="000000"/>
                </a:solidFill>
              </a:rPr>
              <a:t>';</a:t>
            </a:r>
            <a:br>
              <a:rPr lang="en" sz="2400" b="1" dirty="0">
                <a:solidFill>
                  <a:srgbClr val="000000"/>
                </a:solidFill>
              </a:rPr>
            </a:br>
            <a:r>
              <a:rPr lang="en" sz="2400" b="1" dirty="0">
                <a:solidFill>
                  <a:srgbClr val="000000"/>
                </a:solidFill>
              </a:rPr>
              <a:t>begin</a:t>
            </a:r>
            <a:br>
              <a:rPr lang="en" sz="2400" b="1" dirty="0">
                <a:solidFill>
                  <a:srgbClr val="000000"/>
                </a:solidFill>
              </a:rPr>
            </a:br>
            <a:r>
              <a:rPr lang="en" sz="2400" b="1" dirty="0">
                <a:solidFill>
                  <a:srgbClr val="000000"/>
                </a:solidFill>
              </a:rPr>
              <a:t>      </a:t>
            </a:r>
            <a:r>
              <a:rPr lang="en" sz="2400" b="1" dirty="0" err="1">
                <a:solidFill>
                  <a:srgbClr val="000000"/>
                </a:solidFill>
              </a:rPr>
              <a:t>dbms_output.put_line</a:t>
            </a:r>
            <a:r>
              <a:rPr lang="en" sz="2400" b="1" dirty="0">
                <a:solidFill>
                  <a:srgbClr val="000000"/>
                </a:solidFill>
              </a:rPr>
              <a:t>(</a:t>
            </a:r>
            <a:r>
              <a:rPr lang="en" sz="2400" b="1" dirty="0" err="1">
                <a:solidFill>
                  <a:srgbClr val="000000"/>
                </a:solidFill>
              </a:rPr>
              <a:t>dbms_lob.compare</a:t>
            </a:r>
            <a:r>
              <a:rPr lang="en" sz="2400" b="1" dirty="0">
                <a:solidFill>
                  <a:srgbClr val="000000"/>
                </a:solidFill>
              </a:rPr>
              <a:t>( c1, c2, 3, 1, 7 ) );</a:t>
            </a:r>
            <a:br>
              <a:rPr lang="en" sz="2400" b="1" dirty="0">
                <a:solidFill>
                  <a:srgbClr val="000000"/>
                </a:solidFill>
              </a:rPr>
            </a:br>
            <a:r>
              <a:rPr lang="en" sz="2400" b="1" dirty="0">
                <a:solidFill>
                  <a:srgbClr val="000000"/>
                </a:solidFill>
              </a:rPr>
              <a:t>end;</a:t>
            </a:r>
            <a:br>
              <a:rPr lang="en" sz="2400" b="1" dirty="0">
                <a:solidFill>
                  <a:srgbClr val="000000"/>
                </a:solidFill>
              </a:rPr>
            </a:br>
            <a:r>
              <a:rPr lang="en" sz="2400" b="1" dirty="0">
                <a:solidFill>
                  <a:srgbClr val="000000"/>
                </a:solidFill>
              </a:rPr>
              <a:t>/</a:t>
            </a:r>
          </a:p>
          <a:p>
            <a:r>
              <a:rPr lang="ru-RU" sz="2400" dirty="0">
                <a:solidFill>
                  <a:srgbClr val="000000"/>
                </a:solidFill>
              </a:rPr>
              <a:t>Вывод: Функция вернёт в стандартный поток вывода 0, так как 3 символа при сравнении совпали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9863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3AD5E-5E41-E549-8035-5F27FFCD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77" y="341586"/>
            <a:ext cx="9798051" cy="1446550"/>
          </a:xfrm>
        </p:spPr>
        <p:txBody>
          <a:bodyPr>
            <a:normAutofit fontScale="90000"/>
          </a:bodyPr>
          <a:lstStyle/>
          <a:p>
            <a:r>
              <a:rPr lang="ru-RU" dirty="0"/>
              <a:t> Конвертация </a:t>
            </a:r>
            <a:r>
              <a:rPr lang="en-US" dirty="0"/>
              <a:t>BLOB </a:t>
            </a:r>
            <a:r>
              <a:rPr lang="ru-RU" dirty="0"/>
              <a:t>в </a:t>
            </a:r>
            <a:r>
              <a:rPr lang="en-US" dirty="0"/>
              <a:t>CLOB </a:t>
            </a:r>
            <a:r>
              <a:rPr lang="ru-RU" dirty="0"/>
              <a:t>с помощью</a:t>
            </a:r>
            <a:r>
              <a:rPr lang="en-US" dirty="0"/>
              <a:t> </a:t>
            </a:r>
            <a:r>
              <a:rPr lang="ru-RU" dirty="0"/>
              <a:t>процедуры </a:t>
            </a:r>
            <a:r>
              <a:rPr lang="en-US" dirty="0"/>
              <a:t>CONVERTTOCLOB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799101-F72B-8F4B-90FE-61C81D1D1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978" y="1733695"/>
            <a:ext cx="8267296" cy="5124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200" b="1" dirty="0"/>
              <a:t>create or replace function </a:t>
            </a:r>
            <a:r>
              <a:rPr lang="en" sz="1200" b="1" dirty="0" err="1"/>
              <a:t>v_blobtoclob</a:t>
            </a:r>
            <a:r>
              <a:rPr lang="en" sz="1200" b="1" dirty="0"/>
              <a:t>(</a:t>
            </a:r>
            <a:r>
              <a:rPr lang="en" sz="1200" b="1" dirty="0" err="1"/>
              <a:t>v_blob_in</a:t>
            </a:r>
            <a:r>
              <a:rPr lang="en" sz="1200" b="1" dirty="0"/>
              <a:t> in blob)</a:t>
            </a:r>
            <a:br>
              <a:rPr lang="en" sz="1200" b="1" dirty="0"/>
            </a:br>
            <a:r>
              <a:rPr lang="en" sz="1200" b="1" dirty="0"/>
              <a:t>return </a:t>
            </a:r>
            <a:r>
              <a:rPr lang="en" sz="1200" b="1" dirty="0" err="1"/>
              <a:t>clob</a:t>
            </a:r>
            <a:r>
              <a:rPr lang="en" sz="1200" b="1" dirty="0"/>
              <a:t> is</a:t>
            </a:r>
            <a:br>
              <a:rPr lang="en" sz="1200" b="1" dirty="0"/>
            </a:br>
            <a:r>
              <a:rPr lang="en" sz="1200" b="1" dirty="0" err="1"/>
              <a:t>v_file_clob</a:t>
            </a:r>
            <a:r>
              <a:rPr lang="en" sz="1200" b="1" dirty="0"/>
              <a:t> </a:t>
            </a:r>
            <a:r>
              <a:rPr lang="en" sz="1200" b="1" dirty="0" err="1"/>
              <a:t>clob</a:t>
            </a:r>
            <a:r>
              <a:rPr lang="en" sz="1200" b="1" dirty="0"/>
              <a:t>;</a:t>
            </a:r>
            <a:br>
              <a:rPr lang="en" sz="1200" b="1" dirty="0"/>
            </a:br>
            <a:r>
              <a:rPr lang="en" sz="1200" b="1" dirty="0" err="1"/>
              <a:t>v_file_size</a:t>
            </a:r>
            <a:r>
              <a:rPr lang="en" sz="1200" b="1" dirty="0"/>
              <a:t> integer := </a:t>
            </a:r>
            <a:r>
              <a:rPr lang="en" sz="1200" b="1" dirty="0" err="1"/>
              <a:t>dbms_lob.lobmaxsize</a:t>
            </a:r>
            <a:r>
              <a:rPr lang="en" sz="1200" b="1" dirty="0"/>
              <a:t>;</a:t>
            </a:r>
            <a:br>
              <a:rPr lang="en" sz="1200" b="1" dirty="0"/>
            </a:br>
            <a:r>
              <a:rPr lang="en" sz="1200" b="1" dirty="0" err="1"/>
              <a:t>v_dest_offset</a:t>
            </a:r>
            <a:r>
              <a:rPr lang="en" sz="1200" b="1" dirty="0"/>
              <a:t> integer := 1;</a:t>
            </a:r>
            <a:br>
              <a:rPr lang="en" sz="1200" b="1" dirty="0"/>
            </a:br>
            <a:r>
              <a:rPr lang="en" sz="1200" b="1" dirty="0" err="1"/>
              <a:t>v_src_offset</a:t>
            </a:r>
            <a:r>
              <a:rPr lang="en" sz="1200" b="1" dirty="0"/>
              <a:t> integer := 1;</a:t>
            </a:r>
            <a:br>
              <a:rPr lang="en" sz="1200" b="1" dirty="0"/>
            </a:br>
            <a:r>
              <a:rPr lang="en" sz="1200" b="1" dirty="0" err="1"/>
              <a:t>v_blob_csid</a:t>
            </a:r>
            <a:r>
              <a:rPr lang="en" sz="1200" b="1" dirty="0"/>
              <a:t> number := </a:t>
            </a:r>
            <a:r>
              <a:rPr lang="en" sz="1200" b="1" dirty="0" err="1"/>
              <a:t>dbms_lob.default_csid</a:t>
            </a:r>
            <a:r>
              <a:rPr lang="en" sz="1200" b="1" dirty="0"/>
              <a:t>;</a:t>
            </a:r>
            <a:br>
              <a:rPr lang="en" sz="1200" b="1" dirty="0"/>
            </a:br>
            <a:r>
              <a:rPr lang="en" sz="1200" b="1" dirty="0" err="1"/>
              <a:t>v_lang_context</a:t>
            </a:r>
            <a:r>
              <a:rPr lang="en" sz="1200" b="1" dirty="0"/>
              <a:t> number := </a:t>
            </a:r>
            <a:r>
              <a:rPr lang="en" sz="1200" b="1" dirty="0" err="1"/>
              <a:t>dbms_lob.default_lang_ctx</a:t>
            </a:r>
            <a:r>
              <a:rPr lang="en" sz="1200" b="1" dirty="0"/>
              <a:t>;</a:t>
            </a:r>
            <a:br>
              <a:rPr lang="en" sz="1200" b="1" dirty="0"/>
            </a:br>
            <a:r>
              <a:rPr lang="en" sz="1200" b="1" dirty="0" err="1"/>
              <a:t>v_warning</a:t>
            </a:r>
            <a:r>
              <a:rPr lang="en" sz="1200" b="1" dirty="0"/>
              <a:t> integer;</a:t>
            </a:r>
            <a:br>
              <a:rPr lang="en" sz="1200" b="1" dirty="0"/>
            </a:br>
            <a:r>
              <a:rPr lang="en" sz="1200" b="1" dirty="0" err="1"/>
              <a:t>v_length</a:t>
            </a:r>
            <a:r>
              <a:rPr lang="en" sz="1200" b="1" dirty="0"/>
              <a:t> number;</a:t>
            </a:r>
            <a:br>
              <a:rPr lang="en" sz="1200" b="1" dirty="0"/>
            </a:br>
            <a:br>
              <a:rPr lang="en" sz="1200" b="1" dirty="0"/>
            </a:br>
            <a:r>
              <a:rPr lang="en" sz="1200" b="1" dirty="0"/>
              <a:t>begin</a:t>
            </a:r>
            <a:br>
              <a:rPr lang="en" sz="1200" b="1" dirty="0"/>
            </a:br>
            <a:r>
              <a:rPr lang="en" sz="1200" b="1" dirty="0" err="1"/>
              <a:t>dbms_lob.createtemporary</a:t>
            </a:r>
            <a:r>
              <a:rPr lang="en" sz="1200" b="1" dirty="0"/>
              <a:t>(</a:t>
            </a:r>
            <a:r>
              <a:rPr lang="en" sz="1200" b="1" dirty="0" err="1"/>
              <a:t>v_file_clob</a:t>
            </a:r>
            <a:r>
              <a:rPr lang="en" sz="1200" b="1" dirty="0"/>
              <a:t>, true);</a:t>
            </a:r>
            <a:br>
              <a:rPr lang="en" sz="1200" b="1" dirty="0"/>
            </a:br>
            <a:r>
              <a:rPr lang="en" sz="1200" b="1" dirty="0" err="1"/>
              <a:t>dbms_lob.converttoclob</a:t>
            </a:r>
            <a:r>
              <a:rPr lang="en" sz="1200" b="1" dirty="0"/>
              <a:t>(</a:t>
            </a:r>
            <a:r>
              <a:rPr lang="en" sz="1200" b="1" dirty="0" err="1"/>
              <a:t>v_file_clob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v_blob_in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v_file_size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v_dest_offset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v_src_offset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v_blob_csid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v_lang_context</a:t>
            </a:r>
            <a:r>
              <a:rPr lang="en" sz="1200" b="1" dirty="0"/>
              <a:t>,</a:t>
            </a:r>
            <a:br>
              <a:rPr lang="en" sz="1200" b="1" dirty="0"/>
            </a:br>
            <a:r>
              <a:rPr lang="en" sz="1200" b="1" dirty="0" err="1"/>
              <a:t>v_warning</a:t>
            </a:r>
            <a:r>
              <a:rPr lang="en" sz="1200" b="1" dirty="0"/>
              <a:t>);</a:t>
            </a:r>
            <a:br>
              <a:rPr lang="en" sz="1200" b="1" dirty="0"/>
            </a:br>
            <a:r>
              <a:rPr lang="en" sz="1200" b="1" dirty="0"/>
              <a:t>return </a:t>
            </a:r>
            <a:r>
              <a:rPr lang="en" sz="1200" b="1" dirty="0" err="1"/>
              <a:t>v_file_clob</a:t>
            </a:r>
            <a:r>
              <a:rPr lang="en" sz="1200" b="1" dirty="0"/>
              <a:t>;</a:t>
            </a:r>
            <a:br>
              <a:rPr lang="en" sz="1200" b="1" dirty="0"/>
            </a:br>
            <a:r>
              <a:rPr lang="en" sz="1200" b="1" dirty="0"/>
              <a:t>exception</a:t>
            </a:r>
            <a:br>
              <a:rPr lang="en" sz="1200" b="1" dirty="0"/>
            </a:br>
            <a:r>
              <a:rPr lang="en" sz="1200" b="1" dirty="0"/>
              <a:t>when others then</a:t>
            </a:r>
            <a:br>
              <a:rPr lang="en" sz="1200" b="1" dirty="0"/>
            </a:br>
            <a:r>
              <a:rPr lang="en" sz="1200" b="1" dirty="0" err="1"/>
              <a:t>dbms_output.put_line</a:t>
            </a:r>
            <a:r>
              <a:rPr lang="en" sz="1200" b="1" dirty="0"/>
              <a:t>('Error found');</a:t>
            </a:r>
            <a:br>
              <a:rPr lang="en" sz="1200" b="1" dirty="0"/>
            </a:br>
            <a:r>
              <a:rPr lang="en" sz="1200" b="1" dirty="0"/>
              <a:t>end;</a:t>
            </a:r>
            <a:br>
              <a:rPr lang="en" sz="1200" b="1" dirty="0"/>
            </a:br>
            <a:r>
              <a:rPr lang="en" sz="1200" b="1" dirty="0"/>
              <a:t>/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481081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9AB20-B37A-3C49-8123-EAECFEEC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204720"/>
            <a:ext cx="8883651" cy="1810623"/>
          </a:xfrm>
        </p:spPr>
        <p:txBody>
          <a:bodyPr>
            <a:normAutofit fontScale="90000"/>
          </a:bodyPr>
          <a:lstStyle/>
          <a:p>
            <a:pPr algn="just"/>
            <a:r>
              <a:rPr lang="ru-RU" dirty="0"/>
              <a:t>Алгоритм чтения или изменения постоянного </a:t>
            </a:r>
            <a:r>
              <a:rPr lang="en" dirty="0"/>
              <a:t>LOB'</a:t>
            </a:r>
            <a:r>
              <a:rPr lang="ru-RU" dirty="0"/>
              <a:t>а с помощью </a:t>
            </a:r>
            <a:r>
              <a:rPr lang="en" dirty="0"/>
              <a:t>PL/SQL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CA407F-CDDF-7941-8F57-5499732B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637209"/>
            <a:ext cx="8676822" cy="3188586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Извлечь указатель на </a:t>
            </a:r>
            <a:r>
              <a:rPr lang="en" dirty="0"/>
              <a:t>LOB </a:t>
            </a:r>
            <a:r>
              <a:rPr lang="ru-RU" dirty="0"/>
              <a:t>из столбца таблицы с помощью </a:t>
            </a:r>
            <a:r>
              <a:rPr lang="en" dirty="0"/>
              <a:t>SELECT.</a:t>
            </a:r>
          </a:p>
          <a:p>
            <a:r>
              <a:rPr lang="ru-RU" dirty="0"/>
              <a:t>Открыть большой объект с помощью </a:t>
            </a:r>
            <a:r>
              <a:rPr lang="en" dirty="0"/>
              <a:t>DBMS_LOB.OPEN.</a:t>
            </a:r>
          </a:p>
          <a:p>
            <a:r>
              <a:rPr lang="ru-RU" dirty="0"/>
              <a:t>Получить оптимальный размер фрагмента для чтения (записи) </a:t>
            </a:r>
            <a:r>
              <a:rPr lang="en" dirty="0"/>
              <a:t>LOB </a:t>
            </a:r>
            <a:r>
              <a:rPr lang="ru-RU" dirty="0"/>
              <a:t>с помощью </a:t>
            </a:r>
            <a:r>
              <a:rPr lang="en" dirty="0"/>
              <a:t>DBMS_LOB.GETCHUNKSIZE</a:t>
            </a:r>
          </a:p>
          <a:p>
            <a:r>
              <a:rPr lang="ru-RU" dirty="0"/>
              <a:t>Получить размер </a:t>
            </a:r>
            <a:r>
              <a:rPr lang="en" dirty="0"/>
              <a:t>LOB'</a:t>
            </a:r>
            <a:r>
              <a:rPr lang="ru-RU" dirty="0"/>
              <a:t>а в байтах (для </a:t>
            </a:r>
            <a:r>
              <a:rPr lang="en" dirty="0"/>
              <a:t>BLOB </a:t>
            </a:r>
            <a:r>
              <a:rPr lang="ru-RU" dirty="0"/>
              <a:t>и </a:t>
            </a:r>
            <a:r>
              <a:rPr lang="en" dirty="0"/>
              <a:t>BFILE) </a:t>
            </a:r>
            <a:r>
              <a:rPr lang="ru-RU" dirty="0"/>
              <a:t>или символах (для </a:t>
            </a:r>
            <a:r>
              <a:rPr lang="en" dirty="0"/>
              <a:t>CLOB </a:t>
            </a:r>
            <a:r>
              <a:rPr lang="ru-RU" dirty="0"/>
              <a:t>и </a:t>
            </a:r>
            <a:r>
              <a:rPr lang="en" dirty="0"/>
              <a:t>NCLOB) </a:t>
            </a:r>
            <a:r>
              <a:rPr lang="ru-RU" dirty="0"/>
              <a:t>с помощью </a:t>
            </a:r>
            <a:r>
              <a:rPr lang="en" dirty="0"/>
              <a:t>DBMS_LOB.GETLENGTH.</a:t>
            </a:r>
          </a:p>
          <a:p>
            <a:r>
              <a:rPr lang="ru-RU" dirty="0"/>
              <a:t>Многократно вызывать </a:t>
            </a:r>
            <a:r>
              <a:rPr lang="en" dirty="0"/>
              <a:t>DBMS_LOB.READ </a:t>
            </a:r>
            <a:r>
              <a:rPr lang="ru-RU" dirty="0"/>
              <a:t>для чтения последовательных фрагментов </a:t>
            </a:r>
            <a:r>
              <a:rPr lang="en" dirty="0"/>
              <a:t>LOB'</a:t>
            </a:r>
            <a:r>
              <a:rPr lang="ru-RU" dirty="0"/>
              <a:t>а, пока не будут извлечены все данные</a:t>
            </a:r>
            <a:br>
              <a:rPr lang="ru-RU" dirty="0"/>
            </a:br>
            <a:r>
              <a:rPr lang="ru-RU" dirty="0"/>
              <a:t>ИЛИ</a:t>
            </a:r>
            <a:br>
              <a:rPr lang="ru-RU" dirty="0"/>
            </a:br>
            <a:r>
              <a:rPr lang="ru-RU" dirty="0"/>
              <a:t>многократно вызывать </a:t>
            </a:r>
            <a:r>
              <a:rPr lang="en" dirty="0"/>
              <a:t>DBMS_LOB.WRITE, </a:t>
            </a:r>
            <a:r>
              <a:rPr lang="ru-RU" dirty="0"/>
              <a:t>со смещением, или </a:t>
            </a:r>
            <a:r>
              <a:rPr lang="en" dirty="0"/>
              <a:t>DBMS_LOB.WRITEAPPEND </a:t>
            </a:r>
            <a:r>
              <a:rPr lang="ru-RU" dirty="0"/>
              <a:t>или иные процедуры </a:t>
            </a:r>
            <a:r>
              <a:rPr lang="en" dirty="0"/>
              <a:t>DBMS_LOB </a:t>
            </a:r>
            <a:r>
              <a:rPr lang="ru-RU" dirty="0"/>
              <a:t>для записи фрагментов данных.</a:t>
            </a:r>
          </a:p>
          <a:p>
            <a:pPr algn="just"/>
            <a:r>
              <a:rPr lang="ru-RU" dirty="0"/>
              <a:t>Закрыть </a:t>
            </a:r>
            <a:r>
              <a:rPr lang="en" dirty="0"/>
              <a:t>LOB </a:t>
            </a:r>
            <a:r>
              <a:rPr lang="ru-RU" dirty="0"/>
              <a:t>с помощью </a:t>
            </a:r>
            <a:r>
              <a:rPr lang="en" dirty="0"/>
              <a:t>DBMS_LOB.CLOSE.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1591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93AE0-93BD-BC4E-AD6E-70932B6EF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257664"/>
            <a:ext cx="8267296" cy="1446550"/>
          </a:xfrm>
        </p:spPr>
        <p:txBody>
          <a:bodyPr>
            <a:normAutofit fontScale="90000"/>
          </a:bodyPr>
          <a:lstStyle/>
          <a:p>
            <a:r>
              <a:rPr lang="ru-RU" dirty="0"/>
              <a:t>Выгрузка данных из постоянного </a:t>
            </a:r>
            <a:r>
              <a:rPr lang="en" dirty="0"/>
              <a:t>CLOB'</a:t>
            </a:r>
            <a:r>
              <a:rPr lang="ru-RU" dirty="0"/>
              <a:t>а во внешний файл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68CDB2-29D5-EF42-ADB7-F73A96921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1704215"/>
            <a:ext cx="10298793" cy="5153786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50000"/>
              </a:lnSpc>
              <a:buNone/>
            </a:pPr>
            <a:r>
              <a:rPr lang="ru-RU" sz="5600" dirty="0"/>
              <a:t>Создание и объявление рабочей директории для внешних файлов:</a:t>
            </a:r>
            <a:endParaRPr lang="en" sz="5600" dirty="0"/>
          </a:p>
          <a:p>
            <a:pPr marL="0" indent="0">
              <a:lnSpc>
                <a:spcPct val="50000"/>
              </a:lnSpc>
              <a:buNone/>
            </a:pPr>
            <a:r>
              <a:rPr lang="en" sz="5600" b="1" dirty="0"/>
              <a:t>create directory </a:t>
            </a:r>
            <a:r>
              <a:rPr lang="en" sz="5600" b="1" dirty="0" err="1"/>
              <a:t>files_dir</a:t>
            </a:r>
            <a:r>
              <a:rPr lang="en" sz="5600" b="1" dirty="0"/>
              <a:t> as ‘/desktop/</a:t>
            </a:r>
            <a:r>
              <a:rPr lang="en" sz="5600" b="1" dirty="0" err="1"/>
              <a:t>oracle_scripts</a:t>
            </a:r>
            <a:r>
              <a:rPr lang="en" sz="5600" b="1" dirty="0"/>
              <a:t>’;</a:t>
            </a:r>
            <a:endParaRPr lang="ru-RU" sz="5600" b="1" dirty="0"/>
          </a:p>
          <a:p>
            <a:pPr marL="0" indent="0">
              <a:lnSpc>
                <a:spcPct val="50000"/>
              </a:lnSpc>
              <a:buNone/>
            </a:pPr>
            <a:r>
              <a:rPr lang="ru-RU" sz="5600" dirty="0"/>
              <a:t>Скрипт выгрузки файлов:</a:t>
            </a:r>
          </a:p>
          <a:p>
            <a:pPr marL="0" indent="0">
              <a:lnSpc>
                <a:spcPct val="50000"/>
              </a:lnSpc>
              <a:buNone/>
            </a:pPr>
            <a:endParaRPr lang="ru-RU" sz="5600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declare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l_clob</a:t>
            </a:r>
            <a:r>
              <a:rPr lang="en" sz="5600" b="1" dirty="0"/>
              <a:t> </a:t>
            </a:r>
            <a:r>
              <a:rPr lang="en" sz="5600" b="1" dirty="0" err="1"/>
              <a:t>clob</a:t>
            </a:r>
            <a:r>
              <a:rPr lang="en" sz="5600" b="1" dirty="0"/>
              <a:t>;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 </a:t>
            </a:r>
            <a:r>
              <a:rPr lang="en" sz="5600" b="1" dirty="0" err="1"/>
              <a:t>l_clob_len</a:t>
            </a:r>
            <a:r>
              <a:rPr lang="en" sz="5600" b="1" dirty="0"/>
              <a:t> </a:t>
            </a:r>
            <a:r>
              <a:rPr lang="en" sz="5600" b="1" dirty="0" err="1"/>
              <a:t>pls_integer</a:t>
            </a:r>
            <a:r>
              <a:rPr lang="en" sz="5600" b="1" dirty="0"/>
              <a:t>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l_file</a:t>
            </a:r>
            <a:r>
              <a:rPr lang="en" sz="5600" b="1" dirty="0"/>
              <a:t> </a:t>
            </a:r>
            <a:r>
              <a:rPr lang="en" sz="5600" b="1" dirty="0" err="1"/>
              <a:t>utl_file.file_type</a:t>
            </a:r>
            <a:r>
              <a:rPr lang="en" sz="5600" b="1" dirty="0"/>
              <a:t>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l_buffer</a:t>
            </a:r>
            <a:r>
              <a:rPr lang="en" sz="5600" b="1" dirty="0"/>
              <a:t> varchar2(32767);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 </a:t>
            </a:r>
            <a:r>
              <a:rPr lang="en" sz="5600" b="1" dirty="0" err="1"/>
              <a:t>l_amount</a:t>
            </a:r>
            <a:r>
              <a:rPr lang="en" sz="5600" b="1" dirty="0"/>
              <a:t> </a:t>
            </a:r>
            <a:r>
              <a:rPr lang="en" sz="5600" b="1" dirty="0" err="1"/>
              <a:t>pls_integer</a:t>
            </a:r>
            <a:r>
              <a:rPr lang="en" sz="5600" b="1" dirty="0"/>
              <a:t>;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 </a:t>
            </a:r>
            <a:r>
              <a:rPr lang="en" sz="5600" b="1" dirty="0" err="1"/>
              <a:t>l_pos</a:t>
            </a:r>
            <a:r>
              <a:rPr lang="en" sz="5600" b="1" dirty="0"/>
              <a:t> </a:t>
            </a:r>
            <a:r>
              <a:rPr lang="en" sz="5600" b="1" dirty="0" err="1"/>
              <a:t>binary_integer</a:t>
            </a:r>
            <a:r>
              <a:rPr lang="en" sz="5600" b="1" dirty="0"/>
              <a:t> := 1;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begin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select </a:t>
            </a:r>
            <a:r>
              <a:rPr lang="en" sz="5600" b="1" dirty="0" err="1"/>
              <a:t>clob_col</a:t>
            </a:r>
            <a:r>
              <a:rPr lang="en" sz="5600" b="1" dirty="0"/>
              <a:t> into </a:t>
            </a:r>
            <a:r>
              <a:rPr lang="en" sz="5600" b="1" dirty="0" err="1"/>
              <a:t>l_clob</a:t>
            </a:r>
            <a:r>
              <a:rPr lang="en" sz="5600" b="1" dirty="0"/>
              <a:t> from </a:t>
            </a:r>
            <a:r>
              <a:rPr lang="en" sz="5600" b="1" dirty="0" err="1"/>
              <a:t>lobs_tab</a:t>
            </a:r>
            <a:r>
              <a:rPr lang="en" sz="5600" b="1" dirty="0"/>
              <a:t> where id = 1;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l_clob_len</a:t>
            </a:r>
            <a:r>
              <a:rPr lang="en" sz="5600" b="1" dirty="0"/>
              <a:t> := </a:t>
            </a:r>
            <a:r>
              <a:rPr lang="en" sz="5600" b="1" dirty="0" err="1"/>
              <a:t>dbms_lob.getlength</a:t>
            </a:r>
            <a:r>
              <a:rPr lang="en" sz="5600" b="1" dirty="0"/>
              <a:t>(</a:t>
            </a:r>
            <a:r>
              <a:rPr lang="en" sz="5600" b="1" dirty="0" err="1"/>
              <a:t>l_clob</a:t>
            </a:r>
            <a:r>
              <a:rPr lang="en" sz="5600" b="1" dirty="0"/>
              <a:t>);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l_amount</a:t>
            </a:r>
            <a:r>
              <a:rPr lang="en" sz="5600" b="1" dirty="0"/>
              <a:t> := least(</a:t>
            </a:r>
            <a:r>
              <a:rPr lang="en" sz="5600" b="1" dirty="0" err="1"/>
              <a:t>dbms_lob.getchunksize</a:t>
            </a:r>
            <a:r>
              <a:rPr lang="en" sz="5600" b="1" dirty="0"/>
              <a:t>(</a:t>
            </a:r>
            <a:r>
              <a:rPr lang="en" sz="5600" b="1" dirty="0" err="1"/>
              <a:t>l_clob</a:t>
            </a:r>
            <a:r>
              <a:rPr lang="en" sz="5600" b="1" dirty="0"/>
              <a:t>), floor(32767 / 4) /*utf-8*/);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l_file</a:t>
            </a:r>
            <a:r>
              <a:rPr lang="en" sz="5600" b="1" dirty="0"/>
              <a:t> := </a:t>
            </a:r>
            <a:r>
              <a:rPr lang="en" sz="5600" b="1" dirty="0" err="1"/>
              <a:t>utl_file.fopen</a:t>
            </a:r>
            <a:r>
              <a:rPr lang="en" sz="5600" b="1" dirty="0"/>
              <a:t>('FILES_DIR', 'clob_col1.txt', '</a:t>
            </a:r>
            <a:r>
              <a:rPr lang="en" sz="5600" b="1" dirty="0" err="1"/>
              <a:t>wb</a:t>
            </a:r>
            <a:r>
              <a:rPr lang="en" sz="5600" b="1" dirty="0"/>
              <a:t>', 32767);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while </a:t>
            </a:r>
            <a:r>
              <a:rPr lang="en" sz="5600" b="1" dirty="0" err="1"/>
              <a:t>l_pos</a:t>
            </a:r>
            <a:r>
              <a:rPr lang="en" sz="5600" b="1" dirty="0"/>
              <a:t> &lt; </a:t>
            </a:r>
            <a:r>
              <a:rPr lang="en" sz="5600" b="1" dirty="0" err="1"/>
              <a:t>l_clob_len</a:t>
            </a:r>
            <a:r>
              <a:rPr lang="en" sz="5600" b="1" dirty="0"/>
              <a:t> loop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dbms_lob.read</a:t>
            </a:r>
            <a:r>
              <a:rPr lang="en" sz="5600" b="1" dirty="0"/>
              <a:t>(</a:t>
            </a:r>
            <a:r>
              <a:rPr lang="en" sz="5600" b="1" dirty="0" err="1"/>
              <a:t>l_clob</a:t>
            </a:r>
            <a:r>
              <a:rPr lang="en" sz="5600" b="1" dirty="0"/>
              <a:t>, </a:t>
            </a:r>
            <a:r>
              <a:rPr lang="en" sz="5600" b="1" dirty="0" err="1"/>
              <a:t>l_amount</a:t>
            </a:r>
            <a:r>
              <a:rPr lang="en" sz="5600" b="1" dirty="0"/>
              <a:t>, </a:t>
            </a:r>
            <a:r>
              <a:rPr lang="en" sz="5600" b="1" dirty="0" err="1"/>
              <a:t>l_pos</a:t>
            </a:r>
            <a:r>
              <a:rPr lang="en" sz="5600" b="1" dirty="0"/>
              <a:t>, </a:t>
            </a:r>
            <a:r>
              <a:rPr lang="en" sz="5600" b="1" dirty="0" err="1"/>
              <a:t>l_buffer</a:t>
            </a:r>
            <a:r>
              <a:rPr lang="en" sz="5600" b="1" dirty="0"/>
              <a:t>);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utl_file.put_raw</a:t>
            </a:r>
            <a:r>
              <a:rPr lang="en" sz="5600" b="1" dirty="0"/>
              <a:t>(</a:t>
            </a:r>
            <a:r>
              <a:rPr lang="en" sz="5600" b="1" dirty="0" err="1"/>
              <a:t>l_file</a:t>
            </a:r>
            <a:r>
              <a:rPr lang="en" sz="5600" b="1" dirty="0"/>
              <a:t>, </a:t>
            </a:r>
            <a:r>
              <a:rPr lang="en" sz="5600" b="1" dirty="0" err="1"/>
              <a:t>utl_raw.cast_to_raw</a:t>
            </a:r>
            <a:r>
              <a:rPr lang="en" sz="5600" b="1" dirty="0"/>
              <a:t>(</a:t>
            </a:r>
            <a:r>
              <a:rPr lang="en" sz="5600" b="1" dirty="0" err="1"/>
              <a:t>l_buffer</a:t>
            </a:r>
            <a:r>
              <a:rPr lang="en" sz="5600" b="1" dirty="0"/>
              <a:t>), true);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l_pos</a:t>
            </a:r>
            <a:r>
              <a:rPr lang="en" sz="5600" b="1" dirty="0"/>
              <a:t> := </a:t>
            </a:r>
            <a:r>
              <a:rPr lang="en" sz="5600" b="1" dirty="0" err="1"/>
              <a:t>l_pos</a:t>
            </a:r>
            <a:r>
              <a:rPr lang="en" sz="5600" b="1" dirty="0"/>
              <a:t> + </a:t>
            </a:r>
            <a:r>
              <a:rPr lang="en" sz="5600" b="1" dirty="0" err="1"/>
              <a:t>l_amount</a:t>
            </a:r>
            <a:r>
              <a:rPr lang="en" sz="5600" b="1" dirty="0"/>
              <a:t>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end loop;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 err="1"/>
              <a:t>utl_file.fclose</a:t>
            </a:r>
            <a:r>
              <a:rPr lang="en" sz="5600" b="1" dirty="0"/>
              <a:t>(</a:t>
            </a:r>
            <a:r>
              <a:rPr lang="en" sz="5600" b="1" dirty="0" err="1"/>
              <a:t>l_file</a:t>
            </a:r>
            <a:r>
              <a:rPr lang="en" sz="5600" b="1" dirty="0"/>
              <a:t>); </a:t>
            </a:r>
            <a:endParaRPr lang="ru-RU" sz="5600" b="1" dirty="0"/>
          </a:p>
          <a:p>
            <a:pPr marL="0" indent="0" algn="just">
              <a:lnSpc>
                <a:spcPct val="50000"/>
              </a:lnSpc>
              <a:buNone/>
            </a:pPr>
            <a:r>
              <a:rPr lang="en" sz="5600" b="1" dirty="0"/>
              <a:t>end; </a:t>
            </a:r>
            <a:endParaRPr lang="ru-RU" sz="5600" b="1" dirty="0"/>
          </a:p>
          <a:p>
            <a:pPr marL="0" indent="0">
              <a:lnSpc>
                <a:spcPct val="50000"/>
              </a:lnSpc>
              <a:buNone/>
            </a:pPr>
            <a:r>
              <a:rPr lang="en" sz="5600" b="1" dirty="0"/>
              <a:t>/</a:t>
            </a:r>
            <a:endParaRPr lang="ru-RU" sz="5600" b="1" dirty="0"/>
          </a:p>
        </p:txBody>
      </p:sp>
    </p:spTree>
    <p:extLst>
      <p:ext uri="{BB962C8B-B14F-4D97-AF65-F5344CB8AC3E}">
        <p14:creationId xmlns:p14="http://schemas.microsoft.com/office/powerpoint/2010/main" val="167754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012AC-B262-604D-9EAB-1836E3EB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59692"/>
            <a:ext cx="7555594" cy="1446550"/>
          </a:xfrm>
        </p:spPr>
        <p:txBody>
          <a:bodyPr/>
          <a:lstStyle/>
          <a:p>
            <a:r>
              <a:rPr lang="ru-RU" dirty="0"/>
              <a:t>Выгрузка данных из </a:t>
            </a:r>
            <a:r>
              <a:rPr lang="en-US" dirty="0"/>
              <a:t>BFILE </a:t>
            </a:r>
            <a:r>
              <a:rPr lang="ru-RU" dirty="0"/>
              <a:t>во временный </a:t>
            </a:r>
            <a:r>
              <a:rPr lang="en-US" dirty="0"/>
              <a:t>BLOB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F7FDE-D5E6-5A46-83C3-8339121F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9" y="1733696"/>
            <a:ext cx="11115221" cy="3188586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l_bfile_len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pls_integer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l_blob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blob;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l_buffer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raw(32767);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l_amount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pls_integer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32767;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l_pos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pls_integer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1;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begin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bfilename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('FILES_DIR', 'clob_col1.txt’);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dbms_lob.open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dbms_lob.lob_readonly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l_bfile_len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dbms_lob.getlength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dbms_lob.createtemporary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l_blob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TRUE);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while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l_pos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l_bfile_len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loop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dbms_lob.read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l_amount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l_pos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l_buffer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dbms_lob.writeappend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l_blob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l_amount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l_buffer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l_pos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l_pos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l_amount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end loop;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dbms_output.put_line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l_bfile_len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|| ' : ‘ ||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dbms_lob.getlength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l_blob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dbms_lob.freetemporary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l_blob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dbms_lob.close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l_bfile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end; 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endParaRPr lang="ru-RU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90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E8F21-C566-054B-904C-3E2CCB8D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78" y="0"/>
            <a:ext cx="8267296" cy="1446550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Упрощенная запись </a:t>
            </a:r>
            <a:r>
              <a:rPr lang="en" sz="2400" dirty="0"/>
              <a:t>BFILE</a:t>
            </a:r>
            <a:r>
              <a:rPr lang="ru-RU" sz="2400" dirty="0"/>
              <a:t> в </a:t>
            </a:r>
            <a:r>
              <a:rPr lang="en-US" sz="2400" dirty="0"/>
              <a:t>CLOB </a:t>
            </a:r>
            <a:r>
              <a:rPr lang="ru-RU" sz="2400" dirty="0"/>
              <a:t>и </a:t>
            </a:r>
            <a:r>
              <a:rPr lang="en-US" sz="2400" dirty="0"/>
              <a:t>BLOB</a:t>
            </a:r>
            <a:r>
              <a:rPr lang="ru-RU" sz="2400" dirty="0"/>
              <a:t> с помощью функций </a:t>
            </a:r>
            <a:r>
              <a:rPr lang="en-US" sz="2400" dirty="0"/>
              <a:t>LOADCLOBFROMFILE </a:t>
            </a:r>
            <a:r>
              <a:rPr lang="ru-RU" sz="2400" dirty="0"/>
              <a:t>и </a:t>
            </a:r>
            <a:r>
              <a:rPr lang="en-US" sz="2400" dirty="0"/>
              <a:t>LOADBLOBFROMFILE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6B6567-CBEA-A140-A88C-CF608C31F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78" y="862348"/>
            <a:ext cx="8267296" cy="3188586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Declare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 </a:t>
            </a:r>
            <a:r>
              <a:rPr lang="en" sz="1200" b="1" dirty="0" err="1"/>
              <a:t>l_clob</a:t>
            </a:r>
            <a:r>
              <a:rPr lang="en" sz="1200" b="1" dirty="0"/>
              <a:t> </a:t>
            </a:r>
            <a:r>
              <a:rPr lang="en" sz="1200" b="1" dirty="0" err="1"/>
              <a:t>clob</a:t>
            </a:r>
            <a:r>
              <a:rPr lang="en" sz="1200" b="1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 </a:t>
            </a:r>
            <a:r>
              <a:rPr lang="en" sz="1200" b="1" dirty="0" err="1"/>
              <a:t>l_bfile</a:t>
            </a:r>
            <a:r>
              <a:rPr lang="en" sz="1200" b="1" dirty="0"/>
              <a:t> </a:t>
            </a:r>
            <a:r>
              <a:rPr lang="en" sz="1200" b="1" dirty="0" err="1"/>
              <a:t>bfile</a:t>
            </a:r>
            <a:r>
              <a:rPr lang="en" sz="1200" b="1" dirty="0"/>
              <a:t>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l_dest_offset</a:t>
            </a:r>
            <a:r>
              <a:rPr lang="en" sz="1200" b="1" dirty="0"/>
              <a:t> number;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l_src_offset</a:t>
            </a:r>
            <a:r>
              <a:rPr lang="en" sz="1200" b="1" dirty="0"/>
              <a:t> number;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l_lang_ctx</a:t>
            </a:r>
            <a:r>
              <a:rPr lang="en" sz="1200" b="1" dirty="0"/>
              <a:t> number := 0;  -- the default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l_warning</a:t>
            </a:r>
            <a:r>
              <a:rPr lang="en" sz="1200" b="1" dirty="0"/>
              <a:t> number;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 begin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l_bfile</a:t>
            </a:r>
            <a:r>
              <a:rPr lang="en" sz="1200" b="1" dirty="0"/>
              <a:t> := </a:t>
            </a:r>
            <a:r>
              <a:rPr lang="en" sz="1200" b="1" dirty="0" err="1"/>
              <a:t>bfilename</a:t>
            </a:r>
            <a:r>
              <a:rPr lang="en" sz="1200" b="1" dirty="0"/>
              <a:t>('FILES_DIR', 'clob_col1.txt’);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dbms_lob.createtemporary</a:t>
            </a:r>
            <a:r>
              <a:rPr lang="en" sz="1200" b="1" dirty="0"/>
              <a:t>(</a:t>
            </a:r>
            <a:r>
              <a:rPr lang="en" sz="1200" b="1" dirty="0" err="1"/>
              <a:t>l_clob</a:t>
            </a:r>
            <a:r>
              <a:rPr lang="en" sz="1200" b="1" dirty="0"/>
              <a:t>, true);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l_dest_offset</a:t>
            </a:r>
            <a:r>
              <a:rPr lang="en" sz="1200" b="1" dirty="0"/>
              <a:t> := 1; -- </a:t>
            </a:r>
            <a:r>
              <a:rPr lang="ru-RU" sz="1200" b="1" dirty="0"/>
              <a:t>с начала </a:t>
            </a:r>
            <a:endParaRPr lang="en-US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l_src_offset</a:t>
            </a:r>
            <a:r>
              <a:rPr lang="en" sz="1200" b="1" dirty="0"/>
              <a:t> := 1; -- </a:t>
            </a:r>
            <a:r>
              <a:rPr lang="ru-RU" sz="1200" b="1" dirty="0"/>
              <a:t>с начала </a:t>
            </a:r>
            <a:endParaRPr lang="en-US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dbms_lob.fileopen</a:t>
            </a:r>
            <a:r>
              <a:rPr lang="en" sz="1200" b="1" dirty="0"/>
              <a:t>(</a:t>
            </a:r>
            <a:r>
              <a:rPr lang="en" sz="1200" b="1" dirty="0" err="1"/>
              <a:t>l_bfile</a:t>
            </a:r>
            <a:r>
              <a:rPr lang="en" sz="1200" b="1" dirty="0"/>
              <a:t>);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dbms_lob.loadclobfromfile</a:t>
            </a:r>
            <a:r>
              <a:rPr lang="en" sz="1200" b="1" dirty="0"/>
              <a:t>( </a:t>
            </a:r>
            <a:r>
              <a:rPr lang="en" sz="1200" b="1" dirty="0" err="1"/>
              <a:t>dest_lob</a:t>
            </a:r>
            <a:r>
              <a:rPr lang="en" sz="1200" b="1" dirty="0"/>
              <a:t> =&gt; </a:t>
            </a:r>
            <a:r>
              <a:rPr lang="en" sz="1200" b="1" dirty="0" err="1"/>
              <a:t>l_clob</a:t>
            </a:r>
            <a:r>
              <a:rPr lang="en" sz="1200" b="1" dirty="0"/>
              <a:t>, </a:t>
            </a:r>
            <a:endParaRPr lang="ru-RU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src_bfile</a:t>
            </a:r>
            <a:r>
              <a:rPr lang="en" sz="1200" b="1" dirty="0"/>
              <a:t> =&gt;</a:t>
            </a:r>
            <a:r>
              <a:rPr lang="ru-RU" sz="1200" b="1" dirty="0"/>
              <a:t> </a:t>
            </a:r>
            <a:r>
              <a:rPr lang="en" sz="1200" b="1" dirty="0" err="1"/>
              <a:t>l_bfile</a:t>
            </a:r>
            <a:r>
              <a:rPr lang="en" sz="1200" b="1" dirty="0"/>
              <a:t>, </a:t>
            </a:r>
            <a:endParaRPr lang="ru-RU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amount =&gt; </a:t>
            </a:r>
            <a:r>
              <a:rPr lang="en" sz="1200" b="1" dirty="0" err="1"/>
              <a:t>dbms_lob.lobmaxsize</a:t>
            </a:r>
            <a:r>
              <a:rPr lang="en" sz="1200" b="1" dirty="0"/>
              <a:t>, </a:t>
            </a:r>
            <a:endParaRPr lang="ru-RU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dest_offset</a:t>
            </a:r>
            <a:r>
              <a:rPr lang="en" sz="1200" b="1" dirty="0"/>
              <a:t> =&gt; </a:t>
            </a:r>
            <a:r>
              <a:rPr lang="en" sz="1200" b="1" dirty="0" err="1"/>
              <a:t>l_dest_offset</a:t>
            </a:r>
            <a:r>
              <a:rPr lang="en" sz="1200" b="1" dirty="0"/>
              <a:t>, </a:t>
            </a:r>
            <a:endParaRPr lang="ru-RU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src_offset</a:t>
            </a:r>
            <a:r>
              <a:rPr lang="en" sz="1200" b="1" dirty="0"/>
              <a:t> =&gt; </a:t>
            </a:r>
            <a:r>
              <a:rPr lang="en" sz="1200" b="1" dirty="0" err="1"/>
              <a:t>l_src_offset</a:t>
            </a:r>
            <a:r>
              <a:rPr lang="en" sz="1200" b="1" dirty="0"/>
              <a:t>, -- database </a:t>
            </a:r>
            <a:r>
              <a:rPr lang="en" sz="1200" b="1" dirty="0" err="1"/>
              <a:t>csid</a:t>
            </a:r>
            <a:r>
              <a:rPr lang="en" sz="1200" b="1" dirty="0"/>
              <a:t> by default or </a:t>
            </a:r>
            <a:r>
              <a:rPr lang="en" sz="1200" b="1" dirty="0" err="1"/>
              <a:t>nls_charset_id</a:t>
            </a:r>
            <a:r>
              <a:rPr lang="en" sz="1200" b="1" dirty="0"/>
              <a:t>('AL32UTF8’)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bfile_csid</a:t>
            </a:r>
            <a:r>
              <a:rPr lang="en" sz="1200" b="1" dirty="0"/>
              <a:t> =&gt; 0, </a:t>
            </a:r>
            <a:endParaRPr lang="ru-RU" sz="1200" b="1" dirty="0"/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lang_context</a:t>
            </a:r>
            <a:r>
              <a:rPr lang="en" sz="1200" b="1" dirty="0"/>
              <a:t> =&gt; </a:t>
            </a:r>
            <a:r>
              <a:rPr lang="en" sz="1200" b="1" dirty="0" err="1"/>
              <a:t>l_lang_ctx</a:t>
            </a:r>
            <a:r>
              <a:rPr lang="en" sz="1200" b="1" dirty="0"/>
              <a:t>,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warning =&gt; </a:t>
            </a:r>
            <a:r>
              <a:rPr lang="en" sz="1200" b="1" dirty="0" err="1"/>
              <a:t>l_warning</a:t>
            </a:r>
            <a:r>
              <a:rPr lang="en" sz="1200" b="1" dirty="0"/>
              <a:t> 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dbms_lob.fileclose</a:t>
            </a:r>
            <a:r>
              <a:rPr lang="en" sz="1200" b="1" dirty="0"/>
              <a:t>(</a:t>
            </a:r>
            <a:r>
              <a:rPr lang="en" sz="1200" b="1" dirty="0" err="1"/>
              <a:t>l_bfile</a:t>
            </a:r>
            <a:r>
              <a:rPr lang="en" sz="1200" b="1" dirty="0"/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 err="1"/>
              <a:t>dbms_lob.freetemporary</a:t>
            </a:r>
            <a:r>
              <a:rPr lang="en" sz="1200" b="1" dirty="0"/>
              <a:t>(</a:t>
            </a:r>
            <a:r>
              <a:rPr lang="en" sz="1200" b="1" dirty="0" err="1"/>
              <a:t>l_clob</a:t>
            </a:r>
            <a:r>
              <a:rPr lang="en" sz="1200" b="1" dirty="0"/>
              <a:t>);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" sz="1200" b="1" dirty="0"/>
              <a:t>end; /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362100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0EAFF-C2C8-7E48-9C25-7E98A5A0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DBMS_LOB EXCEPTIONS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8750527-1E9B-AA41-9776-13B6DECFD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521192"/>
              </p:ext>
            </p:extLst>
          </p:nvPr>
        </p:nvGraphicFramePr>
        <p:xfrm>
          <a:off x="565149" y="1930401"/>
          <a:ext cx="10653185" cy="4491100"/>
        </p:xfrm>
        <a:graphic>
          <a:graphicData uri="http://schemas.openxmlformats.org/drawingml/2006/table">
            <a:tbl>
              <a:tblPr firstRow="1" bandRow="1"/>
              <a:tblGrid>
                <a:gridCol w="1973855">
                  <a:extLst>
                    <a:ext uri="{9D8B030D-6E8A-4147-A177-3AD203B41FA5}">
                      <a16:colId xmlns:a16="http://schemas.microsoft.com/office/drawing/2014/main" val="1302108373"/>
                    </a:ext>
                  </a:extLst>
                </a:gridCol>
                <a:gridCol w="1168490">
                  <a:extLst>
                    <a:ext uri="{9D8B030D-6E8A-4147-A177-3AD203B41FA5}">
                      <a16:colId xmlns:a16="http://schemas.microsoft.com/office/drawing/2014/main" val="734057816"/>
                    </a:ext>
                  </a:extLst>
                </a:gridCol>
                <a:gridCol w="7510840">
                  <a:extLst>
                    <a:ext uri="{9D8B030D-6E8A-4147-A177-3AD203B41FA5}">
                      <a16:colId xmlns:a16="http://schemas.microsoft.com/office/drawing/2014/main" val="3276687224"/>
                    </a:ext>
                  </a:extLst>
                </a:gridCol>
              </a:tblGrid>
              <a:tr h="336061">
                <a:tc>
                  <a:txBody>
                    <a:bodyPr/>
                    <a:lstStyle/>
                    <a:p>
                      <a:pPr algn="l" rtl="0" fontAlgn="b"/>
                      <a:r>
                        <a:rPr lang="en" sz="12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</a:rPr>
                        <a:t>Exception</a:t>
                      </a:r>
                    </a:p>
                  </a:txBody>
                  <a:tcPr marL="10014" marR="10014" marT="10014" marB="1001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" sz="12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</a:rPr>
                        <a:t>Code</a:t>
                      </a:r>
                    </a:p>
                  </a:txBody>
                  <a:tcPr marL="10014" marR="10014" marT="10014" marB="1001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" sz="1200" b="1" dirty="0">
                          <a:solidFill>
                            <a:schemeClr val="bg1"/>
                          </a:solidFill>
                          <a:effectLst/>
                          <a:highlight>
                            <a:srgbClr val="000000"/>
                          </a:highlight>
                        </a:rPr>
                        <a:t>Description</a:t>
                      </a:r>
                    </a:p>
                  </a:txBody>
                  <a:tcPr marL="10014" marR="10014" marT="10014" marB="10014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954805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 dirty="0">
                          <a:effectLst/>
                        </a:rPr>
                        <a:t>INVALID_ARGVAL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21560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/>
                        <a:t>Аргумент ожидает ненулевое допустимое значение но переданное значение аргумента равно </a:t>
                      </a:r>
                      <a:r>
                        <a:rPr lang="en-US" sz="1200" dirty="0"/>
                        <a:t>NULL</a:t>
                      </a:r>
                      <a:r>
                        <a:rPr lang="ru-RU" sz="1200" dirty="0"/>
                        <a:t>, недопустимо или выходит за пределы допустимого диапазона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795784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ACCESS_ERROR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22925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Вы пытаетесь записать слишком много данных в</a:t>
                      </a:r>
                      <a:r>
                        <a:rPr lang="en-US" sz="1200" dirty="0"/>
                        <a:t> LOB, </a:t>
                      </a:r>
                      <a:r>
                        <a:rPr lang="ru-RU" sz="1200" dirty="0"/>
                        <a:t>размер </a:t>
                      </a:r>
                      <a:r>
                        <a:rPr lang="en-US" sz="1200" dirty="0"/>
                        <a:t>LOB </a:t>
                      </a:r>
                      <a:r>
                        <a:rPr lang="ru-RU" sz="1200" dirty="0"/>
                        <a:t>ограничен 4 гигабайтами</a:t>
                      </a:r>
                      <a:br>
                        <a:rPr lang="ru-RU" sz="1200" dirty="0"/>
                      </a:b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224695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NOEXIST_DIRECTORY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22285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Указанный каталог ведущий к файлу не существует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651219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NOPRIV_DIRECTORY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22286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У пользователя нет необходимых прав доступа к каталогу или файлу для операции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443484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INVALID_DIRECTORY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22287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Каталог указанный для данной операции не действителен если к нему обращаются в первый раз или он был изменен администратором базы данных с момента последнего доступа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59144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 dirty="0">
                          <a:effectLst/>
                        </a:rPr>
                        <a:t>OPERATION_FAILED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22288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Попытка операции с файлом завершилась неудачно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138548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UNOPENED_FILE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22289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Файл не открыт для выполнения требуемой операции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120846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OPEN_TOOMANY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22290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Количество открытых файлов достигло максимального предела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767049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NO_DATA_FOUND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br>
                        <a:rPr lang="ru-RU" sz="1200">
                          <a:effectLst/>
                        </a:rPr>
                      </a:br>
                      <a:endParaRPr lang="ru-RU" sz="120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Индикатор </a:t>
                      </a:r>
                      <a:r>
                        <a:rPr lang="en" sz="1200" dirty="0" err="1">
                          <a:effectLst/>
                        </a:rPr>
                        <a:t>EndofLob</a:t>
                      </a:r>
                      <a:r>
                        <a:rPr lang="en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</a:rPr>
                        <a:t> для циклических конструкций говорит что данные не были извлечены ввиду их отсутствия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078031"/>
                  </a:ext>
                </a:extLst>
              </a:tr>
              <a:tr h="336061">
                <a:tc>
                  <a:txBody>
                    <a:bodyPr/>
                    <a:lstStyle/>
                    <a:p>
                      <a:pPr algn="l" rtl="0" fontAlgn="t"/>
                      <a:r>
                        <a:rPr lang="en" sz="1200">
                          <a:effectLst/>
                        </a:rPr>
                        <a:t>VALUE_ERROR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>
                          <a:effectLst/>
                        </a:rPr>
                        <a:t>6502</a:t>
                      </a: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200" dirty="0">
                          <a:effectLst/>
                        </a:rPr>
                        <a:t>Ошибка </a:t>
                      </a:r>
                      <a:r>
                        <a:rPr lang="en-US" sz="1200" dirty="0">
                          <a:effectLst/>
                        </a:rPr>
                        <a:t>PL/SQL </a:t>
                      </a:r>
                      <a:r>
                        <a:rPr lang="ru-RU" sz="1200" dirty="0">
                          <a:effectLst/>
                        </a:rPr>
                        <a:t>для неверных значений параметров подпрограммы</a:t>
                      </a:r>
                      <a:endParaRPr lang="en" sz="1200" dirty="0">
                        <a:effectLst/>
                      </a:endParaRPr>
                    </a:p>
                  </a:txBody>
                  <a:tcPr marL="10014" marR="10014" marT="10014" marB="100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5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167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3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25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29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3" descr="Изображение выглядит как комната, сцена, казино&#10;&#10;Автоматически созданное описание">
            <a:extLst>
              <a:ext uri="{FF2B5EF4-FFF2-40B4-BE49-F238E27FC236}">
                <a16:creationId xmlns:a16="http://schemas.microsoft.com/office/drawing/2014/main" id="{D4AAD60B-DB45-6A44-9134-2369AA4A1A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976" b="2643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1" name="Rectangle">
            <a:extLst>
              <a:ext uri="{FF2B5EF4-FFF2-40B4-BE49-F238E27FC236}">
                <a16:creationId xmlns:a16="http://schemas.microsoft.com/office/drawing/2014/main" id="{7D2808A8-88EA-594B-9B2E-FD41A1C7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2780" y="4238244"/>
            <a:ext cx="7334060" cy="2619754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42" name="Cross 33">
            <a:extLst>
              <a:ext uri="{FF2B5EF4-FFF2-40B4-BE49-F238E27FC236}">
                <a16:creationId xmlns:a16="http://schemas.microsoft.com/office/drawing/2014/main" id="{7DBD7E48-E652-0E49-8812-18A94BA95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94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41757-47B1-DC42-91A7-FE8AE401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799" y="4689940"/>
            <a:ext cx="6690950" cy="1453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kern="1200" spc="-15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</a:t>
            </a:r>
            <a:r>
              <a:rPr lang="en-US" sz="50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spc="-15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</a:t>
            </a:r>
            <a:r>
              <a:rPr lang="en-US" sz="50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spc="-15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внимание</a:t>
            </a:r>
            <a:r>
              <a:rPr lang="en-US" sz="50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03538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dridVTI">
  <a:themeElements>
    <a:clrScheme name="AnalogousFromLightSeedLeftStep">
      <a:dk1>
        <a:srgbClr val="000000"/>
      </a:dk1>
      <a:lt1>
        <a:srgbClr val="FFFFFF"/>
      </a:lt1>
      <a:dk2>
        <a:srgbClr val="41242C"/>
      </a:dk2>
      <a:lt2>
        <a:srgbClr val="E2E5E8"/>
      </a:lt2>
      <a:accent1>
        <a:srgbClr val="E18F25"/>
      </a:accent1>
      <a:accent2>
        <a:srgbClr val="EB644E"/>
      </a:accent2>
      <a:accent3>
        <a:srgbClr val="EE6E91"/>
      </a:accent3>
      <a:accent4>
        <a:srgbClr val="EB4EBA"/>
      </a:accent4>
      <a:accent5>
        <a:srgbClr val="E16EEE"/>
      </a:accent5>
      <a:accent6>
        <a:srgbClr val="994EEB"/>
      </a:accent6>
      <a:hlink>
        <a:srgbClr val="6383AB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2359</Words>
  <Application>Microsoft Office PowerPoint</Application>
  <PresentationFormat>Широкоэкранный</PresentationFormat>
  <Paragraphs>223</Paragraphs>
  <Slides>18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Seaford Display</vt:lpstr>
      <vt:lpstr>System Font Regular</vt:lpstr>
      <vt:lpstr>Tenorite</vt:lpstr>
      <vt:lpstr>Times New Roman</vt:lpstr>
      <vt:lpstr>MadridVTI</vt:lpstr>
      <vt:lpstr>DBMS_LOB на примерах </vt:lpstr>
      <vt:lpstr>ВВЕДЕНИЕ В РАБОТУ С БОЛЬШИМИ ДАННЫМИ</vt:lpstr>
      <vt:lpstr>Характеристика типов больших данных </vt:lpstr>
      <vt:lpstr>DBMS_LOB как инструмент работы с типами больших объектов</vt:lpstr>
      <vt:lpstr>Примеры использования DBMS_LOB</vt:lpstr>
      <vt:lpstr>Создание временных лобов и присвоение его значения переменной (копия)</vt:lpstr>
      <vt:lpstr>Создание копий лобов с помощью DBMS_LOB</vt:lpstr>
      <vt:lpstr>Функции и процедуры DBMS_LOB для работы с лобами</vt:lpstr>
      <vt:lpstr>APPEND. Пример</vt:lpstr>
      <vt:lpstr>Сравнение лобов с помощью функции COMPARE </vt:lpstr>
      <vt:lpstr>Презентация PowerPoint</vt:lpstr>
      <vt:lpstr> Конвертация BLOB в CLOB с помощью процедуры CONVERTTOCLOB</vt:lpstr>
      <vt:lpstr>Алгоритм чтения или изменения постоянного LOB'а с помощью PL/SQL</vt:lpstr>
      <vt:lpstr>Выгрузка данных из постоянного CLOB'а во внешний файл</vt:lpstr>
      <vt:lpstr>Выгрузка данных из BFILE во временный BLOB</vt:lpstr>
      <vt:lpstr>Упрощенная запись BFILE в CLOB и BLOB с помощью функций LOADCLOBFROMFILE и LOADBLOBFROMFILE</vt:lpstr>
      <vt:lpstr>DBMS_LOB EXCEPTIONS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DBMS_LOB на примерах </dc:title>
  <dc:creator>Сергей Самойлов</dc:creator>
  <cp:lastModifiedBy>Сергей Самойлов</cp:lastModifiedBy>
  <cp:revision>1</cp:revision>
  <dcterms:created xsi:type="dcterms:W3CDTF">2022-02-27T08:04:27Z</dcterms:created>
  <dcterms:modified xsi:type="dcterms:W3CDTF">2022-02-28T18:36:35Z</dcterms:modified>
</cp:coreProperties>
</file>