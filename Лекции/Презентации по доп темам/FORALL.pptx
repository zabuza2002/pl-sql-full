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1" r:id="rId3"/>
    <p:sldId id="258" r:id="rId4"/>
    <p:sldId id="259" r:id="rId5"/>
    <p:sldId id="262" r:id="rId6"/>
    <p:sldId id="264" r:id="rId7"/>
    <p:sldId id="267" r:id="rId8"/>
    <p:sldId id="268" r:id="rId9"/>
    <p:sldId id="269" r:id="rId10"/>
    <p:sldId id="270" r:id="rId11"/>
    <p:sldId id="263" r:id="rId12"/>
    <p:sldId id="265" r:id="rId13"/>
    <p:sldId id="266" r:id="rId14"/>
    <p:sldId id="271" r:id="rId1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Raleway" pitchFamily="2" charset="-52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B0D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4943d1fe3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4943d1fe3_0_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4943d1fe3_0_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14943d1fe3_0_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800034" y="1537603"/>
            <a:ext cx="10065190" cy="2780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4280" dirty="0"/>
              <a:t>Команда</a:t>
            </a:r>
            <a:r>
              <a:rPr lang="ru-RU" sz="1600" dirty="0"/>
              <a:t> </a:t>
            </a:r>
            <a:r>
              <a:rPr lang="ru-RU" sz="4280" dirty="0"/>
              <a:t>FORALL</a:t>
            </a:r>
            <a:r>
              <a:rPr lang="ru" sz="4280" dirty="0"/>
              <a:t> </a:t>
            </a:r>
            <a:br>
              <a:rPr lang="en-US" sz="4280" dirty="0"/>
            </a:br>
            <a:br>
              <a:rPr lang="en-US" sz="4280" dirty="0"/>
            </a:br>
            <a:endParaRPr sz="428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1600" dirty="0"/>
              <a:t> </a:t>
            </a:r>
            <a:r>
              <a:rPr lang="en-US" sz="1600" dirty="0"/>
              <a:t>                                                    </a:t>
            </a:r>
            <a:r>
              <a:rPr lang="ru-RU" sz="4280" dirty="0"/>
              <a:t>Отличие</a:t>
            </a:r>
            <a:r>
              <a:rPr lang="ru-RU" sz="1600" dirty="0"/>
              <a:t>  </a:t>
            </a:r>
            <a:r>
              <a:rPr lang="ru" sz="4280" dirty="0"/>
              <a:t>FOR</a:t>
            </a:r>
            <a:endParaRPr sz="4280"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0" y="476427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Raleway" pitchFamily="2" charset="-52"/>
              </a:rPr>
              <a:t>Виктория Zотова</a:t>
            </a:r>
            <a:endParaRPr dirty="0">
              <a:latin typeface="Raleway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864C6-8F18-42FD-A283-662EA9EB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FORALL </a:t>
            </a:r>
            <a:r>
              <a:rPr lang="en-US" sz="2200" b="0" dirty="0"/>
              <a:t>top facts</a:t>
            </a:r>
            <a:endParaRPr lang="ru-RU" sz="2200" b="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57DC6D-099C-45FE-B900-95D6B4453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ru-RU" sz="1300" b="0" dirty="0">
                <a:solidFill>
                  <a:srgbClr val="5F5F5F"/>
                </a:solidFill>
              </a:rPr>
              <a:t>Я</a:t>
            </a:r>
            <a:r>
              <a:rPr lang="ru" sz="1300" b="0" dirty="0">
                <a:solidFill>
                  <a:srgbClr val="5F5F5F"/>
                </a:solidFill>
              </a:rPr>
              <a:t>вляется итеративным обработчиком</a:t>
            </a:r>
            <a:r>
              <a:rPr lang="en-US" dirty="0">
                <a:solidFill>
                  <a:srgbClr val="5F5F5F"/>
                </a:solidFill>
              </a:rPr>
              <a:t>, </a:t>
            </a:r>
            <a:r>
              <a:rPr lang="ru-RU" dirty="0">
                <a:solidFill>
                  <a:srgbClr val="5F5F5F"/>
                </a:solidFill>
              </a:rPr>
              <a:t>уменьшающим количество переключений контекста, которые происходят во время выполнения оператора DML в цикле.</a:t>
            </a:r>
            <a:r>
              <a:rPr lang="en-US" dirty="0">
                <a:solidFill>
                  <a:srgbClr val="5F5F5F"/>
                </a:solidFill>
              </a:rPr>
              <a:t> </a:t>
            </a:r>
            <a:r>
              <a:rPr lang="ru-RU" dirty="0">
                <a:solidFill>
                  <a:srgbClr val="5F5F5F"/>
                </a:solidFill>
              </a:rPr>
              <a:t>Другими словами, </a:t>
            </a:r>
            <a:r>
              <a:rPr lang="en-US" dirty="0">
                <a:solidFill>
                  <a:srgbClr val="E83E8C"/>
                </a:solidFill>
                <a:highlight>
                  <a:schemeClr val="lt1"/>
                </a:highlight>
              </a:rPr>
              <a:t>FORALL</a:t>
            </a:r>
            <a:r>
              <a:rPr lang="ru-RU" dirty="0">
                <a:solidFill>
                  <a:srgbClr val="5F5F5F"/>
                </a:solidFill>
                <a:highlight>
                  <a:schemeClr val="lt1"/>
                </a:highlight>
              </a:rPr>
              <a:t> </a:t>
            </a:r>
            <a:r>
              <a:rPr lang="ru-RU" dirty="0">
                <a:solidFill>
                  <a:srgbClr val="5F5F5F"/>
                </a:solidFill>
              </a:rPr>
              <a:t>выполняет один оператор </a:t>
            </a:r>
            <a:r>
              <a:rPr lang="en-US" dirty="0">
                <a:solidFill>
                  <a:srgbClr val="E83E8C"/>
                </a:solidFill>
                <a:highlight>
                  <a:srgbClr val="FFFFFF"/>
                </a:highlight>
              </a:rPr>
              <a:t>DML</a:t>
            </a:r>
            <a:r>
              <a:rPr lang="ru-RU" dirty="0">
                <a:solidFill>
                  <a:srgbClr val="5F5F5F"/>
                </a:solidFill>
              </a:rPr>
              <a:t> несколько раз одновременно.</a:t>
            </a:r>
            <a:endParaRPr lang="en-US" sz="1300" b="0" dirty="0">
              <a:solidFill>
                <a:srgbClr val="5F5F5F"/>
              </a:solidFill>
            </a:endParaRPr>
          </a:p>
          <a:p>
            <a:pPr algn="just"/>
            <a:r>
              <a:rPr lang="en-US" dirty="0">
                <a:solidFill>
                  <a:srgbClr val="5F5F5F"/>
                </a:solidFill>
                <a:highlight>
                  <a:srgbClr val="FFFFFF"/>
                </a:highlight>
              </a:rPr>
              <a:t>C</a:t>
            </a:r>
            <a:r>
              <a:rPr lang="ru" sz="1300" b="0" dirty="0">
                <a:solidFill>
                  <a:srgbClr val="5F5F5F"/>
                </a:solidFill>
                <a:highlight>
                  <a:srgbClr val="FFFFFF"/>
                </a:highlight>
              </a:rPr>
              <a:t>овместно с секцией </a:t>
            </a:r>
            <a:r>
              <a:rPr lang="ru" sz="1300" b="0" dirty="0">
                <a:solidFill>
                  <a:srgbClr val="E83E8C"/>
                </a:solidFill>
                <a:highlight>
                  <a:schemeClr val="lt1"/>
                </a:highlight>
              </a:rPr>
              <a:t>BULK COLLECT</a:t>
            </a:r>
            <a:r>
              <a:rPr lang="ru" sz="1300" b="0" dirty="0">
                <a:solidFill>
                  <a:srgbClr val="5F5F5F"/>
                </a:solidFill>
                <a:highlight>
                  <a:srgbClr val="FFFFFF"/>
                </a:highlight>
              </a:rPr>
              <a:t> объединяются общим термином </a:t>
            </a:r>
            <a:r>
              <a:rPr lang="en-US" dirty="0">
                <a:solidFill>
                  <a:srgbClr val="5F5F5F"/>
                </a:solidFill>
                <a:highlight>
                  <a:srgbClr val="FFFFFF"/>
                </a:highlight>
              </a:rPr>
              <a:t>“</a:t>
            </a:r>
            <a:r>
              <a:rPr lang="ru" sz="1300" b="0" dirty="0">
                <a:solidFill>
                  <a:srgbClr val="5F5F5F"/>
                </a:solidFill>
                <a:highlight>
                  <a:srgbClr val="FFFFFF"/>
                </a:highlight>
              </a:rPr>
              <a:t>конструкций массовой обработки</a:t>
            </a:r>
            <a:r>
              <a:rPr lang="en-US" sz="1300" b="0" dirty="0">
                <a:solidFill>
                  <a:srgbClr val="5F5F5F"/>
                </a:solidFill>
                <a:highlight>
                  <a:srgbClr val="FFFFFF"/>
                </a:highlight>
              </a:rPr>
              <a:t>”</a:t>
            </a:r>
            <a:r>
              <a:rPr lang="ru" sz="1300" b="0" dirty="0">
                <a:solidFill>
                  <a:srgbClr val="5F5F5F"/>
                </a:solidFill>
                <a:highlight>
                  <a:srgbClr val="FFFFFF"/>
                </a:highlight>
              </a:rPr>
              <a:t> </a:t>
            </a:r>
            <a:r>
              <a:rPr lang="en-US" sz="1300" b="0" dirty="0">
                <a:solidFill>
                  <a:srgbClr val="5F5F5F"/>
                </a:solidFill>
                <a:highlight>
                  <a:srgbClr val="FFFFFF"/>
                </a:highlight>
              </a:rPr>
              <a:t>(</a:t>
            </a:r>
            <a:r>
              <a:rPr lang="ru" sz="1300" b="0" dirty="0">
                <a:solidFill>
                  <a:srgbClr val="E83E8C"/>
                </a:solidFill>
                <a:highlight>
                  <a:srgbClr val="FFFFFF"/>
                </a:highlight>
              </a:rPr>
              <a:t>BULK PROCESSING</a:t>
            </a:r>
            <a:r>
              <a:rPr lang="en-US" dirty="0">
                <a:solidFill>
                  <a:srgbClr val="5F5F5F"/>
                </a:solidFill>
                <a:highlight>
                  <a:srgbClr val="FFFFFF"/>
                </a:highlight>
              </a:rPr>
              <a:t>)</a:t>
            </a:r>
            <a:r>
              <a:rPr lang="ru" sz="1300" b="0" dirty="0">
                <a:solidFill>
                  <a:srgbClr val="5F5F5F"/>
                </a:solidFill>
                <a:highlight>
                  <a:srgbClr val="FFFFFF"/>
                </a:highlight>
              </a:rPr>
              <a:t>.</a:t>
            </a:r>
            <a:endParaRPr lang="en-US" sz="1300" b="0" dirty="0">
              <a:solidFill>
                <a:srgbClr val="5F5F5F"/>
              </a:solidFill>
              <a:highlight>
                <a:srgbClr val="FFFFFF"/>
              </a:highlight>
            </a:endParaRPr>
          </a:p>
          <a:p>
            <a:pPr algn="just"/>
            <a:r>
              <a:rPr lang="en-US" dirty="0">
                <a:solidFill>
                  <a:srgbClr val="E83E8C"/>
                </a:solidFill>
                <a:highlight>
                  <a:srgbClr val="FFFFFF"/>
                </a:highlight>
              </a:rPr>
              <a:t>F0RALL</a:t>
            </a:r>
            <a:r>
              <a:rPr lang="en-US" dirty="0">
                <a:solidFill>
                  <a:srgbClr val="5F5F5F"/>
                </a:solidFill>
                <a:highlight>
                  <a:srgbClr val="FFFFFF"/>
                </a:highlight>
              </a:rPr>
              <a:t> </a:t>
            </a:r>
            <a:r>
              <a:rPr lang="ru-RU" dirty="0">
                <a:solidFill>
                  <a:srgbClr val="5F5F5F"/>
                </a:solidFill>
                <a:highlight>
                  <a:srgbClr val="FFFFFF"/>
                </a:highlight>
              </a:rPr>
              <a:t>И </a:t>
            </a:r>
            <a:r>
              <a:rPr lang="en-US" dirty="0">
                <a:solidFill>
                  <a:srgbClr val="E83E8C"/>
                </a:solidFill>
                <a:highlight>
                  <a:srgbClr val="FFFFFF"/>
                </a:highlight>
              </a:rPr>
              <a:t>BULK</a:t>
            </a:r>
            <a:r>
              <a:rPr lang="en-US" dirty="0">
                <a:solidFill>
                  <a:srgbClr val="5F5F5F"/>
                </a:solidFill>
                <a:highlight>
                  <a:srgbClr val="FFFFFF"/>
                </a:highlight>
              </a:rPr>
              <a:t> </a:t>
            </a:r>
            <a:r>
              <a:rPr lang="en-US" dirty="0">
                <a:solidFill>
                  <a:srgbClr val="E83E8C"/>
                </a:solidFill>
                <a:highlight>
                  <a:srgbClr val="FFFFFF"/>
                </a:highlight>
              </a:rPr>
              <a:t>COLLECT</a:t>
            </a:r>
            <a:r>
              <a:rPr lang="en-US" dirty="0">
                <a:solidFill>
                  <a:srgbClr val="5F5F5F"/>
                </a:solidFill>
                <a:highlight>
                  <a:srgbClr val="FFFFFF"/>
                </a:highlight>
              </a:rPr>
              <a:t> </a:t>
            </a:r>
            <a:r>
              <a:rPr lang="ru-RU" dirty="0">
                <a:solidFill>
                  <a:srgbClr val="5F5F5F"/>
                </a:solidFill>
                <a:highlight>
                  <a:srgbClr val="FFFFFF"/>
                </a:highlight>
              </a:rPr>
              <a:t>существенно повышают производительность запросов</a:t>
            </a:r>
            <a:endParaRPr lang="ru-RU" dirty="0">
              <a:solidFill>
                <a:srgbClr val="E83E8C"/>
              </a:solidFill>
              <a:highlight>
                <a:srgbClr val="FFFFFF"/>
              </a:highlight>
            </a:endParaRPr>
          </a:p>
          <a:p>
            <a:endParaRPr lang="en-US" sz="1300" b="0" dirty="0">
              <a:solidFill>
                <a:srgbClr val="5F5F5F"/>
              </a:solidFill>
              <a:highlight>
                <a:srgbClr val="FFFFFF"/>
              </a:highlight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2672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4449900" cy="33071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 dirty="0"/>
              <a:t>FORALL</a:t>
            </a:r>
            <a:r>
              <a:rPr lang="ru" sz="2200" b="0" dirty="0"/>
              <a:t> зачем все это нужно:</a:t>
            </a:r>
            <a:endParaRPr sz="2200" b="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0" dirty="0">
                <a:solidFill>
                  <a:srgbClr val="5F5F5F"/>
                </a:solidFill>
                <a:highlight>
                  <a:srgbClr val="FFFFFF"/>
                </a:highlight>
              </a:rPr>
              <a:t>В ходе обработки блока программного кода ядро PL/SQL выполняет процедурные команды самостоятельно, а команды SQL передает ядру SQL. Уровень SQL выполняет команды и при необходимости возвращает результаты ядру PL/SQL. Передача управления между ядрами PL/SQL и SQL (рис. 1) называется переключением контекста. Каждое переключение контекста приводит к дополнительным затратам ресурсов. PL/SQL и SQL тесно интегрированы на синтаксическом уровне, но во внутренней реализации они связаны отнюдь не так тесно,</a:t>
            </a:r>
            <a:endParaRPr sz="1200" b="0" dirty="0">
              <a:solidFill>
                <a:srgbClr val="5F5F5F"/>
              </a:solidFill>
              <a:highlight>
                <a:srgbClr val="FFFFFF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solidFill>
                <a:srgbClr val="5F5F5F"/>
              </a:solidFill>
              <a:highlight>
                <a:srgbClr val="FFFFFF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0" dirty="0">
                <a:solidFill>
                  <a:srgbClr val="5F5F5F"/>
                </a:solidFill>
                <a:highlight>
                  <a:srgbClr val="FFFFFF"/>
                </a:highlight>
              </a:rPr>
              <a:t>Конструкции </a:t>
            </a:r>
            <a:r>
              <a:rPr lang="ru" sz="1200" b="0" dirty="0">
                <a:solidFill>
                  <a:srgbClr val="E83E8C"/>
                </a:solidFill>
                <a:highlight>
                  <a:schemeClr val="lt1"/>
                </a:highlight>
              </a:rPr>
              <a:t>FORALL</a:t>
            </a:r>
            <a:r>
              <a:rPr lang="ru" sz="1200" b="0" dirty="0">
                <a:solidFill>
                  <a:srgbClr val="5F5F5F"/>
                </a:solidFill>
                <a:highlight>
                  <a:srgbClr val="FFFFFF"/>
                </a:highlight>
              </a:rPr>
              <a:t> и </a:t>
            </a:r>
            <a:r>
              <a:rPr lang="ru" sz="1200" b="0" dirty="0">
                <a:solidFill>
                  <a:srgbClr val="E83E8C"/>
                </a:solidFill>
                <a:highlight>
                  <a:schemeClr val="lt1"/>
                </a:highlight>
              </a:rPr>
              <a:t>BULK COLLECT</a:t>
            </a:r>
            <a:r>
              <a:rPr lang="ru" sz="1200" b="0" dirty="0">
                <a:solidFill>
                  <a:srgbClr val="5F5F5F"/>
                </a:solidFill>
                <a:highlight>
                  <a:srgbClr val="FFFFFF"/>
                </a:highlight>
              </a:rPr>
              <a:t> позволяют оптимизировать взаимодействие этих двух компонентов. Фактически эти команды приказывают ядру </a:t>
            </a:r>
            <a:r>
              <a:rPr lang="ru" sz="1200" b="0" dirty="0">
                <a:solidFill>
                  <a:srgbClr val="5F5F5F"/>
                </a:solidFill>
                <a:highlight>
                  <a:schemeClr val="lt1"/>
                </a:highlight>
              </a:rPr>
              <a:t>PL/SQL</a:t>
            </a:r>
            <a:r>
              <a:rPr lang="ru" sz="1200" b="0" dirty="0">
                <a:solidFill>
                  <a:srgbClr val="5F5F5F"/>
                </a:solidFill>
                <a:highlight>
                  <a:srgbClr val="FFFFFF"/>
                </a:highlight>
              </a:rPr>
              <a:t> объединить множество переключений контекста в одно переключение, тем самым повышая производительность приложения.</a:t>
            </a:r>
            <a:endParaRPr sz="1200" b="0" dirty="0">
              <a:solidFill>
                <a:srgbClr val="5F5F5F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5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1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1" b="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1" b="0" dirty="0"/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1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351" y="1702277"/>
            <a:ext cx="3618868" cy="233594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F263BC-3F53-4A56-A672-F0C72AD84E36}"/>
              </a:ext>
            </a:extLst>
          </p:cNvPr>
          <p:cNvSpPr txBox="1"/>
          <p:nvPr/>
        </p:nvSpPr>
        <p:spPr>
          <a:xfrm>
            <a:off x="6512219" y="4098683"/>
            <a:ext cx="1018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Raleway" panose="020B0604020202020204" pitchFamily="2" charset="-52"/>
              </a:rPr>
              <a:t>рис.1</a:t>
            </a:r>
            <a:endParaRPr lang="ru-RU" sz="1200" b="0" dirty="0">
              <a:effectLst/>
            </a:endParaRPr>
          </a:p>
          <a:p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566250" y="1318650"/>
            <a:ext cx="4571999" cy="33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 dirty="0"/>
              <a:t>FORALL</a:t>
            </a:r>
            <a:r>
              <a:rPr lang="ru" sz="2200" b="0" dirty="0"/>
              <a:t> за правила:</a:t>
            </a:r>
            <a:endParaRPr sz="2200" b="0" dirty="0"/>
          </a:p>
          <a:p>
            <a:pPr marL="45720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ru" sz="1000" b="0" dirty="0">
                <a:solidFill>
                  <a:srgbClr val="000000"/>
                </a:solidFill>
              </a:rPr>
              <a:t>Тело команды </a:t>
            </a:r>
            <a:r>
              <a:rPr lang="ru" sz="1000" b="0" dirty="0">
                <a:solidFill>
                  <a:srgbClr val="E83E8C"/>
                </a:solidFill>
              </a:rPr>
              <a:t>FORALL</a:t>
            </a:r>
            <a:r>
              <a:rPr lang="ru" sz="1000" b="0" dirty="0">
                <a:solidFill>
                  <a:srgbClr val="000000"/>
                </a:solidFill>
              </a:rPr>
              <a:t> должно включать одну команду </a:t>
            </a:r>
            <a:r>
              <a:rPr lang="ru" sz="1000" b="0" dirty="0">
                <a:solidFill>
                  <a:srgbClr val="E83E8C"/>
                </a:solidFill>
              </a:rPr>
              <a:t>DML</a:t>
            </a:r>
            <a:r>
              <a:rPr lang="ru" sz="1000" b="0" dirty="0">
                <a:solidFill>
                  <a:srgbClr val="000000"/>
                </a:solidFill>
              </a:rPr>
              <a:t> — </a:t>
            </a:r>
            <a:r>
              <a:rPr lang="ru" sz="1000" b="0" dirty="0">
                <a:solidFill>
                  <a:srgbClr val="E83E8C"/>
                </a:solidFill>
              </a:rPr>
              <a:t>INSERT</a:t>
            </a:r>
            <a:r>
              <a:rPr lang="ru" sz="1000" b="0" dirty="0">
                <a:solidFill>
                  <a:srgbClr val="000000"/>
                </a:solidFill>
              </a:rPr>
              <a:t>, </a:t>
            </a:r>
            <a:r>
              <a:rPr lang="ru" sz="1000" b="0" dirty="0">
                <a:solidFill>
                  <a:srgbClr val="E83E8C"/>
                </a:solidFill>
              </a:rPr>
              <a:t>UPDATE</a:t>
            </a:r>
            <a:r>
              <a:rPr lang="ru" sz="1000" b="0" dirty="0">
                <a:solidFill>
                  <a:srgbClr val="000000"/>
                </a:solidFill>
              </a:rPr>
              <a:t>, </a:t>
            </a:r>
            <a:r>
              <a:rPr lang="ru" sz="1000" b="0" dirty="0">
                <a:solidFill>
                  <a:srgbClr val="E83E8C"/>
                </a:solidFill>
              </a:rPr>
              <a:t>DELETE</a:t>
            </a:r>
            <a:r>
              <a:rPr lang="ru" sz="1000" b="0" dirty="0">
                <a:solidFill>
                  <a:srgbClr val="000000"/>
                </a:solidFill>
              </a:rPr>
              <a:t> или </a:t>
            </a:r>
            <a:r>
              <a:rPr lang="ru" sz="1000" b="0" dirty="0">
                <a:solidFill>
                  <a:srgbClr val="E83E8C"/>
                </a:solidFill>
              </a:rPr>
              <a:t>MERGE</a:t>
            </a:r>
            <a:r>
              <a:rPr lang="ru" sz="1000" b="0" dirty="0">
                <a:solidFill>
                  <a:srgbClr val="000000"/>
                </a:solidFill>
              </a:rPr>
              <a:t> (Oracle11g+).</a:t>
            </a:r>
            <a:endParaRPr sz="1000" b="0" dirty="0">
              <a:solidFill>
                <a:srgbClr val="000000"/>
              </a:solidFill>
            </a:endParaRPr>
          </a:p>
          <a:p>
            <a:pPr marL="45720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ru" sz="1000" b="0" dirty="0">
                <a:solidFill>
                  <a:srgbClr val="000000"/>
                </a:solidFill>
              </a:rPr>
              <a:t>Команда </a:t>
            </a:r>
            <a:r>
              <a:rPr lang="ru" sz="1000" b="0" dirty="0">
                <a:solidFill>
                  <a:srgbClr val="E83E8C"/>
                </a:solidFill>
              </a:rPr>
              <a:t>DML</a:t>
            </a:r>
            <a:r>
              <a:rPr lang="ru" sz="1000" b="0" dirty="0">
                <a:solidFill>
                  <a:srgbClr val="000000"/>
                </a:solidFill>
              </a:rPr>
              <a:t> должна содержать ссылки на элементы коллекции, индексируемые в команде </a:t>
            </a:r>
            <a:r>
              <a:rPr lang="ru" sz="1000" b="0" dirty="0">
                <a:solidFill>
                  <a:srgbClr val="E83E8C"/>
                </a:solidFill>
              </a:rPr>
              <a:t>FORALL</a:t>
            </a:r>
            <a:r>
              <a:rPr lang="ru" sz="1000" b="0" dirty="0">
                <a:solidFill>
                  <a:srgbClr val="000000"/>
                </a:solidFill>
              </a:rPr>
              <a:t>. </a:t>
            </a:r>
            <a:r>
              <a:rPr lang="en-US" sz="1000" b="0" dirty="0">
                <a:solidFill>
                  <a:srgbClr val="000000"/>
                </a:solidFill>
              </a:rPr>
              <a:t> </a:t>
            </a:r>
            <a:br>
              <a:rPr lang="en-US" sz="1000" b="0" dirty="0">
                <a:solidFill>
                  <a:srgbClr val="000000"/>
                </a:solidFill>
              </a:rPr>
            </a:br>
            <a:r>
              <a:rPr lang="ru" sz="1000" b="0" dirty="0">
                <a:solidFill>
                  <a:srgbClr val="000000"/>
                </a:solidFill>
              </a:rPr>
              <a:t>Область видимости переменной</a:t>
            </a:r>
            <a:r>
              <a:rPr lang="en-US" sz="1000" b="0" dirty="0">
                <a:solidFill>
                  <a:srgbClr val="000000"/>
                </a:solidFill>
              </a:rPr>
              <a:t> </a:t>
            </a:r>
            <a:r>
              <a:rPr lang="en-US" sz="1000" b="0" u="sng" dirty="0" err="1">
                <a:solidFill>
                  <a:srgbClr val="000000"/>
                </a:solidFill>
              </a:rPr>
              <a:t>индекс</a:t>
            </a:r>
            <a:r>
              <a:rPr lang="en-US" sz="1000" b="0" dirty="0">
                <a:solidFill>
                  <a:srgbClr val="000000"/>
                </a:solidFill>
              </a:rPr>
              <a:t> </a:t>
            </a:r>
            <a:r>
              <a:rPr lang="ru" sz="1000" b="0" dirty="0">
                <a:solidFill>
                  <a:srgbClr val="000000"/>
                </a:solidFill>
              </a:rPr>
              <a:t>ограничивается командой </a:t>
            </a:r>
            <a:r>
              <a:rPr lang="ru" sz="1000" b="0" dirty="0">
                <a:solidFill>
                  <a:srgbClr val="E83E8C"/>
                </a:solidFill>
              </a:rPr>
              <a:t>FORALL</a:t>
            </a:r>
            <a:r>
              <a:rPr lang="ru" sz="1000" b="0" dirty="0">
                <a:solidFill>
                  <a:srgbClr val="000000"/>
                </a:solidFill>
              </a:rPr>
              <a:t>; ссылаться на нее за пределами конструкции нельзя.</a:t>
            </a:r>
            <a:endParaRPr lang="ru-RU" sz="1000" b="0" dirty="0">
              <a:solidFill>
                <a:srgbClr val="000000"/>
              </a:solidFill>
            </a:endParaRPr>
          </a:p>
          <a:p>
            <a:pPr marL="45720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ru-RU" sz="1000" b="0" dirty="0">
                <a:solidFill>
                  <a:srgbClr val="000000"/>
                </a:solidFill>
              </a:rPr>
              <a:t>Переменная </a:t>
            </a:r>
            <a:r>
              <a:rPr lang="ru-RU" sz="1000" b="0" dirty="0" err="1">
                <a:solidFill>
                  <a:srgbClr val="000000"/>
                </a:solidFill>
              </a:rPr>
              <a:t>index</a:t>
            </a:r>
            <a:r>
              <a:rPr lang="ru-RU" sz="1000" b="0" dirty="0">
                <a:solidFill>
                  <a:srgbClr val="000000"/>
                </a:solidFill>
              </a:rPr>
              <a:t> не должна объявляться явно. Ядро PL/SQL объявляет ее автоматически с типом </a:t>
            </a:r>
            <a:r>
              <a:rPr lang="ru-RU" sz="1000" b="0" dirty="0">
                <a:solidFill>
                  <a:srgbClr val="E83E8C"/>
                </a:solidFill>
              </a:rPr>
              <a:t>PLS_INTEGER</a:t>
            </a:r>
            <a:r>
              <a:rPr lang="ru-RU" sz="1000" b="0" dirty="0">
                <a:solidFill>
                  <a:srgbClr val="000000"/>
                </a:solidFill>
              </a:rPr>
              <a:t> </a:t>
            </a:r>
          </a:p>
          <a:p>
            <a:pPr marL="45720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en-US" sz="1000" b="0" dirty="0">
                <a:solidFill>
                  <a:srgbClr val="E83E8C"/>
                </a:solidFill>
              </a:rPr>
              <a:t>Н</a:t>
            </a:r>
            <a:r>
              <a:rPr lang="ru-RU" sz="1000" b="0" dirty="0" err="1">
                <a:solidFill>
                  <a:srgbClr val="E83E8C"/>
                </a:solidFill>
              </a:rPr>
              <a:t>ижняя_граница</a:t>
            </a:r>
            <a:r>
              <a:rPr lang="ru-RU" sz="1000" b="0" dirty="0">
                <a:latin typeface="Raleway" panose="020B0604020202020204" pitchFamily="2" charset="-52"/>
              </a:rPr>
              <a:t> </a:t>
            </a:r>
            <a:r>
              <a:rPr lang="en-US" sz="1000" b="0" dirty="0">
                <a:latin typeface="Raleway" panose="020B0604020202020204" pitchFamily="2" charset="-52"/>
              </a:rPr>
              <a:t>и </a:t>
            </a:r>
            <a:r>
              <a:rPr lang="ru-RU" sz="1000" b="0" dirty="0" err="1">
                <a:solidFill>
                  <a:srgbClr val="E83E8C"/>
                </a:solidFill>
              </a:rPr>
              <a:t>верхняя_граница</a:t>
            </a:r>
            <a:r>
              <a:rPr lang="ru-RU" sz="1000" b="0" dirty="0">
                <a:latin typeface="Raleway" panose="020B0604020202020204" pitchFamily="2" charset="-52"/>
              </a:rPr>
              <a:t> </a:t>
            </a:r>
            <a:r>
              <a:rPr lang="ru-RU" sz="1000" b="0" dirty="0">
                <a:solidFill>
                  <a:srgbClr val="000000"/>
                </a:solidFill>
              </a:rPr>
              <a:t>должны задавать допустимый̆ диапазон смежных индексов для коллекции, используемой̆ в команде SQL. Для разреженных коллекций выдается сообщение об ошибке (ORA-22160).</a:t>
            </a:r>
          </a:p>
          <a:p>
            <a:pPr marL="45720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ru-RU" sz="1000" b="0" dirty="0">
                <a:solidFill>
                  <a:srgbClr val="000000"/>
                </a:solidFill>
              </a:rPr>
              <a:t>В версиях Oracle Database 10g+ допускается использование синтаксиса </a:t>
            </a:r>
            <a:r>
              <a:rPr lang="ru-RU" sz="1000" b="0" dirty="0">
                <a:solidFill>
                  <a:srgbClr val="E83E8C"/>
                </a:solidFill>
              </a:rPr>
              <a:t>INDICES OF</a:t>
            </a:r>
            <a:r>
              <a:rPr lang="ru-RU" sz="1000" b="0" dirty="0">
                <a:solidFill>
                  <a:srgbClr val="000000"/>
                </a:solidFill>
              </a:rPr>
              <a:t> и </a:t>
            </a:r>
            <a:r>
              <a:rPr lang="ru-RU" sz="1000" b="0" dirty="0">
                <a:solidFill>
                  <a:srgbClr val="E83E8C"/>
                </a:solidFill>
              </a:rPr>
              <a:t>VALUES OF</a:t>
            </a:r>
            <a:r>
              <a:rPr lang="ru-RU" sz="1000" b="0" dirty="0">
                <a:solidFill>
                  <a:srgbClr val="000000"/>
                </a:solidFill>
              </a:rPr>
              <a:t> для работы с разреженными коллекциями (содержащими неопределенные элементы между </a:t>
            </a:r>
            <a:r>
              <a:rPr lang="ru-RU" sz="1000" b="0" dirty="0">
                <a:solidFill>
                  <a:srgbClr val="E83E8C"/>
                </a:solidFill>
              </a:rPr>
              <a:t>FIRST</a:t>
            </a:r>
            <a:r>
              <a:rPr lang="ru-RU" sz="1000" b="0" dirty="0">
                <a:solidFill>
                  <a:srgbClr val="000000"/>
                </a:solidFill>
              </a:rPr>
              <a:t> и </a:t>
            </a:r>
            <a:r>
              <a:rPr lang="ru-RU" sz="1000" b="0" dirty="0">
                <a:solidFill>
                  <a:srgbClr val="E83E8C"/>
                </a:solidFill>
              </a:rPr>
              <a:t>LAST</a:t>
            </a:r>
            <a:r>
              <a:rPr lang="ru-RU" sz="1000" b="0" dirty="0">
                <a:solidFill>
                  <a:srgbClr val="000000"/>
                </a:solidFill>
              </a:rPr>
              <a:t>). </a:t>
            </a: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endParaRPr sz="1100" b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1100" b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100" b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22" b="0" dirty="0">
              <a:solidFill>
                <a:srgbClr val="000000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5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1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1" b="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1" b="0" dirty="0"/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1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C3540F-B49A-4888-B249-3474C43F423A}"/>
              </a:ext>
            </a:extLst>
          </p:cNvPr>
          <p:cNvSpPr txBox="1"/>
          <p:nvPr/>
        </p:nvSpPr>
        <p:spPr>
          <a:xfrm>
            <a:off x="5178104" y="1718760"/>
            <a:ext cx="36124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Raleway" panose="020B0604020202020204" pitchFamily="2" charset="-52"/>
              </a:rPr>
              <a:t>FORALL </a:t>
            </a:r>
            <a:r>
              <a:rPr lang="ru-RU" dirty="0">
                <a:latin typeface="Raleway" panose="020B0604020202020204" pitchFamily="2" charset="-52"/>
              </a:rPr>
              <a:t>индекс </a:t>
            </a:r>
            <a:r>
              <a:rPr lang="en-US" dirty="0">
                <a:latin typeface="Raleway" panose="020B0604020202020204" pitchFamily="2" charset="-52"/>
              </a:rPr>
              <a:t>IN [ </a:t>
            </a:r>
            <a:r>
              <a:rPr lang="ru-RU" dirty="0" err="1">
                <a:latin typeface="Raleway" panose="020B0604020202020204" pitchFamily="2" charset="-52"/>
              </a:rPr>
              <a:t>нижняя_граница</a:t>
            </a:r>
            <a:r>
              <a:rPr lang="ru-RU" dirty="0">
                <a:latin typeface="Raleway" panose="020B0604020202020204" pitchFamily="2" charset="-52"/>
              </a:rPr>
              <a:t> ... </a:t>
            </a:r>
            <a:r>
              <a:rPr lang="ru-RU" dirty="0" err="1">
                <a:latin typeface="Raleway" panose="020B0604020202020204" pitchFamily="2" charset="-52"/>
              </a:rPr>
              <a:t>верхняя_граница</a:t>
            </a:r>
            <a:r>
              <a:rPr lang="ru-RU" dirty="0">
                <a:latin typeface="Raleway" panose="020B0604020202020204" pitchFamily="2" charset="-52"/>
              </a:rPr>
              <a:t> | </a:t>
            </a:r>
            <a:r>
              <a:rPr lang="en-US" dirty="0">
                <a:latin typeface="Raleway" panose="020B0604020202020204" pitchFamily="2" charset="-52"/>
              </a:rPr>
              <a:t>INDICES OF </a:t>
            </a:r>
            <a:r>
              <a:rPr lang="ru-RU" dirty="0">
                <a:latin typeface="Raleway" panose="020B0604020202020204" pitchFamily="2" charset="-52"/>
              </a:rPr>
              <a:t>коллекция | </a:t>
            </a:r>
            <a:r>
              <a:rPr lang="en-US" dirty="0">
                <a:latin typeface="Raleway" panose="020B0604020202020204" pitchFamily="2" charset="-52"/>
              </a:rPr>
              <a:t>VALUES OF </a:t>
            </a:r>
            <a:r>
              <a:rPr lang="ru-RU" dirty="0">
                <a:latin typeface="Raleway" panose="020B0604020202020204" pitchFamily="2" charset="-52"/>
              </a:rPr>
              <a:t>коллекция ]</a:t>
            </a:r>
            <a:endParaRPr lang="en-US" dirty="0">
              <a:latin typeface="Raleway" panose="020B0604020202020204" pitchFamily="2" charset="-52"/>
            </a:endParaRPr>
          </a:p>
          <a:p>
            <a:r>
              <a:rPr lang="ru-RU" dirty="0">
                <a:latin typeface="Raleway" panose="020B0604020202020204" pitchFamily="2" charset="-52"/>
              </a:rPr>
              <a:t>[ </a:t>
            </a:r>
            <a:r>
              <a:rPr lang="en-US" dirty="0">
                <a:latin typeface="Raleway" panose="020B0604020202020204" pitchFamily="2" charset="-52"/>
              </a:rPr>
              <a:t>SAVE EXCEPTIONS ] </a:t>
            </a:r>
            <a:r>
              <a:rPr lang="ru-RU" dirty="0">
                <a:latin typeface="Raleway" panose="020B0604020202020204" pitchFamily="2" charset="-52"/>
              </a:rPr>
              <a:t>команда</a:t>
            </a:r>
            <a:r>
              <a:rPr lang="en-US" dirty="0">
                <a:latin typeface="Raleway" panose="020B0604020202020204" pitchFamily="2" charset="-52"/>
              </a:rPr>
              <a:t> </a:t>
            </a:r>
            <a:r>
              <a:rPr lang="en-US" dirty="0" err="1">
                <a:latin typeface="Raleway" panose="020B0604020202020204" pitchFamily="2" charset="-52"/>
              </a:rPr>
              <a:t>dml</a:t>
            </a:r>
            <a:r>
              <a:rPr lang="en-US" dirty="0">
                <a:latin typeface="Raleway" panose="020B0604020202020204" pitchFamily="2" charset="-52"/>
              </a:rPr>
              <a:t>; </a:t>
            </a:r>
            <a:endParaRPr lang="ru-RU" dirty="0">
              <a:latin typeface="Raleway" panose="020B0604020202020204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4F5E51-95DC-4806-BE10-33F993A6346C}"/>
              </a:ext>
            </a:extLst>
          </p:cNvPr>
          <p:cNvSpPr txBox="1"/>
          <p:nvPr/>
        </p:nvSpPr>
        <p:spPr>
          <a:xfrm>
            <a:off x="5178104" y="131865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2"/>
                </a:solidFill>
                <a:latin typeface="Raleway"/>
                <a:sym typeface="Raleway"/>
              </a:rPr>
              <a:t>FORALL</a:t>
            </a:r>
            <a:r>
              <a:rPr lang="en-US" sz="1400" dirty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ru-RU" sz="2000" dirty="0">
                <a:solidFill>
                  <a:schemeClr val="dk2"/>
                </a:solidFill>
                <a:latin typeface="Raleway"/>
                <a:sym typeface="Raleway"/>
              </a:rPr>
              <a:t>за синтаксис: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909B99-275A-467B-8552-AB22C9AFF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43" y="1149574"/>
            <a:ext cx="6328900" cy="3757086"/>
          </a:xfrm>
          <a:prstGeom prst="rect">
            <a:avLst/>
          </a:prstGeom>
        </p:spPr>
      </p:pic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AECD5D6C-F3A6-421B-8BB2-6DFDD54A4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1" y="1262358"/>
            <a:ext cx="1657700" cy="1309392"/>
          </a:xfrm>
        </p:spPr>
        <p:txBody>
          <a:bodyPr>
            <a:normAutofit/>
          </a:bodyPr>
          <a:lstStyle/>
          <a:p>
            <a:r>
              <a:rPr lang="ru-RU" sz="2000" dirty="0"/>
              <a:t>How </a:t>
            </a:r>
            <a:br>
              <a:rPr lang="ru-RU" sz="2000" dirty="0"/>
            </a:br>
            <a:r>
              <a:rPr lang="ru-RU" sz="2000" dirty="0"/>
              <a:t>it works</a:t>
            </a:r>
            <a:br>
              <a:rPr lang="ru-RU" sz="2000" dirty="0"/>
            </a:br>
            <a:r>
              <a:rPr lang="ru-RU" sz="2000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47358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FF1DD-899E-40A1-97A4-3D6EF13B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BOUND</a:t>
            </a:r>
            <a:r>
              <a:rPr lang="en-US" sz="2400" dirty="0"/>
              <a:t> CLOUSES</a:t>
            </a:r>
            <a:endParaRPr lang="ru-RU" sz="24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44321D-6472-4FFE-94BD-A7C65EF4A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50" y="2078875"/>
            <a:ext cx="7688700" cy="2261100"/>
          </a:xfrm>
        </p:spPr>
        <p:txBody>
          <a:bodyPr/>
          <a:lstStyle/>
          <a:p>
            <a:r>
              <a:rPr lang="ru-RU" dirty="0">
                <a:latin typeface="Raleway" pitchFamily="2" charset="-52"/>
              </a:rPr>
              <a:t>Различаю три типа границ для </a:t>
            </a:r>
            <a:r>
              <a:rPr lang="en-US" sz="900" dirty="0">
                <a:solidFill>
                  <a:srgbClr val="E83E8C"/>
                </a:solidFill>
                <a:latin typeface="Raleway" pitchFamily="2" charset="-52"/>
                <a:sym typeface="Raleway"/>
              </a:rPr>
              <a:t>FORALL:</a:t>
            </a:r>
          </a:p>
          <a:p>
            <a:r>
              <a:rPr lang="en-US" dirty="0">
                <a:latin typeface="Raleway" pitchFamily="2" charset="-52"/>
                <a:sym typeface="Raleway"/>
              </a:rPr>
              <a:t>Upper</a:t>
            </a:r>
            <a:r>
              <a:rPr lang="ru-RU" dirty="0">
                <a:latin typeface="Raleway" pitchFamily="2" charset="-52"/>
                <a:sym typeface="Raleway"/>
              </a:rPr>
              <a:t> </a:t>
            </a:r>
            <a:r>
              <a:rPr lang="en-US" dirty="0">
                <a:latin typeface="Raleway" pitchFamily="2" charset="-52"/>
                <a:sym typeface="Raleway"/>
              </a:rPr>
              <a:t>and lower bounds</a:t>
            </a:r>
            <a:endParaRPr lang="ru-RU" dirty="0">
              <a:latin typeface="Raleway" pitchFamily="2" charset="-52"/>
              <a:sym typeface="Raleway"/>
            </a:endParaRPr>
          </a:p>
          <a:p>
            <a:r>
              <a:rPr lang="en-US" dirty="0">
                <a:latin typeface="Raleway" panose="020B0604020202020204" pitchFamily="2" charset="-52"/>
              </a:rPr>
              <a:t>INDICES OF</a:t>
            </a:r>
            <a:endParaRPr lang="ru-RU" dirty="0">
              <a:latin typeface="Raleway" panose="020B0604020202020204" pitchFamily="2" charset="-52"/>
            </a:endParaRPr>
          </a:p>
          <a:p>
            <a:r>
              <a:rPr lang="en-US" dirty="0">
                <a:latin typeface="Raleway" panose="020B0604020202020204" pitchFamily="2" charset="-52"/>
              </a:rPr>
              <a:t>VALUES OF</a:t>
            </a:r>
            <a:endParaRPr lang="ru-RU" dirty="0">
              <a:sym typeface="Raleway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2DDC6D6-DEF9-49B5-BA93-32A47653B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892" y="2667801"/>
            <a:ext cx="6727347" cy="203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49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A1E1C-A8A5-4B9E-A9C0-55B4D9440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Upper and lower bounds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0C61DB-6A15-4362-AD09-4F5D2C1F1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470761"/>
            <a:ext cx="2820574" cy="2261100"/>
          </a:xfrm>
        </p:spPr>
        <p:txBody>
          <a:bodyPr/>
          <a:lstStyle/>
          <a:p>
            <a:pPr algn="ctr"/>
            <a:r>
              <a:rPr lang="ru-RU" dirty="0">
                <a:latin typeface="Raleway" pitchFamily="2" charset="-52"/>
              </a:rPr>
              <a:t>Как и в цикле </a:t>
            </a:r>
            <a:r>
              <a:rPr lang="en-US" dirty="0">
                <a:latin typeface="Raleway" pitchFamily="2" charset="-52"/>
              </a:rPr>
              <a:t>for, </a:t>
            </a:r>
            <a:r>
              <a:rPr lang="ru-RU" dirty="0">
                <a:latin typeface="Raleway" pitchFamily="2" charset="-52"/>
              </a:rPr>
              <a:t>верхняя и нижняя границы</a:t>
            </a:r>
            <a:r>
              <a:rPr lang="en-US" dirty="0">
                <a:latin typeface="Raleway" pitchFamily="2" charset="-52"/>
              </a:rPr>
              <a:t> </a:t>
            </a:r>
            <a:r>
              <a:rPr lang="ru-RU" dirty="0">
                <a:latin typeface="Raleway" pitchFamily="2" charset="-52"/>
              </a:rPr>
              <a:t>являются целыми числами,  определяют значение индекса и количество итераций оператора </a:t>
            </a:r>
            <a:r>
              <a:rPr lang="en-US" dirty="0" err="1">
                <a:latin typeface="Raleway" pitchFamily="2" charset="-52"/>
              </a:rPr>
              <a:t>forall</a:t>
            </a:r>
            <a:endParaRPr lang="ru-RU" dirty="0">
              <a:latin typeface="Raleway" pitchFamily="2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8CCD16-27F7-49F4-A07B-2E4C76C83A4D}"/>
              </a:ext>
            </a:extLst>
          </p:cNvPr>
          <p:cNvSpPr txBox="1"/>
          <p:nvPr/>
        </p:nvSpPr>
        <p:spPr>
          <a:xfrm>
            <a:off x="4222376" y="1853850"/>
            <a:ext cx="4572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CREATE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test(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mul_tab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NUMBER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5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DECLARE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TYPE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My_Array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OF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NUMBER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INDEX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BY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pls_integer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col_var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My_Array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BEGIN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FOR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1..</a:t>
            </a:r>
            <a:r>
              <a:rPr lang="en-US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LOOP</a:t>
            </a:r>
          </a:p>
          <a:p>
            <a:pPr algn="l"/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col_var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):=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9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END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LOOP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FORALL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1..</a:t>
            </a:r>
            <a:r>
              <a:rPr lang="en-US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test(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mul_tab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VALUES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col_var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END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1281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3D8B9-4758-4C7D-BCE0-2F170A77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Raleway" panose="020B0604020202020204" pitchFamily="2" charset="-52"/>
              </a:rPr>
              <a:t>INDICES OF</a:t>
            </a:r>
            <a:br>
              <a:rPr lang="ru-RU" dirty="0">
                <a:latin typeface="Raleway" panose="020B0604020202020204" pitchFamily="2" charset="-52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983690-C986-4E1A-BD99-64640D370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3619713" cy="2261100"/>
          </a:xfrm>
        </p:spPr>
        <p:txBody>
          <a:bodyPr>
            <a:normAutofit/>
          </a:bodyPr>
          <a:lstStyle/>
          <a:p>
            <a:pPr algn="just"/>
            <a:r>
              <a:rPr lang="ru-RU" b="0" i="0" dirty="0">
                <a:solidFill>
                  <a:srgbClr val="222222"/>
                </a:solidFill>
                <a:effectLst/>
                <a:latin typeface="Raleway" pitchFamily="2" charset="-52"/>
              </a:rPr>
              <a:t>Подобно </a:t>
            </a:r>
            <a:r>
              <a:rPr lang="ru-RU" dirty="0">
                <a:solidFill>
                  <a:srgbClr val="222222"/>
                </a:solidFill>
                <a:latin typeface="Raleway" pitchFamily="2" charset="-52"/>
              </a:rPr>
              <a:t>верхней и нижней границам</a:t>
            </a:r>
            <a:r>
              <a:rPr lang="ru-RU" b="0" i="0" dirty="0">
                <a:solidFill>
                  <a:srgbClr val="222222"/>
                </a:solidFill>
                <a:effectLst/>
                <a:latin typeface="Raleway" pitchFamily="2" charset="-52"/>
              </a:rPr>
              <a:t>, INDICES OF помогает нам в обработке больших объемов данных, позволяя перебирать коллекцию. Единственное отличие состоит в том, что с помощью INDICES OF мы можем перебирать как плотную, так и разреженную коллекцию.</a:t>
            </a:r>
            <a:endParaRPr lang="ru-RU" dirty="0">
              <a:latin typeface="Raleway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F37D5-D299-4CAF-BE33-115B2E523B09}"/>
              </a:ext>
            </a:extLst>
          </p:cNvPr>
          <p:cNvSpPr txBox="1"/>
          <p:nvPr/>
        </p:nvSpPr>
        <p:spPr>
          <a:xfrm>
            <a:off x="4567530" y="1978318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CREATE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test(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mul_tab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NUMBER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5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DECLARE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TYPE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my_nested_table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OF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NUMBER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var_nt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my_nested_table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my_nested_table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9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18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27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36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45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54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63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72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81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90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BEGIN</a:t>
            </a:r>
          </a:p>
          <a:p>
            <a:pPr algn="l"/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var_nt.</a:t>
            </a:r>
            <a:r>
              <a:rPr lang="en-US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delete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3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6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FORALL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INDICES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OF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var_nt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test(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mul_tab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VALUES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var_nt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END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703659-56B8-45DD-A265-ED52E7A18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882" y="2998272"/>
            <a:ext cx="885599" cy="139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626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FA7D4-3182-4950-80FA-D8ED9CE7E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Raleway" panose="020B0604020202020204" pitchFamily="2" charset="-52"/>
              </a:rPr>
              <a:t>VALUES OF</a:t>
            </a:r>
            <a:br>
              <a:rPr lang="ru-RU" dirty="0">
                <a:sym typeface="Raleway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2A5EFC-28E1-480A-9D39-C64C337AD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49" y="1951745"/>
            <a:ext cx="7162054" cy="2758568"/>
          </a:xfrm>
        </p:spPr>
        <p:txBody>
          <a:bodyPr>
            <a:normAutofit/>
          </a:bodyPr>
          <a:lstStyle/>
          <a:p>
            <a:pPr algn="just"/>
            <a:r>
              <a:rPr lang="ru-RU" b="0" i="0" dirty="0">
                <a:solidFill>
                  <a:srgbClr val="222222"/>
                </a:solidFill>
                <a:effectLst/>
                <a:latin typeface="Raleway" pitchFamily="2" charset="-52"/>
              </a:rPr>
              <a:t>Используя </a:t>
            </a:r>
            <a:r>
              <a:rPr lang="ru-RU" dirty="0">
                <a:solidFill>
                  <a:srgbClr val="222222"/>
                </a:solidFill>
                <a:latin typeface="Raleway" pitchFamily="2" charset="-52"/>
              </a:rPr>
              <a:t>конструкцию</a:t>
            </a:r>
            <a:r>
              <a:rPr lang="ru-RU" b="0" i="0" dirty="0">
                <a:solidFill>
                  <a:srgbClr val="222222"/>
                </a:solidFill>
                <a:effectLst/>
                <a:latin typeface="Raleway" pitchFamily="2" charset="-52"/>
              </a:rPr>
              <a:t> </a:t>
            </a:r>
            <a:r>
              <a:rPr lang="en-US" b="0" i="0" dirty="0">
                <a:solidFill>
                  <a:srgbClr val="222222"/>
                </a:solidFill>
                <a:effectLst/>
                <a:latin typeface="Raleway" pitchFamily="2" charset="-52"/>
              </a:rPr>
              <a:t>VALUES OF</a:t>
            </a:r>
            <a:r>
              <a:rPr lang="ru-RU" b="0" i="0" dirty="0">
                <a:solidFill>
                  <a:srgbClr val="222222"/>
                </a:solidFill>
                <a:effectLst/>
                <a:latin typeface="Raleway" pitchFamily="2" charset="-52"/>
              </a:rPr>
              <a:t> оператора FORALL, мы можем связать выбранные элементы коллекции с оператором DML. Для </a:t>
            </a:r>
            <a:r>
              <a:rPr lang="en-US" b="0" i="0" dirty="0">
                <a:solidFill>
                  <a:srgbClr val="222222"/>
                </a:solidFill>
                <a:effectLst/>
                <a:latin typeface="Raleway" pitchFamily="2" charset="-52"/>
              </a:rPr>
              <a:t>VALUES OF </a:t>
            </a:r>
            <a:r>
              <a:rPr lang="ru-RU" dirty="0">
                <a:solidFill>
                  <a:srgbClr val="222222"/>
                </a:solidFill>
                <a:latin typeface="Raleway" pitchFamily="2" charset="-52"/>
              </a:rPr>
              <a:t>требуются две коллекции. Из индексируемой коллекции выбираются значения, используемые в качестве индексов для второй коллекции.</a:t>
            </a:r>
          </a:p>
          <a:p>
            <a:r>
              <a:rPr lang="ru-RU" dirty="0">
                <a:solidFill>
                  <a:srgbClr val="222222"/>
                </a:solidFill>
                <a:latin typeface="Raleway" pitchFamily="2" charset="-52"/>
              </a:rPr>
              <a:t>Ограничения</a:t>
            </a:r>
            <a:r>
              <a:rPr lang="en-US" dirty="0">
                <a:solidFill>
                  <a:srgbClr val="222222"/>
                </a:solidFill>
                <a:latin typeface="Raleway" pitchFamily="2" charset="-52"/>
              </a:rPr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222222"/>
                </a:solidFill>
                <a:latin typeface="Raleway" pitchFamily="2" charset="-52"/>
              </a:rPr>
              <a:t>Индексируемая к</a:t>
            </a:r>
            <a:r>
              <a:rPr lang="ru-RU" b="0" i="0" dirty="0">
                <a:solidFill>
                  <a:srgbClr val="222222"/>
                </a:solidFill>
                <a:effectLst/>
                <a:latin typeface="Raleway" pitchFamily="2" charset="-52"/>
              </a:rPr>
              <a:t>оллекция должна быть ВЛОЖЕННОЙ ТАБЛИЦЕЙ или АССОЦИАТИВНЫМ МАССИВОМ.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222222"/>
                </a:solidFill>
                <a:effectLst/>
                <a:latin typeface="Raleway" pitchFamily="2" charset="-52"/>
              </a:rPr>
              <a:t>Если индексируемая коллекция является ассоциативным массивом, она должна быть проиндексирована с помощью PLS_INTEGER или BINARY_INTEGER.</a:t>
            </a:r>
          </a:p>
        </p:txBody>
      </p:sp>
    </p:spTree>
    <p:extLst>
      <p:ext uri="{BB962C8B-B14F-4D97-AF65-F5344CB8AC3E}">
        <p14:creationId xmlns:p14="http://schemas.microsoft.com/office/powerpoint/2010/main" val="1722065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2D0F17-0268-401A-8BD3-CD273BC57028}"/>
              </a:ext>
            </a:extLst>
          </p:cNvPr>
          <p:cNvSpPr txBox="1"/>
          <p:nvPr/>
        </p:nvSpPr>
        <p:spPr>
          <a:xfrm>
            <a:off x="599617" y="678924"/>
            <a:ext cx="67076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CREATE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test(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mul_tab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NUMBER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5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DECLARE</a:t>
            </a:r>
          </a:p>
          <a:p>
            <a:pPr algn="l"/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1200" dirty="0">
                <a:solidFill>
                  <a:srgbClr val="808080"/>
                </a:solidFill>
                <a:latin typeface="Consolas" panose="020B0609020204030204" pitchFamily="49" charset="0"/>
              </a:rPr>
              <a:t>--Исходная коллекция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TYPE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My_NestedTable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IS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OF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NUMBER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source_col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My_NestedTable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My_NestedTable</a:t>
            </a:r>
            <a:r>
              <a:rPr lang="ru-RU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18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27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36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45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54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63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72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81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90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1200" dirty="0">
                <a:solidFill>
                  <a:srgbClr val="808080"/>
                </a:solidFill>
                <a:latin typeface="Consolas" panose="020B0609020204030204" pitchFamily="49" charset="0"/>
              </a:rPr>
              <a:t>--Индексированная коллекция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TYPE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My_Array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IS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OF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PLS_INTEGER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INDEX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BY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PLS_INTEGER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index_col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My_Array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BEGIN</a:t>
            </a:r>
          </a:p>
          <a:p>
            <a:pPr algn="l"/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1200" dirty="0">
                <a:solidFill>
                  <a:srgbClr val="808080"/>
                </a:solidFill>
                <a:latin typeface="Consolas" panose="020B0609020204030204" pitchFamily="49" charset="0"/>
              </a:rPr>
              <a:t>--Инициализация коллекции индексации с номерами индексов.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index_col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:=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index_col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:=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7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index_col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12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):=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8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index_col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28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):=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FORALL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IN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VALUES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OF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index_col</a:t>
            </a:r>
            <a:endParaRPr lang="en-US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test </a:t>
            </a:r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VALUES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source_col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END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ru-RU" sz="12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0371FF-57D9-4013-B7DD-C6CED90B4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654" y="1535383"/>
            <a:ext cx="1543810" cy="170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2C381-E28E-420C-A352-32BFC3A4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FORALL  VS FOR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E667EC-BBC1-4295-90C6-CC4BB1AAD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rgbClr val="5F5F5F"/>
                </a:solidFill>
                <a:highlight>
                  <a:srgbClr val="FFFFFF"/>
                </a:highlight>
                <a:latin typeface="Raleway" pitchFamily="2" charset="-52"/>
              </a:rPr>
              <a:t>Синтаксис </a:t>
            </a:r>
            <a:r>
              <a:rPr lang="en-US" dirty="0">
                <a:solidFill>
                  <a:srgbClr val="E83E8C"/>
                </a:solidFill>
                <a:highlight>
                  <a:srgbClr val="FFFFFF"/>
                </a:highlight>
                <a:latin typeface="Raleway" pitchFamily="2" charset="-52"/>
              </a:rPr>
              <a:t>FORALL</a:t>
            </a:r>
            <a:r>
              <a:rPr lang="en-US" dirty="0">
                <a:solidFill>
                  <a:srgbClr val="5F5F5F"/>
                </a:solidFill>
                <a:highlight>
                  <a:srgbClr val="FFFFFF"/>
                </a:highlight>
                <a:latin typeface="Raleway" pitchFamily="2" charset="-52"/>
              </a:rPr>
              <a:t> </a:t>
            </a:r>
            <a:r>
              <a:rPr lang="ru-RU" dirty="0">
                <a:solidFill>
                  <a:srgbClr val="5F5F5F"/>
                </a:solidFill>
                <a:highlight>
                  <a:srgbClr val="FFFFFF"/>
                </a:highlight>
                <a:latin typeface="Raleway" pitchFamily="2" charset="-52"/>
              </a:rPr>
              <a:t>и </a:t>
            </a:r>
            <a:r>
              <a:rPr lang="en-US" dirty="0">
                <a:solidFill>
                  <a:srgbClr val="E83E8C"/>
                </a:solidFill>
                <a:highlight>
                  <a:srgbClr val="FFFFFF"/>
                </a:highlight>
                <a:latin typeface="Raleway" pitchFamily="2" charset="-52"/>
              </a:rPr>
              <a:t>FOR</a:t>
            </a:r>
            <a:r>
              <a:rPr lang="ru-RU" dirty="0">
                <a:solidFill>
                  <a:srgbClr val="E83E8C"/>
                </a:solidFill>
                <a:highlight>
                  <a:srgbClr val="FFFFFF"/>
                </a:highlight>
                <a:latin typeface="Raleway" pitchFamily="2" charset="-52"/>
              </a:rPr>
              <a:t> </a:t>
            </a:r>
            <a:r>
              <a:rPr lang="ru-RU" dirty="0">
                <a:solidFill>
                  <a:srgbClr val="5F5F5F"/>
                </a:solidFill>
                <a:highlight>
                  <a:srgbClr val="FFFFFF"/>
                </a:highlight>
                <a:latin typeface="Raleway" pitchFamily="2" charset="-52"/>
              </a:rPr>
              <a:t>схожи</a:t>
            </a:r>
          </a:p>
          <a:p>
            <a:r>
              <a:rPr lang="en-US" dirty="0">
                <a:solidFill>
                  <a:srgbClr val="E83E8C"/>
                </a:solidFill>
                <a:highlight>
                  <a:srgbClr val="FFFFFF"/>
                </a:highlight>
                <a:latin typeface="Raleway" pitchFamily="2" charset="-52"/>
              </a:rPr>
              <a:t>FORALL</a:t>
            </a:r>
            <a:r>
              <a:rPr lang="ru-RU" dirty="0">
                <a:solidFill>
                  <a:srgbClr val="E83E8C"/>
                </a:solidFill>
                <a:highlight>
                  <a:srgbClr val="FFFFFF"/>
                </a:highlight>
                <a:latin typeface="Raleway" pitchFamily="2" charset="-52"/>
              </a:rPr>
              <a:t> </a:t>
            </a:r>
            <a:r>
              <a:rPr lang="ru-RU" dirty="0">
                <a:solidFill>
                  <a:srgbClr val="5F5F5F"/>
                </a:solidFill>
                <a:highlight>
                  <a:srgbClr val="FFFFFF"/>
                </a:highlight>
                <a:latin typeface="Raleway" pitchFamily="2" charset="-52"/>
              </a:rPr>
              <a:t>отличается</a:t>
            </a:r>
            <a:r>
              <a:rPr lang="ru-RU" dirty="0">
                <a:solidFill>
                  <a:srgbClr val="E83E8C"/>
                </a:solidFill>
                <a:highlight>
                  <a:srgbClr val="FFFFFF"/>
                </a:highlight>
                <a:latin typeface="Raleway" pitchFamily="2" charset="-52"/>
              </a:rPr>
              <a:t> </a:t>
            </a:r>
            <a:r>
              <a:rPr lang="ru-RU" dirty="0">
                <a:solidFill>
                  <a:srgbClr val="5F5F5F"/>
                </a:solidFill>
                <a:highlight>
                  <a:srgbClr val="FFFFFF"/>
                </a:highlight>
                <a:latin typeface="Raleway" pitchFamily="2" charset="-52"/>
              </a:rPr>
              <a:t>большей производительностью</a:t>
            </a:r>
          </a:p>
          <a:p>
            <a:r>
              <a:rPr lang="ru-RU" dirty="0">
                <a:solidFill>
                  <a:srgbClr val="E83E8C"/>
                </a:solidFill>
                <a:highlight>
                  <a:srgbClr val="FFFFFF"/>
                </a:highlight>
                <a:latin typeface="Raleway" pitchFamily="2" charset="-52"/>
              </a:rPr>
              <a:t>FORALL</a:t>
            </a:r>
            <a:r>
              <a:rPr lang="ru-RU" dirty="0">
                <a:solidFill>
                  <a:srgbClr val="5F5F5F"/>
                </a:solidFill>
                <a:highlight>
                  <a:srgbClr val="FFFFFF"/>
                </a:highlight>
                <a:latin typeface="Raleway" pitchFamily="2" charset="-52"/>
              </a:rPr>
              <a:t> это не цикл, а конструкция языка</a:t>
            </a:r>
          </a:p>
          <a:p>
            <a:r>
              <a:rPr lang="en-US" dirty="0">
                <a:solidFill>
                  <a:srgbClr val="E83E8C"/>
                </a:solidFill>
                <a:highlight>
                  <a:srgbClr val="FFFFFF"/>
                </a:highlight>
                <a:latin typeface="Raleway" pitchFamily="2" charset="-52"/>
              </a:rPr>
              <a:t>FORALL </a:t>
            </a:r>
            <a:r>
              <a:rPr lang="ru-RU" dirty="0">
                <a:solidFill>
                  <a:srgbClr val="E83E8C"/>
                </a:solidFill>
                <a:highlight>
                  <a:srgbClr val="FFFFFF"/>
                </a:highlight>
                <a:latin typeface="Raleway" pitchFamily="2" charset="-52"/>
              </a:rPr>
              <a:t> </a:t>
            </a:r>
            <a:r>
              <a:rPr lang="ru-RU" sz="1300" b="0" i="0" u="none" strike="noStrike" dirty="0">
                <a:solidFill>
                  <a:srgbClr val="5F5F5F"/>
                </a:solidFill>
                <a:effectLst/>
                <a:latin typeface="Raleway" pitchFamily="2" charset="-52"/>
              </a:rPr>
              <a:t>не использует конструкцию </a:t>
            </a:r>
            <a:r>
              <a:rPr lang="ru-RU" sz="1300" b="0" i="0" u="none" strike="noStrike" dirty="0">
                <a:solidFill>
                  <a:srgbClr val="E83E8C"/>
                </a:solidFill>
                <a:effectLst/>
                <a:latin typeface="Raleway" pitchFamily="2" charset="-52"/>
              </a:rPr>
              <a:t>LOOP</a:t>
            </a:r>
            <a:r>
              <a:rPr lang="ru-RU" sz="1300" b="0" i="0" u="none" strike="noStrike" dirty="0">
                <a:solidFill>
                  <a:srgbClr val="5F5F5F"/>
                </a:solidFill>
                <a:effectLst/>
                <a:latin typeface="Raleway" pitchFamily="2" charset="-52"/>
              </a:rPr>
              <a:t> / </a:t>
            </a:r>
            <a:r>
              <a:rPr lang="ru-RU" sz="1300" b="0" i="0" u="none" strike="noStrike" dirty="0">
                <a:solidFill>
                  <a:srgbClr val="E83E8C"/>
                </a:solidFill>
                <a:effectLst/>
                <a:latin typeface="Raleway" pitchFamily="2" charset="-52"/>
              </a:rPr>
              <a:t>END LOOP</a:t>
            </a:r>
          </a:p>
          <a:p>
            <a:r>
              <a:rPr lang="ru-RU" dirty="0">
                <a:solidFill>
                  <a:srgbClr val="5F5F5F"/>
                </a:solidFill>
                <a:highlight>
                  <a:srgbClr val="FFFFFF"/>
                </a:highlight>
                <a:latin typeface="Raleway" pitchFamily="2" charset="-52"/>
              </a:rPr>
              <a:t>В отличие от цикла </a:t>
            </a:r>
            <a:r>
              <a:rPr lang="ru-RU" dirty="0">
                <a:solidFill>
                  <a:srgbClr val="E83E8C"/>
                </a:solidFill>
                <a:highlight>
                  <a:srgbClr val="FFFFFF"/>
                </a:highlight>
                <a:latin typeface="Raleway" pitchFamily="2" charset="-52"/>
              </a:rPr>
              <a:t>FOR</a:t>
            </a:r>
            <a:r>
              <a:rPr lang="ru-RU" dirty="0">
                <a:solidFill>
                  <a:srgbClr val="5F5F5F"/>
                </a:solidFill>
                <a:highlight>
                  <a:srgbClr val="FFFFFF"/>
                </a:highlight>
                <a:latin typeface="Raleway" pitchFamily="2" charset="-52"/>
              </a:rPr>
              <a:t>, с оператором </a:t>
            </a:r>
            <a:r>
              <a:rPr lang="ru-RU" dirty="0">
                <a:solidFill>
                  <a:srgbClr val="E83E8C"/>
                </a:solidFill>
                <a:highlight>
                  <a:srgbClr val="FFFFFF"/>
                </a:highlight>
                <a:latin typeface="Raleway" pitchFamily="2" charset="-52"/>
              </a:rPr>
              <a:t>FORALL</a:t>
            </a:r>
            <a:r>
              <a:rPr lang="ru-RU" dirty="0">
                <a:solidFill>
                  <a:srgbClr val="5F5F5F"/>
                </a:solidFill>
                <a:highlight>
                  <a:srgbClr val="FFFFFF"/>
                </a:highlight>
                <a:latin typeface="Raleway" pitchFamily="2" charset="-52"/>
              </a:rPr>
              <a:t> мы можем использовать только одну DML команду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0091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7E3250-AB07-49D6-96E9-9F97DD727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52" y="854890"/>
            <a:ext cx="5989384" cy="42481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906907-0800-4EB3-839F-7DB9D7DC6282}"/>
              </a:ext>
            </a:extLst>
          </p:cNvPr>
          <p:cNvSpPr txBox="1"/>
          <p:nvPr/>
        </p:nvSpPr>
        <p:spPr>
          <a:xfrm>
            <a:off x="873940" y="414938"/>
            <a:ext cx="533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Raleway" pitchFamily="2" charset="-52"/>
              </a:rPr>
              <a:t>Пример процедуры с использованием </a:t>
            </a:r>
            <a:r>
              <a:rPr lang="en-US" sz="1800" b="1" dirty="0">
                <a:latin typeface="Raleway" pitchFamily="2" charset="-52"/>
              </a:rPr>
              <a:t>FOR</a:t>
            </a:r>
            <a:endParaRPr lang="ru-RU" sz="1800" b="1" dirty="0">
              <a:latin typeface="Raleway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62687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27921D-E14C-44C1-A08A-891D57601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28" y="870798"/>
            <a:ext cx="5993427" cy="40008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6A0A02-5716-4F41-B4E1-889A29475B21}"/>
              </a:ext>
            </a:extLst>
          </p:cNvPr>
          <p:cNvSpPr txBox="1"/>
          <p:nvPr/>
        </p:nvSpPr>
        <p:spPr>
          <a:xfrm>
            <a:off x="898216" y="405651"/>
            <a:ext cx="7734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latin typeface="Raleway" pitchFamily="2" charset="-52"/>
              </a:rPr>
              <a:t>Пример процедуры с использованием </a:t>
            </a:r>
            <a:r>
              <a:rPr lang="en-US" sz="1800" b="1" dirty="0">
                <a:latin typeface="Raleway" pitchFamily="2" charset="-52"/>
              </a:rPr>
              <a:t>FORALL </a:t>
            </a:r>
            <a:r>
              <a:rPr lang="ru-RU" sz="1800" b="1" dirty="0">
                <a:latin typeface="Raleway" pitchFamily="2" charset="-52"/>
              </a:rPr>
              <a:t>и</a:t>
            </a:r>
            <a:r>
              <a:rPr lang="en-US" sz="1800" b="1" dirty="0">
                <a:latin typeface="Raleway" pitchFamily="2" charset="-52"/>
              </a:rPr>
              <a:t> BULK COLLECT</a:t>
            </a:r>
            <a:endParaRPr lang="ru-RU" sz="1800" b="1" dirty="0">
              <a:latin typeface="Raleway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4134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2A3731-3C18-4A71-9553-545183FCC0EE}"/>
              </a:ext>
            </a:extLst>
          </p:cNvPr>
          <p:cNvSpPr txBox="1"/>
          <p:nvPr/>
        </p:nvSpPr>
        <p:spPr>
          <a:xfrm>
            <a:off x="982930" y="500754"/>
            <a:ext cx="737234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b="1" dirty="0">
                <a:latin typeface="Raleway" pitchFamily="2" charset="-52"/>
              </a:rPr>
              <a:t>Неявные атрибуты курсоров для команд FORALL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1F68462-C569-4C6F-A946-E3F90C1BB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850" y="1236353"/>
            <a:ext cx="73723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074734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904</Words>
  <Application>Microsoft Office PowerPoint</Application>
  <PresentationFormat>Экран (16:9)</PresentationFormat>
  <Paragraphs>103</Paragraphs>
  <Slides>14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Wingdings</vt:lpstr>
      <vt:lpstr>Lato</vt:lpstr>
      <vt:lpstr>Arial</vt:lpstr>
      <vt:lpstr>Raleway</vt:lpstr>
      <vt:lpstr>Consolas</vt:lpstr>
      <vt:lpstr>Streamline</vt:lpstr>
      <vt:lpstr>Команда FORALL                                                         Отличие  FOR</vt:lpstr>
      <vt:lpstr>FORALL top facts</vt:lpstr>
      <vt:lpstr>FORALL зачем все это нужно: В ходе обработки блока программного кода ядро PL/SQL выполняет процедурные команды самостоятельно, а команды SQL передает ядру SQL. Уровень SQL выполняет команды и при необходимости возвращает результаты ядру PL/SQL. Передача управления между ядрами PL/SQL и SQL (рис. 1) называется переключением контекста. Каждое переключение контекста приводит к дополнительным затратам ресурсов. PL/SQL и SQL тесно интегрированы на синтаксическом уровне, но во внутренней реализации они связаны отнюдь не так тесно,  Конструкции FORALL и BULK COLLECT позволяют оптимизировать взаимодействие этих двух компонентов. Фактически эти команды приказывают ядру PL/SQL объединить множество переключений контекста в одно переключение, тем самым повышая производительность приложения.        </vt:lpstr>
      <vt:lpstr>FORALL за правила: Тело команды FORALL должно включать одну команду DML — INSERT, UPDATE, DELETE или MERGE (Oracle11g+). Команда DML должна содержать ссылки на элементы коллекции, индексируемые в команде FORALL.   Область видимости переменной индекс ограничивается командой FORALL; ссылаться на нее за пределами конструкции нельзя. Переменная index не должна объявляться явно. Ядро PL/SQL объявляет ее автоматически с типом PLS_INTEGER  Нижняя_граница и верхняя_граница должны задавать допустимый̆ диапазон смежных индексов для коллекции, используемой̆ в команде SQL. Для разреженных коллекций выдается сообщение об ошибке (ORA-22160). В версиях Oracle Database 10g+ допускается использование синтаксиса INDICES OF и VALUES OF для работы с разреженными коллекциями (содержащими неопределенные элементы между FIRST и LAST).                       </vt:lpstr>
      <vt:lpstr>How  it works example</vt:lpstr>
      <vt:lpstr>BOUND CLOUSES</vt:lpstr>
      <vt:lpstr>Upper and lower bounds</vt:lpstr>
      <vt:lpstr>INDICES OF </vt:lpstr>
      <vt:lpstr>VALUES OF </vt:lpstr>
      <vt:lpstr>Презентация PowerPoint</vt:lpstr>
      <vt:lpstr>FORALL  VS FOR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Команда FORALL                                                         Отличие  FOR</dc:title>
  <dc:creator>Victory</dc:creator>
  <cp:lastModifiedBy>Зотова Виктория Николаевна</cp:lastModifiedBy>
  <cp:revision>5</cp:revision>
  <dcterms:modified xsi:type="dcterms:W3CDTF">2022-02-24T19:32:29Z</dcterms:modified>
</cp:coreProperties>
</file>