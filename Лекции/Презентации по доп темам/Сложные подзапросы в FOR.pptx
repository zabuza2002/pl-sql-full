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1" r:id="rId6"/>
    <p:sldId id="266" r:id="rId7"/>
    <p:sldId id="267" r:id="rId8"/>
    <p:sldId id="260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D8D06-5BEB-4107-BAA7-96D51BBD69BB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8CBF5-A01C-4AA2-9BBF-BC44D9A3D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50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8CBF5-A01C-4AA2-9BBF-BC44D9A3D10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069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5E048-5DC9-49AC-A66C-B6561D0FA4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F070CA-0A33-40FA-BCE2-82192A88F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B74A8D-7FAC-40BA-BDD4-A5816944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8ABE7B-37CF-4877-BE83-C1622A4D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2A3D0-66A7-4A68-B0A1-220254D7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25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21E9D-F695-46B0-9DD4-59669722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60C77E-D3B3-4656-9F90-143F7249B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30572-FF57-4497-9B21-2BCCAC2C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343555-0E67-4CBE-9E03-8DCE67C0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3D7A28-A064-46CD-964E-B3D6C502A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414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310AC-429F-4386-8554-911A6EC7C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641560-1FA3-4311-A79A-D15BBC1B0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F4F1AC-69FB-4A05-81BB-73F12071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848C55-1704-40B1-A793-ADB38F85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A6BBF-7544-43D9-B000-BE6C8EC6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682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929D9D-1CF0-43D5-9162-7A346AD8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45E551-798E-4314-855A-D78C1D3DD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749E4B-C0F6-4FB3-BF10-85E4926DC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9F17B8-A2DF-467D-9994-FD8B5B17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FB40A-A2CF-4761-BFCA-FA232ABB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C966F-8534-4E26-8D4A-99AAEA4A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39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2024BF-EFCE-4A71-BA5A-A1450B22A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E2D98B-170A-4C9E-9AC1-5CB4ACE5C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E32477-3AF5-4000-93B2-339F20CA1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B3D6D0-90D5-4261-A749-56EBC4ED6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7AABDE-6E57-4F44-BF86-0FDDC04F2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05437AA-BFE1-4136-B6F4-728C4188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8D129E0-9ED1-4465-B5BB-96A4268C6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B940686-6B90-467E-B32D-6B044B52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83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EC-1321-4F1D-B4EA-9F7C49D3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4E173F4-B408-494D-B6DE-208EA7D8A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5C0782-9769-4619-B8F2-88CBC18E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9DA3E1-9464-41D6-82F0-62A746483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75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F45300-BA59-4A66-B2D0-7A577641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92B45DA-AB31-4B76-B506-5B0BBBC2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FB6E52-1DC5-4968-A19D-2054B72DB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73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E7500C-2549-4FF5-8E1A-DF9A3AA56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D3655D-4630-40EB-AFE0-72D509E4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CF0598-75FD-4B59-BB26-92A4769D8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C7B3FC-1226-447C-8115-ADD4F5F4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9B8B41-CAFB-4257-B1AD-492DB9D8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23AC15-21D5-4949-859C-2C5AC792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61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59CF0-9E49-4652-A45E-CDC5BCD0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A14DA5-C2DE-49B3-8E1D-BF1036B76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FFBB96-236D-417D-8A40-7B0FFDD67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D0612B-1DBF-48B7-8BDE-605052F0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4F1A19-4ED5-4DAE-9156-EB1FE863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B4CC7C-7E60-438C-8D31-D189488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354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D3A4F3-366C-4237-8833-E02F5477C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085241-C028-4DD7-96B8-D9F599B0C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F38A1A-3CED-4572-AC67-908C49EE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443DD7-01F9-4F5A-9805-744622C47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DC947B-D26C-4CEE-A641-38F7F1FE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045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65DF5C-DB85-474F-A233-A0FCE5154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1DF9FC-0716-46C4-8C15-10133CD52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16081E-4200-4238-A444-A12A354D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1D364D-830F-4DC6-83F5-D721085B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339ED4-4EB7-44BB-981D-D242DDAE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2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5A7EE-9C4D-4A05-9440-3227FBC5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8700E4-3631-455B-966E-2A6B37A4B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C9A042-0822-451A-8964-0DD8364AE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73F15-A5B2-4DB3-AF62-F08E88CBE497}" type="datetimeFigureOut">
              <a:rPr lang="ru-RU" smtClean="0"/>
              <a:t>24.02.2022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120468-00DF-4DA7-9F84-82A99D778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BA3155-77BC-44D4-B2B4-A78C5A5EA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D6C2D-E02A-4974-831A-98C195A36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789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4E4EB-A39A-49E6-8FBA-634FD3951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58007"/>
            <a:ext cx="9144000" cy="186777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Сложные запросы в цикле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51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F4184A-A509-407E-8215-D4FA9224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Синтаксис цикла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215DD-3C1A-45A1-9640-14D3CF57F6E5}"/>
              </a:ext>
            </a:extLst>
          </p:cNvPr>
          <p:cNvSpPr txBox="1"/>
          <p:nvPr/>
        </p:nvSpPr>
        <p:spPr>
          <a:xfrm>
            <a:off x="838200" y="2435291"/>
            <a:ext cx="10515600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счетчик </a:t>
            </a: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[REVERSE]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начальное_значение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..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конечное_значение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исполняемые_команды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LOOP;</a:t>
            </a:r>
          </a:p>
        </p:txBody>
      </p:sp>
    </p:spTree>
    <p:extLst>
      <p:ext uri="{BB962C8B-B14F-4D97-AF65-F5344CB8AC3E}">
        <p14:creationId xmlns:p14="http://schemas.microsoft.com/office/powerpoint/2010/main" val="2812315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E036A9-5554-4078-AFAF-40EF23A3F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Самый простой цикл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7C48A-25C1-4058-956E-570A83512AA8}"/>
              </a:ext>
            </a:extLst>
          </p:cNvPr>
          <p:cNvSpPr txBox="1"/>
          <p:nvPr/>
        </p:nvSpPr>
        <p:spPr>
          <a:xfrm>
            <a:off x="838200" y="1828802"/>
            <a:ext cx="8101303" cy="3094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Объявляем переменную оператора цикла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как инкрементирующую переменную цикла от 1 до 10</a:t>
            </a:r>
          </a:p>
          <a:p>
            <a:pPr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BEGIN FOR 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IN 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1..10 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LOOP DBMS_OUTPUT.PUT_LINE('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= ' || 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); 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END LOOP;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</a:rPr>
              <a:t> END;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1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E5AE3-0C88-4E01-B25D-0069957F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Запрос в цикле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CF849-F676-4B10-8539-D1F59C338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564" y="1181812"/>
            <a:ext cx="10515600" cy="515367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качестве аргумента оператору IN можно передать не только значения от и до, но и целый SQL-запрос. Выбранные через SELECT колонки (в примере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number_column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text_column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можно использовать в </a:t>
            </a:r>
            <a:r>
              <a:rPr lang="ru-RU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инкременте цикла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через переменную i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i.number_column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i.text_column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br>
              <a:rPr lang="ru-RU" sz="2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 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(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test_table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ORDER BY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ASC 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 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DBMS_OUTPUT.PUT_LINE( '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i.number_column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' ||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i.number_column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|| ',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i.text_column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' || </a:t>
            </a:r>
            <a:r>
              <a:rPr lang="en-US" sz="18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i.text_column</a:t>
            </a: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); 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LOOP; </a:t>
            </a:r>
            <a:endParaRPr lang="ru-RU" sz="18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br>
              <a:rPr lang="en-US" sz="1600" dirty="0">
                <a:solidFill>
                  <a:schemeClr val="accent5"/>
                </a:solidFill>
              </a:rPr>
            </a:br>
            <a:br>
              <a:rPr lang="en-US" sz="1600" dirty="0"/>
            </a:br>
            <a:endParaRPr lang="ru-RU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7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47AAB-502C-41A6-8C32-B1336DFA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 курсором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F93D2B-16D6-48BF-9476-82CDA7CD4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7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Проходится по всем записям системного представления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all_object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где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rownum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&lt;10</a:t>
            </a:r>
          </a:p>
          <a:p>
            <a:pPr marL="0" indent="0"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(select * from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all_objects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rownum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&lt;10)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DBMS_OUTPUT.PUT_LINE( </a:t>
            </a:r>
            <a:r>
              <a:rPr lang="ru-RU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цикле</a:t>
            </a:r>
            <a:r>
              <a:rPr lang="en-US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'); 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DBMS_OUTPUT.PUT_LINE(</a:t>
            </a:r>
            <a:r>
              <a:rPr lang="en-US" sz="2000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</a:t>
            </a:r>
            <a:r>
              <a:rPr lang="en-US" sz="20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object_name</a:t>
            </a:r>
            <a:r>
              <a:rPr lang="en-US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 ;</a:t>
            </a:r>
          </a:p>
          <a:p>
            <a:pPr marL="0" indent="0">
              <a:buNone/>
            </a:pPr>
            <a:r>
              <a:rPr lang="en-US" sz="20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End; </a:t>
            </a:r>
            <a:endParaRPr lang="ru-RU" sz="2000" b="0" i="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826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25B8FB7-FF97-4ECF-A4AD-D01E563F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241"/>
            <a:ext cx="10515600" cy="585972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CURSOR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c_product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SELECT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list_price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FROM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products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ORDER BY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list_price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r_product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c_product</a:t>
            </a:r>
            <a:endParaRPr lang="en-US" sz="19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LOOP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r_product.product_name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': $' ||  </a:t>
            </a:r>
            <a:r>
              <a:rPr lang="en-US" sz="1900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r_product.list_price</a:t>
            </a: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END LOOP;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  <a:endParaRPr lang="ru-RU" sz="19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В этом примере </a:t>
            </a:r>
            <a:r>
              <a:rPr lang="ru-RU" sz="1900" dirty="0" err="1">
                <a:latin typeface="Arial" panose="020B0604020202020204" pitchFamily="34" charset="0"/>
                <a:cs typeface="Arial" panose="020B0604020202020204" pitchFamily="34" charset="0"/>
              </a:rPr>
              <a:t>SELECTоператор</a:t>
            </a:r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00" dirty="0" err="1">
                <a:latin typeface="Arial" panose="020B0604020202020204" pitchFamily="34" charset="0"/>
                <a:cs typeface="Arial" panose="020B0604020202020204" pitchFamily="34" charset="0"/>
              </a:rPr>
              <a:t>cursor</a:t>
            </a:r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 извлекает данные из </a:t>
            </a:r>
            <a:r>
              <a:rPr lang="ru-RU" sz="1900" dirty="0" err="1">
                <a:latin typeface="Arial" panose="020B0604020202020204" pitchFamily="34" charset="0"/>
                <a:cs typeface="Arial" panose="020B0604020202020204" pitchFamily="34" charset="0"/>
              </a:rPr>
              <a:t>products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таблицы. FOR LOOP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900" dirty="0">
                <a:latin typeface="Arial" panose="020B0604020202020204" pitchFamily="34" charset="0"/>
                <a:cs typeface="Arial" panose="020B0604020202020204" pitchFamily="34" charset="0"/>
              </a:rPr>
              <a:t>Оператор открывается, извлекает каждую строку в результирующем наборе, отображает информацию о продукте и закрывает курсор.</a:t>
            </a:r>
          </a:p>
        </p:txBody>
      </p:sp>
    </p:spTree>
    <p:extLst>
      <p:ext uri="{BB962C8B-B14F-4D97-AF65-F5344CB8AC3E}">
        <p14:creationId xmlns:p14="http://schemas.microsoft.com/office/powerpoint/2010/main" val="447307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F8903D7-665B-4B50-A9C1-B37739744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877"/>
            <a:ext cx="10515600" cy="49390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rec in 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income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employees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name 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name_in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:=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rec. income;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 LOOP;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ru-RU" dirty="0"/>
              <a:t>В этом примере цикл завершится после того, как все записи будут извлечены из курсора запроса </a:t>
            </a:r>
            <a:r>
              <a:rPr lang="en-US" dirty="0"/>
              <a:t>select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42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18771-4DF5-4DC1-8BC4-849BE10E0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48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Join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IN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A709B7-47B7-4DF4-80A1-6B0DE0A122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3555" y="1580369"/>
            <a:ext cx="9462796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(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v1.pipe_number,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v1.workplace_id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esc3.v_inspection_pipes v1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JOIN 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tesc3.v_inspection_pipes v2 ON v1.pipe_number = v2.pipe_number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v2.edit_state = 0 )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651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DE034C-6455-4238-9827-C0FD4AD8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506" y="634482"/>
            <a:ext cx="10515600" cy="32657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ru-RU" sz="27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700" dirty="0">
                <a:latin typeface="Arial" panose="020B0604020202020204" pitchFamily="34" charset="0"/>
                <a:cs typeface="Arial" panose="020B0604020202020204" pitchFamily="34" charset="0"/>
              </a:rPr>
              <a:t>Ограничение строк в </a:t>
            </a: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ru-RU" sz="2700" dirty="0">
                <a:latin typeface="Arial" panose="020B0604020202020204" pitchFamily="34" charset="0"/>
                <a:cs typeface="Arial" panose="020B0604020202020204" pitchFamily="34" charset="0"/>
              </a:rPr>
              <a:t>через </a:t>
            </a:r>
            <a:r>
              <a:rPr lang="en-US" sz="27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FETCH FIRST 1 ROWS ONLY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2DB89E-939E-4E8E-B368-59970160A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563" y="155494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z IN (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a.column1, a.column2, b.column3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table1 a, table2 b, table3 c,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BY b.column3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FIRST 1 ROWS ONLY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v_rec.column1 := z.column1;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v_rec.column2 := z.column2;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v_rec.column3 := z.colum3; </a:t>
            </a:r>
          </a:p>
          <a:p>
            <a:pPr marL="0" indent="0">
              <a:buNone/>
            </a:pPr>
            <a:r>
              <a:rPr lang="en-US" sz="1800" b="0" i="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LOOP;</a:t>
            </a:r>
            <a:endParaRPr lang="ru-RU" sz="1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A714D-E8BA-49A3-93EF-DB239F1FC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175" y="270588"/>
            <a:ext cx="10515600" cy="1046876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For,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используя динамический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14D3E3-EAE3-4F51-BE30-18F6CF659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6367"/>
            <a:ext cx="10515600" cy="583163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lnSpc>
                <a:spcPct val="170000"/>
              </a:lnSpc>
              <a:buNone/>
            </a:pP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Здесь мы создаем таблицу, вставляем в нее 100к строк (конструкция «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dual</a:t>
            </a: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connect</a:t>
            </a: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rowid</a:t>
            </a:r>
            <a:r>
              <a:rPr lang="ru-RU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&lt;= N» для генерации выборки из N строк) и собираем статистику.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t(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id number primary key,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 number not null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t(id, n)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select level,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from dual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connect by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rownum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100000;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dbms_stats.gather_table_stats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user,'T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 session set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statistics_level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=all;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Далее-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79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7BFB383-7739-4539-8C72-C656A48C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788"/>
            <a:ext cx="10515600" cy="5449175"/>
          </a:xfrm>
        </p:spPr>
        <p:txBody>
          <a:bodyPr/>
          <a:lstStyle/>
          <a:p>
            <a:pPr marL="0" indent="0">
              <a:buNone/>
            </a:pPr>
            <a:r>
              <a:rPr lang="ru-RU" sz="20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Мы выполняем обновление таблицы построчно в цикле, используя динамически сформированные запросы </a:t>
            </a:r>
            <a:r>
              <a:rPr lang="ru-RU" sz="2000" b="0" i="0" dirty="0" err="1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ru-RU" sz="20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(на практике встречается и не такое:)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(select id from t) loop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execute immediate 'update t set n = n + 1 where id = '||i.id;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end loop;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commit;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endParaRPr lang="ru-RU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execute immediate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– Объявление динамической строки</a:t>
            </a:r>
          </a:p>
        </p:txBody>
      </p:sp>
    </p:spTree>
    <p:extLst>
      <p:ext uri="{BB962C8B-B14F-4D97-AF65-F5344CB8AC3E}">
        <p14:creationId xmlns:p14="http://schemas.microsoft.com/office/powerpoint/2010/main" val="3472618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A096584-A79A-4A05-8124-1F678939A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7788"/>
            <a:ext cx="10515600" cy="5859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BEGIN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FOR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r_product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 (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SELECT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product_name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list_price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FROM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    products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ORDER BY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list_price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DESC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)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LOOP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dbms_output.put_line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r_product.product_name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||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': $' || 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r_product.list_price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);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 END LOOP;</a:t>
            </a: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END;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7975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EF6B4-F609-4F2E-B781-3B493675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F89C91-E252-40B8-A89B-0DC0C220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1278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825</Words>
  <Application>Microsoft Office PowerPoint</Application>
  <PresentationFormat>Широкоэкранный</PresentationFormat>
  <Paragraphs>123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Сложные запросы в цикле For в IN</vt:lpstr>
      <vt:lpstr>Синтаксис цикла For:</vt:lpstr>
      <vt:lpstr>Самый простой цикл For</vt:lpstr>
      <vt:lpstr>Запрос в цикле</vt:lpstr>
      <vt:lpstr>For с курсором</vt:lpstr>
      <vt:lpstr>Презентация PowerPoint</vt:lpstr>
      <vt:lpstr>Презентация PowerPoint</vt:lpstr>
      <vt:lpstr>Join в For IN</vt:lpstr>
      <vt:lpstr> Ограничение строк в For через FETCH FIRST 1 ROWS ONLY</vt:lpstr>
      <vt:lpstr>For, используя динамический SQL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Сложные запросы в цикле For в IN</dc:title>
  <dc:creator>Andrey Tokarchuk</dc:creator>
  <cp:lastModifiedBy>Andrey Tokarchuk</cp:lastModifiedBy>
  <cp:revision>6</cp:revision>
  <dcterms:created xsi:type="dcterms:W3CDTF">2022-02-17T16:47:18Z</dcterms:created>
  <dcterms:modified xsi:type="dcterms:W3CDTF">2022-02-24T15:30:54Z</dcterms:modified>
</cp:coreProperties>
</file>