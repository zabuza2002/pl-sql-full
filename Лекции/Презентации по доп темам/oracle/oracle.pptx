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5" r:id="rId8"/>
    <p:sldId id="266" r:id="rId9"/>
    <p:sldId id="261" r:id="rId10"/>
    <p:sldId id="274" r:id="rId11"/>
    <p:sldId id="262" r:id="rId12"/>
    <p:sldId id="268" r:id="rId13"/>
    <p:sldId id="270" r:id="rId14"/>
    <p:sldId id="267" r:id="rId15"/>
    <p:sldId id="271" r:id="rId16"/>
    <p:sldId id="272" r:id="rId17"/>
    <p:sldId id="273" r:id="rId18"/>
    <p:sldId id="263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3/2/2022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67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3/2/2022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45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3/2/2022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744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3/2/2022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319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3/2/2022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094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3/2/2022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364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3/2/2022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938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3/2/2022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66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3/2/2022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082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3/2/2022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844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3/2/2022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955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3/2/2022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239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3/2/2022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344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3/2/2022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28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3/2/2022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399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3/2/2022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397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3/2/2022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292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3/2/2022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5335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702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hf sldNum="0" hdr="0" ftr="0" dt="0"/>
  <p:txStyles>
    <p:titleStyle>
      <a:lvl1pPr algn="ctr" defTabSz="457200" rtl="0" eaLnBrk="1" latinLnBrk="0" hangingPunct="1">
        <a:lnSpc>
          <a:spcPct val="100000"/>
        </a:lnSpc>
        <a:spcBef>
          <a:spcPct val="0"/>
        </a:spcBef>
        <a:buNone/>
        <a:defRPr sz="4000" i="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Неоново-волна частицы на черном фоне">
            <a:extLst>
              <a:ext uri="{FF2B5EF4-FFF2-40B4-BE49-F238E27FC236}">
                <a16:creationId xmlns:a16="http://schemas.microsoft.com/office/drawing/2014/main" id="{8C14BB6B-51AD-4D36-85C5-F20E3F75FC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9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 flipH="1">
            <a:off x="7426885" y="445383"/>
            <a:ext cx="1995577" cy="7534653"/>
          </a:xfrm>
          <a:prstGeom prst="round2SameRect">
            <a:avLst>
              <a:gd name="adj1" fmla="val 9679"/>
              <a:gd name="adj2" fmla="val 400"/>
            </a:avLst>
          </a:pr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B2C909-C635-41AD-9686-3B6BB76C4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7701" y="3496574"/>
            <a:ext cx="6436104" cy="1052422"/>
          </a:xfrm>
        </p:spPr>
        <p:txBody>
          <a:bodyPr>
            <a:normAutofit/>
          </a:bodyPr>
          <a:lstStyle/>
          <a:p>
            <a:r>
              <a:rPr lang="ru-RU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Резервное копирование баз данных Oracle</a:t>
            </a:r>
            <a:br>
              <a:rPr lang="ru-RU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9838915-93E5-4F6D-ADF3-0AAE282EC9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7701" y="4548996"/>
            <a:ext cx="6436104" cy="534838"/>
          </a:xfrm>
        </p:spPr>
        <p:txBody>
          <a:bodyPr>
            <a:normAutofit/>
          </a:bodyPr>
          <a:lstStyle/>
          <a:p>
            <a:pPr algn="l"/>
            <a:endParaRPr lang="ru-RU" sz="1800">
              <a:solidFill>
                <a:srgbClr val="3B6BB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556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62033C-C0BC-40F4-A99E-27E22D5F6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Режимы </a:t>
            </a:r>
            <a: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ARCHIVELOG </a:t>
            </a:r>
            <a: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NOARCHIVELOG</a:t>
            </a:r>
            <a:b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03094F1-B5EF-419C-A4EC-C7A6246D5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1866900"/>
            <a:ext cx="1876425" cy="67627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19A8CE8-C826-4836-855A-7C7321FD0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6530" y="1866900"/>
            <a:ext cx="197167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812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E1A6B4-074C-4932-BA12-B2B1A5902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B37AE1-EA68-4875-8D57-B4FA2AECE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0102"/>
            <a:ext cx="3353405" cy="463550"/>
          </a:xfrm>
        </p:spPr>
        <p:txBody>
          <a:bodyPr>
            <a:normAutofit fontScale="92500"/>
          </a:bodyPr>
          <a:lstStyle/>
          <a:p>
            <a:pPr marL="36900" indent="0">
              <a:buNone/>
            </a:pPr>
            <a:r>
              <a:rPr lang="ru-RU" dirty="0"/>
              <a:t>Создание копий изображений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CE8BE77-6FEF-4A03-8113-00F81C93B150}"/>
              </a:ext>
            </a:extLst>
          </p:cNvPr>
          <p:cNvSpPr txBox="1">
            <a:spLocks/>
          </p:cNvSpPr>
          <p:nvPr/>
        </p:nvSpPr>
        <p:spPr>
          <a:xfrm>
            <a:off x="7541621" y="2070102"/>
            <a:ext cx="3725936" cy="4635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ru-RU" dirty="0"/>
              <a:t>Создание наборов резервных копий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037212F-D7BC-4103-8BFF-6BA1EFECC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072" y="2736854"/>
            <a:ext cx="1466850" cy="70485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B58C63C-ED2B-4BEE-AC10-967A27FF3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064" y="2736854"/>
            <a:ext cx="154305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673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0F43D-E45E-44AC-B962-D9A6015E4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Резервное копирование всей или части базы данных</a:t>
            </a:r>
            <a:b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B0699406-B476-4847-AA08-2BF599F30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3714749"/>
          </a:xfrm>
        </p:spPr>
        <p:txBody>
          <a:bodyPr/>
          <a:lstStyle/>
          <a:p>
            <a:pPr marL="36900" indent="0">
              <a:buNone/>
            </a:pPr>
            <a:endParaRPr lang="ru-RU" dirty="0"/>
          </a:p>
        </p:txBody>
      </p:sp>
      <p:graphicFrame>
        <p:nvGraphicFramePr>
          <p:cNvPr id="22" name="Таблица 22">
            <a:extLst>
              <a:ext uri="{FF2B5EF4-FFF2-40B4-BE49-F238E27FC236}">
                <a16:creationId xmlns:a16="http://schemas.microsoft.com/office/drawing/2014/main" id="{8F13C7D8-C988-4290-B2B1-DD60FFB9E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203577"/>
              </p:ext>
            </p:extLst>
          </p:nvPr>
        </p:nvGraphicFramePr>
        <p:xfrm>
          <a:off x="2026676" y="2568787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8663242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8122891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5010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ARCHIVELOG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NOARCHIVELOG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901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Частичное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562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Полное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367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776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5359A4-E9CC-43C2-B1A9-A0068AEFB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Согласованное (</a:t>
            </a:r>
            <a:r>
              <a:rPr lang="ru-RU" b="1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consistent</a:t>
            </a:r>
            <a: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и несогласованное (</a:t>
            </a:r>
            <a:r>
              <a:rPr lang="ru-RU" b="1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inconsistent</a:t>
            </a:r>
            <a: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резервное копирование</a:t>
            </a:r>
            <a:b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70561B-049E-40C7-9A7A-4DC1975BB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SHUTDOWN или SHUTDOWN TRANSACTIONAL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346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D46F4F-1C72-45B4-BC5E-E83FA0F69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Резервное копирование открытой и закрытой базы данных</a:t>
            </a:r>
            <a:b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E93C6F8B-3199-4316-B6E1-BCCCDCE21F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6215492"/>
              </p:ext>
            </p:extLst>
          </p:nvPr>
        </p:nvGraphicFramePr>
        <p:xfrm>
          <a:off x="914400" y="2076450"/>
          <a:ext cx="1035367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629032943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594766738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419359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Открытая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Закрытая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20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ARCHIVELOG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093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NOARCHIVELOG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908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3450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D3EFC2-5178-47AD-8C2D-EDE199E29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Резервное копирование закрытой БД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8F0D60C-0035-454C-89FB-FC8B67CA8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651" y="1866900"/>
            <a:ext cx="5915025" cy="3248025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987E4A8-F73F-4AED-8CB7-6D9653286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676" y="1866900"/>
            <a:ext cx="5895975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733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DF7D7F-8A49-4AA7-93F9-160DE7BA0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Резервное копирование закрытой БД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1E10225-F581-417F-B02E-1C48EE9B18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751" y="2009776"/>
            <a:ext cx="5876925" cy="2981325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1A86B5A-638C-4B93-A760-B7AFFF382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676" y="2009776"/>
            <a:ext cx="5876925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21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AD33C-2E74-41EF-910B-3EB03C969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Физическое и логическое резервное копирование</a:t>
            </a:r>
            <a:b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E3D82E-3D14-4F20-9830-EC4A019C5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ru-RU" sz="18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Pump</a:t>
            </a: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858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740C66-F03C-41CF-A66A-342FF9D54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468B7B-A6C0-46FF-AE88-12FCE8CF5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069C3B-DA00-4D55-A99A-83EA061B6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43" y="1962461"/>
            <a:ext cx="908685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167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BDF914-E35E-4852-95EA-095B4F186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Уровни резервного копирования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9B191C-20EA-4AC2-9551-C8931CED6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Уровень всей базы данных</a:t>
            </a:r>
            <a:r>
              <a:rPr lang="en-US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Уровень табличного пространства.</a:t>
            </a:r>
          </a:p>
          <a:p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Уровень файла данных.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309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A45C82-B3D4-4E3C-8438-096E6EC51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Чтобы узнать имена онлайновых журналов транзакций и пути к ним, необходимо в SQL Plus выполнить следующий запрос: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1EA4C2EE-931F-49F8-B155-5D7FBBE11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8526" y="2780233"/>
            <a:ext cx="3924300" cy="1133475"/>
          </a:xfrm>
        </p:spPr>
      </p:pic>
    </p:spTree>
    <p:extLst>
      <p:ext uri="{BB962C8B-B14F-4D97-AF65-F5344CB8AC3E}">
        <p14:creationId xmlns:p14="http://schemas.microsoft.com/office/powerpoint/2010/main" val="145279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7F30F1-F3E9-4B04-8E56-F5406029D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Чтобы определить пути к папкам, где хранятся архивные журналы транзакций, необходимо выполнить такой запрос: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080DC87-B8F0-41A9-A55B-E3DE0F3B44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4200" y="3286125"/>
            <a:ext cx="5934075" cy="1295400"/>
          </a:xfrm>
        </p:spPr>
      </p:pic>
    </p:spTree>
    <p:extLst>
      <p:ext uri="{BB962C8B-B14F-4D97-AF65-F5344CB8AC3E}">
        <p14:creationId xmlns:p14="http://schemas.microsoft.com/office/powerpoint/2010/main" val="1190694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DC5AE-E448-43EE-BFBB-6E6CAB97F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C25893-3E0B-437C-B521-CE6F7A6BF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96400" cy="3706238"/>
          </a:xfrm>
          <a:prstGeom prst="rect">
            <a:avLst/>
          </a:prstGeom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D964E6B0-A1FA-465F-8A65-17501C9A2D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2655826"/>
            <a:ext cx="2390775" cy="6572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85E0DBE-3391-4F26-93ED-F11D3469A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13051"/>
            <a:ext cx="3200400" cy="17049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84F6F1A-6ED1-453B-9482-7E8536FD61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52389"/>
            <a:ext cx="2543175" cy="79057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DA6D339-7FC2-41B1-9610-494CC0AAE2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710235"/>
            <a:ext cx="2095500" cy="84772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C939500-01EB-40FF-B4DD-DCC30BEDBE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8782" y="5753100"/>
            <a:ext cx="3067050" cy="1104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67518F-C483-430C-A506-48C7FE2A6EDB}"/>
              </a:ext>
            </a:extLst>
          </p:cNvPr>
          <p:cNvSpPr txBox="1"/>
          <p:nvPr/>
        </p:nvSpPr>
        <p:spPr>
          <a:xfrm>
            <a:off x="6090676" y="1866900"/>
            <a:ext cx="1580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Смотрим какой мод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E9625D-5441-4FE2-89DE-615869723153}"/>
              </a:ext>
            </a:extLst>
          </p:cNvPr>
          <p:cNvSpPr txBox="1"/>
          <p:nvPr/>
        </p:nvSpPr>
        <p:spPr>
          <a:xfrm>
            <a:off x="2543175" y="3313051"/>
            <a:ext cx="158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Запуск </a:t>
            </a:r>
            <a:r>
              <a:rPr lang="ru-RU" dirty="0" err="1"/>
              <a:t>бд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070D66-3582-408D-8030-539C80226600}"/>
              </a:ext>
            </a:extLst>
          </p:cNvPr>
          <p:cNvSpPr txBox="1"/>
          <p:nvPr/>
        </p:nvSpPr>
        <p:spPr>
          <a:xfrm>
            <a:off x="2390775" y="2603086"/>
            <a:ext cx="3067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Завершение текущего экземпляра </a:t>
            </a:r>
            <a:r>
              <a:rPr lang="ru-RU" dirty="0" err="1"/>
              <a:t>бд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50E6E0-B150-440D-9139-994DABABC1FB}"/>
              </a:ext>
            </a:extLst>
          </p:cNvPr>
          <p:cNvSpPr txBox="1"/>
          <p:nvPr/>
        </p:nvSpPr>
        <p:spPr>
          <a:xfrm>
            <a:off x="2878781" y="5156793"/>
            <a:ext cx="2069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Делаем </a:t>
            </a:r>
            <a:r>
              <a:rPr lang="en-US" dirty="0" err="1"/>
              <a:t>archivelog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20F292-F0B2-4ABC-9E58-DE8CA967F00B}"/>
              </a:ext>
            </a:extLst>
          </p:cNvPr>
          <p:cNvSpPr txBox="1"/>
          <p:nvPr/>
        </p:nvSpPr>
        <p:spPr>
          <a:xfrm>
            <a:off x="738365" y="6316144"/>
            <a:ext cx="1692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Открываем </a:t>
            </a:r>
            <a:r>
              <a:rPr lang="ru-RU" dirty="0" err="1"/>
              <a:t>бд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3DC86E-B0A6-415A-B3C0-BCCCDDD3C76C}"/>
              </a:ext>
            </a:extLst>
          </p:cNvPr>
          <p:cNvSpPr txBox="1"/>
          <p:nvPr/>
        </p:nvSpPr>
        <p:spPr>
          <a:xfrm>
            <a:off x="3801829" y="6063734"/>
            <a:ext cx="1692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Смотрим </a:t>
            </a:r>
            <a:r>
              <a:rPr lang="en-US" dirty="0" err="1"/>
              <a:t>log_mode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838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B7C3AF-58A8-4264-ABF5-513577595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OFFLINE BACKUPS 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6006F3-E4D4-4358-8BE7-687601B73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Enter User: </a:t>
            </a:r>
            <a:r>
              <a:rPr lang="en-US" b="0" i="0" dirty="0"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/ as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sysdba</a:t>
            </a:r>
            <a:b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b="0" i="0" dirty="0"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SQL&gt; Shutdown immediate</a:t>
            </a:r>
            <a:b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b="0" i="0" dirty="0"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SQL&gt; Exit</a:t>
            </a:r>
            <a:endParaRPr lang="ru-RU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892D37-2ABF-4CA9-8363-5127841199D4}"/>
              </a:ext>
            </a:extLst>
          </p:cNvPr>
          <p:cNvSpPr txBox="1"/>
          <p:nvPr/>
        </p:nvSpPr>
        <p:spPr>
          <a:xfrm>
            <a:off x="4480239" y="2415078"/>
            <a:ext cx="439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Завершение текущего экземпляра </a:t>
            </a:r>
            <a:r>
              <a:rPr lang="ru-RU" dirty="0" err="1"/>
              <a:t>бд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7761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F6EEE9-44B3-4206-9D4E-2661EFA5A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RECOVERING</a:t>
            </a:r>
            <a:b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NOARCHIVELOG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6070A-23F5-426C-B12C-C7A794261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Enter User:/ as </a:t>
            </a:r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sysdba</a:t>
            </a:r>
            <a:endParaRPr lang="en-US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36900" indent="0">
              <a:buNone/>
            </a:pP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SQL&gt; </a:t>
            </a:r>
            <a:r>
              <a:rPr lang="en-US" b="0" i="0" dirty="0"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Shutdown immediate</a:t>
            </a:r>
            <a:b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SQL&gt; STARTUP MOUNT</a:t>
            </a:r>
            <a:b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SQL&gt; </a:t>
            </a:r>
            <a:r>
              <a:rPr lang="en-US" sz="1800" dirty="0">
                <a:solidFill>
                  <a:schemeClr val="tx1"/>
                </a:solidFill>
                <a:effectLst/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ALTER DATABASE DATAFILE ' C:/app/patt1/product/21c/oradata/XE/users01.dbf ' offline drop;</a:t>
            </a:r>
            <a:b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SQL&gt; alter database open;</a:t>
            </a:r>
            <a:endParaRPr lang="ru-RU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7E75B9-41B5-4269-A283-F4CDB61707B2}"/>
              </a:ext>
            </a:extLst>
          </p:cNvPr>
          <p:cNvSpPr txBox="1"/>
          <p:nvPr/>
        </p:nvSpPr>
        <p:spPr>
          <a:xfrm>
            <a:off x="4309323" y="2543265"/>
            <a:ext cx="439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Завершение текущего экземпляра </a:t>
            </a:r>
            <a:r>
              <a:rPr lang="ru-RU" dirty="0" err="1"/>
              <a:t>бд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1873E9-6B4A-46A1-9059-B11FF15B0D20}"/>
              </a:ext>
            </a:extLst>
          </p:cNvPr>
          <p:cNvSpPr txBox="1"/>
          <p:nvPr/>
        </p:nvSpPr>
        <p:spPr>
          <a:xfrm>
            <a:off x="4309323" y="2834486"/>
            <a:ext cx="158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Запуск </a:t>
            </a:r>
            <a:r>
              <a:rPr lang="ru-RU" dirty="0" err="1"/>
              <a:t>бд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5B60B4-E50D-4EDF-84C6-528AA9D4F8EE}"/>
              </a:ext>
            </a:extLst>
          </p:cNvPr>
          <p:cNvSpPr txBox="1"/>
          <p:nvPr/>
        </p:nvSpPr>
        <p:spPr>
          <a:xfrm>
            <a:off x="4404448" y="3797900"/>
            <a:ext cx="2971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Откроем </a:t>
            </a:r>
            <a:r>
              <a:rPr lang="ru-RU" dirty="0" err="1"/>
              <a:t>бд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4786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ED6D7E-6A8D-4B98-9F68-08786EBF7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Recovering</a:t>
            </a:r>
            <a:b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ARCHIVELOG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55552F-A372-486E-8F36-5D1AB30A3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Enter User:/ as </a:t>
            </a:r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sysdba</a:t>
            </a:r>
            <a:endParaRPr lang="en-US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36900" indent="0">
              <a:buNone/>
            </a:pP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SQL&gt; </a:t>
            </a:r>
            <a:r>
              <a:rPr lang="en-US" b="0" i="0" dirty="0"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Shutdown immediate</a:t>
            </a:r>
            <a:b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SQL&gt; Startup mount;</a:t>
            </a:r>
            <a:b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SQL&gt; Set </a:t>
            </a:r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autorecovery</a:t>
            </a: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on;</a:t>
            </a:r>
            <a:b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SQL&gt; alter database recover;</a:t>
            </a:r>
          </a:p>
          <a:p>
            <a:pPr marL="3690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SQL&gt;alter database open;</a:t>
            </a:r>
            <a:endParaRPr lang="ru-RU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48BE6B-1B5E-4E9F-BA2C-8CAB3F4F6F0C}"/>
              </a:ext>
            </a:extLst>
          </p:cNvPr>
          <p:cNvSpPr txBox="1"/>
          <p:nvPr/>
        </p:nvSpPr>
        <p:spPr>
          <a:xfrm>
            <a:off x="4309323" y="2543265"/>
            <a:ext cx="439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Завершение текущего экземпляра </a:t>
            </a:r>
            <a:r>
              <a:rPr lang="ru-RU" dirty="0" err="1"/>
              <a:t>бд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2EA086-B459-40D6-AB44-DBC8C3995219}"/>
              </a:ext>
            </a:extLst>
          </p:cNvPr>
          <p:cNvSpPr txBox="1"/>
          <p:nvPr/>
        </p:nvSpPr>
        <p:spPr>
          <a:xfrm>
            <a:off x="4309323" y="2834486"/>
            <a:ext cx="158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Запуск </a:t>
            </a:r>
            <a:r>
              <a:rPr lang="ru-RU" dirty="0" err="1"/>
              <a:t>бд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66FD3D-6F90-479E-988B-0FF9545C4D2A}"/>
              </a:ext>
            </a:extLst>
          </p:cNvPr>
          <p:cNvSpPr txBox="1"/>
          <p:nvPr/>
        </p:nvSpPr>
        <p:spPr>
          <a:xfrm>
            <a:off x="4309323" y="3203818"/>
            <a:ext cx="2971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Авто восстановление </a:t>
            </a:r>
            <a:r>
              <a:rPr lang="ru-RU" dirty="0" err="1"/>
              <a:t>вкл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E0379A-DCD6-46DB-BD1A-39E220359163}"/>
              </a:ext>
            </a:extLst>
          </p:cNvPr>
          <p:cNvSpPr txBox="1"/>
          <p:nvPr/>
        </p:nvSpPr>
        <p:spPr>
          <a:xfrm>
            <a:off x="4404448" y="3548408"/>
            <a:ext cx="2971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восстановление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529150-0145-480C-B7C7-502335ECB216}"/>
              </a:ext>
            </a:extLst>
          </p:cNvPr>
          <p:cNvSpPr txBox="1"/>
          <p:nvPr/>
        </p:nvSpPr>
        <p:spPr>
          <a:xfrm>
            <a:off x="4404448" y="3917740"/>
            <a:ext cx="2971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Откроем </a:t>
            </a:r>
            <a:r>
              <a:rPr lang="ru-RU" dirty="0" err="1"/>
              <a:t>бд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9790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94FE4E-BC14-479C-B95F-1AE8FA90E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814012-FB9E-4097-A3ED-FBFC367D5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https://www.oracle-dba-online.com/backup_and_recovery.htm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97134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DarkSeed_2SEEDS">
      <a:dk1>
        <a:srgbClr val="000000"/>
      </a:dk1>
      <a:lt1>
        <a:srgbClr val="FFFFFF"/>
      </a:lt1>
      <a:dk2>
        <a:srgbClr val="222C3B"/>
      </a:dk2>
      <a:lt2>
        <a:srgbClr val="E8E6E2"/>
      </a:lt2>
      <a:accent1>
        <a:srgbClr val="3B6BB1"/>
      </a:accent1>
      <a:accent2>
        <a:srgbClr val="4DAEC3"/>
      </a:accent2>
      <a:accent3>
        <a:srgbClr val="4E4DC3"/>
      </a:accent3>
      <a:accent4>
        <a:srgbClr val="B13B99"/>
      </a:accent4>
      <a:accent5>
        <a:srgbClr val="C34D79"/>
      </a:accent5>
      <a:accent6>
        <a:srgbClr val="B1403B"/>
      </a:accent6>
      <a:hlink>
        <a:srgbClr val="BF3FB2"/>
      </a:hlink>
      <a:folHlink>
        <a:srgbClr val="7F7F7F"/>
      </a:folHlink>
    </a:clrScheme>
    <a:fontScheme name="Slate">
      <a:majorFont>
        <a:latin typeface="Bookman Old Style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300</Words>
  <Application>Microsoft Office PowerPoint</Application>
  <PresentationFormat>Широкоэкранный</PresentationFormat>
  <Paragraphs>61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6" baseType="lpstr">
      <vt:lpstr>Aharoni</vt:lpstr>
      <vt:lpstr>Arial</vt:lpstr>
      <vt:lpstr>Bookman Old Style</vt:lpstr>
      <vt:lpstr>Franklin Gothic Book</vt:lpstr>
      <vt:lpstr>Roboto</vt:lpstr>
      <vt:lpstr>Times New Roman</vt:lpstr>
      <vt:lpstr>Wingdings 2</vt:lpstr>
      <vt:lpstr>SlateVTI</vt:lpstr>
      <vt:lpstr>Резервное копирование баз данных Oracle </vt:lpstr>
      <vt:lpstr>Режимы ARCHIVELOG и NOARCHIVELOG </vt:lpstr>
      <vt:lpstr>Примеры</vt:lpstr>
      <vt:lpstr>Резервное копирование всей или части базы данных </vt:lpstr>
      <vt:lpstr>Согласованное (consistent) и несогласованное (inconsistent) резервное копирование </vt:lpstr>
      <vt:lpstr>Резервное копирование открытой и закрытой базы данных </vt:lpstr>
      <vt:lpstr>Резервное копирование закрытой БД</vt:lpstr>
      <vt:lpstr>Резервное копирование закрытой БД</vt:lpstr>
      <vt:lpstr>Физическое и логическое резервное копирование </vt:lpstr>
      <vt:lpstr>Презентация PowerPoint</vt:lpstr>
      <vt:lpstr>Уровни резервного копирования</vt:lpstr>
      <vt:lpstr>Чтобы узнать имена онлайновых журналов транзакций и пути к ним, необходимо в SQL Plus выполнить следующий запрос:</vt:lpstr>
      <vt:lpstr>Чтобы определить пути к папкам, где хранятся архивные журналы транзакций, необходимо выполнить такой запрос:</vt:lpstr>
      <vt:lpstr>Презентация PowerPoint</vt:lpstr>
      <vt:lpstr>OFFLINE BACKUPS </vt:lpstr>
      <vt:lpstr>RECOVERING NOARCHIVELOG</vt:lpstr>
      <vt:lpstr>Recovering ARCHIVELOG</vt:lpstr>
      <vt:lpstr>Источники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Резервное копирование баз данных Oracle </dc:title>
  <dc:creator>231 132</dc:creator>
  <cp:lastModifiedBy>231 132</cp:lastModifiedBy>
  <cp:revision>5</cp:revision>
  <dcterms:created xsi:type="dcterms:W3CDTF">2022-02-23T13:24:56Z</dcterms:created>
  <dcterms:modified xsi:type="dcterms:W3CDTF">2022-03-02T18:17:05Z</dcterms:modified>
</cp:coreProperties>
</file>