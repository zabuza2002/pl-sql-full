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174"/>
    <p:restoredTop sz="95853"/>
  </p:normalViewPr>
  <p:slideViewPr>
    <p:cSldViewPr snapToGrid="0" snapToObjects="1">
      <p:cViewPr varScale="1">
        <p:scale>
          <a:sx n="113" d="100"/>
          <a:sy n="113" d="100"/>
        </p:scale>
        <p:origin x="83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2/28/22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2/28/22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2/28/22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2/28/22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2/28/22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2/28/22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2/28/22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2/28/22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2/28/22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2/28/22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2/28/22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2/28/22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2/28/22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2/28/22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2/28/22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2/28/22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2/28/22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2/28/22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42D66C-16AC-F34F-9C47-A780128C9B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after statement, </a:t>
            </a:r>
            <a:r>
              <a:rPr lang="ru-RU" dirty="0"/>
              <a:t>способы устранение ошибок с мутирующими таблицами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8CC1BBB-E1BA-394A-8640-A730B5DB0C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Лазарева Яна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61291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B9E09070-7DD2-0944-A884-EB92EDA46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877710"/>
            <a:ext cx="9905999" cy="510257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При определении триггера можно указать время его срабатывания — должно ли действие триггера выполняться до или после инструкции запуска. </a:t>
            </a:r>
          </a:p>
          <a:p>
            <a:pPr marL="0" indent="0">
              <a:buNone/>
            </a:pPr>
            <a:r>
              <a:rPr lang="ru-RU" dirty="0"/>
              <a:t>Триггеры </a:t>
            </a:r>
            <a:r>
              <a:rPr lang="en-US" dirty="0"/>
              <a:t>BEFORE</a:t>
            </a:r>
            <a:r>
              <a:rPr lang="ru-RU" dirty="0"/>
              <a:t> и </a:t>
            </a:r>
            <a:r>
              <a:rPr lang="en-US" dirty="0"/>
              <a:t>AFTER</a:t>
            </a:r>
            <a:r>
              <a:rPr lang="ru-RU" dirty="0"/>
              <a:t>, запускаемые операторами </a:t>
            </a:r>
            <a:r>
              <a:rPr lang="en-US" dirty="0"/>
              <a:t>DML (SELECT, INSERT, UPDATE, DELETE).</a:t>
            </a:r>
            <a:r>
              <a:rPr lang="ru-RU" dirty="0"/>
              <a:t> Триггеры в базовых таблицах представления запускаются, если для представления выполняется инструкция </a:t>
            </a:r>
            <a:r>
              <a:rPr lang="en-US" dirty="0"/>
              <a:t>INSERT, UPDATE </a:t>
            </a:r>
            <a:r>
              <a:rPr lang="ru-RU" dirty="0"/>
              <a:t>или </a:t>
            </a:r>
            <a:r>
              <a:rPr lang="en-US" dirty="0"/>
              <a:t>DELETE. </a:t>
            </a:r>
            <a:endParaRPr lang="ru-RU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After statement – </a:t>
            </a:r>
            <a:r>
              <a:rPr lang="ru-RU" dirty="0"/>
              <a:t>определяет выполнение триггера после строки.</a:t>
            </a:r>
          </a:p>
        </p:txBody>
      </p:sp>
    </p:spTree>
    <p:extLst>
      <p:ext uri="{BB962C8B-B14F-4D97-AF65-F5344CB8AC3E}">
        <p14:creationId xmlns:p14="http://schemas.microsoft.com/office/powerpoint/2010/main" val="4127685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25812901-D240-E64B-B0AB-D87DA8CA56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0" y="1470553"/>
            <a:ext cx="9905999" cy="3541714"/>
          </a:xfrm>
        </p:spPr>
        <p:txBody>
          <a:bodyPr>
            <a:normAutofit lnSpcReduction="10000"/>
          </a:bodyPr>
          <a:lstStyle/>
          <a:p>
            <a:r>
              <a:rPr lang="ru-RU" dirty="0" err="1"/>
              <a:t>Мутирование</a:t>
            </a:r>
            <a:r>
              <a:rPr lang="ru-RU" dirty="0"/>
              <a:t> таблиц (ошибка </a:t>
            </a:r>
            <a:r>
              <a:rPr lang="en-US" dirty="0"/>
              <a:t>ORA-04091) </a:t>
            </a:r>
            <a:r>
              <a:rPr lang="ru-RU" dirty="0"/>
              <a:t>возникает, если в триггере уровня строки выполняется изменение или чтение данных из той же самой таблицы, для которой данный триггер должен был сработать</a:t>
            </a:r>
          </a:p>
          <a:p>
            <a:endParaRPr lang="ru-RU" dirty="0"/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ru-RU" altLang="ru-RU" dirty="0"/>
              <a:t>Типичной причиной возникновения ошибки о </a:t>
            </a:r>
            <a:r>
              <a:rPr lang="ru-RU" altLang="ru-RU" dirty="0" err="1"/>
              <a:t>мутировании</a:t>
            </a:r>
            <a:r>
              <a:rPr lang="ru-RU" altLang="ru-RU" dirty="0"/>
              <a:t> таблицы:</a:t>
            </a:r>
            <a:br>
              <a:rPr lang="ru-RU" altLang="ru-RU" dirty="0"/>
            </a:br>
            <a:r>
              <a:rPr lang="en-US" sz="1600" b="1" dirty="0">
                <a:solidFill>
                  <a:schemeClr val="bg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ORA-04091 table </a:t>
            </a:r>
            <a:r>
              <a:rPr lang="en-US" sz="1600" b="1" dirty="0" err="1">
                <a:solidFill>
                  <a:schemeClr val="bg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string.string</a:t>
            </a:r>
            <a:r>
              <a:rPr lang="en-US" sz="1600" b="1" dirty="0">
                <a:solidFill>
                  <a:schemeClr val="bg1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 is mutating, trigger/function may not see it</a:t>
            </a:r>
            <a:endParaRPr lang="ru-RU" altLang="ru-RU" b="1" dirty="0">
              <a:solidFill>
                <a:schemeClr val="bg1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ru-RU" altLang="ru-RU" dirty="0"/>
              <a:t>является попытка выборки, вставки, изменения или удаления записи (</a:t>
            </a:r>
            <a:r>
              <a:rPr lang="ru-RU" altLang="ru-RU" dirty="0" err="1"/>
              <a:t>select</a:t>
            </a:r>
            <a:r>
              <a:rPr lang="ru-RU" altLang="ru-RU" dirty="0"/>
              <a:t>, </a:t>
            </a:r>
            <a:r>
              <a:rPr lang="ru-RU" altLang="ru-RU" dirty="0" err="1"/>
              <a:t>insert</a:t>
            </a:r>
            <a:r>
              <a:rPr lang="ru-RU" altLang="ru-RU" dirty="0"/>
              <a:t>, </a:t>
            </a:r>
            <a:r>
              <a:rPr lang="ru-RU" altLang="ru-RU" dirty="0" err="1"/>
              <a:t>update</a:t>
            </a:r>
            <a:r>
              <a:rPr lang="ru-RU" altLang="ru-RU" dirty="0"/>
              <a:t>, </a:t>
            </a:r>
            <a:r>
              <a:rPr lang="ru-RU" altLang="ru-RU" dirty="0" err="1"/>
              <a:t>delete</a:t>
            </a:r>
            <a:r>
              <a:rPr lang="ru-RU" altLang="ru-RU" dirty="0"/>
              <a:t>) 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Tx/>
              <a:buNone/>
            </a:pPr>
            <a:r>
              <a:rPr lang="ru-RU" altLang="ru-RU" dirty="0"/>
              <a:t>таблицы ВО ВРЕМЯ ВЫПОЛНЕНИЯ триггера на эту же таблицу.</a:t>
            </a:r>
          </a:p>
          <a:p>
            <a:endParaRPr lang="ru-RU" dirty="0"/>
          </a:p>
          <a:p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44012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5ACA80-4821-4848-973B-00D5631B08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Пример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44B90F8-9C82-3246-A92E-8C98A36C6C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3" y="1659467"/>
            <a:ext cx="9905998" cy="413173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Таблица:</a:t>
            </a:r>
          </a:p>
          <a:p>
            <a:pPr marL="0" indent="0">
              <a:buNone/>
            </a:pPr>
            <a:r>
              <a:rPr lang="en-US" dirty="0">
                <a:latin typeface="CordiaUPC" panose="020B0304020202020204" pitchFamily="34" charset="-34"/>
                <a:cs typeface="CordiaUPC" panose="020B0304020202020204" pitchFamily="34" charset="-34"/>
              </a:rPr>
              <a:t>create table TEST ( </a:t>
            </a:r>
            <a:endParaRPr lang="ru-RU" dirty="0">
              <a:latin typeface="Book Antiqua" panose="02040602050305030304" pitchFamily="18" charset="0"/>
              <a:cs typeface="CordiaUPC" panose="020B0304020202020204" pitchFamily="34" charset="-34"/>
            </a:endParaRPr>
          </a:p>
          <a:p>
            <a:pPr marL="0" indent="0">
              <a:buNone/>
            </a:pPr>
            <a:r>
              <a:rPr lang="en-US" dirty="0">
                <a:latin typeface="CordiaUPC" panose="020B0304020202020204" pitchFamily="34" charset="-34"/>
                <a:cs typeface="CordiaUPC" panose="020B0304020202020204" pitchFamily="34" charset="-34"/>
              </a:rPr>
              <a:t>value number(</a:t>
            </a:r>
            <a:r>
              <a:rPr lang="en-US" b="1" dirty="0">
                <a:latin typeface="CordiaUPC" panose="020B0304020202020204" pitchFamily="34" charset="-34"/>
                <a:cs typeface="CordiaUPC" panose="020B0304020202020204" pitchFamily="34" charset="-34"/>
              </a:rPr>
              <a:t>9</a:t>
            </a:r>
            <a:r>
              <a:rPr lang="en-US" dirty="0">
                <a:latin typeface="CordiaUPC" panose="020B0304020202020204" pitchFamily="34" charset="-34"/>
                <a:cs typeface="CordiaUPC" panose="020B0304020202020204" pitchFamily="34" charset="-34"/>
              </a:rPr>
              <a:t>) not null , </a:t>
            </a:r>
            <a:endParaRPr lang="ru-RU" dirty="0">
              <a:latin typeface="Book Antiqua" panose="02040602050305030304" pitchFamily="18" charset="0"/>
              <a:cs typeface="CordiaUPC" panose="020B0304020202020204" pitchFamily="34" charset="-34"/>
            </a:endParaRPr>
          </a:p>
          <a:p>
            <a:pPr marL="0" indent="0">
              <a:buNone/>
            </a:pPr>
            <a:r>
              <a:rPr lang="en-US" dirty="0" err="1">
                <a:latin typeface="CordiaUPC" panose="020B0304020202020204" pitchFamily="34" charset="-34"/>
                <a:cs typeface="CordiaUPC" panose="020B0304020202020204" pitchFamily="34" charset="-34"/>
              </a:rPr>
              <a:t>cnt</a:t>
            </a:r>
            <a:r>
              <a:rPr lang="en-US" dirty="0">
                <a:latin typeface="CordiaUPC" panose="020B0304020202020204" pitchFamily="34" charset="-34"/>
                <a:cs typeface="CordiaUPC" panose="020B0304020202020204" pitchFamily="34" charset="-34"/>
              </a:rPr>
              <a:t> number(</a:t>
            </a:r>
            <a:r>
              <a:rPr lang="en-US" b="1" dirty="0">
                <a:latin typeface="CordiaUPC" panose="020B0304020202020204" pitchFamily="34" charset="-34"/>
                <a:cs typeface="CordiaUPC" panose="020B0304020202020204" pitchFamily="34" charset="-34"/>
              </a:rPr>
              <a:t>9</a:t>
            </a:r>
            <a:r>
              <a:rPr lang="en-US" dirty="0">
                <a:latin typeface="CordiaUPC" panose="020B0304020202020204" pitchFamily="34" charset="-34"/>
                <a:cs typeface="CordiaUPC" panose="020B0304020202020204" pitchFamily="34" charset="-34"/>
              </a:rPr>
              <a:t>) default </a:t>
            </a:r>
            <a:r>
              <a:rPr lang="en-US" b="1" dirty="0">
                <a:latin typeface="CordiaUPC" panose="020B0304020202020204" pitchFamily="34" charset="-34"/>
                <a:cs typeface="CordiaUPC" panose="020B0304020202020204" pitchFamily="34" charset="-34"/>
              </a:rPr>
              <a:t>0</a:t>
            </a:r>
            <a:r>
              <a:rPr lang="en-US" dirty="0">
                <a:latin typeface="CordiaUPC" panose="020B0304020202020204" pitchFamily="34" charset="-34"/>
                <a:cs typeface="CordiaUPC" panose="020B0304020202020204" pitchFamily="34" charset="-34"/>
              </a:rPr>
              <a:t> not null );</a:t>
            </a:r>
            <a:endParaRPr lang="ru-RU" dirty="0"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pPr marL="0" indent="0">
              <a:buNone/>
            </a:pPr>
            <a:r>
              <a:rPr lang="ru-RU" dirty="0"/>
              <a:t>с неуникальным полем </a:t>
            </a:r>
            <a:r>
              <a:rPr lang="en-US" dirty="0"/>
              <a:t>VALUE. </a:t>
            </a:r>
            <a:r>
              <a:rPr lang="ru-RU" dirty="0"/>
              <a:t>Требуется через триггер изменять значение поля </a:t>
            </a:r>
            <a:r>
              <a:rPr lang="en-US" dirty="0"/>
              <a:t>CNT, </a:t>
            </a:r>
            <a:r>
              <a:rPr lang="ru-RU" dirty="0"/>
              <a:t>записывая в него количество полей с </a:t>
            </a:r>
            <a:r>
              <a:rPr lang="ru-RU" dirty="0" err="1"/>
              <a:t>соотвутствующим</a:t>
            </a:r>
            <a:r>
              <a:rPr lang="ru-RU" dirty="0"/>
              <a:t> значением поля </a:t>
            </a:r>
            <a:r>
              <a:rPr lang="en-US" dirty="0"/>
              <a:t>VALUE</a:t>
            </a:r>
            <a:r>
              <a:rPr lang="ru-RU" dirty="0"/>
              <a:t>.</a:t>
            </a:r>
            <a:endParaRPr lang="ru-RU" dirty="0">
              <a:latin typeface="Book Antiqua" panose="02040602050305030304" pitchFamily="18" charset="0"/>
              <a:cs typeface="CordiaUPC" panose="020B0304020202020204" pitchFamily="34" charset="-34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75AEED-DB65-A842-A0B7-192A48935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9389" y="1896534"/>
            <a:ext cx="101600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8662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2BDE18D-B315-1147-BC0A-E2B7860B18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9457" y="290689"/>
            <a:ext cx="9905999" cy="6276622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Данный вариант триггера приводит к ошибке при попытке изменения данных: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2600" dirty="0">
                <a:latin typeface="CordiaUPC" panose="020B0304020202020204" pitchFamily="34" charset="-34"/>
                <a:cs typeface="CordiaUPC" panose="020B0304020202020204" pitchFamily="34" charset="-34"/>
              </a:rPr>
              <a:t>create or replace trigger TRIG_TEST </a:t>
            </a:r>
            <a:endParaRPr lang="ru-RU" sz="2600" dirty="0"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600" dirty="0">
                <a:latin typeface="CordiaUPC" panose="020B0304020202020204" pitchFamily="34" charset="-34"/>
                <a:cs typeface="CordiaUPC" panose="020B0304020202020204" pitchFamily="34" charset="-34"/>
              </a:rPr>
              <a:t>after insert or update or delete on TEST </a:t>
            </a:r>
            <a:endParaRPr lang="ru-RU" sz="2600" dirty="0"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600" dirty="0">
                <a:latin typeface="CordiaUPC" panose="020B0304020202020204" pitchFamily="34" charset="-34"/>
                <a:cs typeface="CordiaUPC" panose="020B0304020202020204" pitchFamily="34" charset="-34"/>
              </a:rPr>
              <a:t>for each row </a:t>
            </a:r>
            <a:endParaRPr lang="ru-RU" sz="2600" dirty="0"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600" dirty="0">
                <a:latin typeface="CordiaUPC" panose="020B0304020202020204" pitchFamily="34" charset="-34"/>
                <a:cs typeface="CordiaUPC" panose="020B0304020202020204" pitchFamily="34" charset="-34"/>
              </a:rPr>
              <a:t>begin </a:t>
            </a:r>
            <a:endParaRPr lang="ru-RU" sz="2600" dirty="0"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600" dirty="0">
                <a:latin typeface="CordiaUPC" panose="020B0304020202020204" pitchFamily="34" charset="-34"/>
                <a:cs typeface="CordiaUPC" panose="020B0304020202020204" pitchFamily="34" charset="-34"/>
              </a:rPr>
              <a:t>if inserting or (updating and :</a:t>
            </a:r>
            <a:r>
              <a:rPr lang="en-US" sz="2600" dirty="0" err="1">
                <a:latin typeface="CordiaUPC" panose="020B0304020202020204" pitchFamily="34" charset="-34"/>
                <a:cs typeface="CordiaUPC" panose="020B0304020202020204" pitchFamily="34" charset="-34"/>
              </a:rPr>
              <a:t>new.value</a:t>
            </a:r>
            <a:r>
              <a:rPr lang="en-US" sz="2600" dirty="0">
                <a:latin typeface="CordiaUPC" panose="020B0304020202020204" pitchFamily="34" charset="-34"/>
                <a:cs typeface="CordiaUPC" panose="020B0304020202020204" pitchFamily="34" charset="-34"/>
              </a:rPr>
              <a:t> != :</a:t>
            </a:r>
            <a:r>
              <a:rPr lang="en-US" sz="2600" dirty="0" err="1">
                <a:latin typeface="CordiaUPC" panose="020B0304020202020204" pitchFamily="34" charset="-34"/>
                <a:cs typeface="CordiaUPC" panose="020B0304020202020204" pitchFamily="34" charset="-34"/>
              </a:rPr>
              <a:t>old.value</a:t>
            </a:r>
            <a:r>
              <a:rPr lang="en-US" sz="2600" dirty="0">
                <a:latin typeface="CordiaUPC" panose="020B0304020202020204" pitchFamily="34" charset="-34"/>
                <a:cs typeface="CordiaUPC" panose="020B0304020202020204" pitchFamily="34" charset="-34"/>
              </a:rPr>
              <a:t>) then </a:t>
            </a:r>
            <a:endParaRPr lang="ru-RU" sz="2600" dirty="0"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2600" dirty="0">
                <a:latin typeface="CordiaUPC" panose="020B0304020202020204" pitchFamily="34" charset="-34"/>
                <a:cs typeface="CordiaUPC" panose="020B0304020202020204" pitchFamily="34" charset="-34"/>
              </a:rPr>
              <a:t>	</a:t>
            </a:r>
            <a:r>
              <a:rPr lang="en-US" sz="2600" dirty="0">
                <a:latin typeface="CordiaUPC" panose="020B0304020202020204" pitchFamily="34" charset="-34"/>
                <a:cs typeface="CordiaUPC" panose="020B0304020202020204" pitchFamily="34" charset="-34"/>
              </a:rPr>
              <a:t>update TEST </a:t>
            </a:r>
            <a:endParaRPr lang="ru-RU" sz="2600" dirty="0"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2600" dirty="0">
                <a:latin typeface="CordiaUPC" panose="020B0304020202020204" pitchFamily="34" charset="-34"/>
                <a:cs typeface="CordiaUPC" panose="020B0304020202020204" pitchFamily="34" charset="-34"/>
              </a:rPr>
              <a:t>	</a:t>
            </a:r>
            <a:r>
              <a:rPr lang="en-US" sz="2600" dirty="0">
                <a:latin typeface="CordiaUPC" panose="020B0304020202020204" pitchFamily="34" charset="-34"/>
                <a:cs typeface="CordiaUPC" panose="020B0304020202020204" pitchFamily="34" charset="-34"/>
              </a:rPr>
              <a:t>set </a:t>
            </a:r>
            <a:r>
              <a:rPr lang="en-US" sz="2600" dirty="0" err="1">
                <a:latin typeface="CordiaUPC" panose="020B0304020202020204" pitchFamily="34" charset="-34"/>
                <a:cs typeface="CordiaUPC" panose="020B0304020202020204" pitchFamily="34" charset="-34"/>
              </a:rPr>
              <a:t>cnt</a:t>
            </a:r>
            <a:r>
              <a:rPr lang="en-US" sz="2600" dirty="0">
                <a:latin typeface="CordiaUPC" panose="020B0304020202020204" pitchFamily="34" charset="-34"/>
                <a:cs typeface="CordiaUPC" panose="020B0304020202020204" pitchFamily="34" charset="-34"/>
              </a:rPr>
              <a:t> = </a:t>
            </a:r>
            <a:r>
              <a:rPr lang="en-US" sz="2600" dirty="0" err="1">
                <a:latin typeface="CordiaUPC" panose="020B0304020202020204" pitchFamily="34" charset="-34"/>
                <a:cs typeface="CordiaUPC" panose="020B0304020202020204" pitchFamily="34" charset="-34"/>
              </a:rPr>
              <a:t>cnt</a:t>
            </a:r>
            <a:r>
              <a:rPr lang="en-US" sz="2600" dirty="0">
                <a:latin typeface="CordiaUPC" panose="020B0304020202020204" pitchFamily="34" charset="-34"/>
                <a:cs typeface="CordiaUPC" panose="020B0304020202020204" pitchFamily="34" charset="-34"/>
              </a:rPr>
              <a:t> + </a:t>
            </a:r>
            <a:r>
              <a:rPr lang="en-US" sz="2600" b="1" dirty="0">
                <a:latin typeface="CordiaUPC" panose="020B0304020202020204" pitchFamily="34" charset="-34"/>
                <a:cs typeface="CordiaUPC" panose="020B0304020202020204" pitchFamily="34" charset="-34"/>
              </a:rPr>
              <a:t>1</a:t>
            </a:r>
            <a:r>
              <a:rPr lang="en-US" sz="2600" dirty="0">
                <a:latin typeface="CordiaUPC" panose="020B0304020202020204" pitchFamily="34" charset="-34"/>
                <a:cs typeface="CordiaUPC" panose="020B0304020202020204" pitchFamily="34" charset="-34"/>
              </a:rPr>
              <a:t> </a:t>
            </a:r>
            <a:endParaRPr lang="ru-RU" sz="2600" dirty="0"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ru-RU" sz="2600" dirty="0">
                <a:latin typeface="CordiaUPC" panose="020B0304020202020204" pitchFamily="34" charset="-34"/>
                <a:cs typeface="CordiaUPC" panose="020B0304020202020204" pitchFamily="34" charset="-34"/>
              </a:rPr>
              <a:t>	</a:t>
            </a:r>
            <a:r>
              <a:rPr lang="en-US" sz="2600" dirty="0">
                <a:latin typeface="CordiaUPC" panose="020B0304020202020204" pitchFamily="34" charset="-34"/>
                <a:cs typeface="CordiaUPC" panose="020B0304020202020204" pitchFamily="34" charset="-34"/>
              </a:rPr>
              <a:t>where value = :</a:t>
            </a:r>
            <a:r>
              <a:rPr lang="en-US" sz="2600" dirty="0" err="1">
                <a:latin typeface="CordiaUPC" panose="020B0304020202020204" pitchFamily="34" charset="-34"/>
                <a:cs typeface="CordiaUPC" panose="020B0304020202020204" pitchFamily="34" charset="-34"/>
              </a:rPr>
              <a:t>new.value</a:t>
            </a:r>
            <a:r>
              <a:rPr lang="en-US" sz="2600" dirty="0">
                <a:latin typeface="CordiaUPC" panose="020B0304020202020204" pitchFamily="34" charset="-34"/>
                <a:cs typeface="CordiaUPC" panose="020B0304020202020204" pitchFamily="34" charset="-34"/>
              </a:rPr>
              <a:t>; </a:t>
            </a:r>
            <a:endParaRPr lang="ru-RU" sz="2600" dirty="0"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600" dirty="0">
                <a:latin typeface="CordiaUPC" panose="020B0304020202020204" pitchFamily="34" charset="-34"/>
                <a:cs typeface="CordiaUPC" panose="020B0304020202020204" pitchFamily="34" charset="-34"/>
              </a:rPr>
              <a:t>end if; </a:t>
            </a:r>
            <a:endParaRPr lang="ru-RU" sz="2600" dirty="0"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600" dirty="0">
                <a:latin typeface="CordiaUPC" panose="020B0304020202020204" pitchFamily="34" charset="-34"/>
                <a:cs typeface="CordiaUPC" panose="020B0304020202020204" pitchFamily="34" charset="-34"/>
              </a:rPr>
              <a:t>if deleting or (updating and :</a:t>
            </a:r>
            <a:r>
              <a:rPr lang="en-US" sz="2600" dirty="0" err="1">
                <a:latin typeface="CordiaUPC" panose="020B0304020202020204" pitchFamily="34" charset="-34"/>
                <a:cs typeface="CordiaUPC" panose="020B0304020202020204" pitchFamily="34" charset="-34"/>
              </a:rPr>
              <a:t>new.value</a:t>
            </a:r>
            <a:r>
              <a:rPr lang="en-US" sz="2600" dirty="0">
                <a:latin typeface="CordiaUPC" panose="020B0304020202020204" pitchFamily="34" charset="-34"/>
                <a:cs typeface="CordiaUPC" panose="020B0304020202020204" pitchFamily="34" charset="-34"/>
              </a:rPr>
              <a:t> != :</a:t>
            </a:r>
            <a:r>
              <a:rPr lang="en-US" sz="2600" dirty="0" err="1">
                <a:latin typeface="CordiaUPC" panose="020B0304020202020204" pitchFamily="34" charset="-34"/>
                <a:cs typeface="CordiaUPC" panose="020B0304020202020204" pitchFamily="34" charset="-34"/>
              </a:rPr>
              <a:t>old.value</a:t>
            </a:r>
            <a:r>
              <a:rPr lang="en-US" sz="2600" dirty="0">
                <a:latin typeface="CordiaUPC" panose="020B0304020202020204" pitchFamily="34" charset="-34"/>
                <a:cs typeface="CordiaUPC" panose="020B0304020202020204" pitchFamily="34" charset="-34"/>
              </a:rPr>
              <a:t>) then </a:t>
            </a:r>
            <a:endParaRPr lang="ru-RU" sz="2600" dirty="0"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pPr marL="457200" lvl="1" indent="0">
              <a:spcBef>
                <a:spcPts val="0"/>
              </a:spcBef>
              <a:buNone/>
            </a:pPr>
            <a:r>
              <a:rPr lang="en-US" sz="2600" dirty="0">
                <a:latin typeface="CordiaUPC" panose="020B0304020202020204" pitchFamily="34" charset="-34"/>
                <a:cs typeface="CordiaUPC" panose="020B0304020202020204" pitchFamily="34" charset="-34"/>
              </a:rPr>
              <a:t>update TEST </a:t>
            </a:r>
            <a:endParaRPr lang="ru-RU" sz="2600" dirty="0">
              <a:cs typeface="CordiaUPC" panose="020B0304020202020204" pitchFamily="34" charset="-34"/>
            </a:endParaRPr>
          </a:p>
          <a:p>
            <a:pPr marL="457200" lvl="1" indent="0">
              <a:spcBef>
                <a:spcPts val="0"/>
              </a:spcBef>
              <a:buNone/>
            </a:pPr>
            <a:r>
              <a:rPr lang="en-US" sz="2600" dirty="0">
                <a:latin typeface="CordiaUPC" panose="020B0304020202020204" pitchFamily="34" charset="-34"/>
                <a:cs typeface="CordiaUPC" panose="020B0304020202020204" pitchFamily="34" charset="-34"/>
              </a:rPr>
              <a:t>set </a:t>
            </a:r>
            <a:r>
              <a:rPr lang="en-US" sz="2600" dirty="0" err="1">
                <a:latin typeface="CordiaUPC" panose="020B0304020202020204" pitchFamily="34" charset="-34"/>
                <a:cs typeface="CordiaUPC" panose="020B0304020202020204" pitchFamily="34" charset="-34"/>
              </a:rPr>
              <a:t>cnt</a:t>
            </a:r>
            <a:r>
              <a:rPr lang="en-US" sz="2600" dirty="0">
                <a:latin typeface="CordiaUPC" panose="020B0304020202020204" pitchFamily="34" charset="-34"/>
                <a:cs typeface="CordiaUPC" panose="020B0304020202020204" pitchFamily="34" charset="-34"/>
              </a:rPr>
              <a:t> = </a:t>
            </a:r>
            <a:r>
              <a:rPr lang="en-US" sz="2600" dirty="0" err="1">
                <a:latin typeface="CordiaUPC" panose="020B0304020202020204" pitchFamily="34" charset="-34"/>
                <a:cs typeface="CordiaUPC" panose="020B0304020202020204" pitchFamily="34" charset="-34"/>
              </a:rPr>
              <a:t>cnt</a:t>
            </a:r>
            <a:r>
              <a:rPr lang="en-US" sz="2600" dirty="0">
                <a:latin typeface="CordiaUPC" panose="020B0304020202020204" pitchFamily="34" charset="-34"/>
                <a:cs typeface="CordiaUPC" panose="020B0304020202020204" pitchFamily="34" charset="-34"/>
              </a:rPr>
              <a:t> - 1 </a:t>
            </a:r>
            <a:endParaRPr lang="ru-RU" sz="2600" dirty="0">
              <a:cs typeface="CordiaUPC" panose="020B0304020202020204" pitchFamily="34" charset="-34"/>
            </a:endParaRPr>
          </a:p>
          <a:p>
            <a:pPr marL="457200" lvl="1" indent="0">
              <a:spcBef>
                <a:spcPts val="0"/>
              </a:spcBef>
              <a:buNone/>
            </a:pPr>
            <a:r>
              <a:rPr lang="en-US" sz="2600" dirty="0">
                <a:latin typeface="CordiaUPC" panose="020B0304020202020204" pitchFamily="34" charset="-34"/>
                <a:cs typeface="CordiaUPC" panose="020B0304020202020204" pitchFamily="34" charset="-34"/>
              </a:rPr>
              <a:t>where value = :</a:t>
            </a:r>
            <a:r>
              <a:rPr lang="en-US" sz="2600" dirty="0" err="1">
                <a:latin typeface="CordiaUPC" panose="020B0304020202020204" pitchFamily="34" charset="-34"/>
                <a:cs typeface="CordiaUPC" panose="020B0304020202020204" pitchFamily="34" charset="-34"/>
              </a:rPr>
              <a:t>old.value</a:t>
            </a:r>
            <a:r>
              <a:rPr lang="en-US" sz="2600" dirty="0">
                <a:latin typeface="CordiaUPC" panose="020B0304020202020204" pitchFamily="34" charset="-34"/>
                <a:cs typeface="CordiaUPC" panose="020B0304020202020204" pitchFamily="34" charset="-34"/>
              </a:rPr>
              <a:t>; </a:t>
            </a:r>
            <a:endParaRPr lang="ru-RU" sz="2600" dirty="0">
              <a:cs typeface="CordiaUPC" panose="020B0304020202020204" pitchFamily="34" charset="-34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600" dirty="0">
                <a:latin typeface="CordiaUPC" panose="020B0304020202020204" pitchFamily="34" charset="-34"/>
                <a:cs typeface="CordiaUPC" panose="020B0304020202020204" pitchFamily="34" charset="-34"/>
              </a:rPr>
              <a:t>end if; </a:t>
            </a:r>
            <a:endParaRPr lang="ru-RU" sz="2600" dirty="0"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sz="2600" dirty="0">
                <a:latin typeface="CordiaUPC" panose="020B0304020202020204" pitchFamily="34" charset="-34"/>
                <a:cs typeface="CordiaUPC" panose="020B0304020202020204" pitchFamily="34" charset="-34"/>
              </a:rPr>
              <a:t>end</a:t>
            </a:r>
            <a:r>
              <a:rPr lang="en-US" dirty="0">
                <a:latin typeface="CordiaUPC" panose="020B0304020202020204" pitchFamily="34" charset="-34"/>
                <a:cs typeface="CordiaUPC" panose="020B0304020202020204" pitchFamily="34" charset="-34"/>
              </a:rPr>
              <a:t>;</a:t>
            </a:r>
            <a:endParaRPr lang="ru-RU" dirty="0"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en-US" dirty="0">
                <a:latin typeface="CordiaUPC" panose="020B0304020202020204" pitchFamily="34" charset="-34"/>
                <a:cs typeface="CordiaUPC" panose="020B0304020202020204" pitchFamily="34" charset="-34"/>
              </a:rPr>
              <a:t>/</a:t>
            </a:r>
            <a:endParaRPr lang="ru-RU" dirty="0">
              <a:cs typeface="CordiaUPC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1861743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9AAB4A-54B0-1441-99B3-6889F3A98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Ошибка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56D202D-B15E-BD48-AE54-D37AE9DB8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latin typeface="CordiaUPC" panose="020B0304020202020204" pitchFamily="34" charset="-34"/>
                <a:cs typeface="CordiaUPC" panose="020B0304020202020204" pitchFamily="34" charset="-34"/>
              </a:rPr>
              <a:t>SQL&gt; insert into TEST (value) values (</a:t>
            </a:r>
            <a:r>
              <a:rPr lang="en-US" b="1" dirty="0">
                <a:latin typeface="CordiaUPC" panose="020B0304020202020204" pitchFamily="34" charset="-34"/>
                <a:cs typeface="CordiaUPC" panose="020B0304020202020204" pitchFamily="34" charset="-34"/>
              </a:rPr>
              <a:t>1</a:t>
            </a:r>
            <a:r>
              <a:rPr lang="en-US" dirty="0">
                <a:latin typeface="CordiaUPC" panose="020B0304020202020204" pitchFamily="34" charset="-34"/>
                <a:cs typeface="CordiaUPC" panose="020B0304020202020204" pitchFamily="34" charset="-34"/>
              </a:rPr>
              <a:t>); </a:t>
            </a:r>
            <a:endParaRPr lang="ru-RU" dirty="0"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pPr marL="0" indent="0">
              <a:buNone/>
            </a:pPr>
            <a:r>
              <a:rPr lang="en-US" dirty="0">
                <a:latin typeface="CordiaUPC" panose="020B0304020202020204" pitchFamily="34" charset="-34"/>
                <a:cs typeface="CordiaUPC" panose="020B0304020202020204" pitchFamily="34" charset="-34"/>
              </a:rPr>
              <a:t>insert into TEST (value) values (</a:t>
            </a:r>
            <a:r>
              <a:rPr lang="en-US" b="1" dirty="0">
                <a:latin typeface="CordiaUPC" panose="020B0304020202020204" pitchFamily="34" charset="-34"/>
                <a:cs typeface="CordiaUPC" panose="020B0304020202020204" pitchFamily="34" charset="-34"/>
              </a:rPr>
              <a:t>1</a:t>
            </a:r>
            <a:r>
              <a:rPr lang="en-US" dirty="0">
                <a:latin typeface="CordiaUPC" panose="020B0304020202020204" pitchFamily="34" charset="-34"/>
                <a:cs typeface="CordiaUPC" panose="020B0304020202020204" pitchFamily="34" charset="-34"/>
              </a:rPr>
              <a:t>) * ERROR at line </a:t>
            </a:r>
            <a:r>
              <a:rPr lang="en-US" b="1" dirty="0">
                <a:latin typeface="CordiaUPC" panose="020B0304020202020204" pitchFamily="34" charset="-34"/>
                <a:cs typeface="CordiaUPC" panose="020B0304020202020204" pitchFamily="34" charset="-34"/>
              </a:rPr>
              <a:t>1</a:t>
            </a:r>
            <a:r>
              <a:rPr lang="en-US" dirty="0">
                <a:latin typeface="CordiaUPC" panose="020B0304020202020204" pitchFamily="34" charset="-34"/>
                <a:cs typeface="CordiaUPC" panose="020B0304020202020204" pitchFamily="34" charset="-34"/>
              </a:rPr>
              <a:t>: </a:t>
            </a:r>
            <a:endParaRPr lang="ru-RU" dirty="0"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pPr marL="0" indent="0">
              <a:buNone/>
            </a:pPr>
            <a:r>
              <a:rPr lang="en-US" dirty="0">
                <a:latin typeface="CordiaUPC" panose="020B0304020202020204" pitchFamily="34" charset="-34"/>
                <a:cs typeface="CordiaUPC" panose="020B0304020202020204" pitchFamily="34" charset="-34"/>
              </a:rPr>
              <a:t>ORA-</a:t>
            </a:r>
            <a:r>
              <a:rPr lang="en-US" b="1" dirty="0">
                <a:latin typeface="CordiaUPC" panose="020B0304020202020204" pitchFamily="34" charset="-34"/>
                <a:cs typeface="CordiaUPC" panose="020B0304020202020204" pitchFamily="34" charset="-34"/>
              </a:rPr>
              <a:t>04091</a:t>
            </a:r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: </a:t>
            </a:r>
            <a:r>
              <a:rPr lang="en-US" b="1" dirty="0">
                <a:solidFill>
                  <a:schemeClr val="accent4">
                    <a:lumMod val="75000"/>
                  </a:schemeClr>
                </a:solidFill>
                <a:latin typeface="CordiaUPC" panose="020B0304020202020204" pitchFamily="34" charset="-34"/>
                <a:cs typeface="CordiaUPC" panose="020B0304020202020204" pitchFamily="34" charset="-34"/>
              </a:rPr>
              <a:t>table TEST is mutating</a:t>
            </a:r>
            <a:r>
              <a:rPr lang="en-US" dirty="0">
                <a:latin typeface="CordiaUPC" panose="020B0304020202020204" pitchFamily="34" charset="-34"/>
                <a:cs typeface="CordiaUPC" panose="020B0304020202020204" pitchFamily="34" charset="-34"/>
              </a:rPr>
              <a:t>, trigger/function may not see it </a:t>
            </a:r>
            <a:endParaRPr lang="ru-RU" dirty="0"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pPr marL="0" indent="0">
              <a:buNone/>
            </a:pPr>
            <a:r>
              <a:rPr lang="en-US" dirty="0">
                <a:latin typeface="CordiaUPC" panose="020B0304020202020204" pitchFamily="34" charset="-34"/>
                <a:cs typeface="CordiaUPC" panose="020B0304020202020204" pitchFamily="34" charset="-34"/>
              </a:rPr>
              <a:t>ORA-</a:t>
            </a:r>
            <a:r>
              <a:rPr lang="en-US" b="1" dirty="0">
                <a:latin typeface="CordiaUPC" panose="020B0304020202020204" pitchFamily="34" charset="-34"/>
                <a:cs typeface="CordiaUPC" panose="020B0304020202020204" pitchFamily="34" charset="-34"/>
              </a:rPr>
              <a:t>06512</a:t>
            </a:r>
            <a:r>
              <a:rPr lang="en-US" dirty="0">
                <a:latin typeface="CordiaUPC" panose="020B0304020202020204" pitchFamily="34" charset="-34"/>
                <a:cs typeface="CordiaUPC" panose="020B0304020202020204" pitchFamily="34" charset="-34"/>
              </a:rPr>
              <a:t>: at "TBIUDR_TEST", line </a:t>
            </a:r>
            <a:r>
              <a:rPr lang="en-US" b="1" dirty="0">
                <a:latin typeface="CordiaUPC" panose="020B0304020202020204" pitchFamily="34" charset="-34"/>
                <a:cs typeface="CordiaUPC" panose="020B0304020202020204" pitchFamily="34" charset="-34"/>
              </a:rPr>
              <a:t>3</a:t>
            </a:r>
            <a:r>
              <a:rPr lang="en-US" dirty="0">
                <a:latin typeface="CordiaUPC" panose="020B0304020202020204" pitchFamily="34" charset="-34"/>
                <a:cs typeface="CordiaUPC" panose="020B0304020202020204" pitchFamily="34" charset="-34"/>
              </a:rPr>
              <a:t> </a:t>
            </a:r>
            <a:endParaRPr lang="ru-RU" dirty="0">
              <a:latin typeface="CordiaUPC" panose="020B0304020202020204" pitchFamily="34" charset="-34"/>
              <a:cs typeface="CordiaUPC" panose="020B0304020202020204" pitchFamily="34" charset="-34"/>
            </a:endParaRPr>
          </a:p>
          <a:p>
            <a:pPr marL="0" indent="0">
              <a:buNone/>
            </a:pPr>
            <a:r>
              <a:rPr lang="en-US" dirty="0">
                <a:latin typeface="CordiaUPC" panose="020B0304020202020204" pitchFamily="34" charset="-34"/>
                <a:cs typeface="CordiaUPC" panose="020B0304020202020204" pitchFamily="34" charset="-34"/>
              </a:rPr>
              <a:t>ORA-</a:t>
            </a:r>
            <a:r>
              <a:rPr lang="en-US" b="1" dirty="0">
                <a:latin typeface="CordiaUPC" panose="020B0304020202020204" pitchFamily="34" charset="-34"/>
                <a:cs typeface="CordiaUPC" panose="020B0304020202020204" pitchFamily="34" charset="-34"/>
              </a:rPr>
              <a:t>04088</a:t>
            </a:r>
            <a:r>
              <a:rPr lang="en-US" dirty="0">
                <a:latin typeface="CordiaUPC" panose="020B0304020202020204" pitchFamily="34" charset="-34"/>
                <a:cs typeface="CordiaUPC" panose="020B0304020202020204" pitchFamily="34" charset="-34"/>
              </a:rPr>
              <a:t>: error during execution of trigger ‘TRIG_TEST'</a:t>
            </a:r>
            <a:endParaRPr lang="ru-RU" dirty="0">
              <a:cs typeface="CordiaUPC" panose="020B0304020202020204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1550895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347B8C-DBAA-0B47-9BA3-B523A60F38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462" y="336296"/>
            <a:ext cx="9741076" cy="668415"/>
          </a:xfrm>
        </p:spPr>
        <p:txBody>
          <a:bodyPr/>
          <a:lstStyle/>
          <a:p>
            <a:r>
              <a:rPr lang="ru-RU" dirty="0"/>
              <a:t>Решение проблемы: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D9AAAD-0693-C743-AD8E-10911ADCE2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5462" y="1230488"/>
            <a:ext cx="9905999" cy="3714045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1. Создается пакет с </a:t>
            </a:r>
            <a:r>
              <a:rPr lang="en-US" dirty="0"/>
              <a:t>pl/</a:t>
            </a:r>
            <a:r>
              <a:rPr lang="en-US" dirty="0" err="1"/>
              <a:t>sql</a:t>
            </a:r>
            <a:r>
              <a:rPr lang="en-US" dirty="0"/>
              <a:t>-</a:t>
            </a:r>
            <a:r>
              <a:rPr lang="ru-RU" dirty="0"/>
              <a:t>таблицей, в которой в </a:t>
            </a:r>
            <a:r>
              <a:rPr lang="en-US" b="1" dirty="0"/>
              <a:t>row-level</a:t>
            </a:r>
            <a:r>
              <a:rPr lang="en-US" dirty="0"/>
              <a:t> </a:t>
            </a:r>
            <a:r>
              <a:rPr lang="ru-RU" dirty="0"/>
              <a:t>триггере будут сохраняться значения </a:t>
            </a:r>
            <a:r>
              <a:rPr lang="en-US" dirty="0"/>
              <a:t>VALUE </a:t>
            </a:r>
            <a:r>
              <a:rPr lang="ru-RU" dirty="0"/>
              <a:t>изменившихся записей.</a:t>
            </a:r>
            <a:br>
              <a:rPr lang="ru-RU" dirty="0"/>
            </a:br>
            <a:r>
              <a:rPr lang="ru-RU" dirty="0"/>
              <a:t>2. В </a:t>
            </a:r>
            <a:r>
              <a:rPr lang="en-US" b="1" dirty="0"/>
              <a:t>statement-level</a:t>
            </a:r>
            <a:r>
              <a:rPr lang="en-US" dirty="0"/>
              <a:t> </a:t>
            </a:r>
            <a:r>
              <a:rPr lang="ru-RU" dirty="0"/>
              <a:t>триггере будет обновляться таблица в соответствии с сохраненными записями.</a:t>
            </a:r>
          </a:p>
        </p:txBody>
      </p:sp>
      <p:pic>
        <p:nvPicPr>
          <p:cNvPr id="4" name="Объект 6">
            <a:extLst>
              <a:ext uri="{FF2B5EF4-FFF2-40B4-BE49-F238E27FC236}">
                <a16:creationId xmlns:a16="http://schemas.microsoft.com/office/drawing/2014/main" id="{CC2A0120-CE37-DE4E-88D8-97C3778EA5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090" y="3429000"/>
            <a:ext cx="7164741" cy="2375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738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Объект 13">
            <a:extLst>
              <a:ext uri="{FF2B5EF4-FFF2-40B4-BE49-F238E27FC236}">
                <a16:creationId xmlns:a16="http://schemas.microsoft.com/office/drawing/2014/main" id="{62D17EA4-6AFF-194B-9BA9-432BDA8308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161432"/>
            <a:ext cx="5895675" cy="4535135"/>
          </a:xfr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BCAC2076-445E-824D-8E2D-BAED289D81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5675" y="741156"/>
            <a:ext cx="6296325" cy="5375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3156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7A0548-7FDE-FB4B-B3BA-38131ACD3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1" y="827362"/>
            <a:ext cx="9905998" cy="702282"/>
          </a:xfrm>
        </p:spPr>
        <p:txBody>
          <a:bodyPr/>
          <a:lstStyle/>
          <a:p>
            <a:r>
              <a:rPr lang="ru-RU" dirty="0"/>
              <a:t>Проверка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549D21F-D376-E148-9061-06F34D197A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63879" y="1529644"/>
            <a:ext cx="5464241" cy="4818309"/>
          </a:xfrm>
        </p:spPr>
      </p:pic>
    </p:spTree>
    <p:extLst>
      <p:ext uri="{BB962C8B-B14F-4D97-AF65-F5344CB8AC3E}">
        <p14:creationId xmlns:p14="http://schemas.microsoft.com/office/powerpoint/2010/main" val="338435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4187CC-78F7-AD45-9230-FF4F47AD8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301" y="669317"/>
            <a:ext cx="9905998" cy="1007082"/>
          </a:xfrm>
        </p:spPr>
        <p:txBody>
          <a:bodyPr>
            <a:normAutofit/>
          </a:bodyPr>
          <a:lstStyle/>
          <a:p>
            <a:r>
              <a:rPr lang="ru-RU" sz="3200" dirty="0"/>
              <a:t>2 способ</a:t>
            </a:r>
            <a:br>
              <a:rPr lang="ru-RU" sz="3200" dirty="0"/>
            </a:br>
            <a:r>
              <a:rPr lang="ru-RU" sz="3200" dirty="0"/>
              <a:t>Автономные транзакции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831CE8-699A-364D-9A0F-8E5F9B3B0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279" y="1676399"/>
            <a:ext cx="5190245" cy="5181601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Код, выполняемый внутри автономной транзакции, не видит незафиксированных изменений основной транзакции. Попробуем использовать автономную транзакцию в триггере, приводящего к ошибке в первом примере.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D56183F-C75D-A246-A1CB-2B88E061F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36546" y="1172858"/>
            <a:ext cx="6142565" cy="4276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4171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7B1CE8-EEBD-994A-B36A-8083D742C2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Проверка: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A9224083-36FD-5E4E-BD54-F785C24C4D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34602" y="1820509"/>
            <a:ext cx="4722796" cy="4712279"/>
          </a:xfrm>
        </p:spPr>
      </p:pic>
    </p:spTree>
    <p:extLst>
      <p:ext uri="{BB962C8B-B14F-4D97-AF65-F5344CB8AC3E}">
        <p14:creationId xmlns:p14="http://schemas.microsoft.com/office/powerpoint/2010/main" val="38439629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2978ACC-20DE-9947-ACA0-DED12762D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ordiaUPC" panose="020B0304020202020204" pitchFamily="34" charset="-34"/>
                <a:cs typeface="CordiaUPC" panose="020B0304020202020204" pitchFamily="34" charset="-34"/>
              </a:rPr>
              <a:t>PRAGMA AUTONOMOUS_TRANSACTION;</a:t>
            </a:r>
            <a:endParaRPr lang="ru-RU" dirty="0">
              <a:cs typeface="CordiaUPC" panose="020B0304020202020204" pitchFamily="34" charset="-34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409257-7D84-9A4A-A679-B9F98AFF4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535289"/>
            <a:ext cx="9905999" cy="4346222"/>
          </a:xfrm>
        </p:spPr>
        <p:txBody>
          <a:bodyPr>
            <a:normAutofit fontScale="85000" lnSpcReduction="20000"/>
          </a:bodyPr>
          <a:lstStyle/>
          <a:p>
            <a:r>
              <a:rPr lang="ru-RU" dirty="0"/>
              <a:t>Директива приказывает компилятору </a:t>
            </a:r>
            <a:r>
              <a:rPr lang="en-US" dirty="0"/>
              <a:t>PL/SQL </a:t>
            </a:r>
            <a:r>
              <a:rPr lang="ru-RU" dirty="0"/>
              <a:t>назначить блок </a:t>
            </a:r>
            <a:r>
              <a:rPr lang="en-US" dirty="0"/>
              <a:t>PL/SQL </a:t>
            </a:r>
            <a:r>
              <a:rPr lang="ru-RU" dirty="0"/>
              <a:t>как автономный (независимый). Может располагаться в любом месте раздела объяв­лений блока </a:t>
            </a:r>
            <a:r>
              <a:rPr lang="en-US" dirty="0"/>
              <a:t>PL/SQL. </a:t>
            </a:r>
            <a:r>
              <a:rPr lang="ru-RU" dirty="0"/>
              <a:t>Однако лучше всего разместить ее </a:t>
            </a:r>
            <a:r>
              <a:rPr lang="ru-RU" u="sng" dirty="0"/>
              <a:t>перед определениями струк­тур данных</a:t>
            </a:r>
            <a:r>
              <a:rPr lang="ru-RU" dirty="0"/>
              <a:t>, чтобы любому программисту сразу было ясно, что программа является анонимной транзакцией.</a:t>
            </a:r>
          </a:p>
          <a:p>
            <a:r>
              <a:rPr lang="ru-RU" dirty="0"/>
              <a:t>Чтобы выход из программы с автономной транзакцией, выполнившей как минимум одну команду </a:t>
            </a:r>
            <a:r>
              <a:rPr lang="en-US" dirty="0"/>
              <a:t>INSERT, UPDATE, MERGE </a:t>
            </a:r>
            <a:r>
              <a:rPr lang="ru-RU" dirty="0"/>
              <a:t>или </a:t>
            </a:r>
            <a:r>
              <a:rPr lang="en-US" dirty="0"/>
              <a:t>DELETE, </a:t>
            </a:r>
            <a:r>
              <a:rPr lang="ru-RU" dirty="0"/>
              <a:t>произошел без ошибок, необходимо выполнить </a:t>
            </a:r>
            <a:r>
              <a:rPr lang="ru-RU" b="1" dirty="0"/>
              <a:t>явную </a:t>
            </a:r>
            <a:r>
              <a:rPr lang="ru-RU" u="sng" dirty="0"/>
              <a:t>фиксацию</a:t>
            </a:r>
            <a:r>
              <a:rPr lang="ru-RU" b="1" dirty="0"/>
              <a:t> </a:t>
            </a:r>
            <a:r>
              <a:rPr lang="ru-RU" dirty="0"/>
              <a:t>или </a:t>
            </a:r>
            <a:r>
              <a:rPr lang="ru-RU" u="sng" dirty="0"/>
              <a:t>откат</a:t>
            </a:r>
            <a:r>
              <a:rPr lang="ru-RU" dirty="0"/>
              <a:t> транзакции. Если в программе содержится незавершенная транзакция, то исполняющее ядро инициирует исключение и про­изводит откат незафиксированной транзакции.</a:t>
            </a:r>
          </a:p>
          <a:p>
            <a:r>
              <a:rPr lang="ru-RU" dirty="0"/>
              <a:t> Команды </a:t>
            </a:r>
            <a:r>
              <a:rPr lang="en-US" dirty="0"/>
              <a:t>COMMIT </a:t>
            </a:r>
            <a:r>
              <a:rPr lang="ru-RU" dirty="0"/>
              <a:t>и </a:t>
            </a:r>
            <a:r>
              <a:rPr lang="en-US" dirty="0"/>
              <a:t>ROLLBACK </a:t>
            </a:r>
            <a:r>
              <a:rPr lang="ru-RU" dirty="0"/>
              <a:t>завершают активную автономную транзакцию, но не про­грамму, в которой она содержится. Поэтому блок с автономной транзакцией может содержать несколько команд </a:t>
            </a:r>
            <a:r>
              <a:rPr lang="en-US" dirty="0"/>
              <a:t>commit </a:t>
            </a:r>
            <a:r>
              <a:rPr lang="ru-RU" dirty="0"/>
              <a:t>и </a:t>
            </a:r>
            <a:r>
              <a:rPr lang="en-US" dirty="0"/>
              <a:t>rollback.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73346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Контур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Контур</Template>
  <TotalTime>1460</TotalTime>
  <Words>604</Words>
  <Application>Microsoft Macintosh PowerPoint</Application>
  <PresentationFormat>Широкоэкранный</PresentationFormat>
  <Paragraphs>51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Book Antiqua</vt:lpstr>
      <vt:lpstr>CordiaUPC</vt:lpstr>
      <vt:lpstr>Tw Cen MT</vt:lpstr>
      <vt:lpstr>Контур</vt:lpstr>
      <vt:lpstr>after statement, способы устранение ошибок с мутирующими таблицами</vt:lpstr>
      <vt:lpstr>Презентация PowerPoint</vt:lpstr>
      <vt:lpstr>Презентация PowerPoint</vt:lpstr>
      <vt:lpstr>Пример</vt:lpstr>
      <vt:lpstr>Презентация PowerPoint</vt:lpstr>
      <vt:lpstr>Ошибка</vt:lpstr>
      <vt:lpstr>Решение проблемы:</vt:lpstr>
      <vt:lpstr>Презентация PowerPoint</vt:lpstr>
      <vt:lpstr>Проверка</vt:lpstr>
      <vt:lpstr>2 способ Автономные транзакции</vt:lpstr>
      <vt:lpstr>Проверка:</vt:lpstr>
      <vt:lpstr>PRAGMA AUTONOMOUS_TRANSACTION;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after statement, способы устранение ошибок с мутирующими таблицами</dc:title>
  <dc:creator>Лазарева Яна Владимировна</dc:creator>
  <cp:lastModifiedBy>Лазарева Яна Владимировна</cp:lastModifiedBy>
  <cp:revision>3</cp:revision>
  <dcterms:created xsi:type="dcterms:W3CDTF">2022-02-18T23:42:17Z</dcterms:created>
  <dcterms:modified xsi:type="dcterms:W3CDTF">2022-02-28T17:58:02Z</dcterms:modified>
</cp:coreProperties>
</file>