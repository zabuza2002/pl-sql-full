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9" r:id="rId1"/>
    <p:sldMasterId id="2147484027" r:id="rId2"/>
  </p:sldMasterIdLst>
  <p:notesMasterIdLst>
    <p:notesMasterId r:id="rId21"/>
  </p:notesMasterIdLst>
  <p:sldIdLst>
    <p:sldId id="328" r:id="rId3"/>
    <p:sldId id="329" r:id="rId4"/>
    <p:sldId id="333" r:id="rId5"/>
    <p:sldId id="334" r:id="rId6"/>
    <p:sldId id="330" r:id="rId7"/>
    <p:sldId id="326" r:id="rId8"/>
    <p:sldId id="337" r:id="rId9"/>
    <p:sldId id="339" r:id="rId10"/>
    <p:sldId id="340" r:id="rId11"/>
    <p:sldId id="335" r:id="rId12"/>
    <p:sldId id="336" r:id="rId13"/>
    <p:sldId id="346" r:id="rId14"/>
    <p:sldId id="341" r:id="rId15"/>
    <p:sldId id="343" r:id="rId16"/>
    <p:sldId id="342" r:id="rId17"/>
    <p:sldId id="345" r:id="rId18"/>
    <p:sldId id="344" r:id="rId19"/>
    <p:sldId id="34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E9D1"/>
    <a:srgbClr val="FC7CE1"/>
    <a:srgbClr val="FA2A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118" autoAdjust="0"/>
    <p:restoredTop sz="94291" autoAdjust="0"/>
  </p:normalViewPr>
  <p:slideViewPr>
    <p:cSldViewPr>
      <p:cViewPr varScale="1">
        <p:scale>
          <a:sx n="72" d="100"/>
          <a:sy n="72" d="100"/>
        </p:scale>
        <p:origin x="118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16"/>
    </p:cViewPr>
  </p:sorterViewPr>
  <p:notesViewPr>
    <p:cSldViewPr>
      <p:cViewPr varScale="1">
        <p:scale>
          <a:sx n="64" d="100"/>
          <a:sy n="64" d="100"/>
        </p:scale>
        <p:origin x="-1637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981DACA9-9B00-406F-A385-58CD78345E48}" type="datetimeFigureOut">
              <a:rPr lang="ru-RU"/>
              <a:pPr>
                <a:defRPr/>
              </a:pPr>
              <a:t>28.02.2022</a:t>
            </a:fld>
            <a:endParaRPr lang="ru-RU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368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68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741A8E53-3026-4CEB-BE58-B2EB73EF19B1}" type="slidenum">
              <a:rPr lang="ru-RU" altLang="ru-RU"/>
              <a:pPr>
                <a:defRPr/>
              </a:pPr>
              <a:t>‹#›</a:t>
            </a:fld>
            <a:endParaRPr lang="ru-RU" alt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1A8E53-3026-4CEB-BE58-B2EB73EF19B1}" type="slidenum">
              <a:rPr lang="ru-RU" altLang="ru-RU" smtClean="0"/>
              <a:pPr>
                <a:defRPr/>
              </a:pPr>
              <a:t>2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06643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1A8E53-3026-4CEB-BE58-B2EB73EF19B1}" type="slidenum">
              <a:rPr lang="ru-RU" altLang="ru-RU" smtClean="0"/>
              <a:pPr>
                <a:defRPr/>
              </a:pPr>
              <a:t>5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6189473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41A8E53-3026-4CEB-BE58-B2EB73EF19B1}" type="slidenum">
              <a:rPr lang="ru-RU" altLang="ru-RU" smtClean="0"/>
              <a:pPr>
                <a:defRPr/>
              </a:pPr>
              <a:t>6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392568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FFBF-3B3A-4212-A814-0B1AFAC41101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2481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FFBF-3B3A-4212-A814-0B1AFAC41101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719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FFBF-3B3A-4212-A814-0B1AFAC41101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412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FFBF-3B3A-4212-A814-0B1AFAC41101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6098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FFBF-3B3A-4212-A814-0B1AFAC41101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9286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FFBF-3B3A-4212-A814-0B1AFAC41101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5872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FFBF-3B3A-4212-A814-0B1AFAC41101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461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FFBF-3B3A-4212-A814-0B1AFAC41101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786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FFBF-3B3A-4212-A814-0B1AFAC41101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1158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FFBF-3B3A-4212-A814-0B1AFAC41101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6526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FFFBF-3B3A-4212-A814-0B1AFAC41101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25227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630" y="908720"/>
            <a:ext cx="7772400" cy="80104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5616" y="1988840"/>
            <a:ext cx="6858000" cy="403026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9421" y="6356351"/>
            <a:ext cx="3086100" cy="365125"/>
          </a:xfrm>
        </p:spPr>
        <p:txBody>
          <a:bodyPr/>
          <a:lstStyle/>
          <a:p>
            <a:pPr>
              <a:defRPr/>
            </a:pPr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896920-5D14-4AEC-BBE3-015E9D70D00B}" type="slidenum">
              <a:rPr lang="ru-RU" altLang="ru-RU" smtClean="0"/>
              <a:pPr>
                <a:defRPr/>
              </a:pPr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067181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91847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2343082"/>
            <a:ext cx="6858000" cy="930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0750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15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FFFBF-3B3A-4212-A814-0B1AFAC41101}" type="datetimeFigureOut">
              <a:rPr lang="ru-RU" smtClean="0"/>
              <a:t>28.02.2022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293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0" r:id="rId1"/>
    <p:sldLayoutId id="2147483981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87" r:id="rId8"/>
    <p:sldLayoutId id="2147483988" r:id="rId9"/>
    <p:sldLayoutId id="2147483989" r:id="rId10"/>
    <p:sldLayoutId id="2147483990" r:id="rId11"/>
    <p:sldLayoutId id="21474839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74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8650" y="1325217"/>
            <a:ext cx="7886700" cy="4851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96F18B-7A1B-4E26-8A9A-128E5302B099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1" y="6356350"/>
            <a:ext cx="707231" cy="33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296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29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60077" y="4245200"/>
            <a:ext cx="70238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Диагностические функции для исключений</a:t>
            </a:r>
          </a:p>
          <a:p>
            <a:r>
              <a:rPr lang="ru-RU" sz="2800" b="1" dirty="0"/>
              <a:t>                   </a:t>
            </a:r>
            <a:r>
              <a:rPr lang="ru-RU" sz="2400" i="1" dirty="0"/>
              <a:t>(работа с исключениями)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484784"/>
            <a:ext cx="6444208" cy="23379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949587" y="6237312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/>
              <a:t>Иванова Мария</a:t>
            </a:r>
          </a:p>
        </p:txBody>
      </p:sp>
    </p:spTree>
    <p:extLst>
      <p:ext uri="{BB962C8B-B14F-4D97-AF65-F5344CB8AC3E}">
        <p14:creationId xmlns:p14="http://schemas.microsoft.com/office/powerpoint/2010/main" val="18539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ctrTitle"/>
          </p:nvPr>
        </p:nvSpPr>
        <p:spPr>
          <a:xfrm>
            <a:off x="1660054" y="198993"/>
            <a:ext cx="5362227" cy="731416"/>
          </a:xfrm>
        </p:spPr>
        <p:txBody>
          <a:bodyPr>
            <a:normAutofit/>
          </a:bodyPr>
          <a:lstStyle/>
          <a:p>
            <a:r>
              <a:rPr lang="ru-RU" altLang="ru-RU" dirty="0">
                <a:solidFill>
                  <a:schemeClr val="accent5">
                    <a:lumMod val="75000"/>
                  </a:schemeClr>
                </a:solidFill>
              </a:rPr>
              <a:t>Исключения</a:t>
            </a:r>
          </a:p>
        </p:txBody>
      </p:sp>
      <p:sp>
        <p:nvSpPr>
          <p:cNvPr id="4101" name="Номер слайда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AD068E0-CA98-4EB7-BE75-95593E73F423}" type="slidenum">
              <a:rPr lang="ru-RU" altLang="ru-RU" smtClean="0">
                <a:solidFill>
                  <a:schemeClr val="bg2"/>
                </a:solidFill>
              </a:rPr>
              <a:pPr/>
              <a:t>2</a:t>
            </a:fld>
            <a:endParaRPr lang="ru-RU" altLang="ru-RU" dirty="0">
              <a:solidFill>
                <a:schemeClr val="bg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2502" y="1111878"/>
            <a:ext cx="2483372" cy="7232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Исключение</a:t>
            </a:r>
            <a:r>
              <a:rPr lang="ru-RU" sz="2800" dirty="0"/>
              <a:t>  =</a:t>
            </a:r>
          </a:p>
          <a:p>
            <a:r>
              <a:rPr lang="ru-RU" sz="1300" i="1" dirty="0"/>
              <a:t>(исключительная ситуация)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38293" y="1156057"/>
            <a:ext cx="624998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ошибка, возникающая во время выполнения </a:t>
            </a:r>
          </a:p>
          <a:p>
            <a:pPr algn="ctr"/>
            <a:r>
              <a:rPr lang="ru-RU" sz="2400" dirty="0"/>
              <a:t>программы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63077" y="2265365"/>
            <a:ext cx="5274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>
                <a:solidFill>
                  <a:srgbClr val="FF0000"/>
                </a:solidFill>
              </a:rPr>
              <a:t>Препятствует выполнению программы</a:t>
            </a:r>
          </a:p>
        </p:txBody>
      </p:sp>
      <p:sp>
        <p:nvSpPr>
          <p:cNvPr id="8" name="Стрелка вниз 7"/>
          <p:cNvSpPr/>
          <p:nvPr/>
        </p:nvSpPr>
        <p:spPr>
          <a:xfrm>
            <a:off x="5075179" y="2037966"/>
            <a:ext cx="1152128" cy="271853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3049862" y="2953609"/>
            <a:ext cx="4900764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Должна быть </a:t>
            </a:r>
            <a:r>
              <a:rPr lang="ru-RU" sz="2400" dirty="0">
                <a:solidFill>
                  <a:schemeClr val="accent5">
                    <a:lumMod val="75000"/>
                  </a:schemeClr>
                </a:solidFill>
              </a:rPr>
              <a:t>обработана отдельно </a:t>
            </a:r>
          </a:p>
          <a:p>
            <a:pPr algn="ctr"/>
            <a:r>
              <a:rPr lang="ru-RU" sz="2400" dirty="0"/>
              <a:t>в блоке исключений</a:t>
            </a:r>
          </a:p>
          <a:p>
            <a:pPr algn="ctr"/>
            <a:r>
              <a:rPr lang="ru-RU" dirty="0"/>
              <a:t>(обработка исключений)</a:t>
            </a:r>
          </a:p>
        </p:txBody>
      </p:sp>
      <p:sp>
        <p:nvSpPr>
          <p:cNvPr id="13" name="Стрелка вниз 12"/>
          <p:cNvSpPr/>
          <p:nvPr/>
        </p:nvSpPr>
        <p:spPr>
          <a:xfrm>
            <a:off x="5087219" y="2739101"/>
            <a:ext cx="1152128" cy="240951"/>
          </a:xfrm>
          <a:prstGeom prst="down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354824" y="4732010"/>
            <a:ext cx="213872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/>
              <a:t>Исключения</a:t>
            </a:r>
          </a:p>
          <a:p>
            <a:r>
              <a:rPr lang="ru-RU" sz="2800" b="1" dirty="0"/>
              <a:t>в </a:t>
            </a:r>
            <a:r>
              <a:rPr lang="en-US" sz="2800" b="1" dirty="0"/>
              <a:t>PL/SQL</a:t>
            </a:r>
            <a:endParaRPr lang="ru-RU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3265559" y="4385114"/>
            <a:ext cx="54182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Предопределённые</a:t>
            </a:r>
            <a:r>
              <a:rPr lang="ru-RU" dirty="0"/>
              <a:t> - распространенные системные </a:t>
            </a:r>
          </a:p>
          <a:p>
            <a:r>
              <a:rPr lang="ru-RU" dirty="0"/>
              <a:t>   исключения</a:t>
            </a:r>
          </a:p>
          <a:p>
            <a:pPr marL="536575" indent="-285750">
              <a:buFont typeface="Arial" panose="020B0604020202020204" pitchFamily="34" charset="0"/>
              <a:buChar char="•"/>
            </a:pPr>
            <a:r>
              <a:rPr lang="ru-RU" dirty="0"/>
              <a:t>имеют уникальное имя и номер ошибки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827899" y="4221088"/>
            <a:ext cx="67687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220434" y="5907409"/>
            <a:ext cx="4885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Пользовательские</a:t>
            </a:r>
            <a:r>
              <a:rPr lang="ru-RU" dirty="0"/>
              <a:t> – создаются программистом</a:t>
            </a:r>
          </a:p>
        </p:txBody>
      </p:sp>
      <p:sp>
        <p:nvSpPr>
          <p:cNvPr id="19" name="Левая фигурная скобка 18"/>
          <p:cNvSpPr/>
          <p:nvPr/>
        </p:nvSpPr>
        <p:spPr>
          <a:xfrm>
            <a:off x="2668389" y="4614189"/>
            <a:ext cx="352757" cy="1349061"/>
          </a:xfrm>
          <a:prstGeom prst="leftBrace">
            <a:avLst>
              <a:gd name="adj1" fmla="val 62336"/>
              <a:gd name="adj2" fmla="val 50000"/>
            </a:avLst>
          </a:prstGeom>
          <a:ln w="158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B1F919-0C71-4048-97BE-51EBF7C17378}"/>
              </a:ext>
            </a:extLst>
          </p:cNvPr>
          <p:cNvSpPr txBox="1"/>
          <p:nvPr/>
        </p:nvSpPr>
        <p:spPr>
          <a:xfrm>
            <a:off x="3228958" y="5240278"/>
            <a:ext cx="4427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Неименованные </a:t>
            </a:r>
            <a:r>
              <a:rPr lang="ru-RU" dirty="0"/>
              <a:t>–</a:t>
            </a:r>
            <a:r>
              <a:rPr lang="ru-RU" b="1" dirty="0"/>
              <a:t> </a:t>
            </a:r>
            <a:r>
              <a:rPr lang="ru-RU" dirty="0"/>
              <a:t>системные исключения</a:t>
            </a:r>
          </a:p>
          <a:p>
            <a:pPr marL="571500" indent="-285750">
              <a:buFont typeface="Arial" panose="020B0604020202020204" pitchFamily="34" charset="0"/>
              <a:buChar char="•"/>
            </a:pPr>
            <a:r>
              <a:rPr lang="ru-RU" dirty="0"/>
              <a:t>имеют только номер ошибки   </a:t>
            </a:r>
          </a:p>
          <a:p>
            <a:r>
              <a:rPr lang="ru-RU" b="1" dirty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8913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DFBA9B-FEAC-4422-83C6-CA5E07D4ACB6}"/>
              </a:ext>
            </a:extLst>
          </p:cNvPr>
          <p:cNvSpPr txBox="1"/>
          <p:nvPr/>
        </p:nvSpPr>
        <p:spPr>
          <a:xfrm>
            <a:off x="1979712" y="157564"/>
            <a:ext cx="5184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Теория обработк</a:t>
            </a:r>
            <a:r>
              <a:rPr lang="ru-RU" altLang="ru-RU" sz="2800" b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и</a:t>
            </a: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исключений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99972E-DDF0-43F6-BACA-92C676C0B9F3}"/>
              </a:ext>
            </a:extLst>
          </p:cNvPr>
          <p:cNvSpPr txBox="1"/>
          <p:nvPr/>
        </p:nvSpPr>
        <p:spPr>
          <a:xfrm>
            <a:off x="683568" y="1052736"/>
            <a:ext cx="7992888" cy="5740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300" dirty="0"/>
              <a:t>Для обработки исключений в программе PL/SQL предназначается необязательный раздел (блок) EXCEPTION, который располагается после всех исполняемых команд блока </a:t>
            </a:r>
            <a:r>
              <a:rPr lang="en-US" sz="2300" dirty="0"/>
              <a:t>BEGIN, </a:t>
            </a:r>
            <a:r>
              <a:rPr lang="ru-RU" sz="2300" dirty="0"/>
              <a:t>перед ключевым словом </a:t>
            </a:r>
            <a:r>
              <a:rPr lang="en-US" sz="2300" dirty="0"/>
              <a:t>END.</a:t>
            </a:r>
            <a:endParaRPr lang="ru-RU" sz="2300" dirty="0"/>
          </a:p>
          <a:p>
            <a:endParaRPr lang="ru-RU" sz="23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300" dirty="0"/>
              <a:t>При возникновении именованной исключительной ситуации происходит автоматическая передача управления в обработчик исключений в блоке </a:t>
            </a:r>
            <a:r>
              <a:rPr lang="en-US" sz="2300" dirty="0"/>
              <a:t>EXCEPTION.</a:t>
            </a:r>
            <a:r>
              <a:rPr lang="ru-RU" sz="2300" dirty="0"/>
              <a:t> </a:t>
            </a:r>
            <a:endParaRPr lang="en-US" sz="2300" dirty="0"/>
          </a:p>
          <a:p>
            <a:r>
              <a:rPr lang="en-US" sz="2300" dirty="0"/>
              <a:t>    </a:t>
            </a:r>
            <a:r>
              <a:rPr lang="ru-RU" sz="2300" dirty="0"/>
              <a:t>В одном разделе исключений может быть несколько </a:t>
            </a:r>
            <a:r>
              <a:rPr lang="en-US" sz="2300" dirty="0"/>
              <a:t> </a:t>
            </a:r>
          </a:p>
          <a:p>
            <a:r>
              <a:rPr lang="en-US" sz="2300" dirty="0"/>
              <a:t>    </a:t>
            </a:r>
            <a:r>
              <a:rPr lang="ru-RU" sz="2300" dirty="0"/>
              <a:t>обработчиков.</a:t>
            </a:r>
          </a:p>
          <a:p>
            <a:r>
              <a:rPr lang="ru-RU" sz="2300" dirty="0"/>
              <a:t>   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300" dirty="0"/>
              <a:t>Обработчик исключений представляет собой в общем виде конструкцию </a:t>
            </a:r>
            <a:r>
              <a:rPr lang="en-US" sz="2300" b="1" dirty="0">
                <a:solidFill>
                  <a:schemeClr val="accent1">
                    <a:lumMod val="75000"/>
                  </a:schemeClr>
                </a:solidFill>
              </a:rPr>
              <a:t>WHEN</a:t>
            </a:r>
            <a:r>
              <a:rPr lang="en-US" sz="2300" dirty="0">
                <a:solidFill>
                  <a:srgbClr val="0070C0"/>
                </a:solidFill>
              </a:rPr>
              <a:t> </a:t>
            </a:r>
            <a:r>
              <a:rPr lang="en-US" sz="2300" b="1" dirty="0"/>
              <a:t>&lt;</a:t>
            </a:r>
            <a:r>
              <a:rPr lang="ru-RU" sz="2300" b="1" dirty="0"/>
              <a:t>Имя исключения</a:t>
            </a:r>
            <a:r>
              <a:rPr lang="en-US" sz="2300" b="1" dirty="0"/>
              <a:t>&gt;</a:t>
            </a:r>
            <a:r>
              <a:rPr lang="ru-RU" sz="2300" b="1" dirty="0"/>
              <a:t> </a:t>
            </a:r>
            <a:r>
              <a:rPr lang="en-US" sz="2300" b="1" dirty="0">
                <a:solidFill>
                  <a:schemeClr val="accent1">
                    <a:lumMod val="75000"/>
                  </a:schemeClr>
                </a:solidFill>
              </a:rPr>
              <a:t>THEN</a:t>
            </a:r>
            <a:r>
              <a:rPr lang="ru-RU" sz="2300" dirty="0"/>
              <a:t>,</a:t>
            </a:r>
            <a:r>
              <a:rPr lang="en-US" sz="2300" i="1" dirty="0"/>
              <a:t> </a:t>
            </a:r>
            <a:r>
              <a:rPr lang="ru-RU" sz="2300" dirty="0"/>
              <a:t>выполняющую определенные действия (команды) в ответ на</a:t>
            </a:r>
            <a:r>
              <a:rPr lang="en-US" sz="2300" dirty="0"/>
              <a:t> </a:t>
            </a:r>
            <a:r>
              <a:rPr lang="ru-RU" sz="2300" dirty="0"/>
              <a:t>исключение.</a:t>
            </a:r>
            <a:endParaRPr lang="en-US" sz="2300" dirty="0"/>
          </a:p>
          <a:p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9404128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046BB9-6DA6-46BC-94BD-FE012022A9FD}"/>
              </a:ext>
            </a:extLst>
          </p:cNvPr>
          <p:cNvSpPr txBox="1"/>
          <p:nvPr/>
        </p:nvSpPr>
        <p:spPr>
          <a:xfrm>
            <a:off x="2123728" y="260648"/>
            <a:ext cx="61926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Теория обработки исключений</a:t>
            </a:r>
            <a:r>
              <a:rPr kumimoji="0" lang="en-US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7FE196-BC51-4FAE-9D71-0D225EBBEC25}"/>
              </a:ext>
            </a:extLst>
          </p:cNvPr>
          <p:cNvSpPr txBox="1"/>
          <p:nvPr/>
        </p:nvSpPr>
        <p:spPr>
          <a:xfrm>
            <a:off x="850708" y="1268760"/>
            <a:ext cx="6984776" cy="5786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sz="2300" dirty="0"/>
              <a:t>Обработчик </a:t>
            </a:r>
            <a:r>
              <a:rPr lang="en-US" sz="2300" b="1" dirty="0">
                <a:solidFill>
                  <a:schemeClr val="accent1">
                    <a:lumMod val="75000"/>
                  </a:schemeClr>
                </a:solidFill>
              </a:rPr>
              <a:t>WHEN OTHERS </a:t>
            </a:r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необязателен и предназначен для всех остальных исключений, которые не были обработаны. Сюда входят исключения, которые не предопределены или </a:t>
            </a:r>
          </a:p>
          <a:p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не были объявлены, т.е. не имеют имени. </a:t>
            </a:r>
          </a:p>
          <a:p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Размещается последним в блоке. </a:t>
            </a:r>
          </a:p>
          <a:p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Если обработчик </a:t>
            </a:r>
            <a:r>
              <a:rPr lang="en-US" sz="2300" b="1" dirty="0">
                <a:solidFill>
                  <a:schemeClr val="accent1">
                    <a:lumMod val="75000"/>
                  </a:schemeClr>
                </a:solidFill>
              </a:rPr>
              <a:t>WHEN OTHERS </a:t>
            </a:r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отсутствует, все </a:t>
            </a:r>
          </a:p>
          <a:p>
            <a:r>
              <a:rPr lang="ru-RU" sz="23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    </a:t>
            </a:r>
            <a:r>
              <a:rPr lang="ru-RU" sz="2300" dirty="0"/>
              <a:t>необработанные исключения передаются в </a:t>
            </a:r>
          </a:p>
          <a:p>
            <a:r>
              <a:rPr lang="ru-RU" sz="2300" dirty="0"/>
              <a:t>     родительский блок. </a:t>
            </a:r>
          </a:p>
          <a:p>
            <a:endParaRPr lang="ru-RU" sz="23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После обработки исключения возврат в исполнимый блок</a:t>
            </a:r>
            <a:r>
              <a:rPr lang="en-US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где исключение было инициировано</a:t>
            </a:r>
            <a:r>
              <a:rPr lang="en-US" sz="23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23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невозможен, поэтому управление передается во внешний (родительский) блок.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030130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ctrTitle"/>
          </p:nvPr>
        </p:nvSpPr>
        <p:spPr>
          <a:xfrm>
            <a:off x="611560" y="146821"/>
            <a:ext cx="7920880" cy="853743"/>
          </a:xfrm>
        </p:spPr>
        <p:txBody>
          <a:bodyPr>
            <a:noAutofit/>
          </a:bodyPr>
          <a:lstStyle/>
          <a:p>
            <a:r>
              <a:rPr lang="ru-RU" altLang="ru-RU" sz="2800" dirty="0">
                <a:solidFill>
                  <a:schemeClr val="accent5">
                    <a:lumMod val="75000"/>
                  </a:schemeClr>
                </a:solidFill>
              </a:rPr>
              <a:t>Общая схема обработки </a:t>
            </a:r>
            <a:br>
              <a:rPr lang="ru-RU" altLang="ru-RU" sz="28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ru-RU" altLang="ru-RU" sz="2800" dirty="0">
                <a:solidFill>
                  <a:schemeClr val="accent5">
                    <a:lumMod val="75000"/>
                  </a:schemeClr>
                </a:solidFill>
              </a:rPr>
              <a:t>исключений</a:t>
            </a:r>
          </a:p>
        </p:txBody>
      </p:sp>
      <p:sp>
        <p:nvSpPr>
          <p:cNvPr id="4101" name="Номер слайда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AD068E0-CA98-4EB7-BE75-95593E73F423}" type="slidenum">
              <a:rPr lang="ru-RU" altLang="ru-RU" smtClean="0">
                <a:solidFill>
                  <a:schemeClr val="bg2"/>
                </a:solidFill>
              </a:rPr>
              <a:pPr/>
              <a:t>5</a:t>
            </a:fld>
            <a:endParaRPr lang="ru-RU" altLang="ru-RU" dirty="0">
              <a:solidFill>
                <a:schemeClr val="bg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43608" y="1176270"/>
            <a:ext cx="2089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BEGIN</a:t>
            </a:r>
            <a:endParaRPr lang="ru-RU" dirty="0"/>
          </a:p>
          <a:p>
            <a:r>
              <a:rPr lang="en-US" i="1" dirty="0"/>
              <a:t>  </a:t>
            </a:r>
            <a:r>
              <a:rPr lang="ru-RU" i="1" dirty="0"/>
              <a:t>         основной код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0634" y="2887080"/>
            <a:ext cx="29642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EXCEPTION</a:t>
            </a:r>
            <a:endParaRPr lang="ru-RU" b="1" dirty="0"/>
          </a:p>
          <a:p>
            <a:r>
              <a:rPr lang="en-US" dirty="0"/>
              <a:t>WHEN </a:t>
            </a:r>
            <a:r>
              <a:rPr lang="en-US" b="1" i="1" dirty="0"/>
              <a:t>&lt;</a:t>
            </a:r>
            <a:r>
              <a:rPr lang="ru-RU" b="1" i="1" dirty="0"/>
              <a:t>Имя исключения 1</a:t>
            </a:r>
            <a:r>
              <a:rPr lang="en-US" b="1" i="1" dirty="0"/>
              <a:t>&gt;</a:t>
            </a:r>
            <a:endParaRPr lang="ru-RU" b="1" i="1" dirty="0"/>
          </a:p>
          <a:p>
            <a:r>
              <a:rPr lang="ru-RU" dirty="0"/>
              <a:t>    </a:t>
            </a:r>
            <a:r>
              <a:rPr lang="en-US" dirty="0"/>
              <a:t>THEN</a:t>
            </a:r>
            <a:endParaRPr lang="ru-RU" dirty="0"/>
          </a:p>
          <a:p>
            <a:r>
              <a:rPr lang="en-US" dirty="0"/>
              <a:t>  </a:t>
            </a:r>
            <a:r>
              <a:rPr lang="ru-RU" dirty="0"/>
              <a:t>           </a:t>
            </a:r>
            <a:r>
              <a:rPr lang="ru-RU" i="1" dirty="0">
                <a:solidFill>
                  <a:schemeClr val="accent5">
                    <a:lumMod val="75000"/>
                  </a:schemeClr>
                </a:solidFill>
              </a:rPr>
              <a:t>код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</a:rPr>
              <a:t>PL/SQL</a:t>
            </a:r>
            <a:endParaRPr lang="ru-RU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13624" y="4041243"/>
            <a:ext cx="29642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</a:t>
            </a:r>
            <a:r>
              <a:rPr lang="en-US" b="1" i="1" dirty="0"/>
              <a:t>&lt;</a:t>
            </a:r>
            <a:r>
              <a:rPr lang="ru-RU" b="1" i="1" dirty="0"/>
              <a:t>Имя исключения 2</a:t>
            </a:r>
            <a:r>
              <a:rPr lang="en-US" b="1" i="1" dirty="0"/>
              <a:t>&gt;</a:t>
            </a:r>
            <a:endParaRPr lang="ru-RU" b="1" i="1" dirty="0"/>
          </a:p>
          <a:p>
            <a:r>
              <a:rPr lang="ru-RU" dirty="0"/>
              <a:t>    </a:t>
            </a:r>
            <a:r>
              <a:rPr lang="en-US" dirty="0"/>
              <a:t>THEN</a:t>
            </a:r>
            <a:endParaRPr lang="ru-RU" dirty="0"/>
          </a:p>
          <a:p>
            <a:r>
              <a:rPr lang="en-US" dirty="0"/>
              <a:t>  </a:t>
            </a:r>
            <a:r>
              <a:rPr lang="ru-RU" dirty="0"/>
              <a:t>           </a:t>
            </a:r>
            <a:r>
              <a:rPr lang="ru-RU" i="1" dirty="0">
                <a:solidFill>
                  <a:schemeClr val="accent5">
                    <a:lumMod val="75000"/>
                  </a:schemeClr>
                </a:solidFill>
              </a:rPr>
              <a:t>код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</a:rPr>
              <a:t>PL/SQL</a:t>
            </a:r>
            <a:endParaRPr lang="ru-RU" i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15105" y="4964573"/>
            <a:ext cx="177349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WHEN </a:t>
            </a:r>
            <a:r>
              <a:rPr lang="en-US" b="1" i="1" dirty="0"/>
              <a:t>OTHERS</a:t>
            </a:r>
            <a:endParaRPr lang="ru-RU" b="1" i="1" dirty="0"/>
          </a:p>
          <a:p>
            <a:r>
              <a:rPr lang="ru-RU" dirty="0"/>
              <a:t>    </a:t>
            </a:r>
            <a:r>
              <a:rPr lang="en-US" dirty="0"/>
              <a:t>THEN</a:t>
            </a:r>
            <a:endParaRPr lang="ru-RU" dirty="0"/>
          </a:p>
          <a:p>
            <a:r>
              <a:rPr lang="ru-RU" dirty="0"/>
              <a:t>          </a:t>
            </a:r>
            <a:r>
              <a:rPr lang="ru-RU" i="1" dirty="0">
                <a:solidFill>
                  <a:schemeClr val="accent5">
                    <a:lumMod val="75000"/>
                  </a:schemeClr>
                </a:solidFill>
              </a:rPr>
              <a:t>код </a:t>
            </a:r>
            <a:r>
              <a:rPr lang="en-US" i="1" dirty="0">
                <a:solidFill>
                  <a:schemeClr val="accent5">
                    <a:lumMod val="75000"/>
                  </a:schemeClr>
                </a:solidFill>
              </a:rPr>
              <a:t>PL/SQL</a:t>
            </a:r>
            <a:endParaRPr lang="ru-RU" i="1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ru-RU" dirty="0"/>
              <a:t>END;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608" y="1741661"/>
            <a:ext cx="2908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    возникает Исключение 1</a:t>
            </a:r>
          </a:p>
          <a:p>
            <a:r>
              <a:rPr lang="ru-RU" dirty="0"/>
              <a:t>     ИЛИ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9254" y="2241309"/>
            <a:ext cx="38009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i="1" dirty="0">
                <a:solidFill>
                  <a:srgbClr val="FF0000"/>
                </a:solidFill>
              </a:rPr>
              <a:t>    возникает Исключение без имени</a:t>
            </a:r>
          </a:p>
          <a:p>
            <a:r>
              <a:rPr lang="ru-RU" dirty="0"/>
              <a:t>    ……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48164" y="2094054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Начало блока обработки исключений</a:t>
            </a:r>
          </a:p>
        </p:txBody>
      </p:sp>
      <p:cxnSp>
        <p:nvCxnSpPr>
          <p:cNvPr id="29" name="Прямая со стрелкой 28"/>
          <p:cNvCxnSpPr>
            <a:stCxn id="26" idx="1"/>
          </p:cNvCxnSpPr>
          <p:nvPr/>
        </p:nvCxnSpPr>
        <p:spPr>
          <a:xfrm flipH="1">
            <a:off x="2411760" y="2417220"/>
            <a:ext cx="3136404" cy="659697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531360" y="3427891"/>
            <a:ext cx="3024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Обработчики конкретных исключений</a:t>
            </a:r>
          </a:p>
        </p:txBody>
      </p:sp>
      <p:cxnSp>
        <p:nvCxnSpPr>
          <p:cNvPr id="34" name="Прямая со стрелкой 33"/>
          <p:cNvCxnSpPr>
            <a:cxnSpLocks/>
          </p:cNvCxnSpPr>
          <p:nvPr/>
        </p:nvCxnSpPr>
        <p:spPr>
          <a:xfrm flipH="1" flipV="1">
            <a:off x="4035747" y="3334695"/>
            <a:ext cx="1482447" cy="264341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/>
          <p:cNvCxnSpPr>
            <a:stCxn id="33" idx="1"/>
          </p:cNvCxnSpPr>
          <p:nvPr/>
        </p:nvCxnSpPr>
        <p:spPr>
          <a:xfrm flipH="1">
            <a:off x="4037303" y="3751057"/>
            <a:ext cx="1494057" cy="610439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36611" y="4410754"/>
            <a:ext cx="430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Обработчик остальных исключений. </a:t>
            </a:r>
          </a:p>
          <a:p>
            <a:r>
              <a:rPr lang="ru-RU" dirty="0"/>
              <a:t>Он должен быть последним в блоке</a:t>
            </a:r>
          </a:p>
        </p:txBody>
      </p:sp>
      <p:cxnSp>
        <p:nvCxnSpPr>
          <p:cNvPr id="41" name="Прямая со стрелкой 40"/>
          <p:cNvCxnSpPr>
            <a:cxnSpLocks/>
          </p:cNvCxnSpPr>
          <p:nvPr/>
        </p:nvCxnSpPr>
        <p:spPr>
          <a:xfrm flipH="1">
            <a:off x="3171306" y="4797668"/>
            <a:ext cx="1382603" cy="389283"/>
          </a:xfrm>
          <a:prstGeom prst="straightConnector1">
            <a:avLst/>
          </a:prstGeom>
          <a:ln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472688" y="5502990"/>
            <a:ext cx="4517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После обработки исключений возврат невозможен – выходим во внешний блок</a:t>
            </a:r>
          </a:p>
        </p:txBody>
      </p:sp>
      <p:cxnSp>
        <p:nvCxnSpPr>
          <p:cNvPr id="46" name="Прямая со стрелкой 45"/>
          <p:cNvCxnSpPr>
            <a:cxnSpLocks/>
            <a:stCxn id="43" idx="1"/>
            <a:endCxn id="12" idx="2"/>
          </p:cNvCxnSpPr>
          <p:nvPr/>
        </p:nvCxnSpPr>
        <p:spPr>
          <a:xfrm flipH="1">
            <a:off x="2101855" y="5826156"/>
            <a:ext cx="2370833" cy="338746"/>
          </a:xfrm>
          <a:prstGeom prst="straightConnector1">
            <a:avLst/>
          </a:prstGeom>
          <a:ln>
            <a:solidFill>
              <a:srgbClr val="FF0000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Соединитель: уступ 19">
            <a:extLst>
              <a:ext uri="{FF2B5EF4-FFF2-40B4-BE49-F238E27FC236}">
                <a16:creationId xmlns:a16="http://schemas.microsoft.com/office/drawing/2014/main" id="{2B1FB72B-445F-4DD4-823E-0BE6B4F4C74B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1057177" y="2064826"/>
            <a:ext cx="47026" cy="1422418"/>
          </a:xfrm>
          <a:prstGeom prst="bentConnector3">
            <a:avLst>
              <a:gd name="adj1" fmla="val -486114"/>
            </a:avLst>
          </a:prstGeom>
          <a:ln>
            <a:solidFill>
              <a:srgbClr val="FA2AC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Соединитель: уступ 29">
            <a:extLst>
              <a:ext uri="{FF2B5EF4-FFF2-40B4-BE49-F238E27FC236}">
                <a16:creationId xmlns:a16="http://schemas.microsoft.com/office/drawing/2014/main" id="{E3F6915F-A5EA-4C2D-8D6D-1C21146E86C1}"/>
              </a:ext>
            </a:extLst>
          </p:cNvPr>
          <p:cNvCxnSpPr>
            <a:cxnSpLocks/>
            <a:stCxn id="14" idx="1"/>
            <a:endCxn id="12" idx="1"/>
          </p:cNvCxnSpPr>
          <p:nvPr/>
        </p:nvCxnSpPr>
        <p:spPr>
          <a:xfrm rot="10800000" flipH="1" flipV="1">
            <a:off x="1079253" y="2564474"/>
            <a:ext cx="135851" cy="3000263"/>
          </a:xfrm>
          <a:prstGeom prst="bentConnector3">
            <a:avLst>
              <a:gd name="adj1" fmla="val -470676"/>
            </a:avLst>
          </a:prstGeom>
          <a:ln>
            <a:solidFill>
              <a:srgbClr val="FC7CE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4269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ctrTitle"/>
          </p:nvPr>
        </p:nvSpPr>
        <p:spPr>
          <a:xfrm>
            <a:off x="467544" y="198993"/>
            <a:ext cx="7920880" cy="525599"/>
          </a:xfrm>
        </p:spPr>
        <p:txBody>
          <a:bodyPr>
            <a:noAutofit/>
          </a:bodyPr>
          <a:lstStyle/>
          <a:p>
            <a:r>
              <a:rPr lang="ru-RU" altLang="ru-RU" sz="2800" dirty="0">
                <a:solidFill>
                  <a:schemeClr val="accent5">
                    <a:lumMod val="75000"/>
                  </a:schemeClr>
                </a:solidFill>
              </a:rPr>
              <a:t>Примеры предопределённых исключений</a:t>
            </a:r>
          </a:p>
        </p:txBody>
      </p:sp>
      <p:sp>
        <p:nvSpPr>
          <p:cNvPr id="4101" name="Номер слайда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7AD068E0-CA98-4EB7-BE75-95593E73F423}" type="slidenum">
              <a:rPr lang="ru-RU" altLang="ru-RU" smtClean="0">
                <a:solidFill>
                  <a:schemeClr val="bg2"/>
                </a:solidFill>
              </a:rPr>
              <a:pPr/>
              <a:t>6</a:t>
            </a:fld>
            <a:endParaRPr lang="ru-RU" altLang="ru-RU" dirty="0">
              <a:solidFill>
                <a:schemeClr val="bg2"/>
              </a:solidFill>
            </a:endParaRPr>
          </a:p>
        </p:txBody>
      </p:sp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011181"/>
              </p:ext>
            </p:extLst>
          </p:nvPr>
        </p:nvGraphicFramePr>
        <p:xfrm>
          <a:off x="512093" y="1052736"/>
          <a:ext cx="7886700" cy="4603626"/>
        </p:xfrm>
        <a:graphic>
          <a:graphicData uri="http://schemas.openxmlformats.org/drawingml/2006/table">
            <a:tbl>
              <a:tblPr firstRow="1" firstCol="1" bandRow="1"/>
              <a:tblGrid>
                <a:gridCol w="2043683">
                  <a:extLst>
                    <a:ext uri="{9D8B030D-6E8A-4147-A177-3AD203B41FA5}">
                      <a16:colId xmlns:a16="http://schemas.microsoft.com/office/drawing/2014/main" val="1738236142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380393597"/>
                    </a:ext>
                  </a:extLst>
                </a:gridCol>
                <a:gridCol w="4546873">
                  <a:extLst>
                    <a:ext uri="{9D8B030D-6E8A-4147-A177-3AD203B41FA5}">
                      <a16:colId xmlns:a16="http://schemas.microsoft.com/office/drawing/2014/main" val="39479586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cap="all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исключение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cap="all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Код ошибки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cap="all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Причина исключения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879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cap="all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CASE_NOT_FOUND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ORA-06592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Ни одно из условий «WHEN» в операторе CASE не выполнено, а предложение «ELSE» не указано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784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cap="all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DUP_VAL_ON_INDEX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ORA-00001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Хранение повторяющегося значения в столбце базы данных, который ограничен уникальным индексом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8991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cap="all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INVALID_CURSOR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ORA-01001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Недопустимые операции с курсором, такие как закрытие неоткрытого курсора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079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cap="all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ROW_MISMATCH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ORA-06504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Тип данных переменной курсора несовместим с фактическим типом возврата курсора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376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cap="all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TOO_MANY_ROWS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ORA-01422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Когда оператор SELECT с предложением INTO возвращает более одной строки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2029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cap="all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VALUE_ERROR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ORA-06502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Арифметическая ошибка или ошибка ограничения размера (например: присвоение значения переменной, которая больше размера переменной)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00538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b="1" cap="all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ZERO_DIVIDE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ORA-01476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Деление на «0» 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99645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E10DE3-1124-4644-B242-4367F00051E8}"/>
              </a:ext>
            </a:extLst>
          </p:cNvPr>
          <p:cNvSpPr txBox="1"/>
          <p:nvPr/>
        </p:nvSpPr>
        <p:spPr>
          <a:xfrm>
            <a:off x="1115615" y="260648"/>
            <a:ext cx="69127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altLang="ru-RU" sz="2800" b="1" dirty="0">
                <a:solidFill>
                  <a:srgbClr val="4472C4">
                    <a:lumMod val="75000"/>
                  </a:srgbClr>
                </a:solidFill>
                <a:latin typeface="Calibri" panose="020F0502020204030204"/>
              </a:rPr>
              <a:t>Пример п</a:t>
            </a: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редопределённого исключения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6F517057-C726-4EF6-A8BC-922FE331A2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470" y="1412776"/>
            <a:ext cx="8895057" cy="43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738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30CBF82-C762-44AC-96FD-8456E4B6DC43}"/>
              </a:ext>
            </a:extLst>
          </p:cNvPr>
          <p:cNvSpPr txBox="1"/>
          <p:nvPr/>
        </p:nvSpPr>
        <p:spPr>
          <a:xfrm>
            <a:off x="1259632" y="260648"/>
            <a:ext cx="66247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Перехват неименованных исключений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FA3A30-DA4F-42DA-BE6B-3634A0FECF15}"/>
              </a:ext>
            </a:extLst>
          </p:cNvPr>
          <p:cNvSpPr txBox="1"/>
          <p:nvPr/>
        </p:nvSpPr>
        <p:spPr>
          <a:xfrm>
            <a:off x="598345" y="1268760"/>
            <a:ext cx="7344816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Для перехвата такого исключения надо</a:t>
            </a:r>
            <a:endParaRPr lang="en-US" sz="2200" dirty="0"/>
          </a:p>
          <a:p>
            <a:endParaRPr lang="ru-RU" sz="2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200" dirty="0"/>
              <a:t> </a:t>
            </a:r>
            <a:r>
              <a:rPr lang="ru-RU" sz="2200" dirty="0"/>
              <a:t>В блоке </a:t>
            </a:r>
            <a:r>
              <a:rPr lang="en-US" sz="2200" dirty="0"/>
              <a:t>DECLARE:</a:t>
            </a:r>
            <a:endParaRPr lang="ru-RU" sz="22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sz="2200" dirty="0"/>
              <a:t>Обьявить исключительную ситуацию, присвоив ей имя, с помощью ключевого слова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EXCEPTION</a:t>
            </a:r>
            <a:r>
              <a:rPr lang="en-US" sz="2200" dirty="0"/>
              <a:t>.</a:t>
            </a:r>
            <a:endParaRPr lang="ru-RU" sz="22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ru-RU" sz="2200" dirty="0"/>
              <a:t>Связать имя исключения с номером ошибки</a:t>
            </a:r>
            <a:r>
              <a:rPr lang="en-US" sz="2200" dirty="0"/>
              <a:t> </a:t>
            </a:r>
            <a:r>
              <a:rPr lang="ru-RU" sz="2200" dirty="0"/>
              <a:t>директивой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PRAGMA EXCEPTION_INIT</a:t>
            </a:r>
            <a:r>
              <a:rPr lang="ru-RU" sz="2200" b="1" dirty="0"/>
              <a:t>(</a:t>
            </a:r>
            <a:r>
              <a:rPr lang="ru-RU" sz="2200" b="1" i="1" dirty="0"/>
              <a:t>имя_ошибки, номер_ошибки</a:t>
            </a:r>
            <a:r>
              <a:rPr lang="ru-RU" sz="2200" b="1" dirty="0"/>
              <a:t>)</a:t>
            </a:r>
            <a:r>
              <a:rPr lang="ru-RU" sz="2200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B93390-9496-4D1A-90CA-2463FCB7BDB9}"/>
              </a:ext>
            </a:extLst>
          </p:cNvPr>
          <p:cNvSpPr txBox="1"/>
          <p:nvPr/>
        </p:nvSpPr>
        <p:spPr>
          <a:xfrm>
            <a:off x="616999" y="4610931"/>
            <a:ext cx="67819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/>
              <a:t> </a:t>
            </a:r>
            <a:r>
              <a:rPr lang="ru-RU" sz="2200" dirty="0"/>
              <a:t>Теперь на исключение можно ссылаться по </a:t>
            </a:r>
            <a:endParaRPr lang="en-US" sz="2200" dirty="0"/>
          </a:p>
          <a:p>
            <a:r>
              <a:rPr lang="en-US" sz="2200" dirty="0"/>
              <a:t>      </a:t>
            </a:r>
            <a:r>
              <a:rPr lang="ru-RU" sz="2200" dirty="0"/>
              <a:t>обьявленному имени в блоке </a:t>
            </a:r>
            <a:r>
              <a:rPr lang="en-US" sz="2200" dirty="0"/>
              <a:t>EXCEPTION</a:t>
            </a:r>
            <a:r>
              <a:rPr lang="ru-RU" sz="2200" dirty="0"/>
              <a:t>: </a:t>
            </a:r>
            <a:r>
              <a:rPr lang="en-US" sz="2200" dirty="0"/>
              <a:t>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WHEN</a:t>
            </a:r>
            <a:r>
              <a:rPr lang="en-US" sz="2200" b="1" dirty="0"/>
              <a:t> &lt;</a:t>
            </a:r>
            <a:r>
              <a:rPr lang="ru-RU" sz="2200" b="1" i="1" dirty="0"/>
              <a:t>Имя исключения</a:t>
            </a:r>
            <a:r>
              <a:rPr lang="en-US" sz="2200" b="1" dirty="0"/>
              <a:t>&gt; </a:t>
            </a:r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THEN</a:t>
            </a:r>
            <a:r>
              <a:rPr lang="en-US" sz="2200" b="1" dirty="0"/>
              <a:t> …</a:t>
            </a:r>
            <a:endParaRPr lang="ru-RU" sz="2200" b="1" dirty="0"/>
          </a:p>
        </p:txBody>
      </p:sp>
    </p:spTree>
    <p:extLst>
      <p:ext uri="{BB962C8B-B14F-4D97-AF65-F5344CB8AC3E}">
        <p14:creationId xmlns:p14="http://schemas.microsoft.com/office/powerpoint/2010/main" val="1351499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7B7E2-2F3A-4640-B9D7-AAF2E499C621}"/>
              </a:ext>
            </a:extLst>
          </p:cNvPr>
          <p:cNvSpPr txBox="1"/>
          <p:nvPr/>
        </p:nvSpPr>
        <p:spPr>
          <a:xfrm>
            <a:off x="719572" y="188640"/>
            <a:ext cx="77048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Пример перехвата неименованных исключений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93A090D-E367-476E-A2F4-2194CF4F54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424" y="1340768"/>
            <a:ext cx="8792576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4639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4C6189-ED96-4779-AF13-F8998AEAAA25}"/>
              </a:ext>
            </a:extLst>
          </p:cNvPr>
          <p:cNvSpPr txBox="1"/>
          <p:nvPr/>
        </p:nvSpPr>
        <p:spPr>
          <a:xfrm>
            <a:off x="1034569" y="268728"/>
            <a:ext cx="712879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 </a:t>
            </a: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Диагностические функции для исключений</a:t>
            </a:r>
            <a:r>
              <a:rPr kumimoji="0" lang="en-US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D34603-F27B-43CA-8967-C063C64012C6}"/>
              </a:ext>
            </a:extLst>
          </p:cNvPr>
          <p:cNvSpPr txBox="1"/>
          <p:nvPr/>
        </p:nvSpPr>
        <p:spPr>
          <a:xfrm>
            <a:off x="984537" y="1328732"/>
            <a:ext cx="7128792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SQLCODE</a:t>
            </a:r>
            <a:endParaRPr lang="ru-RU" sz="2400" b="1" dirty="0"/>
          </a:p>
          <a:p>
            <a:r>
              <a:rPr lang="ru-RU" dirty="0"/>
              <a:t>      </a:t>
            </a:r>
            <a:r>
              <a:rPr lang="ru-RU" sz="2300" dirty="0"/>
              <a:t>Функция возвращает код ошибки первого </a:t>
            </a:r>
          </a:p>
          <a:p>
            <a:r>
              <a:rPr lang="ru-RU" sz="2300" dirty="0"/>
              <a:t>     возникшего исключения. Если ошибок нет, </a:t>
            </a:r>
            <a:r>
              <a:rPr lang="ru-RU" sz="2300" b="1" dirty="0"/>
              <a:t>SQLCODE</a:t>
            </a:r>
            <a:r>
              <a:rPr lang="ru-RU" sz="2300" dirty="0"/>
              <a:t> </a:t>
            </a:r>
          </a:p>
          <a:p>
            <a:r>
              <a:rPr lang="ru-RU" sz="2300" dirty="0"/>
              <a:t>     ничего не возвращает. При вызове за </a:t>
            </a:r>
            <a:endParaRPr lang="en-US" sz="2300" dirty="0"/>
          </a:p>
          <a:p>
            <a:r>
              <a:rPr lang="en-US" sz="2300" dirty="0"/>
              <a:t>     </a:t>
            </a:r>
            <a:r>
              <a:rPr lang="ru-RU" sz="2300" dirty="0"/>
              <a:t>пределами обработчика исключений возвращает 0.</a:t>
            </a:r>
            <a:endParaRPr lang="en-US" sz="2300" dirty="0"/>
          </a:p>
          <a:p>
            <a:r>
              <a:rPr lang="en-US" sz="2300" dirty="0"/>
              <a:t>     </a:t>
            </a:r>
            <a:r>
              <a:rPr lang="ru-RU" sz="2300" dirty="0"/>
              <a:t>Не имеет аргументов или параметров.</a:t>
            </a:r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57F519-40BA-4A07-91B4-D22F9A094114}"/>
              </a:ext>
            </a:extLst>
          </p:cNvPr>
          <p:cNvSpPr txBox="1"/>
          <p:nvPr/>
        </p:nvSpPr>
        <p:spPr>
          <a:xfrm>
            <a:off x="7380312" y="5271571"/>
            <a:ext cx="1190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Результат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492E9D7-F387-42CD-8267-64B50B7A8D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2559" y="5676198"/>
            <a:ext cx="2001441" cy="928203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4C2C1C06-7546-498C-A15C-7BD1E1868C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71" y="4473557"/>
            <a:ext cx="4422299" cy="207036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D5740351-99B1-46F4-A3A0-9808AAF3F596}"/>
              </a:ext>
            </a:extLst>
          </p:cNvPr>
          <p:cNvSpPr txBox="1"/>
          <p:nvPr/>
        </p:nvSpPr>
        <p:spPr>
          <a:xfrm>
            <a:off x="1979712" y="4069797"/>
            <a:ext cx="1435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>
                <a:solidFill>
                  <a:srgbClr val="FF0000"/>
                </a:solidFill>
              </a:rPr>
              <a:t>Ошибка – деление на ноль </a:t>
            </a:r>
            <a:endParaRPr lang="ru-RU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FA75D0-79CF-49F2-97B1-FC05D033923C}"/>
              </a:ext>
            </a:extLst>
          </p:cNvPr>
          <p:cNvSpPr txBox="1"/>
          <p:nvPr/>
        </p:nvSpPr>
        <p:spPr>
          <a:xfrm>
            <a:off x="4025835" y="4703693"/>
            <a:ext cx="25500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/>
              <a:t>Использовали функцию, чтобы узнать номер ошибки</a:t>
            </a:r>
            <a:endParaRPr lang="ru-RU" dirty="0"/>
          </a:p>
        </p:txBody>
      </p:sp>
      <p:cxnSp>
        <p:nvCxnSpPr>
          <p:cNvPr id="33" name="Прямая со стрелкой 32">
            <a:extLst>
              <a:ext uri="{FF2B5EF4-FFF2-40B4-BE49-F238E27FC236}">
                <a16:creationId xmlns:a16="http://schemas.microsoft.com/office/drawing/2014/main" id="{C6C1CC13-1FEA-436F-9AF6-6684E108EC31}"/>
              </a:ext>
            </a:extLst>
          </p:cNvPr>
          <p:cNvCxnSpPr>
            <a:cxnSpLocks/>
          </p:cNvCxnSpPr>
          <p:nvPr/>
        </p:nvCxnSpPr>
        <p:spPr>
          <a:xfrm flipH="1">
            <a:off x="1835696" y="4993127"/>
            <a:ext cx="144016" cy="172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910C1DCA-75AE-4660-8400-5B48117AA3DB}"/>
              </a:ext>
            </a:extLst>
          </p:cNvPr>
          <p:cNvCxnSpPr>
            <a:cxnSpLocks/>
          </p:cNvCxnSpPr>
          <p:nvPr/>
        </p:nvCxnSpPr>
        <p:spPr>
          <a:xfrm flipH="1">
            <a:off x="4025835" y="5676198"/>
            <a:ext cx="114117" cy="2367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6902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F00CDC-B988-4118-8664-7B2EA662D924}"/>
              </a:ext>
            </a:extLst>
          </p:cNvPr>
          <p:cNvSpPr txBox="1"/>
          <p:nvPr/>
        </p:nvSpPr>
        <p:spPr>
          <a:xfrm>
            <a:off x="1115616" y="175675"/>
            <a:ext cx="73448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Диагностические функции для исключений</a:t>
            </a:r>
            <a:r>
              <a:rPr kumimoji="0" lang="en-US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C37114-AF03-4FC1-8D45-F9C81B2356FC}"/>
              </a:ext>
            </a:extLst>
          </p:cNvPr>
          <p:cNvSpPr txBox="1"/>
          <p:nvPr/>
        </p:nvSpPr>
        <p:spPr>
          <a:xfrm>
            <a:off x="1115616" y="1098951"/>
            <a:ext cx="7344816" cy="361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300" b="1" dirty="0"/>
              <a:t>SQLERRM</a:t>
            </a:r>
          </a:p>
          <a:p>
            <a:r>
              <a:rPr lang="en-US" sz="2300" b="1" dirty="0"/>
              <a:t> </a:t>
            </a:r>
            <a:r>
              <a:rPr lang="ru-RU" sz="2300" dirty="0"/>
              <a:t>Функция возвращает сообщение об ошибке </a:t>
            </a:r>
            <a:r>
              <a:rPr lang="en-US" sz="2300" dirty="0"/>
              <a:t> </a:t>
            </a:r>
          </a:p>
          <a:p>
            <a:r>
              <a:rPr lang="en-US" sz="2300" dirty="0"/>
              <a:t> </a:t>
            </a:r>
            <a:r>
              <a:rPr lang="ru-RU" sz="2300" dirty="0"/>
              <a:t>для заданного кода ошибки, либо для   </a:t>
            </a:r>
          </a:p>
          <a:p>
            <a:r>
              <a:rPr lang="ru-RU" sz="2300" dirty="0"/>
              <a:t> первого возникшего исключения, если код не задан.</a:t>
            </a:r>
            <a:endParaRPr lang="en-US" sz="2300" dirty="0"/>
          </a:p>
          <a:p>
            <a:r>
              <a:rPr lang="ru-RU" sz="2300" dirty="0"/>
              <a:t> Если ошибок не найдено, также ничего не возвращает.</a:t>
            </a:r>
            <a:endParaRPr lang="en-US" sz="2300" dirty="0"/>
          </a:p>
          <a:p>
            <a:r>
              <a:rPr lang="en-US" sz="2300" dirty="0"/>
              <a:t> </a:t>
            </a:r>
            <a:r>
              <a:rPr lang="ru-RU" sz="2300" dirty="0"/>
              <a:t>При вызове за пределами блока исключений   </a:t>
            </a:r>
          </a:p>
          <a:p>
            <a:r>
              <a:rPr lang="ru-RU" sz="2300" dirty="0"/>
              <a:t> возвращает следующую строку: </a:t>
            </a:r>
            <a:r>
              <a:rPr lang="en-US" sz="2300" dirty="0">
                <a:solidFill>
                  <a:srgbClr val="000000"/>
                </a:solidFill>
                <a:latin typeface="Courier New" panose="02070309020205020404" pitchFamily="49" charset="0"/>
              </a:rPr>
              <a:t>ORA-0000: normal, </a:t>
            </a:r>
            <a:endParaRPr lang="ru-RU" sz="23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ru-RU" sz="23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300" dirty="0">
                <a:solidFill>
                  <a:srgbClr val="000000"/>
                </a:solidFill>
                <a:latin typeface="Courier New" panose="02070309020205020404" pitchFamily="49" charset="0"/>
              </a:rPr>
              <a:t>successful completion</a:t>
            </a:r>
            <a:r>
              <a:rPr lang="ru-RU" sz="2300" dirty="0">
                <a:solidFill>
                  <a:srgbClr val="000000"/>
                </a:solidFill>
                <a:latin typeface="Courier New" panose="02070309020205020404" pitchFamily="49" charset="0"/>
              </a:rPr>
              <a:t>.</a:t>
            </a:r>
            <a:endParaRPr lang="ru-RU" sz="2300" dirty="0"/>
          </a:p>
          <a:p>
            <a:r>
              <a:rPr lang="ru-RU" sz="2100" b="1" dirty="0"/>
              <a:t> </a:t>
            </a:r>
            <a:endParaRPr lang="en-US" sz="21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FB36BBD-65D3-4BBB-9587-6D2F7F9407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10" y="4485977"/>
            <a:ext cx="4726558" cy="20162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101D0B-4425-48FF-920D-4966775AAEC2}"/>
              </a:ext>
            </a:extLst>
          </p:cNvPr>
          <p:cNvSpPr txBox="1"/>
          <p:nvPr/>
        </p:nvSpPr>
        <p:spPr>
          <a:xfrm>
            <a:off x="2051720" y="4422938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Ошибка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F8532B-3DDC-4747-BA07-EA8C6FA30B9F}"/>
              </a:ext>
            </a:extLst>
          </p:cNvPr>
          <p:cNvSpPr txBox="1"/>
          <p:nvPr/>
        </p:nvSpPr>
        <p:spPr>
          <a:xfrm>
            <a:off x="4802218" y="4446115"/>
            <a:ext cx="24482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Выводим описание ошибки без указания её кода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35EB3C7-36F0-445C-BED2-698B2A23AD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8435" y="6347326"/>
            <a:ext cx="4436746" cy="4006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A12968F-58C8-4B3E-86D7-627CCD1491DB}"/>
              </a:ext>
            </a:extLst>
          </p:cNvPr>
          <p:cNvSpPr txBox="1"/>
          <p:nvPr/>
        </p:nvSpPr>
        <p:spPr>
          <a:xfrm>
            <a:off x="6211402" y="5797887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Результат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F2B55DDD-3874-44B7-9FFC-456DB459E87C}"/>
              </a:ext>
            </a:extLst>
          </p:cNvPr>
          <p:cNvCxnSpPr>
            <a:cxnSpLocks/>
          </p:cNvCxnSpPr>
          <p:nvPr/>
        </p:nvCxnSpPr>
        <p:spPr>
          <a:xfrm flipH="1">
            <a:off x="2183140" y="4815722"/>
            <a:ext cx="185403" cy="289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9B9BB47C-D2C6-4215-B060-4C34E9B5CAE0}"/>
              </a:ext>
            </a:extLst>
          </p:cNvPr>
          <p:cNvCxnSpPr>
            <a:cxnSpLocks/>
          </p:cNvCxnSpPr>
          <p:nvPr/>
        </p:nvCxnSpPr>
        <p:spPr>
          <a:xfrm flipH="1">
            <a:off x="4211960" y="5432484"/>
            <a:ext cx="609666" cy="5167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199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7BD7F3-F2B1-4722-8579-B71952DA1FA2}"/>
              </a:ext>
            </a:extLst>
          </p:cNvPr>
          <p:cNvSpPr txBox="1"/>
          <p:nvPr/>
        </p:nvSpPr>
        <p:spPr>
          <a:xfrm>
            <a:off x="1475656" y="188640"/>
            <a:ext cx="62646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Пример функций </a:t>
            </a:r>
            <a:r>
              <a:rPr kumimoji="0" lang="en-US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SQLCODE </a:t>
            </a: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 </a:t>
            </a:r>
            <a:r>
              <a:rPr kumimoji="0" lang="en-US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SQLERRM 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2F0BD9D-1F28-472A-ADE6-AD42421901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996435"/>
            <a:ext cx="7992888" cy="570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97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8C49B0-9E89-40EC-936E-97FC72A2FF27}"/>
              </a:ext>
            </a:extLst>
          </p:cNvPr>
          <p:cNvSpPr txBox="1"/>
          <p:nvPr/>
        </p:nvSpPr>
        <p:spPr>
          <a:xfrm>
            <a:off x="1187624" y="345639"/>
            <a:ext cx="7200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Диагностические функции для исключений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4DFDF-0A2C-4610-A9AE-F00490691785}"/>
              </a:ext>
            </a:extLst>
          </p:cNvPr>
          <p:cNvSpPr txBox="1"/>
          <p:nvPr/>
        </p:nvSpPr>
        <p:spPr>
          <a:xfrm>
            <a:off x="971600" y="1268760"/>
            <a:ext cx="763284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300" b="1" dirty="0"/>
              <a:t>DBMS_UTILITY.FORMAT_ERROR_STACK</a:t>
            </a:r>
          </a:p>
          <a:p>
            <a:r>
              <a:rPr lang="en-US" sz="2300" dirty="0"/>
              <a:t>  </a:t>
            </a:r>
            <a:r>
              <a:rPr lang="ru-RU" sz="2300" dirty="0"/>
              <a:t>Эта встроенная функция, как и </a:t>
            </a:r>
            <a:r>
              <a:rPr lang="ru-RU" sz="2300" b="1" dirty="0"/>
              <a:t>SQLERRM</a:t>
            </a:r>
            <a:r>
              <a:rPr lang="ru-RU" sz="2300" dirty="0"/>
              <a:t>, возвращает </a:t>
            </a:r>
            <a:r>
              <a:rPr lang="en-US" sz="2300" dirty="0"/>
              <a:t> </a:t>
            </a:r>
          </a:p>
          <a:p>
            <a:r>
              <a:rPr lang="en-US" sz="2300" dirty="0"/>
              <a:t>  </a:t>
            </a:r>
            <a:r>
              <a:rPr lang="ru-RU" sz="2300" dirty="0"/>
              <a:t>сообщение</a:t>
            </a:r>
            <a:r>
              <a:rPr lang="en-US" sz="2300" dirty="0"/>
              <a:t> </a:t>
            </a:r>
            <a:r>
              <a:rPr lang="ru-RU" sz="2300" dirty="0"/>
              <a:t>о конкретной ошибке. Отличие в том, что она </a:t>
            </a:r>
          </a:p>
          <a:p>
            <a:r>
              <a:rPr lang="ru-RU" sz="2300" dirty="0"/>
              <a:t>  не усекает текст до 2000 байт, чем гарантирует вывод  </a:t>
            </a:r>
          </a:p>
          <a:p>
            <a:r>
              <a:rPr lang="ru-RU" sz="2300" dirty="0"/>
              <a:t>  полной строки сообщения. Также, функция не принимает  </a:t>
            </a:r>
          </a:p>
          <a:p>
            <a:r>
              <a:rPr lang="ru-RU" sz="2300" dirty="0"/>
              <a:t>  код ошибок.</a:t>
            </a:r>
          </a:p>
          <a:p>
            <a:r>
              <a:rPr lang="ru-RU" sz="2300" dirty="0"/>
              <a:t>  Используется для получения полного сообщения об </a:t>
            </a:r>
          </a:p>
          <a:p>
            <a:r>
              <a:rPr lang="ru-RU" sz="2300" dirty="0"/>
              <a:t>  ошибке.</a:t>
            </a:r>
            <a:endParaRPr lang="sv-SE" sz="23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E7C1061-87FF-40D8-BF19-251C3D664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4469220"/>
            <a:ext cx="7079833" cy="224003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E7D61D-1B10-4F72-BF7F-F34B7D01EA52}"/>
              </a:ext>
            </a:extLst>
          </p:cNvPr>
          <p:cNvSpPr txBox="1"/>
          <p:nvPr/>
        </p:nvSpPr>
        <p:spPr>
          <a:xfrm>
            <a:off x="5606692" y="4941168"/>
            <a:ext cx="24713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Выводим сообщение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952420E6-5224-478E-8591-EB960AB49D4D}"/>
              </a:ext>
            </a:extLst>
          </p:cNvPr>
          <p:cNvCxnSpPr/>
          <p:nvPr/>
        </p:nvCxnSpPr>
        <p:spPr>
          <a:xfrm flipH="1">
            <a:off x="5606692" y="5310500"/>
            <a:ext cx="477476" cy="494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696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7933B9-94A6-42EB-AB83-32AC12EED349}"/>
              </a:ext>
            </a:extLst>
          </p:cNvPr>
          <p:cNvSpPr txBox="1"/>
          <p:nvPr/>
        </p:nvSpPr>
        <p:spPr>
          <a:xfrm>
            <a:off x="899592" y="332656"/>
            <a:ext cx="7416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Диагностические функции для исключений</a:t>
            </a:r>
            <a:r>
              <a:rPr kumimoji="0" lang="en-US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27AFE9-06F2-4FF7-BD07-D232386EB131}"/>
              </a:ext>
            </a:extLst>
          </p:cNvPr>
          <p:cNvSpPr txBox="1"/>
          <p:nvPr/>
        </p:nvSpPr>
        <p:spPr>
          <a:xfrm>
            <a:off x="899592" y="1982450"/>
            <a:ext cx="7776864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600" b="1" dirty="0"/>
              <a:t>DBMS_UTILITY.FORMAT_ERROR_BACKTRACE</a:t>
            </a:r>
          </a:p>
          <a:p>
            <a:r>
              <a:rPr lang="en-US" sz="2500" b="1" dirty="0"/>
              <a:t>  </a:t>
            </a:r>
            <a:r>
              <a:rPr lang="ru-RU" sz="2500" dirty="0"/>
              <a:t>Эта функция возвращает строку с содержимым </a:t>
            </a:r>
          </a:p>
          <a:p>
            <a:r>
              <a:rPr lang="ru-RU" sz="2500" dirty="0"/>
              <a:t>  стека программы и номером строки, где возникло </a:t>
            </a:r>
          </a:p>
          <a:p>
            <a:r>
              <a:rPr lang="ru-RU" sz="2500" dirty="0"/>
              <a:t>  исключение.</a:t>
            </a:r>
            <a:endParaRPr lang="en-US" sz="2500" dirty="0"/>
          </a:p>
          <a:p>
            <a:r>
              <a:rPr lang="en-US" sz="2500" b="1" dirty="0"/>
              <a:t>  </a:t>
            </a:r>
            <a:r>
              <a:rPr lang="ru-RU" sz="2500" dirty="0"/>
              <a:t>Возвращает пустую строку, если вызывается в   </a:t>
            </a:r>
          </a:p>
          <a:p>
            <a:r>
              <a:rPr lang="ru-RU" sz="2500" dirty="0"/>
              <a:t>  исполняемом блоке. Не имеет аргументов и </a:t>
            </a:r>
          </a:p>
          <a:p>
            <a:r>
              <a:rPr lang="ru-RU" sz="2500" dirty="0"/>
              <a:t>  параметров.</a:t>
            </a:r>
          </a:p>
        </p:txBody>
      </p:sp>
    </p:spTree>
    <p:extLst>
      <p:ext uri="{BB962C8B-B14F-4D97-AF65-F5344CB8AC3E}">
        <p14:creationId xmlns:p14="http://schemas.microsoft.com/office/powerpoint/2010/main" val="18057069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327F9E-C8C8-4BAE-861F-DDAF1376705F}"/>
              </a:ext>
            </a:extLst>
          </p:cNvPr>
          <p:cNvSpPr txBox="1"/>
          <p:nvPr/>
        </p:nvSpPr>
        <p:spPr>
          <a:xfrm>
            <a:off x="1331640" y="188640"/>
            <a:ext cx="69847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Пример функции </a:t>
            </a:r>
            <a:r>
              <a:rPr kumimoji="0" lang="sv-SE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DBMS_UTILITY.FORMAT_ERROR_BACKTRACE</a:t>
            </a:r>
          </a:p>
          <a:p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4B1E38C-7FBB-445E-846B-2F64104A02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51" y="1196752"/>
            <a:ext cx="7572219" cy="566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74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CB42B5-1BB1-4677-8AB2-C5679255BD8D}"/>
              </a:ext>
            </a:extLst>
          </p:cNvPr>
          <p:cNvSpPr txBox="1"/>
          <p:nvPr/>
        </p:nvSpPr>
        <p:spPr>
          <a:xfrm>
            <a:off x="1259632" y="260648"/>
            <a:ext cx="705678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Пример функции </a:t>
            </a:r>
            <a:r>
              <a:rPr kumimoji="0" lang="sv-SE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DBMS_UTILITY.FORMAT_ERROR_BACKTRACE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0948DD9-4E82-43F9-947F-6DFB4BEAD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754" y="3184164"/>
            <a:ext cx="5006489" cy="23967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625DAE0-7941-4722-8EF4-2023B6981D77}"/>
              </a:ext>
            </a:extLst>
          </p:cNvPr>
          <p:cNvSpPr txBox="1"/>
          <p:nvPr/>
        </p:nvSpPr>
        <p:spPr>
          <a:xfrm>
            <a:off x="3671899" y="1952255"/>
            <a:ext cx="1800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u="sng" dirty="0"/>
              <a:t>Результат</a:t>
            </a:r>
          </a:p>
        </p:txBody>
      </p:sp>
    </p:spTree>
    <p:extLst>
      <p:ext uri="{BB962C8B-B14F-4D97-AF65-F5344CB8AC3E}">
        <p14:creationId xmlns:p14="http://schemas.microsoft.com/office/powerpoint/2010/main" val="3007270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468DEB-AF4B-4F86-B5CB-9FDDB55AE8CD}"/>
              </a:ext>
            </a:extLst>
          </p:cNvPr>
          <p:cNvSpPr txBox="1"/>
          <p:nvPr/>
        </p:nvSpPr>
        <p:spPr>
          <a:xfrm>
            <a:off x="1043608" y="404664"/>
            <a:ext cx="7488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Диагностические функции для исключений</a:t>
            </a:r>
            <a:r>
              <a:rPr kumimoji="0" lang="en-US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1C75D4-BD36-4590-AE32-AD3780ABB851}"/>
              </a:ext>
            </a:extLst>
          </p:cNvPr>
          <p:cNvSpPr txBox="1"/>
          <p:nvPr/>
        </p:nvSpPr>
        <p:spPr>
          <a:xfrm>
            <a:off x="737321" y="1486133"/>
            <a:ext cx="7488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/>
              <a:t>DBMS_UTILITY.FORMAT_CALL_STACK</a:t>
            </a:r>
            <a:endParaRPr lang="ru-RU" sz="2400" b="1" dirty="0"/>
          </a:p>
          <a:p>
            <a:r>
              <a:rPr lang="ru-RU" sz="2400" b="1" dirty="0"/>
              <a:t>   </a:t>
            </a:r>
            <a:r>
              <a:rPr lang="ru-RU" sz="2300" dirty="0"/>
              <a:t>Функция возвращает содержимое стека вызовов.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B78F884-FD98-4CF0-834D-48BAADFDF2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836989"/>
            <a:ext cx="7102116" cy="231153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7667645-F7B9-49EA-B063-7DFB49AFBD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460" y="5816846"/>
            <a:ext cx="3845820" cy="8640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258634-20E8-4DC9-80AD-E65CF17D1C6E}"/>
              </a:ext>
            </a:extLst>
          </p:cNvPr>
          <p:cNvSpPr txBox="1"/>
          <p:nvPr/>
        </p:nvSpPr>
        <p:spPr>
          <a:xfrm>
            <a:off x="4963218" y="516813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u="sng" dirty="0"/>
              <a:t>Результат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065CAB-D81B-41F5-9B44-B837627B4264}"/>
              </a:ext>
            </a:extLst>
          </p:cNvPr>
          <p:cNvSpPr txBox="1"/>
          <p:nvPr/>
        </p:nvSpPr>
        <p:spPr>
          <a:xfrm>
            <a:off x="5436097" y="3497589"/>
            <a:ext cx="33843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Вызываем и выводим функцию</a:t>
            </a: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FA3454E1-2E32-486D-A951-1F9E858F68D7}"/>
              </a:ext>
            </a:extLst>
          </p:cNvPr>
          <p:cNvCxnSpPr/>
          <p:nvPr/>
        </p:nvCxnSpPr>
        <p:spPr>
          <a:xfrm flipH="1">
            <a:off x="5868144" y="3992757"/>
            <a:ext cx="216024" cy="3003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55768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3B8333-BDA0-4FCA-9692-E910D2D8CB8E}"/>
              </a:ext>
            </a:extLst>
          </p:cNvPr>
          <p:cNvSpPr txBox="1"/>
          <p:nvPr/>
        </p:nvSpPr>
        <p:spPr>
          <a:xfrm>
            <a:off x="1979712" y="116632"/>
            <a:ext cx="48245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Некоторые общие принципы </a:t>
            </a:r>
          </a:p>
          <a:p>
            <a:r>
              <a:rPr kumimoji="0" lang="ru-RU" alt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работы с исключениями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FF6A3-DD86-422C-89F5-C5524A45DA7A}"/>
              </a:ext>
            </a:extLst>
          </p:cNvPr>
          <p:cNvSpPr txBox="1"/>
          <p:nvPr/>
        </p:nvSpPr>
        <p:spPr>
          <a:xfrm>
            <a:off x="539552" y="1484784"/>
            <a:ext cx="806489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100" dirty="0"/>
              <a:t>Когда в коде происходит ошибка, следует получить как можно больше информации о контексте ее возникновения. Избыток информации — лучше, чем ее нехватка. Далее исключение можно передавать во внешние блоки, собирая дополнительную информацию по мере продвижения.</a:t>
            </a:r>
          </a:p>
          <a:p>
            <a:endParaRPr lang="ru-RU" sz="21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100" dirty="0"/>
              <a:t>Следует избегать применения обработчиков вида </a:t>
            </a:r>
            <a:r>
              <a:rPr lang="ru-RU" sz="2100" b="1" dirty="0">
                <a:solidFill>
                  <a:srgbClr val="0070C0"/>
                </a:solidFill>
              </a:rPr>
              <a:t>WHEN</a:t>
            </a:r>
            <a:r>
              <a:rPr lang="ru-RU" sz="2100" b="1" dirty="0"/>
              <a:t> </a:t>
            </a:r>
            <a:r>
              <a:rPr lang="en-US" sz="2100" b="1" i="1" dirty="0"/>
              <a:t>&lt;</a:t>
            </a:r>
            <a:r>
              <a:rPr lang="ru-RU" sz="2100" b="1" i="1" dirty="0"/>
              <a:t>имя ошибки</a:t>
            </a:r>
            <a:r>
              <a:rPr lang="en-US" sz="2100" b="1" i="1" dirty="0"/>
              <a:t>&gt;</a:t>
            </a:r>
            <a:r>
              <a:rPr lang="ru-RU" sz="2100" b="1" i="1" dirty="0"/>
              <a:t> </a:t>
            </a:r>
            <a:r>
              <a:rPr lang="ru-RU" sz="2100" b="1" dirty="0">
                <a:solidFill>
                  <a:srgbClr val="0070C0"/>
                </a:solidFill>
              </a:rPr>
              <a:t>THEN</a:t>
            </a:r>
            <a:r>
              <a:rPr lang="ru-RU" sz="2100" b="1" dirty="0"/>
              <a:t> </a:t>
            </a:r>
            <a:r>
              <a:rPr lang="ru-RU" sz="2100" dirty="0"/>
              <a:t>NULL</a:t>
            </a:r>
            <a:r>
              <a:rPr lang="ru-RU" sz="2100" b="1" dirty="0"/>
              <a:t> </a:t>
            </a:r>
            <a:r>
              <a:rPr lang="ru-RU" sz="2100" dirty="0"/>
              <a:t>(или </a:t>
            </a:r>
            <a:r>
              <a:rPr lang="ru-RU" sz="2100" b="1" dirty="0">
                <a:solidFill>
                  <a:srgbClr val="0070C0"/>
                </a:solidFill>
              </a:rPr>
              <a:t>WHEN OTHERS THEN </a:t>
            </a:r>
            <a:r>
              <a:rPr lang="ru-RU" sz="2100" dirty="0"/>
              <a:t>NULL)  и, вместо этого, выводить информацию об ошибке. А если использовать конструкции выше, то документировать их использование, чтобы об этом знали другие.</a:t>
            </a:r>
            <a:endParaRPr lang="en-US" sz="2100" dirty="0"/>
          </a:p>
          <a:p>
            <a:endParaRPr lang="ru-RU" sz="21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ru-RU" sz="2100" dirty="0"/>
              <a:t> Там, где это возможно, используйте механизмы обработки ошибок PL/SQL по умолчанию. </a:t>
            </a:r>
          </a:p>
          <a:p>
            <a:endParaRPr lang="ru-RU" sz="2100" dirty="0"/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ru-RU" sz="2100" dirty="0"/>
          </a:p>
          <a:p>
            <a:endParaRPr lang="ru-RU" sz="2100" dirty="0"/>
          </a:p>
          <a:p>
            <a:r>
              <a:rPr lang="ru-RU" sz="2100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236488071"/>
      </p:ext>
    </p:extLst>
  </p:cSld>
  <p:clrMapOvr>
    <a:masterClrMapping/>
  </p:clrMapOvr>
</p:sld>
</file>

<file path=ppt/theme/theme1.xml><?xml version="1.0" encoding="utf-8"?>
<a:theme xmlns:a="http://schemas.openxmlformats.org/drawingml/2006/main" name="Специальное оформление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Исключительные ситуации-Шаблон.potx" id="{A5DD8D0C-A3AC-4ADF-B8C2-1F7A5F556BC5}" vid="{9FBDC251-07D5-4037-AF64-8267C92D938E}"/>
    </a:ext>
  </a:extLst>
</a:theme>
</file>

<file path=ppt/theme/theme2.xml><?xml version="1.0" encoding="utf-8"?>
<a:theme xmlns:a="http://schemas.openxmlformats.org/drawingml/2006/main" name="Шаблон__Ингосстрах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__Ингосстрах.potx" id="{3D1A3C04-0CDA-49C9-80F1-25D2FDF1DC9F}" vid="{1F11F570-7FD9-4FC3-8648-8F63386C564E}"/>
    </a:ext>
  </a:extLst>
</a:theme>
</file>

<file path=ppt/theme/theme3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5099</TotalTime>
  <Words>959</Words>
  <Application>Microsoft Office PowerPoint</Application>
  <PresentationFormat>Экран (4:3)</PresentationFormat>
  <Paragraphs>164</Paragraphs>
  <Slides>18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Tahoma</vt:lpstr>
      <vt:lpstr>Wingdings</vt:lpstr>
      <vt:lpstr>Специальное оформление</vt:lpstr>
      <vt:lpstr>Шаблон__Ингосстрах</vt:lpstr>
      <vt:lpstr>Презентация PowerPoint</vt:lpstr>
      <vt:lpstr>Исключения</vt:lpstr>
      <vt:lpstr>Презентация PowerPoint</vt:lpstr>
      <vt:lpstr>Презентация PowerPoint</vt:lpstr>
      <vt:lpstr>Общая схема обработки  исключений</vt:lpstr>
      <vt:lpstr>Примеры предопределённых исключений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ИНГОССТРАХ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Исключительные ситуации Oracle</dc:title>
  <dc:subject>Исключительные ситуации Oracle</dc:subject>
  <dc:creator>Иванова Мария</dc:creator>
  <cp:keywords>Oracle, ошибка, исключение</cp:keywords>
  <cp:lastModifiedBy>Мария Иванова</cp:lastModifiedBy>
  <cp:revision>469</cp:revision>
  <cp:lastPrinted>1601-01-01T00:00:00Z</cp:lastPrinted>
  <dcterms:created xsi:type="dcterms:W3CDTF">2006-02-20T11:13:02Z</dcterms:created>
  <dcterms:modified xsi:type="dcterms:W3CDTF">2022-02-28T13:13:21Z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