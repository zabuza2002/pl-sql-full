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Roboto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84" y="22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089209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004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470fb3e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1470fb3e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1249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1470fb3eac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1470fb3eac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428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470fb3eac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1470fb3eac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9099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1470fb3eac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1470fb3eac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782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1470fb3eac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1470fb3eac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6688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1470fb3eac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1470fb3eac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8013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470fb3eac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1470fb3eac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11421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1470fb3eac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1470fb3eac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19427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1470fb3eac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1470fb3eac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14165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1470fb3eac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1470fb3eac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6549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1470fb3eac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1470fb3eac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70349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470fb3eac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470fb3eac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79535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1470fb3eac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1470fb3eac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0868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588400" y="1803150"/>
            <a:ext cx="39672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CONTINUE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0" y="4912854"/>
            <a:ext cx="991800" cy="2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CONTINUE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В Oracle11g появилась новая возможность для работы с циклами: команда </a:t>
            </a:r>
            <a:r>
              <a:rPr lang="ru">
                <a:solidFill>
                  <a:srgbClr val="CC0000"/>
                </a:solidFill>
              </a:rPr>
              <a:t>CONTINUE</a:t>
            </a:r>
            <a:r>
              <a:rPr lang="ru"/>
              <a:t>. Он используется для выхода из текущей итерации цикла и немедленного перехода к следующей итерации. Как и </a:t>
            </a:r>
            <a:r>
              <a:rPr lang="ru">
                <a:solidFill>
                  <a:srgbClr val="CC0000"/>
                </a:solidFill>
              </a:rPr>
              <a:t>EXIT</a:t>
            </a:r>
            <a:r>
              <a:rPr lang="ru"/>
              <a:t>, эта команда существует в двух формах: безусловной (</a:t>
            </a:r>
            <a:r>
              <a:rPr lang="ru">
                <a:solidFill>
                  <a:srgbClr val="CC0000"/>
                </a:solidFill>
              </a:rPr>
              <a:t>CONTINUE</a:t>
            </a:r>
            <a:r>
              <a:rPr lang="ru"/>
              <a:t>) и условной (</a:t>
            </a:r>
            <a:r>
              <a:rPr lang="ru">
                <a:solidFill>
                  <a:srgbClr val="CC0000"/>
                </a:solidFill>
              </a:rPr>
              <a:t>CONTINUE WHEN</a:t>
            </a:r>
            <a:r>
              <a:rPr lang="ru"/>
              <a:t>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Continue простыми словами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Оператор CONTINUE заставляет цикл пропустить оставшуюся часть своего тела и немедленно повторно проверить свое условие перед повторением. Другими словами, он заставляет выполнить следующую итерацию цикла, пропуская любой промежуточный код.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2"/>
          </p:nvPr>
        </p:nvSpPr>
        <p:spPr>
          <a:xfrm>
            <a:off x="5361550" y="1152475"/>
            <a:ext cx="2941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1549" y="1152476"/>
            <a:ext cx="2941613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1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400"/>
              <a:t>Команда CONTINUE пропускает вывод DBMS_OUTPUT.put_line после своего выполнения и переходит на следующую итерацию цикла. Вывод DBMS_OUTPUT.put_line</a:t>
            </a:r>
            <a:r>
              <a:rPr lang="ru"/>
              <a:t> </a:t>
            </a:r>
            <a:r>
              <a:rPr lang="ru" sz="1400"/>
              <a:t>до команды CONTINUE будет выполнен</a:t>
            </a:r>
            <a:endParaRPr sz="1400"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5800" y="555600"/>
            <a:ext cx="5072650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2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400"/>
              <a:t>Команда CONTINUE пропустит все итерации меньше 3 и больше 5.</a:t>
            </a:r>
            <a:endParaRPr sz="1400"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5799" y="555599"/>
            <a:ext cx="5072650" cy="314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84375"/>
            <a:ext cx="2808000" cy="8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3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700"/>
              <a:t>Простой пример использования CONTINUE WHEN для пропуска итераций с четными значениями счетчика: </a:t>
            </a:r>
            <a:endParaRPr sz="1700"/>
          </a:p>
        </p:txBody>
      </p:sp>
      <p:sp>
        <p:nvSpPr>
          <p:cNvPr id="90" name="Google Shape;90;p18"/>
          <p:cNvSpPr/>
          <p:nvPr/>
        </p:nvSpPr>
        <p:spPr>
          <a:xfrm>
            <a:off x="3471275" y="668875"/>
            <a:ext cx="5224200" cy="1902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3436700" y="645825"/>
            <a:ext cx="5258700" cy="193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0077A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3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350">
                <a:solidFill>
                  <a:srgbClr val="0077A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ru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l_index </a:t>
            </a:r>
            <a:r>
              <a:rPr lang="ru" sz="1350">
                <a:solidFill>
                  <a:srgbClr val="9A6E3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ru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50">
                <a:solidFill>
                  <a:srgbClr val="99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</a:t>
            </a:r>
            <a:r>
              <a:rPr lang="ru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50">
                <a:solidFill>
                  <a:srgbClr val="99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3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350">
                <a:solidFill>
                  <a:srgbClr val="0077A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endParaRPr sz="13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ru" sz="1350">
                <a:solidFill>
                  <a:srgbClr val="0077A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CONTINUE</a:t>
            </a:r>
            <a:r>
              <a:rPr lang="ru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50">
                <a:solidFill>
                  <a:srgbClr val="0077A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lang="ru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50">
                <a:solidFill>
                  <a:srgbClr val="DD4A6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</a:t>
            </a:r>
            <a:r>
              <a:rPr lang="ru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l_index</a:t>
            </a:r>
            <a:r>
              <a:rPr lang="ru" sz="13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ru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50">
                <a:solidFill>
                  <a:srgbClr val="99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3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ru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50">
                <a:solidFill>
                  <a:srgbClr val="9A6E3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50">
                <a:solidFill>
                  <a:srgbClr val="99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3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DBMS_OUTPUT</a:t>
            </a:r>
            <a:r>
              <a:rPr lang="ru" sz="13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PUT_LINE </a:t>
            </a:r>
            <a:r>
              <a:rPr lang="ru" sz="13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350">
                <a:solidFill>
                  <a:srgbClr val="66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'Счетчик = '</a:t>
            </a:r>
            <a:r>
              <a:rPr lang="ru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50">
                <a:solidFill>
                  <a:srgbClr val="9A6E3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||</a:t>
            </a:r>
            <a:r>
              <a:rPr lang="ru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TO_CHAR </a:t>
            </a:r>
            <a:r>
              <a:rPr lang="ru" sz="13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l_index</a:t>
            </a:r>
            <a:r>
              <a:rPr lang="ru" sz="13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13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350">
                <a:solidFill>
                  <a:srgbClr val="0077A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ru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50">
                <a:solidFill>
                  <a:srgbClr val="0077A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r>
              <a:rPr lang="ru" sz="13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9700" marR="139700" lvl="0" indent="0" algn="l" rtl="0">
              <a:lnSpc>
                <a:spcPct val="15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ru" sz="1350">
                <a:solidFill>
                  <a:srgbClr val="0077A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ru" sz="135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50">
              <a:solidFill>
                <a:srgbClr val="9999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436700" y="2582625"/>
            <a:ext cx="5258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2"/>
                </a:solidFill>
              </a:rPr>
              <a:t>Результат:</a:t>
            </a:r>
            <a:r>
              <a:rPr lang="ru"/>
              <a:t>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8"/>
          <p:cNvSpPr txBox="1"/>
          <p:nvPr/>
        </p:nvSpPr>
        <p:spPr>
          <a:xfrm>
            <a:off x="3436700" y="3261400"/>
            <a:ext cx="5258700" cy="1439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Счетчик </a:t>
            </a:r>
            <a:r>
              <a:rPr lang="ru" sz="1350">
                <a:solidFill>
                  <a:srgbClr val="9A6E3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350"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50">
                <a:solidFill>
                  <a:srgbClr val="99005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350"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Счетчик </a:t>
            </a:r>
            <a:r>
              <a:rPr lang="ru" sz="1350">
                <a:solidFill>
                  <a:srgbClr val="9A6E3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350"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50">
                <a:solidFill>
                  <a:srgbClr val="99005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350"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Счетчик </a:t>
            </a:r>
            <a:r>
              <a:rPr lang="ru" sz="1350">
                <a:solidFill>
                  <a:srgbClr val="9A6E3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350"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50">
                <a:solidFill>
                  <a:srgbClr val="99005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350"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Счетчик </a:t>
            </a:r>
            <a:r>
              <a:rPr lang="ru" sz="1350">
                <a:solidFill>
                  <a:srgbClr val="9A6E3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350"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50">
                <a:solidFill>
                  <a:srgbClr val="99005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350"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Счетчик </a:t>
            </a:r>
            <a:r>
              <a:rPr lang="ru" sz="1350">
                <a:solidFill>
                  <a:srgbClr val="9A6E3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350"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50">
                <a:solidFill>
                  <a:srgbClr val="99005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350">
              <a:solidFill>
                <a:srgbClr val="990055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Применение CONTINUE</a:t>
            </a:r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</a:t>
            </a:r>
            <a:r>
              <a:rPr lang="ru">
                <a:solidFill>
                  <a:srgbClr val="CC0000"/>
                </a:solidFill>
              </a:rPr>
              <a:t>CONTINUE</a:t>
            </a:r>
            <a:r>
              <a:rPr lang="ru"/>
              <a:t> чаще всего применяется для модификации существующего кода с внесением целенаправленных изменений и немедленным выходом из цикла для предотвращения побочных эффектов.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Команда </a:t>
            </a:r>
            <a:r>
              <a:rPr lang="ru">
                <a:solidFill>
                  <a:srgbClr val="CC0000"/>
                </a:solidFill>
              </a:rPr>
              <a:t>continue</a:t>
            </a:r>
            <a:r>
              <a:rPr lang="ru"/>
              <a:t> полезна тем, что она делает код более компактным и понятным, а также сокращает необходимость в логических переменных, смысл которых трудно понять с первого взгляда. Чаще всего она используется в циклах, в которых точная обработка каждого элемента зависит от подробных структурных тестов.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4</a:t>
            </a:r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</a:t>
            </a:r>
            <a:r>
              <a:rPr lang="ru">
                <a:solidFill>
                  <a:srgbClr val="CC0000"/>
                </a:solidFill>
              </a:rPr>
              <a:t>continue</a:t>
            </a:r>
            <a:r>
              <a:rPr lang="ru"/>
              <a:t> позволяет обойтись без нескольких секций </a:t>
            </a:r>
            <a:r>
              <a:rPr lang="ru">
                <a:solidFill>
                  <a:srgbClr val="CC0000"/>
                </a:solidFill>
              </a:rPr>
              <a:t>elsif</a:t>
            </a:r>
            <a:r>
              <a:rPr lang="ru"/>
              <a:t>, сокращает уровень вложенности и наглядно показывает, какие логические проверки (и сопутствующая обработка) должны выполняться на том же уровне. В частности, continue существенно сокращает глубину вложенности.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99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400"/>
              <a:t>С командой continue</a:t>
            </a:r>
            <a:endParaRPr sz="1400"/>
          </a:p>
        </p:txBody>
      </p:sp>
      <p:sp>
        <p:nvSpPr>
          <p:cNvPr id="111" name="Google Shape;111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707">
                <a:solidFill>
                  <a:schemeClr val="dk2"/>
                </a:solidFill>
                <a:highlight>
                  <a:schemeClr val="dk1"/>
                </a:highlight>
              </a:rPr>
              <a:t>LOOP</a:t>
            </a:r>
            <a:endParaRPr sz="3707">
              <a:solidFill>
                <a:schemeClr val="dk2"/>
              </a:solidFill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707">
                <a:solidFill>
                  <a:schemeClr val="dk2"/>
                </a:solidFill>
                <a:highlight>
                  <a:schemeClr val="dk1"/>
                </a:highlight>
              </a:rPr>
              <a:t>   EXIT WHEN условие_выхода;</a:t>
            </a:r>
            <a:endParaRPr sz="3707">
              <a:solidFill>
                <a:schemeClr val="dk2"/>
              </a:solidFill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707">
                <a:solidFill>
                  <a:schemeClr val="dk2"/>
                </a:solidFill>
                <a:highlight>
                  <a:schemeClr val="dk1"/>
                </a:highlight>
              </a:rPr>
              <a:t>   CONTINUE WHEN условие1;</a:t>
            </a:r>
            <a:endParaRPr sz="3707">
              <a:solidFill>
                <a:schemeClr val="dk2"/>
              </a:solidFill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707">
                <a:solidFill>
                  <a:schemeClr val="dk2"/>
                </a:solidFill>
                <a:highlight>
                  <a:schemeClr val="dk1"/>
                </a:highlight>
              </a:rPr>
              <a:t>   CONTINUE WHEN условие2;</a:t>
            </a:r>
            <a:endParaRPr sz="3707">
              <a:solidFill>
                <a:schemeClr val="dk2"/>
              </a:solidFill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707">
                <a:solidFill>
                  <a:schemeClr val="dk2"/>
                </a:solidFill>
                <a:highlight>
                  <a:schemeClr val="dk1"/>
                </a:highlight>
              </a:rPr>
              <a:t>   подготовительная_фаза;</a:t>
            </a:r>
            <a:endParaRPr sz="3707">
              <a:solidFill>
                <a:schemeClr val="dk2"/>
              </a:solidFill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707">
                <a:solidFill>
                  <a:schemeClr val="dk2"/>
                </a:solidFill>
                <a:highlight>
                  <a:schemeClr val="dk1"/>
                </a:highlight>
              </a:rPr>
              <a:t>   IF условие4 THEN</a:t>
            </a:r>
            <a:endParaRPr sz="3707">
              <a:solidFill>
                <a:schemeClr val="dk2"/>
              </a:solidFill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707">
                <a:solidFill>
                  <a:schemeClr val="dk2"/>
                </a:solidFill>
                <a:highlight>
                  <a:schemeClr val="dk1"/>
                </a:highlight>
              </a:rPr>
              <a:t>      выполнено_действие4;</a:t>
            </a:r>
            <a:endParaRPr sz="3707">
              <a:solidFill>
                <a:schemeClr val="dk2"/>
              </a:solidFill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707">
                <a:solidFill>
                  <a:schemeClr val="dk2"/>
                </a:solidFill>
                <a:highlight>
                  <a:schemeClr val="dk1"/>
                </a:highlight>
              </a:rPr>
              <a:t>      CONTINUE;</a:t>
            </a:r>
            <a:endParaRPr sz="3707">
              <a:solidFill>
                <a:schemeClr val="dk2"/>
              </a:solidFill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707">
                <a:solidFill>
                  <a:schemeClr val="dk2"/>
                </a:solidFill>
                <a:highlight>
                  <a:schemeClr val="dk1"/>
                </a:highlight>
              </a:rPr>
              <a:t>   END IF;</a:t>
            </a:r>
            <a:endParaRPr sz="3707">
              <a:solidFill>
                <a:schemeClr val="dk2"/>
              </a:solidFill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707">
                <a:solidFill>
                  <a:schemeClr val="dk2"/>
                </a:solidFill>
                <a:highlight>
                  <a:schemeClr val="dk1"/>
                </a:highlight>
              </a:rPr>
              <a:t>   IF условие5 THEN</a:t>
            </a:r>
            <a:endParaRPr sz="3707">
              <a:solidFill>
                <a:schemeClr val="dk2"/>
              </a:solidFill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707">
                <a:solidFill>
                  <a:schemeClr val="dk2"/>
                </a:solidFill>
                <a:highlight>
                  <a:schemeClr val="dk1"/>
                </a:highlight>
              </a:rPr>
              <a:t>      выполнено_действие5;</a:t>
            </a:r>
            <a:endParaRPr sz="3707">
              <a:solidFill>
                <a:schemeClr val="dk2"/>
              </a:solidFill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707">
                <a:solidFill>
                  <a:schemeClr val="dk2"/>
                </a:solidFill>
                <a:highlight>
                  <a:schemeClr val="dk1"/>
                </a:highlight>
              </a:rPr>
              <a:t>      CONTINUE; -- Не является строго необходимой.</a:t>
            </a:r>
            <a:endParaRPr sz="3707">
              <a:solidFill>
                <a:schemeClr val="dk2"/>
              </a:solidFill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707">
                <a:solidFill>
                  <a:schemeClr val="dk2"/>
                </a:solidFill>
                <a:highlight>
                  <a:schemeClr val="dk1"/>
                </a:highlight>
              </a:rPr>
              <a:t>   END IF;</a:t>
            </a:r>
            <a:endParaRPr sz="3707">
              <a:solidFill>
                <a:schemeClr val="dk2"/>
              </a:solidFill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707">
                <a:solidFill>
                  <a:schemeClr val="dk2"/>
                </a:solidFill>
                <a:highlight>
                  <a:schemeClr val="dk1"/>
                </a:highlight>
              </a:rPr>
              <a:t>END LOOP;</a:t>
            </a:r>
            <a:endParaRPr sz="3707">
              <a:solidFill>
                <a:schemeClr val="dk2"/>
              </a:solidFill>
              <a:highlight>
                <a:schemeClr val="dk1"/>
              </a:highlight>
            </a:endParaRPr>
          </a:p>
          <a:p>
            <a:pPr marL="0" lvl="0" indent="0" algn="l" rtl="0">
              <a:lnSpc>
                <a:spcPct val="7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4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ru" sz="650"/>
              <a:t>LOOP</a:t>
            </a:r>
            <a:endParaRPr sz="650"/>
          </a:p>
          <a:p>
            <a:pPr marL="0" lvl="0" indent="0" algn="l" rtl="0">
              <a:lnSpc>
                <a:spcPct val="4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650"/>
              <a:t>   EXIT WHEN exit_condition_met;</a:t>
            </a:r>
            <a:endParaRPr sz="650"/>
          </a:p>
          <a:p>
            <a:pPr marL="0" lvl="0" indent="0" algn="l" rtl="0">
              <a:lnSpc>
                <a:spcPct val="4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650"/>
              <a:t>   IF condition1</a:t>
            </a:r>
            <a:endParaRPr sz="650"/>
          </a:p>
          <a:p>
            <a:pPr marL="0" lvl="0" indent="0" algn="l" rtl="0">
              <a:lnSpc>
                <a:spcPct val="4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650"/>
              <a:t>      THEN</a:t>
            </a:r>
            <a:endParaRPr sz="650"/>
          </a:p>
          <a:p>
            <a:pPr marL="0" lvl="0" indent="0" algn="l" rtl="0">
              <a:lnSpc>
                <a:spcPct val="4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650"/>
              <a:t>         NULL;</a:t>
            </a:r>
            <a:endParaRPr sz="650"/>
          </a:p>
          <a:p>
            <a:pPr marL="0" lvl="0" indent="0" algn="l" rtl="0">
              <a:lnSpc>
                <a:spcPct val="4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650"/>
              <a:t>      ELSIF condition2</a:t>
            </a:r>
            <a:endParaRPr sz="650"/>
          </a:p>
          <a:p>
            <a:pPr marL="0" lvl="0" indent="0" algn="l" rtl="0">
              <a:lnSpc>
                <a:spcPct val="4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650"/>
              <a:t>      THEN</a:t>
            </a:r>
            <a:endParaRPr sz="650"/>
          </a:p>
          <a:p>
            <a:pPr marL="0" lvl="0" indent="0" algn="l" rtl="0">
              <a:lnSpc>
                <a:spcPct val="4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650"/>
              <a:t>         NULL;</a:t>
            </a:r>
            <a:endParaRPr sz="650"/>
          </a:p>
          <a:p>
            <a:pPr marL="0" lvl="0" indent="0" algn="l" rtl="0">
              <a:lnSpc>
                <a:spcPct val="4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650"/>
              <a:t>      ELSE</a:t>
            </a:r>
            <a:endParaRPr sz="650"/>
          </a:p>
          <a:p>
            <a:pPr marL="0" lvl="0" indent="0" algn="l" rtl="0">
              <a:lnSpc>
                <a:spcPct val="4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650"/>
              <a:t>         setup_steps_here;</a:t>
            </a:r>
            <a:endParaRPr sz="650"/>
          </a:p>
          <a:p>
            <a:pPr marL="0" lvl="0" indent="0" algn="l" rtl="0">
              <a:lnSpc>
                <a:spcPct val="4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650"/>
              <a:t>      IF condition4 THEN</a:t>
            </a:r>
            <a:endParaRPr sz="650"/>
          </a:p>
          <a:p>
            <a:pPr marL="0" lvl="0" indent="0" algn="l" rtl="0">
              <a:lnSpc>
                <a:spcPct val="4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650"/>
              <a:t>         action4_executed;</a:t>
            </a:r>
            <a:endParaRPr sz="650"/>
          </a:p>
          <a:p>
            <a:pPr marL="0" lvl="0" indent="0" algn="l" rtl="0">
              <a:lnSpc>
                <a:spcPct val="4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650"/>
              <a:t>      ELSIF condition5 THEN</a:t>
            </a:r>
            <a:endParaRPr sz="650"/>
          </a:p>
          <a:p>
            <a:pPr marL="0" lvl="0" indent="0" algn="l" rtl="0">
              <a:lnSpc>
                <a:spcPct val="4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650"/>
              <a:t>      action5_executed;</a:t>
            </a:r>
            <a:endParaRPr sz="650"/>
          </a:p>
          <a:p>
            <a:pPr marL="0" lvl="0" indent="0" algn="l" rtl="0">
              <a:lnSpc>
                <a:spcPct val="4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650"/>
              <a:t>      END IF;</a:t>
            </a:r>
            <a:endParaRPr sz="650"/>
          </a:p>
          <a:p>
            <a:pPr marL="0" lvl="0" indent="0" algn="l" rtl="0">
              <a:lnSpc>
                <a:spcPct val="4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650"/>
              <a:t>   END IF;</a:t>
            </a:r>
            <a:endParaRPr sz="650"/>
          </a:p>
          <a:p>
            <a:pPr marL="0" lvl="0" indent="0" algn="l" rtl="0">
              <a:lnSpc>
                <a:spcPct val="4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650"/>
              <a:t>END LOOP;</a:t>
            </a:r>
            <a:endParaRPr sz="650"/>
          </a:p>
          <a:p>
            <a:pPr marL="0" lvl="0" indent="0" algn="l" rtl="0">
              <a:lnSpc>
                <a:spcPct val="4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650"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2412" y="1152475"/>
            <a:ext cx="3357788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/>
          <p:nvPr/>
        </p:nvSpPr>
        <p:spPr>
          <a:xfrm>
            <a:off x="4832450" y="531275"/>
            <a:ext cx="399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Без команды continue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5</a:t>
            </a:r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Также команда </a:t>
            </a:r>
            <a:r>
              <a:rPr lang="ru">
                <a:solidFill>
                  <a:srgbClr val="CC0000"/>
                </a:solidFill>
              </a:rPr>
              <a:t>CONTINUE</a:t>
            </a:r>
            <a:r>
              <a:rPr lang="ru"/>
              <a:t> пригодится для завершения внутренних циклов и немедленного продолжения следующей итерации внешнего цикла. Для этого циклам присваиваются имена при помощи меток.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5</a:t>
            </a:r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body" idx="2"/>
          </p:nvPr>
        </p:nvSpPr>
        <p:spPr>
          <a:xfrm>
            <a:off x="5604800" y="1152475"/>
            <a:ext cx="2971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5147681" cy="3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4797" y="1152475"/>
            <a:ext cx="29711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6 - Continue</a:t>
            </a:r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174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10000"/>
          </a:bodyPr>
          <a:lstStyle/>
          <a:p>
            <a:pPr marL="457200" lvl="0" indent="-281940" algn="l" rtl="0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DECLARE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1940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x NUMBER := 0;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1940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BEGIN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1940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LOOP -- After CONTINUE statement, control resumes here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1940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DBMS_OUTPUT.PUT_LINE ('Inside loop:  x = ' || TO_CHAR(x));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1940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x := x + 1;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1940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IF x &lt; 3 </a:t>
            </a:r>
            <a:r>
              <a:rPr lang="ru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THEN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1940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ru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CONTINUE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1940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lang="ru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END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IF;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1940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DBMS_OUTPUT.PUT_LINE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1940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('Inside loop, after CONTINUE:  x = ' || TO_CHAR(x));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1940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EXIT </a:t>
            </a:r>
            <a:r>
              <a:rPr lang="ru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WHEN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x = 5;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1940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ru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END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LOOP;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1940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1940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DBMS_OUTPUT.PUT_LINE (' After loop:  x = ' || TO_CHAR(x));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1940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END</a:t>
            </a: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;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37" name="Google Shape;137;p24"/>
          <p:cNvSpPr txBox="1"/>
          <p:nvPr/>
        </p:nvSpPr>
        <p:spPr>
          <a:xfrm>
            <a:off x="4486200" y="1152475"/>
            <a:ext cx="43461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9F9F9"/>
                </a:solidFill>
              </a:rPr>
              <a:t>Результаты:</a:t>
            </a:r>
            <a:endParaRPr sz="1200">
              <a:solidFill>
                <a:srgbClr val="F9F9F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9F9F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9F9F9"/>
                </a:solidFill>
              </a:rPr>
              <a:t>Inside loop:  x = 0</a:t>
            </a:r>
            <a:endParaRPr sz="1200">
              <a:solidFill>
                <a:srgbClr val="F9F9F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9F9F9"/>
                </a:solidFill>
              </a:rPr>
              <a:t>Inside loop:  x = 1</a:t>
            </a:r>
            <a:endParaRPr sz="1200">
              <a:solidFill>
                <a:srgbClr val="F9F9F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9F9F9"/>
                </a:solidFill>
              </a:rPr>
              <a:t>Inside loop:  x = 2</a:t>
            </a:r>
            <a:endParaRPr sz="1200">
              <a:solidFill>
                <a:srgbClr val="F9F9F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9F9F9"/>
                </a:solidFill>
              </a:rPr>
              <a:t>Inside loop, after CONTINUE:  x = 3</a:t>
            </a:r>
            <a:endParaRPr sz="1200">
              <a:solidFill>
                <a:srgbClr val="F9F9F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9F9F9"/>
                </a:solidFill>
              </a:rPr>
              <a:t>Inside loop:  x = 3</a:t>
            </a:r>
            <a:endParaRPr sz="1200">
              <a:solidFill>
                <a:srgbClr val="F9F9F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9F9F9"/>
                </a:solidFill>
              </a:rPr>
              <a:t>Inside loop, after CONTINUE:  x = 4</a:t>
            </a:r>
            <a:endParaRPr sz="1200">
              <a:solidFill>
                <a:srgbClr val="F9F9F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9F9F9"/>
                </a:solidFill>
              </a:rPr>
              <a:t>Inside loop:  x = 4</a:t>
            </a:r>
            <a:endParaRPr sz="1200">
              <a:solidFill>
                <a:srgbClr val="F9F9F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9F9F9"/>
                </a:solidFill>
              </a:rPr>
              <a:t>Inside loop, after CONTINUE:  x = 5</a:t>
            </a:r>
            <a:endParaRPr sz="1200">
              <a:solidFill>
                <a:srgbClr val="F9F9F9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9F9F9"/>
                </a:solidFill>
              </a:rPr>
              <a:t>After loop:  x = 5</a:t>
            </a:r>
            <a:endParaRPr sz="1200">
              <a:solidFill>
                <a:srgbClr val="F9F9F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7 - Continue when</a:t>
            </a:r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174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/>
          </a:bodyPr>
          <a:lstStyle/>
          <a:p>
            <a:pPr marL="457200" lvl="0" indent="-287655" algn="l" rtl="0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DECLARE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7655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x NUMBER := 0;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7655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BEGIN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7655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LOOP -- After CONTINUE statement, control resumes here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7655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DBMS_OUTPUT.PUT_LINE ('Inside loop:  x = ' || TO_CHAR(x));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7655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x := x + 1;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7655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CONTINUE WHEN x &lt; 3;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7655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DBMS_OUTPUT.PUT_LINE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7655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('Inside loop, after CONTINUE:  x = ' || TO_CHAR(x));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7655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EXIT WHEN x = 5;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7655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END LOOP;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7655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DBMS_OUTPUT.PUT_LINE (' After loop:  x = ' || TO_CHAR(x));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87655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ru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END;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44" name="Google Shape;144;p25"/>
          <p:cNvSpPr txBox="1"/>
          <p:nvPr/>
        </p:nvSpPr>
        <p:spPr>
          <a:xfrm>
            <a:off x="4486200" y="1152475"/>
            <a:ext cx="43461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9F9F9"/>
                </a:solidFill>
              </a:rPr>
              <a:t>Результаты:</a:t>
            </a:r>
            <a:endParaRPr sz="1200">
              <a:solidFill>
                <a:srgbClr val="F9F9F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9F9F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9F9F9"/>
                </a:solidFill>
              </a:rPr>
              <a:t>Inside loop:  x = 0</a:t>
            </a:r>
            <a:endParaRPr sz="1200">
              <a:solidFill>
                <a:srgbClr val="F9F9F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9F9F9"/>
                </a:solidFill>
              </a:rPr>
              <a:t>Inside loop:  x = 1</a:t>
            </a:r>
            <a:endParaRPr sz="1200">
              <a:solidFill>
                <a:srgbClr val="F9F9F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9F9F9"/>
                </a:solidFill>
              </a:rPr>
              <a:t>Inside loop:  x = 2</a:t>
            </a:r>
            <a:endParaRPr sz="1200">
              <a:solidFill>
                <a:srgbClr val="F9F9F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9F9F9"/>
                </a:solidFill>
              </a:rPr>
              <a:t>Inside loop, after CONTINUE:  x = 3</a:t>
            </a:r>
            <a:endParaRPr sz="1200">
              <a:solidFill>
                <a:srgbClr val="F9F9F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9F9F9"/>
                </a:solidFill>
              </a:rPr>
              <a:t>Inside loop:  x = 3</a:t>
            </a:r>
            <a:endParaRPr sz="1200">
              <a:solidFill>
                <a:srgbClr val="F9F9F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9F9F9"/>
                </a:solidFill>
              </a:rPr>
              <a:t>Inside loop, after CONTINUE:  x = 4</a:t>
            </a:r>
            <a:endParaRPr sz="1200">
              <a:solidFill>
                <a:srgbClr val="F9F9F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9F9F9"/>
                </a:solidFill>
              </a:rPr>
              <a:t>Inside loop:  x = 4</a:t>
            </a:r>
            <a:endParaRPr sz="1200">
              <a:solidFill>
                <a:srgbClr val="F9F9F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9F9F9"/>
                </a:solidFill>
              </a:rPr>
              <a:t>Inside loop, after CONTINUE:  x = 5</a:t>
            </a:r>
            <a:endParaRPr sz="1200">
              <a:solidFill>
                <a:srgbClr val="F9F9F9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9F9F9"/>
                </a:solidFill>
              </a:rPr>
              <a:t>After loop:  x = 5</a:t>
            </a:r>
            <a:endParaRPr sz="1200">
              <a:solidFill>
                <a:srgbClr val="F9F9F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51" name="Google Shape;151;p2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24" y="72421"/>
            <a:ext cx="4514076" cy="5000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2075" y="72425"/>
            <a:ext cx="4200272" cy="50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772</Words>
  <Application>Microsoft Office PowerPoint</Application>
  <PresentationFormat>Экран (16:9)</PresentationFormat>
  <Paragraphs>118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Courier New</vt:lpstr>
      <vt:lpstr>Roboto</vt:lpstr>
      <vt:lpstr>Arial</vt:lpstr>
      <vt:lpstr>Simple Dark</vt:lpstr>
      <vt:lpstr>Команда CONTINUE</vt:lpstr>
      <vt:lpstr>Команда CONTINUE</vt:lpstr>
      <vt:lpstr>Continue простыми словами</vt:lpstr>
      <vt:lpstr>Пример 1</vt:lpstr>
      <vt:lpstr>Пример 2</vt:lpstr>
      <vt:lpstr>Пример 3</vt:lpstr>
      <vt:lpstr>Применение CONTINUE</vt:lpstr>
      <vt:lpstr>Пример 4</vt:lpstr>
      <vt:lpstr>С командой continue</vt:lpstr>
      <vt:lpstr>Пример 5</vt:lpstr>
      <vt:lpstr>Пример 5</vt:lpstr>
      <vt:lpstr>Пример 6 - Continue</vt:lpstr>
      <vt:lpstr>Пример 7 - Continue when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Команда CONTINUE</dc:title>
  <dc:creator>Николай Волков</dc:creator>
  <cp:lastModifiedBy>Николай Волков</cp:lastModifiedBy>
  <cp:revision>1</cp:revision>
  <dcterms:modified xsi:type="dcterms:W3CDTF">2022-02-19T09:00:49Z</dcterms:modified>
</cp:coreProperties>
</file>