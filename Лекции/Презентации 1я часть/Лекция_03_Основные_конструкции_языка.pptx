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8"/>
  </p:notesMasterIdLst>
  <p:sldIdLst>
    <p:sldId id="257" r:id="rId2"/>
    <p:sldId id="321" r:id="rId3"/>
    <p:sldId id="432" r:id="rId4"/>
    <p:sldId id="433" r:id="rId5"/>
    <p:sldId id="436" r:id="rId6"/>
    <p:sldId id="437" r:id="rId7"/>
    <p:sldId id="439" r:id="rId8"/>
    <p:sldId id="441" r:id="rId9"/>
    <p:sldId id="440" r:id="rId10"/>
    <p:sldId id="442" r:id="rId11"/>
    <p:sldId id="443" r:id="rId12"/>
    <p:sldId id="444" r:id="rId13"/>
    <p:sldId id="445" r:id="rId14"/>
    <p:sldId id="446" r:id="rId15"/>
    <p:sldId id="466" r:id="rId16"/>
    <p:sldId id="447" r:id="rId17"/>
    <p:sldId id="434" r:id="rId18"/>
    <p:sldId id="407" r:id="rId19"/>
    <p:sldId id="449" r:id="rId20"/>
    <p:sldId id="448" r:id="rId21"/>
    <p:sldId id="452" r:id="rId22"/>
    <p:sldId id="451" r:id="rId23"/>
    <p:sldId id="453" r:id="rId24"/>
    <p:sldId id="454" r:id="rId25"/>
    <p:sldId id="455" r:id="rId26"/>
    <p:sldId id="408" r:id="rId27"/>
    <p:sldId id="457" r:id="rId28"/>
    <p:sldId id="460" r:id="rId29"/>
    <p:sldId id="461" r:id="rId30"/>
    <p:sldId id="459" r:id="rId31"/>
    <p:sldId id="462" r:id="rId32"/>
    <p:sldId id="463" r:id="rId33"/>
    <p:sldId id="458" r:id="rId34"/>
    <p:sldId id="464" r:id="rId35"/>
    <p:sldId id="465" r:id="rId36"/>
    <p:sldId id="456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5696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50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22.12.2021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704856" cy="4781128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добавления данных </a:t>
            </a:r>
            <a:r>
              <a:rPr lang="en-US" dirty="0" smtClean="0"/>
              <a:t>INSERT</a:t>
            </a:r>
            <a:endParaRPr lang="ru-RU" dirty="0" smtClean="0"/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модификации данных </a:t>
            </a:r>
            <a:r>
              <a:rPr lang="en-US" dirty="0" smtClean="0"/>
              <a:t>UPDATE</a:t>
            </a:r>
            <a:endParaRPr lang="ru-RU" dirty="0" smtClean="0"/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Команда удаления данных </a:t>
            </a:r>
            <a:r>
              <a:rPr lang="en-US" dirty="0" smtClean="0"/>
              <a:t>DELETE</a:t>
            </a:r>
            <a:endParaRPr lang="ru-RU" dirty="0" smtClean="0"/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Особенности модификации данных в представлении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ru-RU" sz="4400" dirty="0" smtClean="0"/>
              <a:t>Команда добавления данных </a:t>
            </a:r>
            <a:r>
              <a:rPr lang="en-US" sz="4400" dirty="0" smtClean="0"/>
              <a:t>INSERT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INSERT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15616" y="1600201"/>
            <a:ext cx="7571184" cy="2260848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ru-RU" dirty="0" smtClean="0"/>
              <a:t>INSERT INTO &lt; </a:t>
            </a:r>
            <a:r>
              <a:rPr lang="ru-RU" dirty="0" err="1" smtClean="0"/>
              <a:t>table</a:t>
            </a:r>
            <a:r>
              <a:rPr lang="ru-RU" dirty="0" smtClean="0"/>
              <a:t> </a:t>
            </a:r>
            <a:r>
              <a:rPr lang="ru-RU" dirty="0" err="1" smtClean="0"/>
              <a:t>name</a:t>
            </a:r>
            <a:r>
              <a:rPr lang="ru-RU" dirty="0" smtClean="0"/>
              <a:t>&gt;</a:t>
            </a:r>
            <a:r>
              <a:rPr lang="en-US" dirty="0" smtClean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			</a:t>
            </a:r>
            <a:r>
              <a:rPr lang="ru-RU" dirty="0" smtClean="0"/>
              <a:t>[(&lt;</a:t>
            </a:r>
            <a:r>
              <a:rPr lang="ru-RU" dirty="0" err="1" smtClean="0"/>
              <a:t>column</a:t>
            </a:r>
            <a:r>
              <a:rPr lang="ru-RU" dirty="0" smtClean="0"/>
              <a:t> </a:t>
            </a:r>
            <a:r>
              <a:rPr lang="ru-RU" dirty="0" err="1" smtClean="0"/>
              <a:t>name</a:t>
            </a:r>
            <a:r>
              <a:rPr lang="ru-RU" dirty="0" smtClean="0"/>
              <a:t>&gt; .,..</a:t>
            </a:r>
            <a:r>
              <a:rPr lang="en-US" dirty="0" smtClean="0"/>
              <a:t>)</a:t>
            </a:r>
            <a:r>
              <a:rPr lang="ru-RU" dirty="0" smtClean="0"/>
              <a:t>]</a:t>
            </a:r>
            <a:endParaRPr lang="en-US" dirty="0" smtClean="0"/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		</a:t>
            </a:r>
            <a:r>
              <a:rPr lang="ru-RU" dirty="0" smtClean="0"/>
              <a:t>{ VALUES ( &lt;</a:t>
            </a:r>
            <a:r>
              <a:rPr lang="ru-RU" dirty="0" err="1" smtClean="0"/>
              <a:t>value</a:t>
            </a:r>
            <a:r>
              <a:rPr lang="ru-RU" dirty="0" smtClean="0"/>
              <a:t> </a:t>
            </a:r>
            <a:r>
              <a:rPr lang="ru-RU" dirty="0" err="1" smtClean="0"/>
              <a:t>expression</a:t>
            </a:r>
            <a:r>
              <a:rPr lang="ru-RU" dirty="0" smtClean="0"/>
              <a:t>&gt; .,.. ) } | 			&lt;</a:t>
            </a:r>
            <a:r>
              <a:rPr lang="ru-RU" dirty="0" err="1" smtClean="0"/>
              <a:t>query</a:t>
            </a:r>
            <a:r>
              <a:rPr lang="ru-RU" dirty="0" smtClean="0"/>
              <a:t>&gt;</a:t>
            </a: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187624" y="3933056"/>
          <a:ext cx="7437512" cy="24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78808"/>
                <a:gridCol w="4258704"/>
              </a:tblGrid>
              <a:tr h="51816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&lt;</a:t>
                      </a:r>
                      <a:r>
                        <a:rPr lang="ru-RU" sz="2800" dirty="0" err="1" smtClean="0"/>
                        <a:t>value</a:t>
                      </a:r>
                      <a:r>
                        <a:rPr lang="ru-RU" sz="2800" dirty="0" smtClean="0"/>
                        <a:t> </a:t>
                      </a:r>
                      <a:r>
                        <a:rPr lang="ru-RU" sz="2800" dirty="0" err="1" smtClean="0"/>
                        <a:t>expression</a:t>
                      </a:r>
                      <a:r>
                        <a:rPr lang="en-US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Выражение, которое</a:t>
                      </a:r>
                      <a:r>
                        <a:rPr lang="ru-RU" sz="2800" baseline="0" dirty="0" smtClean="0"/>
                        <a:t> производит значение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en-US" sz="2800" dirty="0" smtClean="0"/>
                        <a:t>query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Запрос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412776"/>
            <a:ext cx="7571184" cy="506916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CREATE TABLE Student 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(ID </a:t>
            </a:r>
            <a:r>
              <a:rPr lang="en-US" sz="3000" dirty="0" err="1" smtClean="0"/>
              <a:t>int</a:t>
            </a:r>
            <a:r>
              <a:rPr lang="en-US" sz="3000" dirty="0" smtClean="0"/>
              <a:t>, </a:t>
            </a:r>
            <a:r>
              <a:rPr lang="en-US" sz="3000" dirty="0" err="1" smtClean="0"/>
              <a:t>Fio</a:t>
            </a:r>
            <a:r>
              <a:rPr lang="en-US" sz="3000" dirty="0" smtClean="0"/>
              <a:t> </a:t>
            </a:r>
            <a:r>
              <a:rPr lang="en-US" sz="3000" dirty="0" err="1" smtClean="0"/>
              <a:t>varchar</a:t>
            </a:r>
            <a:r>
              <a:rPr lang="en-US" sz="3000" dirty="0" smtClean="0"/>
              <a:t>(50), Gender char(1))</a:t>
            </a: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412776"/>
            <a:ext cx="7571184" cy="506916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CREATE TABLE Student 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(ID </a:t>
            </a:r>
            <a:r>
              <a:rPr lang="en-US" sz="3000" dirty="0" err="1" smtClean="0"/>
              <a:t>int</a:t>
            </a:r>
            <a:r>
              <a:rPr lang="en-US" sz="3000" dirty="0" smtClean="0"/>
              <a:t>, </a:t>
            </a:r>
            <a:r>
              <a:rPr lang="en-US" sz="3000" dirty="0" err="1" smtClean="0"/>
              <a:t>Fio</a:t>
            </a:r>
            <a:r>
              <a:rPr lang="en-US" sz="3000" dirty="0" smtClean="0"/>
              <a:t> </a:t>
            </a:r>
            <a:r>
              <a:rPr lang="en-US" sz="3000" dirty="0" err="1" smtClean="0"/>
              <a:t>varchar</a:t>
            </a:r>
            <a:r>
              <a:rPr lang="en-US" sz="3000" dirty="0" smtClean="0"/>
              <a:t>(50), Gender char(1))</a:t>
            </a: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en-US" sz="3000" dirty="0" smtClean="0"/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INSERT INTO Student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VALUES (1, ‘</a:t>
            </a:r>
            <a:r>
              <a:rPr lang="ru-RU" sz="3000" dirty="0" smtClean="0"/>
              <a:t>Иванов И.И.</a:t>
            </a:r>
            <a:r>
              <a:rPr lang="en-US" sz="3000" dirty="0" smtClean="0"/>
              <a:t>’, ‘</a:t>
            </a:r>
            <a:r>
              <a:rPr lang="ru-RU" sz="3000" dirty="0" smtClean="0"/>
              <a:t>м</a:t>
            </a:r>
            <a:r>
              <a:rPr lang="en-US" sz="3000" dirty="0" smtClean="0"/>
              <a:t>’)</a:t>
            </a: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412776"/>
            <a:ext cx="7571184" cy="506916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CREATE TABLE Student 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(ID </a:t>
            </a:r>
            <a:r>
              <a:rPr lang="en-US" sz="3000" dirty="0" err="1" smtClean="0"/>
              <a:t>int</a:t>
            </a:r>
            <a:r>
              <a:rPr lang="en-US" sz="3000" dirty="0" smtClean="0"/>
              <a:t>, </a:t>
            </a:r>
            <a:r>
              <a:rPr lang="en-US" sz="3000" dirty="0" err="1" smtClean="0"/>
              <a:t>Fio</a:t>
            </a:r>
            <a:r>
              <a:rPr lang="en-US" sz="3000" dirty="0" smtClean="0"/>
              <a:t> </a:t>
            </a:r>
            <a:r>
              <a:rPr lang="en-US" sz="3000" dirty="0" err="1" smtClean="0"/>
              <a:t>varchar</a:t>
            </a:r>
            <a:r>
              <a:rPr lang="en-US" sz="3000" dirty="0" smtClean="0"/>
              <a:t>(50), Gender char(1))</a:t>
            </a: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en-US" sz="3000" dirty="0" smtClean="0"/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INSERT INTO Student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VALUES (1, ‘</a:t>
            </a:r>
            <a:r>
              <a:rPr lang="ru-RU" sz="3000" dirty="0" smtClean="0"/>
              <a:t>Иванов И.И.</a:t>
            </a:r>
            <a:r>
              <a:rPr lang="en-US" sz="3000" dirty="0" smtClean="0"/>
              <a:t>’, ‘</a:t>
            </a:r>
            <a:r>
              <a:rPr lang="ru-RU" sz="3000" dirty="0" smtClean="0"/>
              <a:t>м</a:t>
            </a:r>
            <a:r>
              <a:rPr lang="en-US" sz="3000" dirty="0" smtClean="0"/>
              <a:t>’)</a:t>
            </a: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INSERT INTO Student (ID, </a:t>
            </a:r>
            <a:r>
              <a:rPr lang="en-US" sz="3000" dirty="0" err="1" smtClean="0"/>
              <a:t>Fio</a:t>
            </a:r>
            <a:r>
              <a:rPr lang="en-US" sz="3000" dirty="0" smtClean="0"/>
              <a:t>, Gender)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VALUES (1, ‘</a:t>
            </a:r>
            <a:r>
              <a:rPr lang="ru-RU" sz="3000" dirty="0" smtClean="0"/>
              <a:t>Иванов И.И.</a:t>
            </a:r>
            <a:r>
              <a:rPr lang="en-US" sz="3000" dirty="0" smtClean="0"/>
              <a:t>’, ‘</a:t>
            </a:r>
            <a:r>
              <a:rPr lang="ru-RU" sz="3000" dirty="0" smtClean="0"/>
              <a:t>м</a:t>
            </a:r>
            <a:r>
              <a:rPr lang="en-US" sz="3000" dirty="0" smtClean="0"/>
              <a:t>’)</a:t>
            </a: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412776"/>
            <a:ext cx="7571184" cy="506916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(50), Gender char(1))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INSERT INTO Student</a:t>
            </a:r>
          </a:p>
          <a:p>
            <a:pPr>
              <a:buNone/>
            </a:pPr>
            <a:r>
              <a:rPr lang="en-US" dirty="0" smtClean="0"/>
              <a:t>		VALUES (1, ‘</a:t>
            </a:r>
            <a:r>
              <a:rPr lang="ru-RU" dirty="0" smtClean="0"/>
              <a:t>Иванов И.И.</a:t>
            </a:r>
            <a:r>
              <a:rPr lang="en-US" dirty="0" smtClean="0"/>
              <a:t>’, ‘</a:t>
            </a:r>
            <a:r>
              <a:rPr lang="ru-RU" dirty="0" smtClean="0"/>
              <a:t>м</a:t>
            </a:r>
            <a:r>
              <a:rPr lang="en-US" dirty="0" smtClean="0"/>
              <a:t>’)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 (ID, </a:t>
            </a:r>
            <a:r>
              <a:rPr lang="en-US" dirty="0" err="1" smtClean="0"/>
              <a:t>Fio</a:t>
            </a:r>
            <a:r>
              <a:rPr lang="en-US" dirty="0" smtClean="0"/>
              <a:t>, Gender)</a:t>
            </a:r>
          </a:p>
          <a:p>
            <a:pPr>
              <a:buNone/>
            </a:pPr>
            <a:r>
              <a:rPr lang="en-US" dirty="0" smtClean="0"/>
              <a:t>		VALUES (1, ‘</a:t>
            </a:r>
            <a:r>
              <a:rPr lang="ru-RU" dirty="0" smtClean="0"/>
              <a:t>Иванов И.И.</a:t>
            </a:r>
            <a:r>
              <a:rPr lang="en-US" dirty="0" smtClean="0"/>
              <a:t>’, ‘</a:t>
            </a:r>
            <a:r>
              <a:rPr lang="ru-RU" dirty="0" smtClean="0"/>
              <a:t>м</a:t>
            </a:r>
            <a:r>
              <a:rPr lang="en-US" dirty="0" smtClean="0"/>
              <a:t>’)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 (</a:t>
            </a:r>
            <a:r>
              <a:rPr lang="en-US" dirty="0" err="1" smtClean="0"/>
              <a:t>Fio</a:t>
            </a:r>
            <a:r>
              <a:rPr lang="en-US" dirty="0" smtClean="0"/>
              <a:t>, ID, Gender)</a:t>
            </a:r>
          </a:p>
          <a:p>
            <a:pPr>
              <a:buNone/>
            </a:pPr>
            <a:r>
              <a:rPr lang="en-US" dirty="0" smtClean="0"/>
              <a:t>		VALUES (‘</a:t>
            </a:r>
            <a:r>
              <a:rPr lang="ru-RU" dirty="0" smtClean="0"/>
              <a:t>Иванов И.И.</a:t>
            </a:r>
            <a:r>
              <a:rPr lang="en-US" dirty="0" smtClean="0"/>
              <a:t>’, 1, ‘</a:t>
            </a:r>
            <a:r>
              <a:rPr lang="ru-RU" dirty="0" smtClean="0"/>
              <a:t>м</a:t>
            </a:r>
            <a:r>
              <a:rPr lang="en-US" dirty="0" smtClean="0"/>
              <a:t>’)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CREATE TABLE Student 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(ID </a:t>
            </a:r>
            <a:r>
              <a:rPr lang="en-US" sz="3000" dirty="0" err="1" smtClean="0"/>
              <a:t>int</a:t>
            </a:r>
            <a:r>
              <a:rPr lang="en-US" sz="3000" dirty="0" smtClean="0"/>
              <a:t> PRIMARY KEY</a:t>
            </a:r>
            <a:r>
              <a:rPr lang="ru-RU" sz="3000" dirty="0" smtClean="0"/>
              <a:t> </a:t>
            </a:r>
            <a:r>
              <a:rPr lang="en-US" sz="3000" dirty="0" smtClean="0"/>
              <a:t>IDENTITY,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 </a:t>
            </a:r>
            <a:r>
              <a:rPr lang="en-US" sz="3000" dirty="0" err="1" smtClean="0"/>
              <a:t>Fio</a:t>
            </a:r>
            <a:r>
              <a:rPr lang="en-US" sz="3000" dirty="0" smtClean="0"/>
              <a:t> </a:t>
            </a:r>
            <a:r>
              <a:rPr lang="en-US" sz="3000" dirty="0" err="1" smtClean="0"/>
              <a:t>varchar</a:t>
            </a:r>
            <a:r>
              <a:rPr lang="en-US" sz="3000" dirty="0" smtClean="0"/>
              <a:t>(50) NOT NULL,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 </a:t>
            </a:r>
            <a:r>
              <a:rPr lang="en-US" sz="3000" dirty="0" err="1" smtClean="0"/>
              <a:t>GroupID</a:t>
            </a:r>
            <a:r>
              <a:rPr lang="en-US" sz="3000" dirty="0" smtClean="0"/>
              <a:t> </a:t>
            </a:r>
            <a:r>
              <a:rPr lang="en-US" sz="3000" dirty="0" err="1" smtClean="0"/>
              <a:t>smallint</a:t>
            </a:r>
            <a:r>
              <a:rPr lang="en-US" sz="3000" dirty="0" smtClean="0"/>
              <a:t> REFERENCES Group(ID),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 Gender char(1) DEFAULT ‘</a:t>
            </a:r>
            <a:r>
              <a:rPr lang="ru-RU" sz="3000" dirty="0" smtClean="0"/>
              <a:t>м</a:t>
            </a:r>
            <a:r>
              <a:rPr lang="en-US" sz="3000" dirty="0" smtClean="0"/>
              <a:t>’ 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	CHECK (Gender IN (‘</a:t>
            </a:r>
            <a:r>
              <a:rPr lang="ru-RU" sz="3000" dirty="0" smtClean="0"/>
              <a:t>м</a:t>
            </a:r>
            <a:r>
              <a:rPr lang="en-US" sz="3000" dirty="0" smtClean="0"/>
              <a:t>’, ‘</a:t>
            </a:r>
            <a:r>
              <a:rPr lang="ru-RU" sz="3000" dirty="0" smtClean="0"/>
              <a:t>ж</a:t>
            </a:r>
            <a:r>
              <a:rPr lang="en-US" sz="3000" dirty="0" smtClean="0"/>
              <a:t>’))</a:t>
            </a:r>
            <a:r>
              <a:rPr lang="ru-RU" sz="3000" dirty="0" smtClean="0"/>
              <a:t> </a:t>
            </a:r>
            <a:r>
              <a:rPr lang="en-US" sz="3000" dirty="0" smtClean="0"/>
              <a:t>)</a:t>
            </a: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ru-RU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/>
              <a:t>IDENTITY,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</a:t>
            </a:r>
          </a:p>
          <a:p>
            <a:pPr>
              <a:buNone/>
            </a:pPr>
            <a:r>
              <a:rPr lang="en-US" dirty="0" smtClean="0"/>
              <a:t>		VALUES (1, ‘</a:t>
            </a:r>
            <a:r>
              <a:rPr lang="ru-RU" dirty="0" smtClean="0"/>
              <a:t>Иванов И.И.</a:t>
            </a:r>
            <a:r>
              <a:rPr lang="en-US" dirty="0" smtClean="0"/>
              <a:t>’, </a:t>
            </a:r>
            <a:r>
              <a:rPr lang="ru-RU" dirty="0" smtClean="0"/>
              <a:t>1, </a:t>
            </a:r>
            <a:r>
              <a:rPr lang="en-US" dirty="0" smtClean="0"/>
              <a:t>‘</a:t>
            </a:r>
            <a:r>
              <a:rPr lang="ru-RU" dirty="0" smtClean="0"/>
              <a:t>м</a:t>
            </a:r>
            <a:r>
              <a:rPr lang="en-US" dirty="0" smtClean="0"/>
              <a:t>’)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/>
              <a:t>IDENTITY,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</a:t>
            </a:r>
          </a:p>
          <a:p>
            <a:pPr>
              <a:buNone/>
            </a:pPr>
            <a:r>
              <a:rPr lang="en-US" dirty="0" smtClean="0"/>
              <a:t>		VALUES (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‘</a:t>
            </a:r>
            <a:r>
              <a:rPr lang="ru-RU" dirty="0" smtClean="0"/>
              <a:t>Иванов И.И.</a:t>
            </a:r>
            <a:r>
              <a:rPr lang="en-US" dirty="0" smtClean="0"/>
              <a:t>’, </a:t>
            </a:r>
            <a:r>
              <a:rPr lang="ru-RU" dirty="0" smtClean="0"/>
              <a:t>1, </a:t>
            </a:r>
            <a:r>
              <a:rPr lang="en-US" dirty="0" smtClean="0"/>
              <a:t>‘</a:t>
            </a:r>
            <a:r>
              <a:rPr lang="ru-RU" dirty="0" smtClean="0"/>
              <a:t>м</a:t>
            </a:r>
            <a:r>
              <a:rPr lang="en-US" dirty="0" smtClean="0"/>
              <a:t>’)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IDENTITY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</a:t>
            </a:r>
          </a:p>
          <a:p>
            <a:pPr>
              <a:buNone/>
            </a:pPr>
            <a:r>
              <a:rPr lang="en-US" dirty="0" smtClean="0"/>
              <a:t>		VALUES (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, ‘</a:t>
            </a:r>
            <a:r>
              <a:rPr lang="ru-RU" dirty="0" smtClean="0"/>
              <a:t>Иванов И.И.</a:t>
            </a:r>
            <a:r>
              <a:rPr lang="en-US" dirty="0" smtClean="0"/>
              <a:t>’, </a:t>
            </a:r>
            <a:r>
              <a:rPr lang="ru-RU" dirty="0" smtClean="0"/>
              <a:t>1, </a:t>
            </a:r>
            <a:r>
              <a:rPr lang="en-US" dirty="0" smtClean="0"/>
              <a:t>‘</a:t>
            </a:r>
            <a:r>
              <a:rPr lang="ru-RU" dirty="0" smtClean="0"/>
              <a:t>м</a:t>
            </a:r>
            <a:r>
              <a:rPr lang="en-US" dirty="0" smtClean="0"/>
              <a:t>’)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/>
              <a:t>IDENTITY,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 (</a:t>
            </a:r>
            <a:r>
              <a:rPr lang="en-US" dirty="0" err="1" smtClean="0"/>
              <a:t>Fio</a:t>
            </a:r>
            <a:r>
              <a:rPr lang="en-US" dirty="0" smtClean="0"/>
              <a:t>, </a:t>
            </a:r>
            <a:r>
              <a:rPr lang="en-US" dirty="0" err="1" smtClean="0"/>
              <a:t>GroupID</a:t>
            </a:r>
            <a:r>
              <a:rPr lang="ru-RU" dirty="0" smtClean="0"/>
              <a:t>,</a:t>
            </a:r>
            <a:r>
              <a:rPr lang="en-US" dirty="0" smtClean="0"/>
              <a:t> Gender)</a:t>
            </a:r>
          </a:p>
          <a:p>
            <a:pPr>
              <a:buNone/>
            </a:pPr>
            <a:r>
              <a:rPr lang="en-US" dirty="0" smtClean="0"/>
              <a:t>		VALUES (‘</a:t>
            </a:r>
            <a:r>
              <a:rPr lang="ru-RU" dirty="0" smtClean="0"/>
              <a:t>Иванов И.И.</a:t>
            </a:r>
            <a:r>
              <a:rPr lang="en-US" dirty="0" smtClean="0"/>
              <a:t>’, </a:t>
            </a:r>
            <a:r>
              <a:rPr lang="ru-RU" dirty="0" smtClean="0"/>
              <a:t>1, </a:t>
            </a:r>
            <a:r>
              <a:rPr lang="en-US" dirty="0" smtClean="0"/>
              <a:t>‘</a:t>
            </a:r>
            <a:r>
              <a:rPr lang="ru-RU" dirty="0" smtClean="0"/>
              <a:t>м</a:t>
            </a:r>
            <a:r>
              <a:rPr lang="en-US" dirty="0" smtClean="0"/>
              <a:t>’)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/>
              <a:t>IDENTITY,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 (</a:t>
            </a:r>
            <a:r>
              <a:rPr lang="en-US" dirty="0" err="1" smtClean="0"/>
              <a:t>Fio</a:t>
            </a:r>
            <a:r>
              <a:rPr lang="en-US" dirty="0" smtClean="0"/>
              <a:t>, </a:t>
            </a:r>
            <a:r>
              <a:rPr lang="en-US" dirty="0" err="1" smtClean="0"/>
              <a:t>GroupID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	VALUES (‘</a:t>
            </a:r>
            <a:r>
              <a:rPr lang="ru-RU" dirty="0" smtClean="0"/>
              <a:t>Иванов И.И.</a:t>
            </a:r>
            <a:r>
              <a:rPr lang="en-US" dirty="0" smtClean="0"/>
              <a:t>’, </a:t>
            </a:r>
            <a:r>
              <a:rPr lang="ru-RU" dirty="0" smtClean="0"/>
              <a:t>1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/>
              <a:t>IDENTITY,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 (</a:t>
            </a:r>
            <a:r>
              <a:rPr lang="en-US" dirty="0" err="1" smtClean="0"/>
              <a:t>Fio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	SELECT </a:t>
            </a:r>
            <a:r>
              <a:rPr lang="en-US" dirty="0" err="1" smtClean="0"/>
              <a:t>Fio</a:t>
            </a:r>
            <a:r>
              <a:rPr lang="en-US" dirty="0" smtClean="0"/>
              <a:t> FROM Applicant</a:t>
            </a:r>
          </a:p>
          <a:p>
            <a:pPr>
              <a:buNone/>
            </a:pPr>
            <a:r>
              <a:rPr lang="en-US" dirty="0" smtClean="0"/>
              <a:t> 			WHERE </a:t>
            </a:r>
            <a:r>
              <a:rPr lang="en-US" dirty="0" err="1" smtClean="0"/>
              <a:t>TotalScore</a:t>
            </a:r>
            <a:r>
              <a:rPr lang="en-US" dirty="0" smtClean="0"/>
              <a:t> &gt; 80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CREATE TABLE Student </a:t>
            </a:r>
          </a:p>
          <a:p>
            <a:pPr>
              <a:buNone/>
            </a:pPr>
            <a:r>
              <a:rPr lang="en-US" dirty="0" smtClean="0"/>
              <a:t>		(ID </a:t>
            </a:r>
            <a:r>
              <a:rPr lang="en-US" dirty="0" err="1" smtClean="0"/>
              <a:t>int</a:t>
            </a:r>
            <a:r>
              <a:rPr lang="en-US" dirty="0" smtClean="0"/>
              <a:t> PRIMARY KEY</a:t>
            </a:r>
            <a:r>
              <a:rPr lang="ru-RU" dirty="0" smtClean="0"/>
              <a:t> </a:t>
            </a:r>
            <a:r>
              <a:rPr lang="en-US" dirty="0" smtClean="0"/>
              <a:t>IDENTITY,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Fio</a:t>
            </a:r>
            <a:r>
              <a:rPr lang="en-US" dirty="0" smtClean="0"/>
              <a:t> </a:t>
            </a:r>
            <a:r>
              <a:rPr lang="en-US" dirty="0" err="1" smtClean="0"/>
              <a:t>varchar</a:t>
            </a:r>
            <a:r>
              <a:rPr lang="en-US" dirty="0" smtClean="0"/>
              <a:t>(50) NOT NULL,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err="1" smtClean="0"/>
              <a:t>GroupID</a:t>
            </a:r>
            <a:r>
              <a:rPr lang="en-US" dirty="0" smtClean="0"/>
              <a:t> </a:t>
            </a:r>
            <a:r>
              <a:rPr lang="en-US" dirty="0" err="1" smtClean="0"/>
              <a:t>smallint</a:t>
            </a:r>
            <a:r>
              <a:rPr lang="en-US" dirty="0" smtClean="0"/>
              <a:t> REFERENCES Group(ID),</a:t>
            </a:r>
          </a:p>
          <a:p>
            <a:pPr>
              <a:buNone/>
            </a:pPr>
            <a:r>
              <a:rPr lang="en-US" dirty="0" smtClean="0"/>
              <a:t>		 Gender char(1) DEFAULT ‘</a:t>
            </a:r>
            <a:r>
              <a:rPr lang="ru-RU" dirty="0" smtClean="0"/>
              <a:t>м</a:t>
            </a:r>
            <a:r>
              <a:rPr lang="en-US" dirty="0" smtClean="0"/>
              <a:t>’ </a:t>
            </a:r>
          </a:p>
          <a:p>
            <a:pPr>
              <a:buNone/>
            </a:pPr>
            <a:r>
              <a:rPr lang="en-US" dirty="0" smtClean="0"/>
              <a:t>			CHECK (Gender IN (‘</a:t>
            </a:r>
            <a:r>
              <a:rPr lang="ru-RU" dirty="0" smtClean="0"/>
              <a:t>м</a:t>
            </a:r>
            <a:r>
              <a:rPr lang="en-US" dirty="0" smtClean="0"/>
              <a:t>’, ‘</a:t>
            </a:r>
            <a:r>
              <a:rPr lang="ru-RU" dirty="0" smtClean="0"/>
              <a:t>ж</a:t>
            </a:r>
            <a:r>
              <a:rPr lang="en-US" dirty="0" smtClean="0"/>
              <a:t>’))</a:t>
            </a:r>
            <a:r>
              <a:rPr lang="ru-RU" dirty="0" smtClean="0"/>
              <a:t> 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INSERT INTO Student (</a:t>
            </a:r>
            <a:r>
              <a:rPr lang="en-US" dirty="0" err="1" smtClean="0"/>
              <a:t>Fio</a:t>
            </a:r>
            <a:r>
              <a:rPr lang="ru-RU" dirty="0" smtClean="0"/>
              <a:t>, </a:t>
            </a:r>
            <a:r>
              <a:rPr lang="en-US" dirty="0"/>
              <a:t>Gender)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SELECT </a:t>
            </a:r>
            <a:r>
              <a:rPr lang="en-US" dirty="0" err="1" smtClean="0"/>
              <a:t>Fio</a:t>
            </a:r>
            <a:r>
              <a:rPr lang="ru-RU" dirty="0" smtClean="0"/>
              <a:t>, </a:t>
            </a:r>
            <a:r>
              <a:rPr lang="en-US" dirty="0" smtClean="0"/>
              <a:t>‘</a:t>
            </a:r>
            <a:r>
              <a:rPr lang="ru-RU" dirty="0" smtClean="0"/>
              <a:t>ж</a:t>
            </a:r>
            <a:r>
              <a:rPr lang="en-US" dirty="0" smtClean="0"/>
              <a:t>’ FROM </a:t>
            </a:r>
            <a:r>
              <a:rPr lang="en-US" dirty="0" err="1" smtClean="0"/>
              <a:t>FemaleApplicant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			WHERE </a:t>
            </a:r>
            <a:r>
              <a:rPr lang="en-US" dirty="0" err="1" smtClean="0"/>
              <a:t>TotalScore</a:t>
            </a:r>
            <a:r>
              <a:rPr lang="en-US" dirty="0" smtClean="0"/>
              <a:t> &gt; 80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546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Вариант команды </a:t>
            </a:r>
            <a:r>
              <a:rPr lang="en-US" dirty="0" smtClean="0"/>
              <a:t>SELECT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15616" y="1600201"/>
            <a:ext cx="7571184" cy="226084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dirty="0" smtClean="0"/>
              <a:t>SELECT</a:t>
            </a:r>
            <a:r>
              <a:rPr lang="ru-RU" dirty="0" smtClean="0"/>
              <a:t> &lt;</a:t>
            </a:r>
            <a:r>
              <a:rPr lang="ru-RU" dirty="0" err="1" smtClean="0"/>
              <a:t>column</a:t>
            </a:r>
            <a:r>
              <a:rPr lang="ru-RU" dirty="0" smtClean="0"/>
              <a:t> </a:t>
            </a:r>
            <a:r>
              <a:rPr lang="ru-RU" dirty="0" err="1" smtClean="0"/>
              <a:t>name</a:t>
            </a:r>
            <a:r>
              <a:rPr lang="ru-RU" dirty="0" smtClean="0"/>
              <a:t>&gt; .,..</a:t>
            </a:r>
            <a:endParaRPr lang="en-US" dirty="0" smtClean="0"/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		</a:t>
            </a:r>
            <a:r>
              <a:rPr lang="ru-RU" dirty="0" smtClean="0"/>
              <a:t>INTO &lt;</a:t>
            </a:r>
            <a:r>
              <a:rPr lang="en-US" dirty="0" smtClean="0"/>
              <a:t>new</a:t>
            </a:r>
            <a:r>
              <a:rPr lang="ru-RU" dirty="0" smtClean="0"/>
              <a:t> </a:t>
            </a:r>
            <a:r>
              <a:rPr lang="ru-RU" dirty="0" err="1" smtClean="0"/>
              <a:t>table</a:t>
            </a:r>
            <a:r>
              <a:rPr lang="ru-RU" dirty="0" smtClean="0"/>
              <a:t> </a:t>
            </a:r>
            <a:r>
              <a:rPr lang="ru-RU" dirty="0" err="1" smtClean="0"/>
              <a:t>name</a:t>
            </a:r>
            <a:r>
              <a:rPr lang="ru-RU" dirty="0" smtClean="0"/>
              <a:t>&gt;</a:t>
            </a:r>
            <a:r>
              <a:rPr lang="en-US" dirty="0" smtClean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dirty="0" smtClean="0"/>
              <a:t>		FROM </a:t>
            </a:r>
            <a:r>
              <a:rPr lang="ru-RU" dirty="0" smtClean="0"/>
              <a:t>&lt;</a:t>
            </a:r>
            <a:r>
              <a:rPr lang="en-US" dirty="0" smtClean="0"/>
              <a:t>existing</a:t>
            </a:r>
            <a:r>
              <a:rPr lang="ru-RU" dirty="0" smtClean="0"/>
              <a:t> </a:t>
            </a:r>
            <a:r>
              <a:rPr lang="ru-RU" dirty="0" err="1" smtClean="0"/>
              <a:t>table</a:t>
            </a:r>
            <a:r>
              <a:rPr lang="ru-RU" dirty="0" smtClean="0"/>
              <a:t> </a:t>
            </a:r>
            <a:r>
              <a:rPr lang="ru-RU" dirty="0" err="1" smtClean="0"/>
              <a:t>name</a:t>
            </a:r>
            <a:r>
              <a:rPr lang="ru-RU" dirty="0" smtClean="0"/>
              <a:t>&gt;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[&lt;select option&gt;…]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43608" y="3933056"/>
          <a:ext cx="7581528" cy="24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4376"/>
                <a:gridCol w="4197152"/>
              </a:tblGrid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en-US" sz="2800" kern="1200" dirty="0" smtClean="0"/>
                        <a:t>new 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новой</a:t>
                      </a:r>
                      <a:r>
                        <a:rPr lang="ru-RU" sz="2800" kern="1200" baseline="0" dirty="0" smtClean="0"/>
                        <a:t> </a:t>
                      </a:r>
                      <a:r>
                        <a:rPr lang="ru-RU" sz="2800" kern="1200" dirty="0" smtClean="0"/>
                        <a:t>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en-US" sz="2800" dirty="0" smtClean="0"/>
                        <a:t>existing</a:t>
                      </a:r>
                      <a:r>
                        <a:rPr lang="ru-RU" sz="2800" dirty="0" smtClean="0"/>
                        <a:t> 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существующей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en-US" sz="2800" dirty="0" smtClean="0"/>
                        <a:t>&lt;select option&gt;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Прочие</a:t>
                      </a:r>
                      <a:r>
                        <a:rPr lang="ru-RU" sz="2800" baseline="0" dirty="0" smtClean="0"/>
                        <a:t> разделы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87624" y="1600200"/>
            <a:ext cx="7499176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Fio</a:t>
            </a:r>
            <a:r>
              <a:rPr lang="en-US" dirty="0" smtClean="0"/>
              <a:t>, Gender </a:t>
            </a:r>
          </a:p>
          <a:p>
            <a:pPr>
              <a:buNone/>
            </a:pPr>
            <a:r>
              <a:rPr lang="en-US" dirty="0" smtClean="0"/>
              <a:t>		INTO </a:t>
            </a:r>
            <a:r>
              <a:rPr lang="en-US" dirty="0" err="1" smtClean="0"/>
              <a:t>NewStudent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FROM Applicant</a:t>
            </a:r>
          </a:p>
          <a:p>
            <a:pPr>
              <a:buNone/>
            </a:pPr>
            <a:r>
              <a:rPr lang="en-US" dirty="0" smtClean="0"/>
              <a:t> 			WHERE </a:t>
            </a:r>
            <a:r>
              <a:rPr lang="en-US" dirty="0" err="1" smtClean="0"/>
              <a:t>TotalScore</a:t>
            </a:r>
            <a:r>
              <a:rPr lang="en-US" dirty="0" smtClean="0"/>
              <a:t> &gt; 80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Команда модификации данных </a:t>
            </a:r>
            <a:r>
              <a:rPr lang="en-US" sz="4400" dirty="0" smtClean="0"/>
              <a:t>UPDATE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UPDATE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11560" y="1556792"/>
            <a:ext cx="8280920" cy="226084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dirty="0" smtClean="0"/>
              <a:t>UPDATE &lt;table name&gt;</a:t>
            </a:r>
            <a:br>
              <a:rPr lang="en-US" dirty="0" smtClean="0"/>
            </a:br>
            <a:r>
              <a:rPr lang="en-US" dirty="0" smtClean="0"/>
              <a:t>SET {&lt;column name&gt; = &lt;value expression&gt;}.,..</a:t>
            </a:r>
            <a:endParaRPr lang="ru-RU" dirty="0" smtClean="0"/>
          </a:p>
          <a:p>
            <a:pPr>
              <a:spcBef>
                <a:spcPts val="0"/>
              </a:spcBef>
              <a:buNone/>
            </a:pPr>
            <a:r>
              <a:rPr lang="ru-RU" dirty="0" smtClean="0"/>
              <a:t>	</a:t>
            </a:r>
            <a:r>
              <a:rPr lang="en-US" dirty="0" smtClean="0"/>
              <a:t>[ WHERE &lt;predicate&gt;</a:t>
            </a:r>
            <a:r>
              <a:rPr lang="ru-RU" dirty="0" smtClean="0"/>
              <a:t>]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259632" y="3717032"/>
          <a:ext cx="7437512" cy="2499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78808"/>
                <a:gridCol w="4258704"/>
              </a:tblGrid>
              <a:tr h="51816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column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столбца в таблице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&lt;</a:t>
                      </a:r>
                      <a:r>
                        <a:rPr lang="ru-RU" sz="2800" dirty="0" err="1" smtClean="0"/>
                        <a:t>value</a:t>
                      </a:r>
                      <a:r>
                        <a:rPr lang="ru-RU" sz="2800" dirty="0" smtClean="0"/>
                        <a:t> </a:t>
                      </a:r>
                      <a:r>
                        <a:rPr lang="ru-RU" sz="2800" dirty="0" err="1" smtClean="0"/>
                        <a:t>expression</a:t>
                      </a:r>
                      <a:r>
                        <a:rPr lang="en-US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Выражение, которое</a:t>
                      </a:r>
                      <a:r>
                        <a:rPr lang="ru-RU" sz="2800" baseline="0" dirty="0" smtClean="0"/>
                        <a:t> производит значение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en-US" sz="2800" dirty="0" smtClean="0"/>
                        <a:t>predicate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Условие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UPDATE Exam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SET Mark = 3</a:t>
            </a:r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		WHERE Subject = ‘</a:t>
            </a:r>
            <a:r>
              <a:rPr lang="ru-RU" sz="3000" dirty="0" smtClean="0"/>
              <a:t>БД</a:t>
            </a:r>
            <a:r>
              <a:rPr lang="en-US" sz="3000" dirty="0" smtClean="0"/>
              <a:t>’ AND Mark = ‘2’</a:t>
            </a:r>
            <a:endParaRPr lang="ru-RU" sz="3000" dirty="0" smtClean="0"/>
          </a:p>
          <a:p>
            <a:pPr>
              <a:lnSpc>
                <a:spcPct val="80000"/>
              </a:lnSpc>
              <a:buNone/>
            </a:pPr>
            <a:endParaRPr lang="en-US" sz="3000" dirty="0" smtClean="0"/>
          </a:p>
          <a:p>
            <a:pPr>
              <a:lnSpc>
                <a:spcPct val="80000"/>
              </a:lnSpc>
              <a:buNone/>
            </a:pPr>
            <a:endParaRPr lang="ru-RU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UPDATE Exam</a:t>
            </a:r>
          </a:p>
          <a:p>
            <a:pPr>
              <a:buNone/>
            </a:pPr>
            <a:r>
              <a:rPr lang="en-US" dirty="0" smtClean="0"/>
              <a:t>		SET Mark = 3</a:t>
            </a:r>
          </a:p>
          <a:p>
            <a:pPr>
              <a:buNone/>
            </a:pPr>
            <a:r>
              <a:rPr lang="en-US" dirty="0" smtClean="0"/>
              <a:t>		WHERE Subject = ‘</a:t>
            </a:r>
            <a:r>
              <a:rPr lang="ru-RU" dirty="0" smtClean="0"/>
              <a:t>БД</a:t>
            </a:r>
            <a:r>
              <a:rPr lang="en-US" dirty="0" smtClean="0"/>
              <a:t>’ AND Mark = ‘2’</a:t>
            </a:r>
            <a:endParaRPr lang="ru-RU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UPDATE Exam</a:t>
            </a:r>
          </a:p>
          <a:p>
            <a:pPr>
              <a:buNone/>
            </a:pPr>
            <a:r>
              <a:rPr lang="en-US" dirty="0" smtClean="0"/>
              <a:t>		SET Mark = </a:t>
            </a:r>
            <a:r>
              <a:rPr lang="ru-RU" dirty="0" smtClean="0"/>
              <a:t>5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WHERE Subject = ‘</a:t>
            </a:r>
            <a:r>
              <a:rPr lang="ru-RU" dirty="0" smtClean="0"/>
              <a:t>БД</a:t>
            </a:r>
            <a:r>
              <a:rPr lang="en-US" dirty="0" smtClean="0"/>
              <a:t>’ AND Mark = ‘</a:t>
            </a:r>
            <a:r>
              <a:rPr lang="ru-RU" dirty="0" smtClean="0"/>
              <a:t>4</a:t>
            </a:r>
            <a:r>
              <a:rPr lang="en-US" dirty="0" smtClean="0"/>
              <a:t>’</a:t>
            </a:r>
            <a:r>
              <a:rPr lang="ru-RU" dirty="0" smtClean="0"/>
              <a:t> </a:t>
            </a:r>
            <a:r>
              <a:rPr lang="en-US" dirty="0" smtClean="0"/>
              <a:t>AND</a:t>
            </a:r>
          </a:p>
          <a:p>
            <a:pPr>
              <a:buNone/>
            </a:pPr>
            <a:r>
              <a:rPr lang="en-US" dirty="0" smtClean="0"/>
              <a:t>			5 = ALL (SELECT Mark FROM Exam AS X</a:t>
            </a:r>
          </a:p>
          <a:p>
            <a:pPr>
              <a:buNone/>
            </a:pPr>
            <a:r>
              <a:rPr lang="en-US" dirty="0" smtClean="0"/>
              <a:t>				WHERE </a:t>
            </a:r>
            <a:r>
              <a:rPr lang="en-US" dirty="0" err="1" smtClean="0"/>
              <a:t>X.Fio</a:t>
            </a:r>
            <a:r>
              <a:rPr lang="en-US" dirty="0" smtClean="0"/>
              <a:t> = </a:t>
            </a:r>
            <a:r>
              <a:rPr lang="en-US" dirty="0" err="1" smtClean="0"/>
              <a:t>Exam.Fio</a:t>
            </a:r>
            <a:r>
              <a:rPr lang="en-US" dirty="0" smtClean="0"/>
              <a:t> AND</a:t>
            </a:r>
          </a:p>
          <a:p>
            <a:pPr>
              <a:buNone/>
            </a:pPr>
            <a:r>
              <a:rPr lang="en-US" dirty="0" smtClean="0"/>
              <a:t>					 Subject &lt;&gt; ‘</a:t>
            </a:r>
            <a:r>
              <a:rPr lang="ru-RU" dirty="0" smtClean="0"/>
              <a:t>БД</a:t>
            </a:r>
            <a:r>
              <a:rPr lang="en-US" dirty="0" smtClean="0"/>
              <a:t>’)</a:t>
            </a: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Команда удаления данных </a:t>
            </a:r>
            <a:r>
              <a:rPr lang="en-US" sz="4400" dirty="0" smtClean="0"/>
              <a:t>DELETE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Синтаксис команды </a:t>
            </a:r>
            <a:r>
              <a:rPr lang="en-US" dirty="0" smtClean="0"/>
              <a:t>DELETE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23728" y="1700808"/>
            <a:ext cx="6696744" cy="187220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dirty="0" smtClean="0"/>
              <a:t>DELETE FROM &lt;table name&gt;</a:t>
            </a:r>
            <a:br>
              <a:rPr lang="en-US" dirty="0" smtClean="0"/>
            </a:br>
            <a:r>
              <a:rPr lang="en-US" dirty="0" smtClean="0"/>
              <a:t> [ WHERE &lt;predicate&gt;</a:t>
            </a:r>
            <a:r>
              <a:rPr lang="ru-RU" dirty="0" smtClean="0"/>
              <a:t>]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267744" y="3645024"/>
          <a:ext cx="6120680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5991"/>
                <a:gridCol w="3504689"/>
              </a:tblGrid>
              <a:tr h="518160">
                <a:tc>
                  <a:txBody>
                    <a:bodyPr/>
                    <a:lstStyle/>
                    <a:p>
                      <a:pPr hangingPunct="0"/>
                      <a:r>
                        <a:rPr lang="ru-RU" sz="2800" kern="1200" dirty="0" smtClean="0"/>
                        <a:t>&lt;</a:t>
                      </a:r>
                      <a:r>
                        <a:rPr lang="ru-RU" sz="2800" kern="1200" dirty="0" err="1" smtClean="0"/>
                        <a:t>table</a:t>
                      </a:r>
                      <a:r>
                        <a:rPr lang="ru-RU" sz="2800" kern="1200" dirty="0" smtClean="0"/>
                        <a:t> </a:t>
                      </a:r>
                      <a:r>
                        <a:rPr lang="ru-RU" sz="2800" kern="1200" dirty="0" err="1" smtClean="0"/>
                        <a:t>name</a:t>
                      </a:r>
                      <a:r>
                        <a:rPr lang="ru-RU" sz="2800" kern="12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/>
                        <a:t>Имя таблицы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&lt;</a:t>
                      </a:r>
                      <a:r>
                        <a:rPr lang="en-US" sz="2800" dirty="0" smtClean="0"/>
                        <a:t>predicate</a:t>
                      </a:r>
                      <a:r>
                        <a:rPr lang="ru-RU" sz="2800" dirty="0" smtClean="0"/>
                        <a:t>&gt;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Условие</a:t>
                      </a:r>
                      <a:endParaRPr lang="ru-RU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331640" y="1600200"/>
            <a:ext cx="735516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DELETE FROM Student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331640" y="1600200"/>
            <a:ext cx="735516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DELETE FROM Student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DELETE FROM Student</a:t>
            </a:r>
          </a:p>
          <a:p>
            <a:pPr>
              <a:buNone/>
            </a:pPr>
            <a:r>
              <a:rPr lang="en-US" dirty="0" smtClean="0"/>
              <a:t>		WHERE </a:t>
            </a:r>
            <a:r>
              <a:rPr lang="en-US" dirty="0" err="1" smtClean="0"/>
              <a:t>GroupID</a:t>
            </a:r>
            <a:r>
              <a:rPr lang="en-US" dirty="0" smtClean="0"/>
              <a:t> = 237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Особенности модификации данных в представлении</a:t>
            </a:r>
          </a:p>
          <a:p>
            <a:pPr marL="0" lvl="0" indent="0" algn="ctr">
              <a:buNone/>
            </a:pPr>
            <a:endParaRPr lang="ru-RU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600200"/>
            <a:ext cx="7643192" cy="463711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ExamDB</a:t>
            </a:r>
            <a:r>
              <a:rPr lang="en-US" dirty="0" smtClean="0"/>
              <a:t> AS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	SELECT * FROM Exam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		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</a:p>
          <a:p>
            <a:pPr>
              <a:lnSpc>
                <a:spcPct val="80000"/>
              </a:lnSpc>
              <a:buNone/>
            </a:pP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600200"/>
            <a:ext cx="7643192" cy="463711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ExamDB</a:t>
            </a:r>
            <a:r>
              <a:rPr lang="en-US" dirty="0" smtClean="0"/>
              <a:t> AS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	SELECT * FROM Exam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		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ExamDB</a:t>
            </a:r>
            <a:endParaRPr lang="en-US" dirty="0" smtClean="0"/>
          </a:p>
          <a:p>
            <a:pPr>
              <a:lnSpc>
                <a:spcPct val="80000"/>
              </a:lnSpc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600200"/>
            <a:ext cx="7643192" cy="463711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ExamDB</a:t>
            </a:r>
            <a:r>
              <a:rPr lang="en-US" dirty="0" smtClean="0"/>
              <a:t> AS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	SELECT * FROM Exam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		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ExamDB</a:t>
            </a:r>
            <a:endParaRPr lang="en-US" dirty="0" smtClean="0"/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UPDATE </a:t>
            </a:r>
            <a:r>
              <a:rPr lang="en-US" dirty="0" err="1" smtClean="0"/>
              <a:t>ExamDB</a:t>
            </a:r>
            <a:endParaRPr lang="en-US" dirty="0" smtClean="0"/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	SET Mark = 3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	WHERE Mark = 2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600200"/>
            <a:ext cx="7643192" cy="46371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dirty="0" smtClean="0"/>
              <a:t>CREATE VIEW</a:t>
            </a:r>
            <a:r>
              <a:rPr lang="ru-RU" sz="3000" dirty="0" smtClean="0"/>
              <a:t> </a:t>
            </a:r>
            <a:r>
              <a:rPr lang="en-US" sz="3000" dirty="0" err="1" smtClean="0"/>
              <a:t>FailedExamDB</a:t>
            </a:r>
            <a:r>
              <a:rPr lang="en-US" sz="3000" dirty="0" smtClean="0"/>
              <a:t> AS</a:t>
            </a:r>
          </a:p>
          <a:p>
            <a:pPr>
              <a:buNone/>
            </a:pPr>
            <a:r>
              <a:rPr lang="en-US" sz="3000" dirty="0" smtClean="0"/>
              <a:t>		SELECT * FROM Exam</a:t>
            </a:r>
          </a:p>
          <a:p>
            <a:pPr>
              <a:buNone/>
            </a:pPr>
            <a:r>
              <a:rPr lang="en-US" sz="3000" dirty="0" smtClean="0"/>
              <a:t>			WHERE Subject = ‘</a:t>
            </a:r>
            <a:r>
              <a:rPr lang="ru-RU" sz="3000" dirty="0" smtClean="0"/>
              <a:t>БД</a:t>
            </a:r>
            <a:r>
              <a:rPr lang="en-US" sz="3000" dirty="0" smtClean="0"/>
              <a:t>’ AND Mark = 2</a:t>
            </a:r>
          </a:p>
          <a:p>
            <a:pPr>
              <a:buNone/>
            </a:pPr>
            <a:r>
              <a:rPr lang="en-US" sz="3000" dirty="0" smtClean="0"/>
              <a:t>		WITH CHECK OPTION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600200"/>
            <a:ext cx="7643192" cy="463711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FailedExamDB</a:t>
            </a:r>
            <a:r>
              <a:rPr lang="en-US" dirty="0" smtClean="0"/>
              <a:t> AS</a:t>
            </a:r>
          </a:p>
          <a:p>
            <a:pPr>
              <a:buNone/>
            </a:pPr>
            <a:r>
              <a:rPr lang="en-US" dirty="0" smtClean="0"/>
              <a:t>		SELECT * FROM Exam</a:t>
            </a:r>
          </a:p>
          <a:p>
            <a:pPr>
              <a:buNone/>
            </a:pPr>
            <a:r>
              <a:rPr lang="en-US" dirty="0" smtClean="0"/>
              <a:t>			WHERE Subject = ‘</a:t>
            </a:r>
            <a:r>
              <a:rPr lang="ru-RU" dirty="0" smtClean="0"/>
              <a:t>БД</a:t>
            </a:r>
            <a:r>
              <a:rPr lang="en-US" dirty="0" smtClean="0"/>
              <a:t>’ AND Mark = 2</a:t>
            </a:r>
          </a:p>
          <a:p>
            <a:pPr>
              <a:buNone/>
            </a:pPr>
            <a:r>
              <a:rPr lang="en-US" dirty="0" smtClean="0"/>
              <a:t>		WITH CHECK OPTION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UPDATE </a:t>
            </a:r>
            <a:r>
              <a:rPr lang="en-US" dirty="0" err="1" smtClean="0"/>
              <a:t>FailedExamDB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SET Mark = 3</a:t>
            </a:r>
          </a:p>
          <a:p>
            <a:pPr>
              <a:buNone/>
            </a:pPr>
            <a:r>
              <a:rPr lang="en-US" dirty="0" smtClean="0"/>
              <a:t>		WHERE Mark = 2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43608" y="1600200"/>
            <a:ext cx="7643192" cy="463711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FailedExamDB</a:t>
            </a:r>
            <a:r>
              <a:rPr lang="en-US" dirty="0" smtClean="0"/>
              <a:t> AS</a:t>
            </a:r>
          </a:p>
          <a:p>
            <a:pPr>
              <a:buNone/>
            </a:pPr>
            <a:r>
              <a:rPr lang="en-US" dirty="0" smtClean="0"/>
              <a:t>		SELECT * FROM Exam</a:t>
            </a:r>
          </a:p>
          <a:p>
            <a:pPr>
              <a:buNone/>
            </a:pPr>
            <a:r>
              <a:rPr lang="en-US" dirty="0" smtClean="0"/>
              <a:t>			WHERE Subject = ‘</a:t>
            </a:r>
            <a:r>
              <a:rPr lang="ru-RU" dirty="0" smtClean="0"/>
              <a:t>БД</a:t>
            </a:r>
            <a:r>
              <a:rPr lang="en-US" dirty="0" smtClean="0"/>
              <a:t>’ AND Mark = 2</a:t>
            </a:r>
          </a:p>
          <a:p>
            <a:pPr>
              <a:buNone/>
            </a:pPr>
            <a:r>
              <a:rPr lang="en-US" dirty="0" smtClean="0"/>
              <a:t>		WITH CHECK OPTION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UPDATE </a:t>
            </a:r>
            <a:r>
              <a:rPr lang="en-US" dirty="0" err="1" smtClean="0"/>
              <a:t>FailedExamDB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-- </a:t>
            </a:r>
            <a:r>
              <a:rPr lang="ru-RU" dirty="0" smtClean="0">
                <a:solidFill>
                  <a:srgbClr val="FF0000"/>
                </a:solidFill>
              </a:rPr>
              <a:t>ОШИБКА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	SET Mark = 3</a:t>
            </a:r>
          </a:p>
          <a:p>
            <a:pPr>
              <a:buNone/>
            </a:pPr>
            <a:r>
              <a:rPr lang="en-US" dirty="0" smtClean="0"/>
              <a:t>		WHERE Mark = 2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600200"/>
            <a:ext cx="8147248" cy="46371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3000" dirty="0" smtClean="0"/>
              <a:t>CREATE VIEW</a:t>
            </a:r>
            <a:r>
              <a:rPr lang="ru-RU" sz="3000" dirty="0" smtClean="0"/>
              <a:t> </a:t>
            </a:r>
            <a:r>
              <a:rPr lang="en-US" sz="3000" dirty="0" err="1" smtClean="0"/>
              <a:t>AvgMark</a:t>
            </a:r>
            <a:r>
              <a:rPr lang="ru-RU" sz="3000" dirty="0" smtClean="0"/>
              <a:t> (</a:t>
            </a:r>
            <a:r>
              <a:rPr lang="en-US" sz="3000" dirty="0" smtClean="0"/>
              <a:t>Subject</a:t>
            </a:r>
            <a:r>
              <a:rPr lang="ru-RU" sz="3000" dirty="0" smtClean="0"/>
              <a:t>,</a:t>
            </a:r>
            <a:r>
              <a:rPr lang="en-US" sz="3000" dirty="0" smtClean="0"/>
              <a:t> </a:t>
            </a:r>
            <a:r>
              <a:rPr lang="en-US" sz="3000" dirty="0" err="1" smtClean="0"/>
              <a:t>GroupNo</a:t>
            </a:r>
            <a:r>
              <a:rPr lang="en-US" sz="3000" dirty="0" smtClean="0"/>
              <a:t>, Mark</a:t>
            </a:r>
            <a:r>
              <a:rPr lang="ru-RU" sz="3000" dirty="0" smtClean="0"/>
              <a:t>)</a:t>
            </a:r>
            <a:r>
              <a:rPr lang="en-US" sz="3000" dirty="0" smtClean="0"/>
              <a:t> AS</a:t>
            </a:r>
            <a:r>
              <a:rPr lang="ru-RU" sz="3000" dirty="0" smtClean="0"/>
              <a:t> </a:t>
            </a:r>
            <a:r>
              <a:rPr lang="en-US" sz="3000" dirty="0" smtClean="0"/>
              <a:t>	SELECT Subject</a:t>
            </a:r>
            <a:r>
              <a:rPr lang="ru-RU" sz="3000" dirty="0" smtClean="0"/>
              <a:t>,</a:t>
            </a:r>
            <a:r>
              <a:rPr lang="en-US" sz="3000" dirty="0" smtClean="0"/>
              <a:t> </a:t>
            </a:r>
            <a:r>
              <a:rPr lang="en-US" sz="3000" dirty="0" err="1" smtClean="0"/>
              <a:t>GroupNo</a:t>
            </a:r>
            <a:r>
              <a:rPr lang="en-US" sz="3000" dirty="0" smtClean="0"/>
              <a:t>, AVG(Mark) </a:t>
            </a:r>
          </a:p>
          <a:p>
            <a:pPr>
              <a:lnSpc>
                <a:spcPct val="90000"/>
              </a:lnSpc>
              <a:buNone/>
            </a:pPr>
            <a:r>
              <a:rPr lang="en-US" sz="3000" dirty="0" smtClean="0"/>
              <a:t>		</a:t>
            </a:r>
            <a:r>
              <a:rPr lang="ru-RU" sz="3000" dirty="0" smtClean="0"/>
              <a:t>	</a:t>
            </a:r>
            <a:r>
              <a:rPr lang="en-US" sz="3000" dirty="0" smtClean="0"/>
              <a:t>FROM Exam</a:t>
            </a:r>
          </a:p>
          <a:p>
            <a:pPr>
              <a:lnSpc>
                <a:spcPct val="90000"/>
              </a:lnSpc>
              <a:buNone/>
            </a:pPr>
            <a:r>
              <a:rPr lang="en-US" sz="3000" dirty="0" smtClean="0"/>
              <a:t>			GROUP BY Subject, </a:t>
            </a:r>
            <a:r>
              <a:rPr lang="en-US" sz="3000" dirty="0" err="1" smtClean="0"/>
              <a:t>GroupNo</a:t>
            </a:r>
            <a:endParaRPr lang="en-US" sz="3000" dirty="0" smtClean="0"/>
          </a:p>
          <a:p>
            <a:pPr>
              <a:lnSpc>
                <a:spcPct val="90000"/>
              </a:lnSpc>
              <a:buNone/>
            </a:pPr>
            <a:r>
              <a:rPr lang="en-US" sz="3000" dirty="0" smtClean="0"/>
              <a:t>			WHERE Subject = ‘</a:t>
            </a:r>
            <a:r>
              <a:rPr lang="ru-RU" sz="3000" dirty="0" smtClean="0"/>
              <a:t>БД</a:t>
            </a:r>
            <a:r>
              <a:rPr lang="en-US" sz="3000" dirty="0" smtClean="0"/>
              <a:t>’</a:t>
            </a:r>
          </a:p>
          <a:p>
            <a:pPr>
              <a:lnSpc>
                <a:spcPct val="90000"/>
              </a:lnSpc>
              <a:buNone/>
            </a:pPr>
            <a:endParaRPr lang="en-US" sz="3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600200"/>
            <a:ext cx="8147248" cy="463711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AvgMark</a:t>
            </a:r>
            <a:r>
              <a:rPr lang="ru-RU" dirty="0" smtClean="0"/>
              <a:t> (</a:t>
            </a:r>
            <a:r>
              <a:rPr lang="en-US" dirty="0" smtClean="0"/>
              <a:t>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Mark</a:t>
            </a:r>
            <a:r>
              <a:rPr lang="ru-RU" dirty="0" smtClean="0"/>
              <a:t>)</a:t>
            </a:r>
            <a:r>
              <a:rPr lang="en-US" dirty="0" smtClean="0"/>
              <a:t> AS</a:t>
            </a:r>
            <a:r>
              <a:rPr lang="ru-RU" dirty="0" smtClean="0"/>
              <a:t> </a:t>
            </a:r>
            <a:r>
              <a:rPr lang="en-US" dirty="0" smtClean="0"/>
              <a:t>	SELECT 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AVG(Mark)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ru-RU" dirty="0" smtClean="0"/>
              <a:t>	</a:t>
            </a:r>
            <a:r>
              <a:rPr lang="en-US" dirty="0" smtClean="0"/>
              <a:t>FROM Exam</a:t>
            </a:r>
          </a:p>
          <a:p>
            <a:pPr>
              <a:buNone/>
            </a:pPr>
            <a:r>
              <a:rPr lang="en-US" dirty="0" smtClean="0"/>
              <a:t>			GROUP BY Subject, </a:t>
            </a:r>
            <a:r>
              <a:rPr lang="en-US" dirty="0" err="1" smtClean="0"/>
              <a:t>GroupNo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UPDATE </a:t>
            </a:r>
            <a:r>
              <a:rPr lang="en-US" dirty="0" err="1" smtClean="0"/>
              <a:t>AvgMark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SET Mark = </a:t>
            </a:r>
            <a:r>
              <a:rPr lang="ru-RU" dirty="0" smtClean="0"/>
              <a:t>4,5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600200"/>
            <a:ext cx="8147248" cy="463711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CREATE VIEW</a:t>
            </a:r>
            <a:r>
              <a:rPr lang="ru-RU" dirty="0" smtClean="0"/>
              <a:t> </a:t>
            </a:r>
            <a:r>
              <a:rPr lang="en-US" dirty="0" err="1" smtClean="0"/>
              <a:t>AvgMark</a:t>
            </a:r>
            <a:r>
              <a:rPr lang="ru-RU" dirty="0" smtClean="0"/>
              <a:t> (</a:t>
            </a:r>
            <a:r>
              <a:rPr lang="en-US" dirty="0" smtClean="0"/>
              <a:t>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Mark</a:t>
            </a:r>
            <a:r>
              <a:rPr lang="ru-RU" dirty="0" smtClean="0"/>
              <a:t>)</a:t>
            </a:r>
            <a:r>
              <a:rPr lang="en-US" dirty="0" smtClean="0"/>
              <a:t> AS</a:t>
            </a:r>
            <a:r>
              <a:rPr lang="ru-RU" dirty="0" smtClean="0"/>
              <a:t> </a:t>
            </a:r>
            <a:r>
              <a:rPr lang="en-US" dirty="0" smtClean="0"/>
              <a:t>	SELECT Subject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GroupNo</a:t>
            </a:r>
            <a:r>
              <a:rPr lang="en-US" dirty="0" smtClean="0"/>
              <a:t>, AVG(Mark)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ru-RU" dirty="0" smtClean="0"/>
              <a:t>	</a:t>
            </a:r>
            <a:r>
              <a:rPr lang="en-US" dirty="0" smtClean="0"/>
              <a:t>FROM Exam</a:t>
            </a:r>
          </a:p>
          <a:p>
            <a:pPr>
              <a:buNone/>
            </a:pPr>
            <a:r>
              <a:rPr lang="en-US" dirty="0" smtClean="0"/>
              <a:t>			GROUP BY Subject, </a:t>
            </a:r>
            <a:r>
              <a:rPr lang="en-US" dirty="0" err="1" smtClean="0"/>
              <a:t>GroupNo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UPDATE </a:t>
            </a:r>
            <a:r>
              <a:rPr lang="en-US" dirty="0" err="1" smtClean="0"/>
              <a:t>AvgMark</a:t>
            </a:r>
            <a:r>
              <a:rPr lang="ru-RU" dirty="0" smtClean="0"/>
              <a:t> </a:t>
            </a:r>
            <a:r>
              <a:rPr lang="ru-RU" dirty="0" smtClean="0">
                <a:solidFill>
                  <a:srgbClr val="FF0000"/>
                </a:solidFill>
              </a:rPr>
              <a:t>-- ОШИБКА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	SET Mark = </a:t>
            </a:r>
            <a:r>
              <a:rPr lang="ru-RU" dirty="0" smtClean="0"/>
              <a:t>4,5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WHERE Subject = ‘</a:t>
            </a:r>
            <a:r>
              <a:rPr lang="ru-RU" dirty="0" smtClean="0"/>
              <a:t>БД</a:t>
            </a:r>
            <a:r>
              <a:rPr lang="en-US" dirty="0" smtClean="0"/>
              <a:t>’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Условия, при которых можно изменять строки представления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Запрос не содержит </a:t>
            </a:r>
            <a:r>
              <a:rPr lang="en-US" dirty="0" smtClean="0"/>
              <a:t>DISTINCT</a:t>
            </a:r>
          </a:p>
          <a:p>
            <a:r>
              <a:rPr lang="ru-RU" dirty="0" smtClean="0"/>
              <a:t>В разделе </a:t>
            </a:r>
            <a:r>
              <a:rPr lang="en-US" dirty="0" smtClean="0"/>
              <a:t>FROM </a:t>
            </a:r>
            <a:r>
              <a:rPr lang="ru-RU" dirty="0" smtClean="0"/>
              <a:t>только одна таблица</a:t>
            </a:r>
          </a:p>
          <a:p>
            <a:r>
              <a:rPr lang="ru-RU" dirty="0" smtClean="0"/>
              <a:t>Все имена в списке возвращаемых столбцов – это простые столбцы (не выражения, агрегатные функции, вычислимые столбцы)</a:t>
            </a:r>
          </a:p>
          <a:p>
            <a:r>
              <a:rPr lang="ru-RU" dirty="0" smtClean="0"/>
              <a:t>В разделе </a:t>
            </a:r>
            <a:r>
              <a:rPr lang="en-US" dirty="0" smtClean="0"/>
              <a:t>WHERE </a:t>
            </a:r>
            <a:r>
              <a:rPr lang="ru-RU" dirty="0" smtClean="0"/>
              <a:t>нет вложенных запросов</a:t>
            </a:r>
          </a:p>
          <a:p>
            <a:r>
              <a:rPr lang="ru-RU" dirty="0" smtClean="0"/>
              <a:t>В запросе нет </a:t>
            </a:r>
            <a:r>
              <a:rPr lang="en-US" dirty="0" smtClean="0"/>
              <a:t>GROUP BY, HAVING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5015</TotalTime>
  <Words>360</Words>
  <Application>Microsoft Office PowerPoint</Application>
  <PresentationFormat>Экран (4:3)</PresentationFormat>
  <Paragraphs>264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9" baseType="lpstr">
      <vt:lpstr>Arial</vt:lpstr>
      <vt:lpstr>Calibri</vt:lpstr>
      <vt:lpstr>Тема Office</vt:lpstr>
      <vt:lpstr>План лекции</vt:lpstr>
      <vt:lpstr>Вопрос 1</vt:lpstr>
      <vt:lpstr>Синтаксис команды INSERT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Вариант команды SELECT</vt:lpstr>
      <vt:lpstr>Пример</vt:lpstr>
      <vt:lpstr>Вопрос 2</vt:lpstr>
      <vt:lpstr>Синтаксис команды UPDATE</vt:lpstr>
      <vt:lpstr>Примеры</vt:lpstr>
      <vt:lpstr>Примеры</vt:lpstr>
      <vt:lpstr>Вопрос 3</vt:lpstr>
      <vt:lpstr>Синтаксис команды DELETE </vt:lpstr>
      <vt:lpstr>Пример</vt:lpstr>
      <vt:lpstr>Пример</vt:lpstr>
      <vt:lpstr>Вопрос 4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Примеры</vt:lpstr>
      <vt:lpstr>Условия, при которых можно изменять строки представления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566</cp:revision>
  <dcterms:created xsi:type="dcterms:W3CDTF">2012-04-10T15:36:07Z</dcterms:created>
  <dcterms:modified xsi:type="dcterms:W3CDTF">2021-12-22T10:24:01Z</dcterms:modified>
</cp:coreProperties>
</file>