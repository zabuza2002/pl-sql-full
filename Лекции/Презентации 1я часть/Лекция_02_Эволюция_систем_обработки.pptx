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24"/>
  </p:notesMasterIdLst>
  <p:sldIdLst>
    <p:sldId id="257" r:id="rId2"/>
    <p:sldId id="268" r:id="rId3"/>
    <p:sldId id="320" r:id="rId4"/>
    <p:sldId id="328" r:id="rId5"/>
    <p:sldId id="341" r:id="rId6"/>
    <p:sldId id="329" r:id="rId7"/>
    <p:sldId id="321" r:id="rId8"/>
    <p:sldId id="331" r:id="rId9"/>
    <p:sldId id="332" r:id="rId10"/>
    <p:sldId id="322" r:id="rId11"/>
    <p:sldId id="340" r:id="rId12"/>
    <p:sldId id="323" r:id="rId13"/>
    <p:sldId id="333" r:id="rId14"/>
    <p:sldId id="324" r:id="rId15"/>
    <p:sldId id="326" r:id="rId16"/>
    <p:sldId id="325" r:id="rId17"/>
    <p:sldId id="327" r:id="rId18"/>
    <p:sldId id="334" r:id="rId19"/>
    <p:sldId id="336" r:id="rId20"/>
    <p:sldId id="337" r:id="rId21"/>
    <p:sldId id="338" r:id="rId22"/>
    <p:sldId id="335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EBBD4-DF2A-466B-9C02-819997BF5FCB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924E2-C814-4D75-AACF-890EFECD781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81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лекции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600200"/>
            <a:ext cx="7416824" cy="4525963"/>
          </a:xfrm>
        </p:spPr>
        <p:txBody>
          <a:bodyPr>
            <a:normAutofit/>
          </a:bodyPr>
          <a:lstStyle/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Зарождение автоматизированных систем обработки данных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Становление автоматизированных систем обработки данных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Современный уровень развития автоматизированных систем обработки данных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1600200"/>
            <a:ext cx="7632848" cy="2548880"/>
          </a:xfrm>
        </p:spPr>
        <p:txBody>
          <a:bodyPr>
            <a:normAutofit fontScale="92500"/>
          </a:bodyPr>
          <a:lstStyle/>
          <a:p>
            <a:pPr marL="0" lvl="0" indent="0" algn="ctr" hangingPunc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4300" dirty="0" smtClean="0"/>
              <a:t>Зарождение автоматизированных систем обработки данных</a:t>
            </a:r>
          </a:p>
          <a:p>
            <a:pPr marL="0" lvl="0" indent="0" algn="ctr" hangingPunc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4300" dirty="0" smtClean="0"/>
              <a:t>(первый этап)</a:t>
            </a:r>
          </a:p>
          <a:p>
            <a:pPr marL="0" indent="0" algn="ctr">
              <a:buNone/>
            </a:pPr>
            <a:endParaRPr lang="ru-RU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Аппаратные средства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Слишком громоздки</a:t>
            </a:r>
          </a:p>
          <a:p>
            <a:r>
              <a:rPr lang="ru-RU" dirty="0" smtClean="0"/>
              <a:t>Слишком дороги</a:t>
            </a:r>
          </a:p>
          <a:p>
            <a:r>
              <a:rPr lang="ru-RU" dirty="0" smtClean="0"/>
              <a:t>ЭВМ производятся единичными экземплярами</a:t>
            </a:r>
          </a:p>
          <a:p>
            <a:r>
              <a:rPr lang="ru-RU" dirty="0" smtClean="0"/>
              <a:t>Средства для массового ввода и длительного хранения больших объемов информации в ЭВМ отсутствуют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Программное обеспечение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Программы разрабатываются, как правило, в кодах ЭВМ или на языке ассемблера</a:t>
            </a:r>
          </a:p>
          <a:p>
            <a:r>
              <a:rPr lang="ru-RU" dirty="0" smtClean="0"/>
              <a:t>Переносимость и повторное использование практически отсутствуют</a:t>
            </a:r>
          </a:p>
          <a:p>
            <a:r>
              <a:rPr lang="ru-RU" dirty="0" smtClean="0"/>
              <a:t>Программное обеспечение «монолитно»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ПО</a:t>
            </a:r>
            <a:endParaRPr lang="ru-RU" dirty="0"/>
          </a:p>
        </p:txBody>
      </p:sp>
      <p:grpSp>
        <p:nvGrpSpPr>
          <p:cNvPr id="14" name="Группа 13"/>
          <p:cNvGrpSpPr/>
          <p:nvPr/>
        </p:nvGrpSpPr>
        <p:grpSpPr>
          <a:xfrm>
            <a:off x="3321586" y="2348880"/>
            <a:ext cx="2412268" cy="2376024"/>
            <a:chOff x="3321586" y="2752138"/>
            <a:chExt cx="2412268" cy="2376024"/>
          </a:xfrm>
        </p:grpSpPr>
        <p:sp>
          <p:nvSpPr>
            <p:cNvPr id="6" name="Овал 5"/>
            <p:cNvSpPr/>
            <p:nvPr/>
          </p:nvSpPr>
          <p:spPr>
            <a:xfrm>
              <a:off x="3321586" y="2752138"/>
              <a:ext cx="2412268" cy="237602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3964929" y="3385814"/>
              <a:ext cx="1206134" cy="118801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125765" y="3702653"/>
              <a:ext cx="884597" cy="5078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 smtClean="0"/>
                <a:t>АС</a:t>
              </a:r>
              <a:endParaRPr lang="ru-RU" sz="2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64929" y="2865831"/>
              <a:ext cx="1206268" cy="5078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 smtClean="0"/>
                <a:t>ПП</a:t>
              </a:r>
              <a:endParaRPr lang="ru-RU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864065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Итог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ЭВМ применяют для проведения расчетов по индивидуальным программам</a:t>
            </a:r>
          </a:p>
          <a:p>
            <a:r>
              <a:rPr lang="ru-RU" dirty="0" smtClean="0"/>
              <a:t>Трудозатраты на подготовку программ и первичный ввод информации превышали экономию от автоматизации</a:t>
            </a:r>
          </a:p>
          <a:p>
            <a:r>
              <a:rPr lang="ru-RU" dirty="0" smtClean="0"/>
              <a:t>На этом этапе применение ЭВМ для автоматизации информационного обслуживания обычно не оправдывало себя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Важность первого этапа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	Пришло четкое осознание того, что необходима разработка методов снижения трудозатрат на программирование процессов ввода, обработки и выдачи информации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1600200"/>
            <a:ext cx="7632848" cy="2548880"/>
          </a:xfrm>
        </p:spPr>
        <p:txBody>
          <a:bodyPr>
            <a:normAutofit fontScale="92500" lnSpcReduction="10000"/>
          </a:bodyPr>
          <a:lstStyle/>
          <a:p>
            <a:pPr marL="0" lvl="0" indent="0" algn="ctr" hangingPunc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4300" dirty="0" smtClean="0"/>
              <a:t>Становление автоматизированных систем обработки данных</a:t>
            </a:r>
          </a:p>
          <a:p>
            <a:pPr marL="0" lvl="0" indent="0" algn="ctr" hangingPunc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4300" dirty="0" smtClean="0"/>
              <a:t>(второй этап)</a:t>
            </a:r>
          </a:p>
          <a:p>
            <a:pPr marL="0" indent="0" algn="ctr">
              <a:buNone/>
            </a:pPr>
            <a:endParaRPr lang="ru-RU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Аппаратные средства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Становятся более компактными</a:t>
            </a:r>
          </a:p>
          <a:p>
            <a:r>
              <a:rPr lang="ru-RU" dirty="0" smtClean="0"/>
              <a:t>Стоимость неуклонно снижается</a:t>
            </a:r>
          </a:p>
          <a:p>
            <a:r>
              <a:rPr lang="ru-RU" dirty="0" smtClean="0"/>
              <a:t>ЭВМ получают все более широкое распространение</a:t>
            </a:r>
          </a:p>
          <a:p>
            <a:r>
              <a:rPr lang="ru-RU" dirty="0" smtClean="0"/>
              <a:t>Появляются средства для длительного хранения больших объемов информации в ЭВМ с последовательным доступом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Программное обеспечение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Создание операционных систем (ОС) </a:t>
            </a:r>
            <a:r>
              <a:rPr lang="ru-RU" dirty="0" smtClean="0">
                <a:solidFill>
                  <a:schemeClr val="bg1">
                    <a:lumMod val="50000"/>
                  </a:schemeClr>
                </a:solidFill>
              </a:rPr>
              <a:t>Идеей, лежащей в основе ОС, является выделение совокупности наиболее часто выполняемых видов работ и оправдавших себя приемов их описания в форме типовых процедур</a:t>
            </a:r>
          </a:p>
          <a:p>
            <a:r>
              <a:rPr lang="ru-RU" dirty="0" smtClean="0"/>
              <a:t>Появление языков программирования высокого уровня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ПО</a:t>
            </a:r>
            <a:endParaRPr lang="ru-RU" dirty="0"/>
          </a:p>
        </p:txBody>
      </p:sp>
      <p:grpSp>
        <p:nvGrpSpPr>
          <p:cNvPr id="14" name="Группа 13"/>
          <p:cNvGrpSpPr/>
          <p:nvPr/>
        </p:nvGrpSpPr>
        <p:grpSpPr>
          <a:xfrm>
            <a:off x="2587642" y="2084363"/>
            <a:ext cx="3880156" cy="3744416"/>
            <a:chOff x="2587642" y="2084363"/>
            <a:chExt cx="3880156" cy="3744416"/>
          </a:xfrm>
        </p:grpSpPr>
        <p:sp>
          <p:nvSpPr>
            <p:cNvPr id="4" name="Овал 3"/>
            <p:cNvSpPr/>
            <p:nvPr/>
          </p:nvSpPr>
          <p:spPr>
            <a:xfrm>
              <a:off x="2587642" y="2084363"/>
              <a:ext cx="3880156" cy="374441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Овал 5"/>
            <p:cNvSpPr/>
            <p:nvPr/>
          </p:nvSpPr>
          <p:spPr>
            <a:xfrm>
              <a:off x="3321586" y="2752138"/>
              <a:ext cx="2412268" cy="237602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3964929" y="3385814"/>
              <a:ext cx="1206134" cy="118801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125765" y="3702653"/>
              <a:ext cx="884597" cy="5078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 smtClean="0"/>
                <a:t>АС</a:t>
              </a:r>
              <a:endParaRPr lang="ru-RU" sz="24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25765" y="2831347"/>
              <a:ext cx="884597" cy="5078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 smtClean="0"/>
                <a:t>ОС</a:t>
              </a:r>
              <a:endParaRPr lang="ru-RU" sz="2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64795" y="2244166"/>
              <a:ext cx="1206268" cy="5078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 smtClean="0"/>
                <a:t>ПП</a:t>
              </a:r>
              <a:endParaRPr lang="ru-RU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746960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Положительные тенденции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Процесс изготовления систем обработки данных постепенно утрачивал элементы ремесленничества и приобретал черты промышленного производства</a:t>
            </a:r>
          </a:p>
          <a:p>
            <a:r>
              <a:rPr lang="ru-RU" dirty="0" smtClean="0"/>
              <a:t>Начался активный поиск рутинных, четко определенных процессов обработки данных и создание языковых средств и программного обеспечения для унификации этих процессов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Сложности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Под каждую новую задачу создавалась новая программа</a:t>
            </a:r>
          </a:p>
          <a:p>
            <a:r>
              <a:rPr lang="ru-RU" dirty="0" smtClean="0"/>
              <a:t>Практически не уделялось внимания вопросу совместимости программ по данным </a:t>
            </a:r>
          </a:p>
          <a:p>
            <a:r>
              <a:rPr lang="ru-RU" dirty="0" smtClean="0"/>
              <a:t>Наличие собственных данных для каждой задачи приводило к дублированию хранимой информации и, как следствие, к значительным затратам, связанным с изменением данных и их синхронизацией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Важность второго этапа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 smtClean="0"/>
              <a:t>	Возникло понимание того, что по аналогии с операционными системами и языками программирования высокого уровня необходимо было создать языковые средства и соответствующее программное обеспечение для выполнения функций, характерных для систем обработки данных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3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1600200"/>
            <a:ext cx="7632848" cy="2548880"/>
          </a:xfrm>
        </p:spPr>
        <p:txBody>
          <a:bodyPr>
            <a:normAutofit fontScale="92500" lnSpcReduction="20000"/>
          </a:bodyPr>
          <a:lstStyle/>
          <a:p>
            <a:pPr marL="0" lvl="0" indent="0" algn="ctr" hangingPunc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4400" dirty="0" smtClean="0"/>
              <a:t>Современный уровень развития автоматизированных систем обработки данных</a:t>
            </a:r>
          </a:p>
          <a:p>
            <a:pPr marL="0" lvl="0" indent="0" algn="ctr" hangingPunc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4300" dirty="0" smtClean="0"/>
              <a:t>(третий этап)</a:t>
            </a:r>
          </a:p>
          <a:p>
            <a:pPr marL="0" indent="0" algn="ctr">
              <a:buNone/>
            </a:pPr>
            <a:endParaRPr lang="ru-RU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Аппаратные средства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ЭВМ становятся компактными,  дешевыми и получают, в итоге, массовое распространение</a:t>
            </a:r>
          </a:p>
          <a:p>
            <a:r>
              <a:rPr lang="ru-RU" dirty="0" smtClean="0"/>
              <a:t>Появляются средства, обеспечивающие техническую возможность оперативного доступа большого количества пользователей к компактно хранимым данным: запоминающие устройств прямого доступа большой емкости, дисплеи и машинно-ориентированные средства связи 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Программное обеспечение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Появление СУБД</a:t>
            </a:r>
          </a:p>
          <a:p>
            <a:r>
              <a:rPr lang="ru-RU" dirty="0" smtClean="0"/>
              <a:t>Создание языков более высокого уровня, чем язык программирования (в настоящее время </a:t>
            </a:r>
            <a:r>
              <a:rPr lang="en-US" dirty="0" smtClean="0"/>
              <a:t>– SQL</a:t>
            </a:r>
            <a:r>
              <a:rPr lang="ru-RU" dirty="0" smtClean="0"/>
              <a:t>)</a:t>
            </a:r>
            <a:endParaRPr lang="en-US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ПО</a:t>
            </a:r>
            <a:endParaRPr lang="ru-RU" dirty="0"/>
          </a:p>
        </p:txBody>
      </p:sp>
      <p:grpSp>
        <p:nvGrpSpPr>
          <p:cNvPr id="14" name="Группа 13"/>
          <p:cNvGrpSpPr/>
          <p:nvPr/>
        </p:nvGrpSpPr>
        <p:grpSpPr>
          <a:xfrm>
            <a:off x="2195736" y="1556792"/>
            <a:ext cx="4824536" cy="4752048"/>
            <a:chOff x="2195736" y="1556792"/>
            <a:chExt cx="4824536" cy="4752048"/>
          </a:xfrm>
        </p:grpSpPr>
        <p:sp>
          <p:nvSpPr>
            <p:cNvPr id="4" name="Овал 3"/>
            <p:cNvSpPr/>
            <p:nvPr/>
          </p:nvSpPr>
          <p:spPr>
            <a:xfrm>
              <a:off x="2195736" y="1556792"/>
              <a:ext cx="4824536" cy="475204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ирог 7"/>
            <p:cNvSpPr/>
            <p:nvPr/>
          </p:nvSpPr>
          <p:spPr>
            <a:xfrm>
              <a:off x="2758661" y="2197670"/>
              <a:ext cx="3618402" cy="3564036"/>
            </a:xfrm>
            <a:prstGeom prst="pie">
              <a:avLst>
                <a:gd name="adj1" fmla="val 10817951"/>
                <a:gd name="adj2" fmla="val 2357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3321586" y="2752138"/>
              <a:ext cx="2412268" cy="237602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3964929" y="3385814"/>
              <a:ext cx="1206134" cy="118801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125765" y="3702653"/>
              <a:ext cx="884597" cy="5078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 smtClean="0"/>
                <a:t>АС</a:t>
              </a:r>
              <a:endParaRPr lang="ru-RU" sz="24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25765" y="2831347"/>
              <a:ext cx="884597" cy="5078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 smtClean="0"/>
                <a:t>ОС</a:t>
              </a:r>
              <a:endParaRPr lang="ru-RU" sz="24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95936" y="2276872"/>
              <a:ext cx="1206268" cy="5078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 smtClean="0"/>
                <a:t>СУБД</a:t>
              </a:r>
              <a:endParaRPr lang="ru-RU" sz="2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95936" y="1700808"/>
              <a:ext cx="1206268" cy="5078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 smtClean="0"/>
                <a:t>ПП</a:t>
              </a:r>
              <a:endParaRPr lang="ru-RU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Технология обработки данных клиент-сервер (1/3)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92500" lnSpcReduction="20000"/>
          </a:bodyPr>
          <a:lstStyle/>
          <a:p>
            <a:r>
              <a:rPr lang="ru-RU" i="1" dirty="0" smtClean="0"/>
              <a:t>Сервер</a:t>
            </a:r>
            <a:r>
              <a:rPr lang="ru-RU" dirty="0" smtClean="0"/>
              <a:t> определим как логический процесс, который обеспечивает обслуживание запросов других процессов</a:t>
            </a:r>
            <a:endParaRPr lang="en-US" dirty="0" smtClean="0"/>
          </a:p>
          <a:p>
            <a:r>
              <a:rPr lang="ru-RU" i="1" dirty="0" smtClean="0"/>
              <a:t>Клиента</a:t>
            </a:r>
            <a:r>
              <a:rPr lang="ru-RU" dirty="0" smtClean="0"/>
              <a:t> определим как процесс, посылающий серверу запрос на обслуживание</a:t>
            </a:r>
            <a:endParaRPr lang="en-US" dirty="0" smtClean="0"/>
          </a:p>
          <a:p>
            <a:r>
              <a:rPr lang="ru-RU" dirty="0" smtClean="0"/>
              <a:t>Связь между клиентом и сервером в конкретной вычислительной системе может быть реализована разными способами: средствами локальной вычислительной сети или организацией межзадачной связи, например, с использованием разделяемой памяти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Технология обработки данных клиент-сервер (2/3)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 smtClean="0"/>
              <a:t>Сервер базы данных</a:t>
            </a:r>
            <a:r>
              <a:rPr lang="ru-RU" dirty="0" smtClean="0"/>
              <a:t> — это логический процесс, отвечающий за обработку запросов к базе данных</a:t>
            </a:r>
          </a:p>
          <a:p>
            <a:r>
              <a:rPr lang="ru-RU" i="1" dirty="0" smtClean="0"/>
              <a:t>Клиент базы данных</a:t>
            </a:r>
            <a:r>
              <a:rPr lang="ru-RU" dirty="0" smtClean="0"/>
              <a:t> — это логический процесс, посылающий серверу запрос к базе данных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Технология обработки данных клиент-сервер (3/3)</a:t>
            </a:r>
            <a:endParaRPr lang="ru-RU" dirty="0"/>
          </a:p>
        </p:txBody>
      </p:sp>
      <p:grpSp>
        <p:nvGrpSpPr>
          <p:cNvPr id="19" name="Группа 18"/>
          <p:cNvGrpSpPr/>
          <p:nvPr/>
        </p:nvGrpSpPr>
        <p:grpSpPr>
          <a:xfrm>
            <a:off x="1259632" y="1844824"/>
            <a:ext cx="6624736" cy="4320480"/>
            <a:chOff x="1475656" y="2060848"/>
            <a:chExt cx="5760640" cy="3672408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4932040" y="2636912"/>
              <a:ext cx="2304256" cy="30963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/>
            </a:p>
          </p:txBody>
        </p:sp>
        <p:sp>
          <p:nvSpPr>
            <p:cNvPr id="5" name="Прямоугольник 4"/>
            <p:cNvSpPr/>
            <p:nvPr/>
          </p:nvSpPr>
          <p:spPr>
            <a:xfrm>
              <a:off x="1475656" y="2636912"/>
              <a:ext cx="2232248" cy="30963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/>
            </a:p>
          </p:txBody>
        </p:sp>
        <p:sp>
          <p:nvSpPr>
            <p:cNvPr id="6" name="Блок-схема: магнитный диск 5"/>
            <p:cNvSpPr/>
            <p:nvPr/>
          </p:nvSpPr>
          <p:spPr>
            <a:xfrm>
              <a:off x="5364088" y="4293096"/>
              <a:ext cx="1440160" cy="1224136"/>
            </a:xfrm>
            <a:prstGeom prst="flowChartMagneticDisk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/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5292080" y="2924944"/>
              <a:ext cx="1584176" cy="86409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/>
            </a:p>
          </p:txBody>
        </p:sp>
        <p:sp>
          <p:nvSpPr>
            <p:cNvPr id="8" name="Прямоугольник 7"/>
            <p:cNvSpPr/>
            <p:nvPr/>
          </p:nvSpPr>
          <p:spPr>
            <a:xfrm>
              <a:off x="1763688" y="4581128"/>
              <a:ext cx="1584176" cy="86409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/>
            </a:p>
          </p:txBody>
        </p:sp>
        <p:sp>
          <p:nvSpPr>
            <p:cNvPr id="9" name="Прямоугольник 8"/>
            <p:cNvSpPr/>
            <p:nvPr/>
          </p:nvSpPr>
          <p:spPr>
            <a:xfrm>
              <a:off x="1763688" y="2924944"/>
              <a:ext cx="1584176" cy="86409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364088" y="2996952"/>
              <a:ext cx="1440160" cy="7063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 smtClean="0"/>
                <a:t>Серверная часть СУБД</a:t>
              </a:r>
              <a:endParaRPr lang="ru-RU" sz="24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652120" y="4869160"/>
              <a:ext cx="864096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 smtClean="0"/>
                <a:t>БД</a:t>
              </a:r>
              <a:endParaRPr lang="ru-RU" sz="2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35696" y="4653136"/>
              <a:ext cx="1440160" cy="7063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 smtClean="0"/>
                <a:t>Клиентская часть СУБД</a:t>
              </a:r>
              <a:endParaRPr lang="ru-RU" sz="24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123728" y="3140968"/>
              <a:ext cx="864096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 smtClean="0"/>
                <a:t>ПП</a:t>
              </a:r>
              <a:endParaRPr lang="ru-RU" sz="2400" dirty="0"/>
            </a:p>
          </p:txBody>
        </p:sp>
        <p:sp>
          <p:nvSpPr>
            <p:cNvPr id="14" name="Двойная стрелка вверх/вниз 13"/>
            <p:cNvSpPr/>
            <p:nvPr/>
          </p:nvSpPr>
          <p:spPr>
            <a:xfrm>
              <a:off x="5868144" y="3861048"/>
              <a:ext cx="432048" cy="576064"/>
            </a:xfrm>
            <a:prstGeom prst="upDown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/>
            </a:p>
          </p:txBody>
        </p:sp>
        <p:sp>
          <p:nvSpPr>
            <p:cNvPr id="15" name="Двойная стрелка вверх/вниз 14"/>
            <p:cNvSpPr/>
            <p:nvPr/>
          </p:nvSpPr>
          <p:spPr>
            <a:xfrm>
              <a:off x="2339752" y="3861048"/>
              <a:ext cx="432048" cy="576064"/>
            </a:xfrm>
            <a:prstGeom prst="upDown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/>
            </a:p>
          </p:txBody>
        </p:sp>
        <p:sp>
          <p:nvSpPr>
            <p:cNvPr id="16" name="Двойная стрелка влево/вправо 15"/>
            <p:cNvSpPr/>
            <p:nvPr/>
          </p:nvSpPr>
          <p:spPr>
            <a:xfrm rot="19472222">
              <a:off x="3697421" y="4045115"/>
              <a:ext cx="1246903" cy="362551"/>
            </a:xfrm>
            <a:prstGeom prst="left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35696" y="2060848"/>
              <a:ext cx="1440160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 smtClean="0"/>
                <a:t>Клиент БД</a:t>
              </a:r>
              <a:endParaRPr lang="ru-RU" sz="24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364088" y="2060848"/>
              <a:ext cx="1440160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dirty="0" smtClean="0"/>
                <a:t>Сервер БД</a:t>
              </a:r>
              <a:endParaRPr lang="ru-RU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Современные серверные СУБД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600200"/>
            <a:ext cx="7488832" cy="4525963"/>
          </a:xfrm>
        </p:spPr>
        <p:txBody>
          <a:bodyPr/>
          <a:lstStyle/>
          <a:p>
            <a:r>
              <a:rPr lang="en-US" dirty="0" smtClean="0"/>
              <a:t>ORACLE</a:t>
            </a:r>
          </a:p>
          <a:p>
            <a:r>
              <a:rPr lang="en-US" dirty="0" smtClean="0"/>
              <a:t>Microsoft SQL Server </a:t>
            </a:r>
            <a:endParaRPr lang="ru-RU" dirty="0" smtClean="0"/>
          </a:p>
          <a:p>
            <a:r>
              <a:rPr lang="en-US" dirty="0" smtClean="0"/>
              <a:t>IBM DB</a:t>
            </a:r>
            <a:r>
              <a:rPr lang="ru-RU" dirty="0" smtClean="0"/>
              <a:t>/2</a:t>
            </a:r>
            <a:endParaRPr lang="en-US" dirty="0" smtClean="0"/>
          </a:p>
          <a:p>
            <a:r>
              <a:rPr lang="en-US" dirty="0" err="1" smtClean="0"/>
              <a:t>PostgreSQL</a:t>
            </a:r>
            <a:endParaRPr lang="en-US" dirty="0" smtClean="0"/>
          </a:p>
          <a:p>
            <a:r>
              <a:rPr lang="en-US" dirty="0" err="1" smtClean="0"/>
              <a:t>MySQL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1455</TotalTime>
  <Words>493</Words>
  <Application>Microsoft Office PowerPoint</Application>
  <PresentationFormat>Экран (4:3)</PresentationFormat>
  <Paragraphs>83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5" baseType="lpstr">
      <vt:lpstr>Arial</vt:lpstr>
      <vt:lpstr>Calibri</vt:lpstr>
      <vt:lpstr>Тема Office</vt:lpstr>
      <vt:lpstr>План лекции</vt:lpstr>
      <vt:lpstr>Вопрос 1</vt:lpstr>
      <vt:lpstr>Аппаратные средства</vt:lpstr>
      <vt:lpstr>Программное обеспечение</vt:lpstr>
      <vt:lpstr>Структура ПО</vt:lpstr>
      <vt:lpstr>Итог</vt:lpstr>
      <vt:lpstr>Важность первого этапа </vt:lpstr>
      <vt:lpstr>Вопрос 2</vt:lpstr>
      <vt:lpstr>Аппаратные средства</vt:lpstr>
      <vt:lpstr>Программное обеспечение</vt:lpstr>
      <vt:lpstr>Структура ПО</vt:lpstr>
      <vt:lpstr>Положительные тенденции</vt:lpstr>
      <vt:lpstr>Сложности</vt:lpstr>
      <vt:lpstr>Важность второго этапа</vt:lpstr>
      <vt:lpstr>Вопрос 3</vt:lpstr>
      <vt:lpstr>Аппаратные средства</vt:lpstr>
      <vt:lpstr>Программное обеспечение</vt:lpstr>
      <vt:lpstr>Структура ПО</vt:lpstr>
      <vt:lpstr>Технология обработки данных клиент-сервер (1/3)</vt:lpstr>
      <vt:lpstr>Технология обработки данных клиент-сервер (2/3)</vt:lpstr>
      <vt:lpstr>Технология обработки данных клиент-сервер (3/3)</vt:lpstr>
      <vt:lpstr>Современные серверные СУБД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art</dc:creator>
  <cp:lastModifiedBy>Николай Волков</cp:lastModifiedBy>
  <cp:revision>142</cp:revision>
  <dcterms:created xsi:type="dcterms:W3CDTF">2012-04-10T15:36:07Z</dcterms:created>
  <dcterms:modified xsi:type="dcterms:W3CDTF">2021-12-21T13:38:33Z</dcterms:modified>
</cp:coreProperties>
</file>