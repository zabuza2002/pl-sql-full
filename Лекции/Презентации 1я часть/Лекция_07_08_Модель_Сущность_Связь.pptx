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54"/>
  </p:notesMasterIdLst>
  <p:sldIdLst>
    <p:sldId id="257" r:id="rId2"/>
    <p:sldId id="321" r:id="rId3"/>
    <p:sldId id="328" r:id="rId4"/>
    <p:sldId id="329" r:id="rId5"/>
    <p:sldId id="330" r:id="rId6"/>
    <p:sldId id="322" r:id="rId7"/>
    <p:sldId id="331" r:id="rId8"/>
    <p:sldId id="332" r:id="rId9"/>
    <p:sldId id="365" r:id="rId10"/>
    <p:sldId id="333" r:id="rId11"/>
    <p:sldId id="366" r:id="rId12"/>
    <p:sldId id="334" r:id="rId13"/>
    <p:sldId id="335" r:id="rId14"/>
    <p:sldId id="336" r:id="rId15"/>
    <p:sldId id="337" r:id="rId16"/>
    <p:sldId id="323" r:id="rId17"/>
    <p:sldId id="338" r:id="rId18"/>
    <p:sldId id="339" r:id="rId19"/>
    <p:sldId id="340" r:id="rId20"/>
    <p:sldId id="324" r:id="rId21"/>
    <p:sldId id="341" r:id="rId22"/>
    <p:sldId id="371" r:id="rId23"/>
    <p:sldId id="342" r:id="rId24"/>
    <p:sldId id="325" r:id="rId25"/>
    <p:sldId id="343" r:id="rId26"/>
    <p:sldId id="344" r:id="rId27"/>
    <p:sldId id="326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67" r:id="rId39"/>
    <p:sldId id="355" r:id="rId40"/>
    <p:sldId id="368" r:id="rId41"/>
    <p:sldId id="356" r:id="rId42"/>
    <p:sldId id="369" r:id="rId43"/>
    <p:sldId id="357" r:id="rId44"/>
    <p:sldId id="358" r:id="rId45"/>
    <p:sldId id="359" r:id="rId46"/>
    <p:sldId id="360" r:id="rId47"/>
    <p:sldId id="361" r:id="rId48"/>
    <p:sldId id="327" r:id="rId49"/>
    <p:sldId id="370" r:id="rId50"/>
    <p:sldId id="362" r:id="rId51"/>
    <p:sldId id="363" r:id="rId52"/>
    <p:sldId id="364" r:id="rId5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50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9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1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2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3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5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704856" cy="5069160"/>
          </a:xfrm>
        </p:spPr>
        <p:txBody>
          <a:bodyPr>
            <a:normAutofit fontScale="85000" lnSpcReduction="10000"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Семантическое моделирование в базах данных 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Основные понятия модели "Сущность-Связь"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Преобразование концептуальной модели предметной области в схему базы данных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Инструментальное средство автоматизированного проектирования баз данных </a:t>
            </a:r>
            <a:r>
              <a:rPr lang="ru-RU" dirty="0" err="1" smtClean="0"/>
              <a:t>ERwin</a:t>
            </a:r>
            <a:endParaRPr lang="ru-RU" dirty="0" smtClean="0"/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Структура процесса моделирования в </a:t>
            </a:r>
            <a:r>
              <a:rPr lang="ru-RU" dirty="0" err="1" smtClean="0"/>
              <a:t>ERwin</a:t>
            </a:r>
            <a:endParaRPr lang="ru-RU" dirty="0" smtClean="0"/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Создание логической модели базы данных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Создание физической модели и генерация схемы БД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Семантическое моделирование в базах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Недостатки проектирования в терминах модели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5257800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Проектирование базы данных непосредственно в терминах модели данных часто сводится к очень сложному и неудобному для проектировщика процессу, поскольку эти модели не содержат достаточных средств представления смысла данных</a:t>
            </a:r>
          </a:p>
          <a:p>
            <a:r>
              <a:rPr lang="ru-RU" dirty="0" smtClean="0"/>
              <a:t>Семантика реальной предметной области должна независимым от модели данных способом представляться в сознании проектировщика</a:t>
            </a:r>
          </a:p>
          <a:p>
            <a:r>
              <a:rPr lang="ru-RU" dirty="0" smtClean="0"/>
              <a:t>Такое положение вещей приводит к замедлению процесса разработки БД и является источником потенциальных ошибок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Семантическое моделирование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smtClean="0"/>
              <a:t>Семантическое моделирование в базах данных являлось предметом активных исследований в конце 70-х – начале 80-х годов</a:t>
            </a:r>
          </a:p>
          <a:p>
            <a:r>
              <a:rPr lang="ru-RU" dirty="0" smtClean="0"/>
              <a:t>Основная цель – организация интерфейса проектировщика, а также конечного пользователя с информационной системой на уровне представлений о предметной области, а не на уровне структур данных</a:t>
            </a:r>
          </a:p>
          <a:p>
            <a:r>
              <a:rPr lang="ru-RU" dirty="0" smtClean="0"/>
              <a:t>Интерес к этому направлению возрос в связи с развитием средств автоматизированного проектирования БД на основе </a:t>
            </a:r>
            <a:r>
              <a:rPr lang="en-US" dirty="0" smtClean="0"/>
              <a:t>CASE</a:t>
            </a:r>
            <a:r>
              <a:rPr lang="ru-RU" dirty="0" smtClean="0"/>
              <a:t>-технологий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Современный подход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781128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Верхний уровень – </a:t>
            </a:r>
            <a:r>
              <a:rPr lang="ru-RU" dirty="0" err="1" smtClean="0"/>
              <a:t>уровень</a:t>
            </a:r>
            <a:r>
              <a:rPr lang="ru-RU" dirty="0" smtClean="0"/>
              <a:t> концептуального моделирования предметной области, на котором осуществляется переход от неформализованного описания ПО и информационных потребностей конечного пользователя к их формальному выражению с помощью специальных языковых средств</a:t>
            </a:r>
          </a:p>
          <a:p>
            <a:r>
              <a:rPr lang="ru-RU" dirty="0" smtClean="0"/>
              <a:t>Нижний уровень – </a:t>
            </a:r>
            <a:r>
              <a:rPr lang="ru-RU" dirty="0" err="1" smtClean="0"/>
              <a:t>уровень</a:t>
            </a:r>
            <a:r>
              <a:rPr lang="ru-RU" dirty="0" smtClean="0"/>
              <a:t> моделирования собственно базы данных, где осуществляется преобразование концептуальной модели предметной области в схему БД и нормализация схемы БД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Основные понятия модели "Сущность-Связь"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Краткая справка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412776"/>
            <a:ext cx="8363272" cy="5257800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Модель </a:t>
            </a:r>
            <a:r>
              <a:rPr lang="en-US" dirty="0" smtClean="0"/>
              <a:t>Entity-Relationship </a:t>
            </a:r>
            <a:r>
              <a:rPr lang="ru-RU" dirty="0" smtClean="0"/>
              <a:t>была предложена Петером </a:t>
            </a:r>
            <a:r>
              <a:rPr lang="ru-RU" dirty="0" err="1" smtClean="0"/>
              <a:t>Пин-Шен</a:t>
            </a:r>
            <a:r>
              <a:rPr lang="ru-RU" dirty="0" smtClean="0"/>
              <a:t> </a:t>
            </a:r>
            <a:r>
              <a:rPr lang="ru-RU" dirty="0" err="1" smtClean="0"/>
              <a:t>Ченом</a:t>
            </a:r>
            <a:r>
              <a:rPr lang="ru-RU" dirty="0" smtClean="0"/>
              <a:t> в 1976 г.</a:t>
            </a:r>
          </a:p>
          <a:p>
            <a:r>
              <a:rPr lang="ru-RU" dirty="0" smtClean="0"/>
              <a:t>Моделирование предметной области базируется на использовании графических диаграмм, включающих небольшое число разнородных компонентов</a:t>
            </a:r>
          </a:p>
          <a:p>
            <a:r>
              <a:rPr lang="ru-RU" dirty="0" smtClean="0"/>
              <a:t>На использовании разновидностей ER-модели основано большинство современных подходов к проектированию баз данных (главным образом, реляционных) </a:t>
            </a:r>
          </a:p>
          <a:p>
            <a:r>
              <a:rPr lang="ru-RU" dirty="0" smtClean="0"/>
              <a:t>В связи с наглядностью представления концептуальных схем баз данных ER-модели получили широкое распространение в CASE- системах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Сущность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i="1" dirty="0" smtClean="0"/>
              <a:t>Сущность</a:t>
            </a:r>
            <a:r>
              <a:rPr lang="ru-RU" dirty="0" smtClean="0"/>
              <a:t> – это реальный или воображаемый объект, информация о котором представляет интерес</a:t>
            </a:r>
          </a:p>
          <a:p>
            <a:r>
              <a:rPr lang="ru-RU" dirty="0" smtClean="0"/>
              <a:t>Имя сущности – это имя типа, а не некоторого конкретного объекта – экземпляра этого типа</a:t>
            </a:r>
          </a:p>
          <a:p>
            <a:r>
              <a:rPr lang="ru-RU" dirty="0" smtClean="0"/>
              <a:t>Каждый экземпляр сущности должен быть отличим от любого другого экземпляра той же сущности</a:t>
            </a:r>
          </a:p>
          <a:p>
            <a:r>
              <a:rPr lang="ru-RU" dirty="0" smtClean="0"/>
              <a:t>В диаграммах ER-модели сущность представляется в виде прямоугольника, содержащего имя сущности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Связь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i="1" dirty="0" smtClean="0"/>
              <a:t>Связь</a:t>
            </a:r>
            <a:r>
              <a:rPr lang="ru-RU" dirty="0" smtClean="0"/>
              <a:t> - это графически изображаемая ассоциация, устанавливаемая между двумя сущностями. Эта ассоциация всегда является бинарной и может существовать между двумя разными сущностями или между сущностью и ей же самой (рекурсивная связь)</a:t>
            </a:r>
          </a:p>
          <a:p>
            <a:r>
              <a:rPr lang="ru-RU" dirty="0" smtClean="0"/>
              <a:t>В любой связи выделяются два конца, на каждом из которых указывается:</a:t>
            </a:r>
          </a:p>
          <a:p>
            <a:pPr lvl="1"/>
            <a:r>
              <a:rPr lang="ru-RU" dirty="0" smtClean="0"/>
              <a:t>имя конца связи</a:t>
            </a:r>
          </a:p>
          <a:p>
            <a:pPr lvl="1"/>
            <a:r>
              <a:rPr lang="ru-RU" dirty="0" smtClean="0"/>
              <a:t>степень конца связи</a:t>
            </a:r>
          </a:p>
          <a:p>
            <a:pPr lvl="1"/>
            <a:r>
              <a:rPr lang="ru-RU" dirty="0" smtClean="0"/>
              <a:t>обязательность связи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связи между сущностями</a:t>
            </a:r>
            <a:endParaRPr lang="ru-RU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5" name="Object 1"/>
          <p:cNvGraphicFramePr>
            <a:graphicFrameLocks noChangeAspect="1"/>
          </p:cNvGraphicFramePr>
          <p:nvPr/>
        </p:nvGraphicFramePr>
        <p:xfrm>
          <a:off x="0" y="1772816"/>
          <a:ext cx="9144000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Picture" r:id="rId3" imgW="4861560" imgH="563880" progId="Word.Picture.8">
                  <p:embed/>
                </p:oleObj>
              </mc:Choice>
              <mc:Fallback>
                <p:oleObj name="Picture" r:id="rId3" imgW="4861560" imgH="563880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72816"/>
                        <a:ext cx="9144000" cy="1152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связи между сущностями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2697163"/>
          </a:xfrm>
        </p:spPr>
        <p:txBody>
          <a:bodyPr/>
          <a:lstStyle/>
          <a:p>
            <a:r>
              <a:rPr lang="ru-RU" dirty="0" smtClean="0"/>
              <a:t>Каждый </a:t>
            </a:r>
            <a:r>
              <a:rPr lang="ru-RU" cap="all" dirty="0" smtClean="0"/>
              <a:t>студент </a:t>
            </a:r>
            <a:r>
              <a:rPr lang="ru-RU" dirty="0" smtClean="0"/>
              <a:t>учится только в одной </a:t>
            </a:r>
            <a:r>
              <a:rPr lang="ru-RU" cap="all" dirty="0" smtClean="0"/>
              <a:t>группе</a:t>
            </a:r>
            <a:endParaRPr lang="ru-RU" dirty="0" smtClean="0"/>
          </a:p>
          <a:p>
            <a:r>
              <a:rPr lang="ru-RU" dirty="0" smtClean="0"/>
              <a:t>Любая ГРУППА состоит из одного или более СТУДЕНТОВ</a:t>
            </a:r>
          </a:p>
          <a:p>
            <a:endParaRPr lang="ru-RU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5" name="Object 1"/>
          <p:cNvGraphicFramePr>
            <a:graphicFrameLocks noChangeAspect="1"/>
          </p:cNvGraphicFramePr>
          <p:nvPr/>
        </p:nvGraphicFramePr>
        <p:xfrm>
          <a:off x="0" y="1772816"/>
          <a:ext cx="9144000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7" name="Picture" r:id="rId3" imgW="4861560" imgH="563880" progId="Word.Picture.8">
                  <p:embed/>
                </p:oleObj>
              </mc:Choice>
              <mc:Fallback>
                <p:oleObj name="Picture" r:id="rId3" imgW="4861560" imgH="563880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72816"/>
                        <a:ext cx="9144000" cy="1152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рекурсивной связи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717032"/>
            <a:ext cx="8229600" cy="2481139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Каждый ЧЕЛОВЕК является сыном одного и только одного ЧЕЛОВЕКА</a:t>
            </a:r>
          </a:p>
          <a:p>
            <a:r>
              <a:rPr lang="ru-RU" dirty="0" smtClean="0"/>
              <a:t>Каждый ЧЕЛОВЕК может являться отцом для одного или более ЛЮДЕЙ ("ЧЕЛОВЕКОВ")</a:t>
            </a:r>
            <a:endParaRPr lang="ru-RU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0721" name="Object 1"/>
          <p:cNvGraphicFramePr>
            <a:graphicFrameLocks noChangeAspect="1"/>
          </p:cNvGraphicFramePr>
          <p:nvPr/>
        </p:nvGraphicFramePr>
        <p:xfrm>
          <a:off x="2195736" y="1484784"/>
          <a:ext cx="4507972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Picture" r:id="rId3" imgW="2258568" imgH="1008888" progId="Word.Picture.8">
                  <p:embed/>
                </p:oleObj>
              </mc:Choice>
              <mc:Fallback>
                <p:oleObj name="Picture" r:id="rId3" imgW="2258568" imgH="1008888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484784"/>
                        <a:ext cx="4507972" cy="20162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Атрибут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9289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b="1" i="1" dirty="0" smtClean="0"/>
              <a:t>	Атрибутом</a:t>
            </a:r>
            <a:r>
              <a:rPr lang="ru-RU" dirty="0" smtClean="0"/>
              <a:t> сущности является любая деталь, которая служит для уточнения, идентификации, классификации, числовой характеристики или выражения состояния сущности</a:t>
            </a:r>
            <a:endParaRPr lang="ru-RU" dirty="0"/>
          </a:p>
        </p:txBody>
      </p:sp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1745" name="Object 1"/>
          <p:cNvGraphicFramePr>
            <a:graphicFrameLocks noChangeAspect="1"/>
          </p:cNvGraphicFramePr>
          <p:nvPr/>
        </p:nvGraphicFramePr>
        <p:xfrm>
          <a:off x="2483769" y="4149079"/>
          <a:ext cx="4063446" cy="2463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Picture" r:id="rId3" imgW="1807464" imgH="1283208" progId="Word.Picture.8">
                  <p:embed/>
                </p:oleObj>
              </mc:Choice>
              <mc:Fallback>
                <p:oleObj name="Picture" r:id="rId3" imgW="1807464" imgH="1283208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9" y="4149079"/>
                        <a:ext cx="4063446" cy="24635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Уникальный идентификатор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b="1" i="1" dirty="0" smtClean="0"/>
              <a:t>Уникальным идентификатором </a:t>
            </a:r>
            <a:r>
              <a:rPr lang="ru-RU" dirty="0" smtClean="0"/>
              <a:t>сущности является атрибут, комбинация атрибутов, комбинация связей или комбинация связей и атрибутов, уникально отличающая любой экземпляр сущности от других экземпляров сущности того же типа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Нормальные формы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925144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В </a:t>
            </a:r>
            <a:r>
              <a:rPr lang="ru-RU" b="1" i="1" dirty="0" smtClean="0"/>
              <a:t>первой нормальной форме</a:t>
            </a:r>
            <a:r>
              <a:rPr lang="ru-RU" b="1" dirty="0" smtClean="0"/>
              <a:t> </a:t>
            </a:r>
            <a:r>
              <a:rPr lang="ru-RU" dirty="0" smtClean="0"/>
              <a:t>ER-схемы устраняются повторяющиеся атрибуты или группы атрибутов, т.е. производится выявление неявных сущностей, "замаскированных" под атрибуты</a:t>
            </a:r>
          </a:p>
          <a:p>
            <a:r>
              <a:rPr lang="ru-RU" dirty="0" smtClean="0"/>
              <a:t>Во </a:t>
            </a:r>
            <a:r>
              <a:rPr lang="ru-RU" b="1" i="1" dirty="0" smtClean="0"/>
              <a:t>второй нормальной форме</a:t>
            </a:r>
            <a:r>
              <a:rPr lang="ru-RU" b="1" dirty="0" smtClean="0"/>
              <a:t> </a:t>
            </a:r>
            <a:r>
              <a:rPr lang="ru-RU" dirty="0" smtClean="0"/>
              <a:t>устраняются атрибуты, зависящие только от части уникального идентификатора. Эта часть уникального идентификатора определяет отдельную сущность</a:t>
            </a:r>
          </a:p>
          <a:p>
            <a:r>
              <a:rPr lang="ru-RU" dirty="0" smtClean="0"/>
              <a:t>В </a:t>
            </a:r>
            <a:r>
              <a:rPr lang="ru-RU" b="1" i="1" dirty="0" smtClean="0"/>
              <a:t>третьей нормальной форме</a:t>
            </a:r>
            <a:r>
              <a:rPr lang="ru-RU" b="1" dirty="0" smtClean="0"/>
              <a:t> </a:t>
            </a:r>
            <a:r>
              <a:rPr lang="ru-RU" dirty="0" smtClean="0"/>
              <a:t>устраняются атрибуты, зависящие от атрибутов, не входящих в уникальный идентификатор. Эти атрибуты являются основой отдельной сущности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4400" dirty="0" smtClean="0"/>
              <a:t>Преобразование концептуальной модели предметной области в схему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Первый подход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Ручное преобразование концептуальной модели ПО в схему БД, выполняемом согласно методикам, в которых достаточно четко оговорены все этапы такого преобразования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Второй подход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Автоматизированная компиляция концептуальной модели ПО в схему БД (чаще всего реляционную)</a:t>
            </a:r>
          </a:p>
          <a:p>
            <a:r>
              <a:rPr lang="ru-RU" dirty="0" smtClean="0"/>
              <a:t>Известны две разновидности:</a:t>
            </a:r>
          </a:p>
          <a:p>
            <a:pPr lvl="1"/>
            <a:r>
              <a:rPr lang="ru-RU" dirty="0" smtClean="0"/>
              <a:t>подход, основанный на явном представлении концептуальной модели ПО как исходной информации для компиляции</a:t>
            </a:r>
          </a:p>
          <a:p>
            <a:pPr lvl="1"/>
            <a:r>
              <a:rPr lang="ru-RU" dirty="0" smtClean="0"/>
              <a:t>подход,  ориентированный на построение интегрированных систем проектирования с автоматизированным созданием концептуальной модели ПО на основе интервью с экспертами предметной области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Третий подход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Непосредственная работа с базой данных в семантической модели, т.е. применение СУБД, основанных на семантических моделях данных.</a:t>
            </a:r>
          </a:p>
          <a:p>
            <a:r>
              <a:rPr lang="ru-RU" dirty="0" smtClean="0"/>
              <a:t>Известно два варианта:</a:t>
            </a:r>
          </a:p>
          <a:p>
            <a:pPr lvl="1"/>
            <a:r>
              <a:rPr lang="ru-RU" dirty="0" smtClean="0"/>
              <a:t>обеспечение пользовательского интерфейса на основе семантической модели данных с автоматическим отображением конструкций в реляционную модель данных</a:t>
            </a:r>
          </a:p>
          <a:p>
            <a:pPr lvl="1"/>
            <a:r>
              <a:rPr lang="ru-RU" dirty="0" smtClean="0"/>
              <a:t>прямая реализация СУБД, основанная на какой-либо семантической модели данных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4482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ru-RU" sz="4400" dirty="0" smtClean="0"/>
              <a:t>Инструментальное средство автоматизированного проектирования баз данных </a:t>
            </a:r>
            <a:r>
              <a:rPr lang="ru-RU" sz="4400" dirty="0" err="1" smtClean="0"/>
              <a:t>ERwin</a:t>
            </a: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Общие сведения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85000" lnSpcReduction="10000"/>
          </a:bodyPr>
          <a:lstStyle/>
          <a:p>
            <a:r>
              <a:rPr lang="ru-RU" dirty="0" err="1" smtClean="0"/>
              <a:t>ERwin</a:t>
            </a:r>
            <a:r>
              <a:rPr lang="ru-RU" dirty="0" smtClean="0"/>
              <a:t> – CASE-средство проектирования баз данных, которое сочетает графический интерфейс </a:t>
            </a:r>
            <a:r>
              <a:rPr lang="ru-RU" dirty="0" err="1" smtClean="0"/>
              <a:t>Windows</a:t>
            </a:r>
            <a:r>
              <a:rPr lang="ru-RU" dirty="0" smtClean="0"/>
              <a:t>, инструменты для построения ER-диаграмм, редакторы для создания логического и физического описания модели данных и прозрачную поддержку ведущих реляционных СУБД</a:t>
            </a:r>
          </a:p>
          <a:p>
            <a:r>
              <a:rPr lang="ru-RU" dirty="0" err="1" smtClean="0"/>
              <a:t>ERwin</a:t>
            </a:r>
            <a:r>
              <a:rPr lang="ru-RU" dirty="0" smtClean="0"/>
              <a:t> не привязан к технологии какой-либо конкретной фирмы, поставляющей СУБД или средства разработки. Он поддерживает различные серверы баз данных и настольные СУБД, а также может обращаться к базе данных через интерфейс ODBC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Главное окно</a:t>
            </a:r>
            <a:r>
              <a:rPr lang="en-US" dirty="0" smtClean="0"/>
              <a:t> </a:t>
            </a:r>
            <a:r>
              <a:rPr lang="en-US" dirty="0" err="1" smtClean="0"/>
              <a:t>ERWin</a:t>
            </a:r>
            <a:endParaRPr lang="ru-RU" dirty="0"/>
          </a:p>
        </p:txBody>
      </p:sp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00174"/>
            <a:ext cx="84201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Методология IDEF1X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Была разработана для ВВС США и теперь широко используется в правительственных учреждениях и частных компаниях как в самих США, так и далеко за их пределами</a:t>
            </a:r>
          </a:p>
          <a:p>
            <a:r>
              <a:rPr lang="ru-RU" dirty="0" smtClean="0"/>
              <a:t>Определяет стандарты терминологии и графического изображения типовых элементов на </a:t>
            </a:r>
            <a:r>
              <a:rPr lang="en-US" dirty="0" smtClean="0"/>
              <a:t>ER</a:t>
            </a:r>
            <a:r>
              <a:rPr lang="ru-RU" dirty="0" smtClean="0"/>
              <a:t>-диаграммах</a:t>
            </a:r>
          </a:p>
          <a:p>
            <a:r>
              <a:rPr lang="ru-RU" dirty="0" smtClean="0"/>
              <a:t>Некоторые обозначения могут несколько расходиться с традиционными, принятыми  в </a:t>
            </a:r>
            <a:r>
              <a:rPr lang="en-US" dirty="0" smtClean="0"/>
              <a:t>ER</a:t>
            </a:r>
            <a:r>
              <a:rPr lang="ru-RU" dirty="0" smtClean="0"/>
              <a:t>-модели, хотя в </a:t>
            </a:r>
            <a:r>
              <a:rPr lang="ru-RU" dirty="0" err="1" smtClean="0"/>
              <a:t>ERwin</a:t>
            </a:r>
            <a:r>
              <a:rPr lang="ru-RU" dirty="0" smtClean="0"/>
              <a:t> существует возможность выбора традиционной нотации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Структура процесса моделирования в </a:t>
            </a:r>
            <a:r>
              <a:rPr lang="ru-RU" sz="4400" dirty="0" err="1" smtClean="0"/>
              <a:t>ERwin</a:t>
            </a: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Уровни представления модели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На первом –  </a:t>
            </a:r>
            <a:r>
              <a:rPr lang="ru-RU" b="1" i="1" dirty="0" smtClean="0"/>
              <a:t>логическом уровне </a:t>
            </a:r>
            <a:r>
              <a:rPr lang="ru-RU" dirty="0" smtClean="0"/>
              <a:t>– не рассматривается использование конкретной СУБД, не определяются типы данных и не определяются индексы для таблиц</a:t>
            </a:r>
          </a:p>
          <a:p>
            <a:r>
              <a:rPr lang="ru-RU" dirty="0" smtClean="0"/>
              <a:t>Целевая СУБД, имена объектов и типы данных, индексы составляют второй – </a:t>
            </a:r>
            <a:r>
              <a:rPr lang="ru-RU" b="1" i="1" dirty="0" smtClean="0"/>
              <a:t>физический уровень </a:t>
            </a:r>
            <a:r>
              <a:rPr lang="ru-RU" dirty="0" smtClean="0"/>
              <a:t>модели </a:t>
            </a:r>
            <a:r>
              <a:rPr lang="ru-RU" dirty="0" err="1" smtClean="0"/>
              <a:t>ERwin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этапы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ru-RU" dirty="0" smtClean="0"/>
              <a:t>Создание логической модели данных:</a:t>
            </a:r>
          </a:p>
          <a:p>
            <a:pPr marL="914400" lvl="1" indent="-514350"/>
            <a:r>
              <a:rPr lang="ru-RU" dirty="0" smtClean="0"/>
              <a:t>определение сущностей</a:t>
            </a:r>
          </a:p>
          <a:p>
            <a:pPr marL="914400" lvl="1" indent="-514350"/>
            <a:r>
              <a:rPr lang="ru-RU" dirty="0" smtClean="0"/>
              <a:t>определение зависимостей между сущностями</a:t>
            </a:r>
          </a:p>
          <a:p>
            <a:pPr marL="914400" lvl="1" indent="-514350"/>
            <a:r>
              <a:rPr lang="ru-RU" dirty="0" smtClean="0"/>
              <a:t>задание первичных и альтернативных ключей </a:t>
            </a:r>
          </a:p>
          <a:p>
            <a:pPr marL="914400" lvl="1" indent="-514350"/>
            <a:r>
              <a:rPr lang="ru-RU" dirty="0" smtClean="0"/>
              <a:t>определение </a:t>
            </a:r>
            <a:r>
              <a:rPr lang="ru-RU" dirty="0" err="1" smtClean="0"/>
              <a:t>неключевых</a:t>
            </a:r>
            <a:r>
              <a:rPr lang="ru-RU" dirty="0" smtClean="0"/>
              <a:t> атрибутов сущностей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 smtClean="0"/>
              <a:t>Переход к физическому описанию модели: </a:t>
            </a:r>
          </a:p>
          <a:p>
            <a:pPr marL="914400" lvl="1" indent="-514350"/>
            <a:r>
              <a:rPr lang="ru-RU" dirty="0" smtClean="0"/>
              <a:t>назначение соответствий имя сущности – имя таблицы, атрибут сущности – атрибут таблицы</a:t>
            </a:r>
          </a:p>
          <a:p>
            <a:pPr marL="914400" lvl="1" indent="-514350"/>
            <a:r>
              <a:rPr lang="ru-RU" dirty="0" smtClean="0"/>
              <a:t>задание триггеров, хранимых процедур и ограничений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 smtClean="0"/>
              <a:t>Генерация базы данных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6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Создание логической модели 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сущностей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Основная информации, описывающая сущность включает: </a:t>
            </a:r>
          </a:p>
          <a:p>
            <a:pPr lvl="1"/>
            <a:r>
              <a:rPr lang="ru-RU" dirty="0" smtClean="0"/>
              <a:t>атрибуты, составляющие первичный ключ</a:t>
            </a:r>
          </a:p>
          <a:p>
            <a:pPr lvl="1"/>
            <a:r>
              <a:rPr lang="ru-RU" dirty="0" err="1" smtClean="0"/>
              <a:t>неключевые</a:t>
            </a:r>
            <a:r>
              <a:rPr lang="ru-RU" dirty="0" smtClean="0"/>
              <a:t> атрибуты</a:t>
            </a:r>
          </a:p>
          <a:p>
            <a:pPr lvl="1"/>
            <a:r>
              <a:rPr lang="ru-RU" dirty="0" smtClean="0"/>
              <a:t>тип сущности (независимая/зависимая)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Первичный ключ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ru-RU" b="1" i="1" dirty="0" smtClean="0"/>
              <a:t>Первичный ключ </a:t>
            </a:r>
            <a:r>
              <a:rPr lang="ru-RU" dirty="0" smtClean="0"/>
              <a:t>– это атрибут или набор атрибутов, уникально идентифицирующий экземпляр сущности</a:t>
            </a:r>
          </a:p>
          <a:p>
            <a:r>
              <a:rPr lang="ru-RU" dirty="0" smtClean="0"/>
              <a:t>Если несколько наборов атрибутов могут уникально идентифицировать сущность, то выбор одного из них осуществляется разработчиком на основании анализа предметной области и учета следующих требований к первичному ключу:</a:t>
            </a:r>
          </a:p>
          <a:p>
            <a:pPr lvl="1"/>
            <a:r>
              <a:rPr lang="ru-RU" dirty="0" smtClean="0"/>
              <a:t>первичный ключ не должен принимать пустые (</a:t>
            </a:r>
            <a:r>
              <a:rPr lang="en-US" dirty="0" smtClean="0"/>
              <a:t>NULL</a:t>
            </a:r>
            <a:r>
              <a:rPr lang="ru-RU" dirty="0" smtClean="0"/>
              <a:t>) значения</a:t>
            </a:r>
          </a:p>
          <a:p>
            <a:pPr lvl="1"/>
            <a:r>
              <a:rPr lang="ru-RU" dirty="0" smtClean="0"/>
              <a:t>первичный ключ не должен изменяться в течение времени</a:t>
            </a:r>
          </a:p>
          <a:p>
            <a:pPr lvl="1"/>
            <a:r>
              <a:rPr lang="ru-RU" dirty="0" smtClean="0"/>
              <a:t>размер первичного ключа должен быть как можно меньшим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AK </a:t>
            </a:r>
            <a:r>
              <a:rPr lang="ru-RU" dirty="0" smtClean="0"/>
              <a:t>и</a:t>
            </a:r>
            <a:r>
              <a:rPr lang="en-US" dirty="0" smtClean="0"/>
              <a:t> IE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78112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Если разработчик считает, что какой-либо из оставшихся наборов, уникально идентифицирующий экземпляр сущности,  будет часто использоваться для доступа к сущности, то он может объявить его </a:t>
            </a:r>
            <a:r>
              <a:rPr lang="ru-RU" b="1" dirty="0" smtClean="0"/>
              <a:t>а</a:t>
            </a:r>
            <a:r>
              <a:rPr lang="ru-RU" b="1" i="1" dirty="0" smtClean="0"/>
              <a:t>льтернативным ключом</a:t>
            </a:r>
            <a:r>
              <a:rPr lang="ru-RU" i="1" dirty="0" smtClean="0"/>
              <a:t> </a:t>
            </a:r>
            <a:r>
              <a:rPr lang="ru-RU" dirty="0" smtClean="0"/>
              <a:t>(</a:t>
            </a:r>
            <a:r>
              <a:rPr lang="en-US" dirty="0" smtClean="0"/>
              <a:t>AK</a:t>
            </a:r>
            <a:r>
              <a:rPr lang="ru-RU" dirty="0" smtClean="0"/>
              <a:t>)</a:t>
            </a:r>
          </a:p>
          <a:p>
            <a:r>
              <a:rPr lang="ru-RU" dirty="0" smtClean="0"/>
              <a:t>В </a:t>
            </a:r>
            <a:r>
              <a:rPr lang="ru-RU" dirty="0" err="1" smtClean="0"/>
              <a:t>ERwin</a:t>
            </a:r>
            <a:r>
              <a:rPr lang="ru-RU" dirty="0" smtClean="0"/>
              <a:t> можно также составлять группы атрибутов, которые не идентифицируют уникально экземпляры сущности, но часто используются для доступа к данным. Они </a:t>
            </a:r>
            <a:r>
              <a:rPr lang="ru-RU" b="1" dirty="0" smtClean="0"/>
              <a:t>получили название </a:t>
            </a:r>
            <a:r>
              <a:rPr lang="ru-RU" b="1" i="1" dirty="0" smtClean="0"/>
              <a:t>инверсных входов</a:t>
            </a:r>
            <a:r>
              <a:rPr lang="en-US" dirty="0" smtClean="0"/>
              <a:t> (IE)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сущностей</a:t>
            </a:r>
            <a:endParaRPr lang="ru-RU" dirty="0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2769" name="Object 1"/>
          <p:cNvGraphicFramePr>
            <a:graphicFrameLocks noChangeAspect="1"/>
          </p:cNvGraphicFramePr>
          <p:nvPr/>
        </p:nvGraphicFramePr>
        <p:xfrm>
          <a:off x="5148064" y="1628800"/>
          <a:ext cx="3131840" cy="3626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Picture" r:id="rId3" imgW="1807464" imgH="2093976" progId="Word.Picture.8">
                  <p:embed/>
                </p:oleObj>
              </mc:Choice>
              <mc:Fallback>
                <p:oleObj name="Picture" r:id="rId3" imgW="1807464" imgH="2093976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1628800"/>
                        <a:ext cx="3131840" cy="36263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683568" y="1628800"/>
          <a:ext cx="3792421" cy="21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Picture" r:id="rId5" imgW="2258568" imgH="1283208" progId="Word.Picture.8">
                  <p:embed/>
                </p:oleObj>
              </mc:Choice>
              <mc:Fallback>
                <p:oleObj name="Picture" r:id="rId5" imgW="2258568" imgH="1283208" progId="Word.Picture.8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628800"/>
                        <a:ext cx="3792421" cy="2160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Зависимые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ru-RU" dirty="0" smtClean="0"/>
              <a:t>независимые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Если экземпляры сущности могут быть уникально идентифицированы без определения ее связей с другими сущностями, она называется </a:t>
            </a:r>
            <a:r>
              <a:rPr lang="ru-RU" b="1" i="1" dirty="0" smtClean="0"/>
              <a:t>независимой</a:t>
            </a:r>
          </a:p>
          <a:p>
            <a:r>
              <a:rPr lang="ru-RU" dirty="0" smtClean="0"/>
              <a:t>В противном случае сущность называют </a:t>
            </a:r>
            <a:r>
              <a:rPr lang="ru-RU" b="1" dirty="0" smtClean="0"/>
              <a:t>з</a:t>
            </a:r>
            <a:r>
              <a:rPr lang="ru-RU" b="1" i="1" dirty="0" smtClean="0"/>
              <a:t>ависимой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связей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257800"/>
          </a:xfrm>
        </p:spPr>
        <p:txBody>
          <a:bodyPr>
            <a:normAutofit fontScale="92500" lnSpcReduction="20000"/>
          </a:bodyPr>
          <a:lstStyle/>
          <a:p>
            <a:r>
              <a:rPr lang="ru-RU" b="1" i="1" dirty="0" smtClean="0"/>
              <a:t>Связь</a:t>
            </a:r>
            <a:r>
              <a:rPr lang="ru-RU" i="1" dirty="0" smtClean="0"/>
              <a:t> </a:t>
            </a:r>
            <a:r>
              <a:rPr lang="ru-RU" dirty="0" smtClean="0"/>
              <a:t>в </a:t>
            </a:r>
            <a:r>
              <a:rPr lang="en-US" dirty="0" err="1" smtClean="0"/>
              <a:t>ERwin</a:t>
            </a:r>
            <a:r>
              <a:rPr lang="ru-RU" dirty="0" smtClean="0"/>
              <a:t> трактуется как функциональная зависимость между двумя сущностями</a:t>
            </a:r>
          </a:p>
          <a:p>
            <a:r>
              <a:rPr lang="ru-RU" dirty="0" smtClean="0"/>
              <a:t>Если рассматривать диаграмму как графическое представление правил предметной области, то сущности являются существительными, а связи – глаголами</a:t>
            </a:r>
          </a:p>
          <a:p>
            <a:r>
              <a:rPr lang="ru-RU" dirty="0" smtClean="0"/>
              <a:t>В </a:t>
            </a:r>
            <a:r>
              <a:rPr lang="ru-RU" dirty="0" err="1" smtClean="0"/>
              <a:t>ERwin</a:t>
            </a:r>
            <a:r>
              <a:rPr lang="ru-RU" dirty="0" smtClean="0"/>
              <a:t> связи представлены пятью основными элементами информации: </a:t>
            </a:r>
          </a:p>
          <a:p>
            <a:pPr lvl="1"/>
            <a:r>
              <a:rPr lang="ru-RU" dirty="0" smtClean="0"/>
              <a:t>тип связи</a:t>
            </a:r>
          </a:p>
          <a:p>
            <a:pPr lvl="1"/>
            <a:r>
              <a:rPr lang="ru-RU" dirty="0" smtClean="0"/>
              <a:t>родительская и дочерняя (зависимая) сущности</a:t>
            </a:r>
          </a:p>
          <a:p>
            <a:pPr lvl="1"/>
            <a:r>
              <a:rPr lang="ru-RU" dirty="0" smtClean="0"/>
              <a:t>мощность связи</a:t>
            </a:r>
          </a:p>
          <a:p>
            <a:pPr lvl="1"/>
            <a:r>
              <a:rPr lang="ru-RU" dirty="0" smtClean="0"/>
              <a:t>допустимость пустых (</a:t>
            </a:r>
            <a:r>
              <a:rPr lang="ru-RU" dirty="0" err="1" smtClean="0"/>
              <a:t>null</a:t>
            </a:r>
            <a:r>
              <a:rPr lang="ru-RU" dirty="0" smtClean="0"/>
              <a:t>) значений</a:t>
            </a:r>
          </a:p>
          <a:p>
            <a:pPr lvl="1"/>
            <a:r>
              <a:rPr lang="ru-RU" dirty="0" smtClean="0"/>
              <a:t>требования по обеспечению ссылочной целостности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типы связей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99592" y="1600200"/>
            <a:ext cx="7787208" cy="4525963"/>
          </a:xfrm>
        </p:spPr>
        <p:txBody>
          <a:bodyPr/>
          <a:lstStyle/>
          <a:p>
            <a:r>
              <a:rPr lang="ru-RU" dirty="0" smtClean="0"/>
              <a:t>Идентифицирующая</a:t>
            </a:r>
          </a:p>
          <a:p>
            <a:r>
              <a:rPr lang="ru-RU" dirty="0" err="1" smtClean="0"/>
              <a:t>Неидентифицирующая</a:t>
            </a:r>
            <a:endParaRPr lang="ru-RU" dirty="0" smtClean="0"/>
          </a:p>
          <a:p>
            <a:r>
              <a:rPr lang="ru-RU" dirty="0" smtClean="0"/>
              <a:t>Полная категория</a:t>
            </a:r>
          </a:p>
          <a:p>
            <a:r>
              <a:rPr lang="ru-RU" dirty="0" smtClean="0"/>
              <a:t>Неполная категория</a:t>
            </a:r>
          </a:p>
          <a:p>
            <a:r>
              <a:rPr lang="ru-RU" dirty="0" err="1" smtClean="0"/>
              <a:t>Многие-ко-многим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Идентифицирующая связь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Связь называется </a:t>
            </a:r>
            <a:r>
              <a:rPr lang="ru-RU" b="1" i="1" dirty="0" smtClean="0"/>
              <a:t>идентифицирующей</a:t>
            </a:r>
            <a:r>
              <a:rPr lang="ru-RU" dirty="0" smtClean="0"/>
              <a:t>, если экземпляр дочерней сущности идентифицируется через ее связь с родительской сущностью</a:t>
            </a:r>
          </a:p>
          <a:p>
            <a:r>
              <a:rPr lang="ru-RU" dirty="0" smtClean="0"/>
              <a:t>Атрибуты, составляющие первичный ключ родительской сущности, входят в первичный ключ дочерней сущности</a:t>
            </a:r>
          </a:p>
          <a:p>
            <a:r>
              <a:rPr lang="ru-RU" dirty="0" smtClean="0"/>
              <a:t>Дочерняя сущность при идентифицирующей связи всегда является зависимой </a:t>
            </a:r>
          </a:p>
          <a:p>
            <a:r>
              <a:rPr lang="ru-RU" dirty="0" smtClean="0"/>
              <a:t>Идентифицирующая связь изображается сплошной линией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Неидентифицирующая</a:t>
            </a:r>
            <a:r>
              <a:rPr lang="ru-RU" dirty="0" smtClean="0"/>
              <a:t> связь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Связь называется </a:t>
            </a:r>
            <a:r>
              <a:rPr lang="ru-RU" b="1" i="1" dirty="0" err="1" smtClean="0"/>
              <a:t>неидентифицирующей</a:t>
            </a:r>
            <a:r>
              <a:rPr lang="ru-RU" dirty="0" smtClean="0"/>
              <a:t>, если экземпляр дочерней сущности идентифицируется иначе, чем через связь с родительской сущностью</a:t>
            </a:r>
          </a:p>
          <a:p>
            <a:r>
              <a:rPr lang="ru-RU" dirty="0" smtClean="0"/>
              <a:t>Атрибуты, составляющие первичный ключ родительской сущности, входят в состав </a:t>
            </a:r>
            <a:r>
              <a:rPr lang="ru-RU" dirty="0" err="1" smtClean="0"/>
              <a:t>неключевых</a:t>
            </a:r>
            <a:r>
              <a:rPr lang="ru-RU" dirty="0" smtClean="0"/>
              <a:t> атрибутов дочерней сущности</a:t>
            </a:r>
          </a:p>
          <a:p>
            <a:r>
              <a:rPr lang="ru-RU" dirty="0" err="1" smtClean="0"/>
              <a:t>Неидентифицирующая</a:t>
            </a:r>
            <a:r>
              <a:rPr lang="ru-RU" dirty="0" smtClean="0"/>
              <a:t> изображается пунктирной линией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</a:t>
            </a:r>
            <a:r>
              <a:rPr lang="ru-RU" dirty="0" err="1" smtClean="0"/>
              <a:t>неидентифицирующей</a:t>
            </a:r>
            <a:r>
              <a:rPr lang="ru-RU" dirty="0" smtClean="0"/>
              <a:t> связи</a:t>
            </a:r>
            <a:endParaRPr lang="ru-RU" dirty="0"/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6081" name="Object 1"/>
          <p:cNvGraphicFramePr>
            <a:graphicFrameLocks noChangeAspect="1"/>
          </p:cNvGraphicFramePr>
          <p:nvPr/>
        </p:nvGraphicFramePr>
        <p:xfrm>
          <a:off x="395536" y="1772816"/>
          <a:ext cx="8316416" cy="3505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6" name="Picture" r:id="rId3" imgW="5401056" imgH="2273808" progId="Word.Picture.8">
                  <p:embed/>
                </p:oleObj>
              </mc:Choice>
              <mc:Fallback>
                <p:oleObj name="Picture" r:id="rId3" imgW="5401056" imgH="2273808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772816"/>
                        <a:ext cx="8316416" cy="35055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Миграция атрибутов ключа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Поскольку атрибуты первичного ключа родительской сущности по умолчанию мигрируют со своими именами,  </a:t>
            </a:r>
            <a:r>
              <a:rPr lang="ru-RU" dirty="0" err="1" smtClean="0"/>
              <a:t>ERwin</a:t>
            </a:r>
            <a:r>
              <a:rPr lang="ru-RU" dirty="0" smtClean="0"/>
              <a:t> считает, что в зависимой сущности атрибуты внешнего ключа появляются только один раз</a:t>
            </a:r>
          </a:p>
          <a:p>
            <a:r>
              <a:rPr lang="ru-RU" dirty="0" smtClean="0"/>
              <a:t>Чтобы избежать этого ограничения, </a:t>
            </a:r>
            <a:r>
              <a:rPr lang="ru-RU" dirty="0" err="1" smtClean="0"/>
              <a:t>ERwin</a:t>
            </a:r>
            <a:r>
              <a:rPr lang="ru-RU" dirty="0" smtClean="0"/>
              <a:t> позволяет ввести для них </a:t>
            </a:r>
            <a:r>
              <a:rPr lang="ru-RU" b="1" i="1" dirty="0" smtClean="0"/>
              <a:t>роли</a:t>
            </a:r>
            <a:r>
              <a:rPr lang="ru-RU" dirty="0" smtClean="0"/>
              <a:t>, т.е. новые имена, под которыми мигрирующие атрибуты будут представлены в дочерней сущности</a:t>
            </a: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использования ролей</a:t>
            </a:r>
            <a:endParaRPr lang="ru-RU" dirty="0"/>
          </a:p>
        </p:txBody>
      </p:sp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323528" y="1916832"/>
          <a:ext cx="8585829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6" name="Picture" r:id="rId3" imgW="5588000" imgH="1828800" progId="Word.Picture.8">
                  <p:embed/>
                </p:oleObj>
              </mc:Choice>
              <mc:Fallback>
                <p:oleObj name="Picture" r:id="rId3" imgW="5588000" imgH="1828800" progId="Word.Picture.8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916832"/>
                        <a:ext cx="8585829" cy="2808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Многие-ко-многим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Ситуация, когда экземпляру одной сущности соответствует один или несколько экземпляров второй сущности, а экземпляру второй сущности соответствует один или несколько экземпляров первой сущности, отражается в логической модели связью </a:t>
            </a:r>
            <a:r>
              <a:rPr lang="ru-RU" b="1" i="1" dirty="0" err="1" smtClean="0"/>
              <a:t>многие-ко-многим</a:t>
            </a:r>
            <a:r>
              <a:rPr lang="ru-RU" b="1" dirty="0" smtClean="0"/>
              <a:t> </a:t>
            </a:r>
            <a:r>
              <a:rPr lang="ru-RU" dirty="0" smtClean="0"/>
              <a:t>между данными сущностями</a:t>
            </a:r>
          </a:p>
          <a:p>
            <a:r>
              <a:rPr lang="ru-RU" dirty="0" smtClean="0"/>
              <a:t>На диаграмме связь изображается сплошной линией с точками на концах</a:t>
            </a:r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связи </a:t>
            </a:r>
            <a:r>
              <a:rPr lang="ru-RU" dirty="0" err="1" smtClean="0"/>
              <a:t>многие-ко-многим</a:t>
            </a:r>
            <a:endParaRPr lang="ru-RU" dirty="0"/>
          </a:p>
        </p:txBody>
      </p:sp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3249" name="Object 1"/>
          <p:cNvGraphicFramePr>
            <a:graphicFrameLocks noChangeAspect="1"/>
          </p:cNvGraphicFramePr>
          <p:nvPr/>
        </p:nvGraphicFramePr>
        <p:xfrm>
          <a:off x="1259632" y="1988840"/>
          <a:ext cx="6795885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4" name="Picture" r:id="rId3" imgW="3880104" imgH="655320" progId="Word.Picture.8">
                  <p:embed/>
                </p:oleObj>
              </mc:Choice>
              <mc:Fallback>
                <p:oleObj name="Picture" r:id="rId3" imgW="3880104" imgH="655320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988840"/>
                        <a:ext cx="6795885" cy="1152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связи </a:t>
            </a:r>
            <a:r>
              <a:rPr lang="ru-RU" dirty="0" err="1" smtClean="0"/>
              <a:t>многие-ко-многим</a:t>
            </a:r>
            <a:endParaRPr lang="ru-RU" dirty="0"/>
          </a:p>
        </p:txBody>
      </p:sp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3249" name="Object 1"/>
          <p:cNvGraphicFramePr>
            <a:graphicFrameLocks noChangeAspect="1"/>
          </p:cNvGraphicFramePr>
          <p:nvPr/>
        </p:nvGraphicFramePr>
        <p:xfrm>
          <a:off x="1259632" y="1988840"/>
          <a:ext cx="6795885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6" name="Picture" r:id="rId3" imgW="3880104" imgH="655320" progId="Word.Picture.8">
                  <p:embed/>
                </p:oleObj>
              </mc:Choice>
              <mc:Fallback>
                <p:oleObj name="Picture" r:id="rId3" imgW="3880104" imgH="655320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988840"/>
                        <a:ext cx="6795885" cy="1152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179512" y="4005064"/>
          <a:ext cx="8853853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7" name="Picture" r:id="rId5" imgW="5769864" imgH="655320" progId="Word.Picture.8">
                  <p:embed/>
                </p:oleObj>
              </mc:Choice>
              <mc:Fallback>
                <p:oleObj name="Picture" r:id="rId5" imgW="5769864" imgH="65532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005064"/>
                        <a:ext cx="8853853" cy="1008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Категориальные связи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Некоторые сущности определяют целую категорию объектов одного типа. В </a:t>
            </a:r>
            <a:r>
              <a:rPr lang="ru-RU" dirty="0" err="1" smtClean="0"/>
              <a:t>ERwin</a:t>
            </a:r>
            <a:r>
              <a:rPr lang="ru-RU" dirty="0" smtClean="0"/>
              <a:t> </a:t>
            </a:r>
            <a:r>
              <a:rPr lang="ru-RU" dirty="0" err="1" smtClean="0"/>
              <a:t>в</a:t>
            </a:r>
            <a:r>
              <a:rPr lang="ru-RU" dirty="0" smtClean="0"/>
              <a:t> таком случае создается сущность для определения категории и для каждого элемента категории, а затем вводится для них </a:t>
            </a:r>
            <a:r>
              <a:rPr lang="ru-RU" i="1" dirty="0" smtClean="0"/>
              <a:t>связь </a:t>
            </a:r>
            <a:r>
              <a:rPr lang="ru-RU" b="1" i="1" dirty="0" smtClean="0"/>
              <a:t>категоризации</a:t>
            </a:r>
            <a:r>
              <a:rPr lang="ru-RU" dirty="0" smtClean="0"/>
              <a:t>. Родительская сущность категории называется </a:t>
            </a:r>
            <a:r>
              <a:rPr lang="ru-RU" b="1" i="1" dirty="0" err="1" smtClean="0"/>
              <a:t>супертипом</a:t>
            </a:r>
            <a:r>
              <a:rPr lang="ru-RU" dirty="0" smtClean="0"/>
              <a:t>, а дочерние – </a:t>
            </a:r>
            <a:r>
              <a:rPr lang="ru-RU" b="1" i="1" dirty="0" smtClean="0"/>
              <a:t>подтипом</a:t>
            </a:r>
            <a:r>
              <a:rPr lang="ru-RU" dirty="0" smtClean="0"/>
              <a:t> </a:t>
            </a:r>
          </a:p>
          <a:p>
            <a:r>
              <a:rPr lang="ru-RU" dirty="0" smtClean="0"/>
              <a:t>Различная часть помещается в сущности-подтипы. В </a:t>
            </a:r>
            <a:r>
              <a:rPr lang="ru-RU" dirty="0" err="1" smtClean="0"/>
              <a:t>сущности-супертипе</a:t>
            </a:r>
            <a:r>
              <a:rPr lang="ru-RU" dirty="0" smtClean="0"/>
              <a:t> вводится атрибут-дискриминатор, позволяющий различать конкретные экземпляры сущности-подтипа</a:t>
            </a:r>
          </a:p>
          <a:p>
            <a:r>
              <a:rPr lang="ru-RU" dirty="0" smtClean="0"/>
              <a:t>В зависимости от того, все ли возможные сущности-подтипы включены в модель, </a:t>
            </a:r>
            <a:r>
              <a:rPr lang="ru-RU" dirty="0" err="1" smtClean="0"/>
              <a:t>категорийная</a:t>
            </a:r>
            <a:r>
              <a:rPr lang="ru-RU" dirty="0" smtClean="0"/>
              <a:t> связь является </a:t>
            </a:r>
            <a:r>
              <a:rPr lang="ru-RU" b="1" i="1" dirty="0" smtClean="0"/>
              <a:t>полной</a:t>
            </a:r>
            <a:r>
              <a:rPr lang="ru-RU" i="1" dirty="0" smtClean="0"/>
              <a:t> </a:t>
            </a:r>
            <a:r>
              <a:rPr lang="ru-RU" dirty="0" smtClean="0"/>
              <a:t>или </a:t>
            </a:r>
            <a:r>
              <a:rPr lang="ru-RU" b="1" i="1" dirty="0" smtClean="0"/>
              <a:t>неполной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неполной категории</a:t>
            </a:r>
            <a:endParaRPr lang="ru-RU" dirty="0"/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4273" name="Object 1"/>
          <p:cNvGraphicFramePr>
            <a:graphicFrameLocks noChangeAspect="1"/>
          </p:cNvGraphicFramePr>
          <p:nvPr/>
        </p:nvGraphicFramePr>
        <p:xfrm>
          <a:off x="683568" y="1124744"/>
          <a:ext cx="7729179" cy="5733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8" name="Picture" r:id="rId3" imgW="5498592" imgH="4075176" progId="Word.Picture.8">
                  <p:embed/>
                </p:oleObj>
              </mc:Choice>
              <mc:Fallback>
                <p:oleObj name="Picture" r:id="rId3" imgW="5498592" imgH="4075176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124744"/>
                        <a:ext cx="7729179" cy="5733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полной категории</a:t>
            </a:r>
            <a:endParaRPr lang="ru-RU" dirty="0"/>
          </a:p>
        </p:txBody>
      </p:sp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6321" name="Object 1"/>
          <p:cNvGraphicFramePr>
            <a:graphicFrameLocks noChangeAspect="1"/>
          </p:cNvGraphicFramePr>
          <p:nvPr/>
        </p:nvGraphicFramePr>
        <p:xfrm>
          <a:off x="683569" y="1700808"/>
          <a:ext cx="7560596" cy="4442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6" name="Picture" r:id="rId3" imgW="4779264" imgH="2813304" progId="Word.Picture.8">
                  <p:embed/>
                </p:oleObj>
              </mc:Choice>
              <mc:Fallback>
                <p:oleObj name="Picture" r:id="rId3" imgW="4779264" imgH="2813304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9" y="1700808"/>
                        <a:ext cx="7560596" cy="44429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Мощность связи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484784"/>
            <a:ext cx="8424936" cy="2952328"/>
          </a:xfrm>
        </p:spPr>
        <p:txBody>
          <a:bodyPr>
            <a:normAutofit fontScale="85000" lnSpcReduction="20000"/>
          </a:bodyPr>
          <a:lstStyle/>
          <a:p>
            <a:r>
              <a:rPr lang="ru-RU" b="1" i="1" dirty="0" smtClean="0"/>
              <a:t>Мощность</a:t>
            </a:r>
            <a:r>
              <a:rPr lang="ru-RU" i="1" dirty="0" smtClean="0"/>
              <a:t> </a:t>
            </a:r>
            <a:r>
              <a:rPr lang="ru-RU" dirty="0" smtClean="0"/>
              <a:t>связи представляет собой отношение количества экземпляров родительской сущности к соответствующему количеству экземпляров дочерней сущности</a:t>
            </a:r>
          </a:p>
          <a:p>
            <a:r>
              <a:rPr lang="ru-RU" dirty="0" smtClean="0"/>
              <a:t>Мощность связи определяется только для идентифицирующих и </a:t>
            </a:r>
            <a:r>
              <a:rPr lang="ru-RU" dirty="0" err="1" smtClean="0"/>
              <a:t>неидентифицирующих</a:t>
            </a:r>
            <a:r>
              <a:rPr lang="ru-RU" dirty="0" smtClean="0"/>
              <a:t> связей и записывается как 1:n</a:t>
            </a:r>
          </a:p>
          <a:p>
            <a:r>
              <a:rPr lang="ru-RU" dirty="0" smtClean="0"/>
              <a:t>E</a:t>
            </a:r>
            <a:r>
              <a:rPr lang="en-US" dirty="0" smtClean="0"/>
              <a:t>r</a:t>
            </a:r>
            <a:r>
              <a:rPr lang="ru-RU" dirty="0" err="1" smtClean="0"/>
              <a:t>win</a:t>
            </a:r>
            <a:r>
              <a:rPr lang="ru-RU" dirty="0" smtClean="0"/>
              <a:t> предоставляет 4 варианта для n:</a:t>
            </a:r>
            <a:endParaRPr lang="ru-RU" dirty="0"/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7345" name="Object 1"/>
          <p:cNvGraphicFramePr>
            <a:graphicFrameLocks noChangeAspect="1"/>
          </p:cNvGraphicFramePr>
          <p:nvPr/>
        </p:nvGraphicFramePr>
        <p:xfrm>
          <a:off x="1835696" y="4437112"/>
          <a:ext cx="5813085" cy="223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0" name="Picture" r:id="rId3" imgW="4328160" imgH="1642872" progId="Word.Picture.8">
                  <p:embed/>
                </p:oleObj>
              </mc:Choice>
              <mc:Fallback>
                <p:oleObj name="Picture" r:id="rId3" imgW="4328160" imgH="1642872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437112"/>
                        <a:ext cx="5813085" cy="22322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Ссылочная целостность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484784"/>
            <a:ext cx="8712968" cy="5373216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Под </a:t>
            </a:r>
            <a:r>
              <a:rPr lang="ru-RU" b="1" i="1" dirty="0" smtClean="0"/>
              <a:t>ссылочной целостностью </a:t>
            </a:r>
            <a:r>
              <a:rPr lang="ru-RU" dirty="0" smtClean="0"/>
              <a:t>в </a:t>
            </a:r>
            <a:r>
              <a:rPr lang="en-US" dirty="0" err="1" smtClean="0"/>
              <a:t>ERwin</a:t>
            </a:r>
            <a:r>
              <a:rPr lang="ru-RU" dirty="0" smtClean="0"/>
              <a:t> понимается обеспечение требования, чтобы значения внешнего ключа экземпляра дочерней сущности соответствовали значениям первичного ключа в родительской сущности</a:t>
            </a:r>
          </a:p>
          <a:p>
            <a:r>
              <a:rPr lang="ru-RU" dirty="0" smtClean="0"/>
              <a:t>Для каждой связи могут быть заданы требования по обработке операций INSERT/UPDATE/DELETE для родительской и дочерней сущности: </a:t>
            </a:r>
          </a:p>
          <a:p>
            <a:pPr lvl="1"/>
            <a:r>
              <a:rPr lang="ru-RU" dirty="0" smtClean="0"/>
              <a:t>отсутствие проверки (</a:t>
            </a:r>
            <a:r>
              <a:rPr lang="en-US" dirty="0" smtClean="0"/>
              <a:t>NONE</a:t>
            </a:r>
            <a:r>
              <a:rPr lang="ru-RU" dirty="0" smtClean="0"/>
              <a:t>)</a:t>
            </a:r>
          </a:p>
          <a:p>
            <a:pPr lvl="1"/>
            <a:r>
              <a:rPr lang="ru-RU" dirty="0" smtClean="0"/>
              <a:t>запрет операции (</a:t>
            </a:r>
            <a:r>
              <a:rPr lang="en-US" dirty="0" smtClean="0"/>
              <a:t>RESTRICT</a:t>
            </a:r>
            <a:r>
              <a:rPr lang="ru-RU" dirty="0" smtClean="0"/>
              <a:t>)</a:t>
            </a:r>
          </a:p>
          <a:p>
            <a:pPr lvl="1"/>
            <a:r>
              <a:rPr lang="ru-RU" dirty="0" smtClean="0"/>
              <a:t>каскадное выполнение операции (</a:t>
            </a:r>
            <a:r>
              <a:rPr lang="en-US" dirty="0" smtClean="0"/>
              <a:t>CASCADE</a:t>
            </a:r>
            <a:r>
              <a:rPr lang="ru-RU" dirty="0" smtClean="0"/>
              <a:t>)</a:t>
            </a:r>
          </a:p>
          <a:p>
            <a:pPr lvl="1"/>
            <a:r>
              <a:rPr lang="ru-RU" dirty="0" smtClean="0"/>
              <a:t>установка пустого значения (</a:t>
            </a:r>
            <a:r>
              <a:rPr lang="en-US" dirty="0" smtClean="0"/>
              <a:t>SET</a:t>
            </a:r>
            <a:r>
              <a:rPr lang="ru-RU" dirty="0" smtClean="0"/>
              <a:t> NULL)</a:t>
            </a:r>
          </a:p>
          <a:p>
            <a:pPr lvl="1"/>
            <a:r>
              <a:rPr lang="ru-RU" dirty="0" smtClean="0"/>
              <a:t>установка заданного значения по умолчанию (</a:t>
            </a:r>
            <a:r>
              <a:rPr lang="en-US" dirty="0" smtClean="0"/>
              <a:t>SET DEFAULT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7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Создание физической модели и генерация схемы БД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Физический уровень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Для создания физической модели данных, разработчику необходимо выбрать конкретную СУБД и переключиться на физический уровень отображения диаграммы</a:t>
            </a:r>
          </a:p>
          <a:p>
            <a:r>
              <a:rPr lang="ru-RU" dirty="0" smtClean="0"/>
              <a:t>На уровне физической модели, сущности соответствует таблица в реальной СУБД, атрибуту – колонка таблицы, связи – внешний ключ (если для связи задавалось имя роли, то оно соответствует имени колонки внешнего ключа в дочерней таблице), первичным и альтернативным ключам – уникальные индексы, а инверсным входам – неуникальные</a:t>
            </a:r>
            <a:endParaRPr lang="ru-RU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физического представления</a:t>
            </a:r>
            <a:endParaRPr lang="ru-RU" dirty="0"/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8369" name="Object 1"/>
          <p:cNvGraphicFramePr>
            <a:graphicFrameLocks noChangeAspect="1"/>
          </p:cNvGraphicFramePr>
          <p:nvPr/>
        </p:nvGraphicFramePr>
        <p:xfrm>
          <a:off x="179512" y="1772816"/>
          <a:ext cx="8694730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4" name="Picture" r:id="rId3" imgW="6743700" imgH="2184400" progId="Word.Picture.8">
                  <p:embed/>
                </p:oleObj>
              </mc:Choice>
              <mc:Fallback>
                <p:oleObj name="Picture" r:id="rId3" imgW="6743700" imgH="2184400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772816"/>
                        <a:ext cx="8694730" cy="2808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Развязка связи </a:t>
            </a:r>
            <a:r>
              <a:rPr lang="ru-RU" dirty="0" err="1" smtClean="0"/>
              <a:t>многие-ко-многим</a:t>
            </a:r>
            <a:endParaRPr lang="ru-RU" dirty="0"/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0417" name="Object 1"/>
          <p:cNvGraphicFramePr>
            <a:graphicFrameLocks noChangeAspect="1"/>
          </p:cNvGraphicFramePr>
          <p:nvPr/>
        </p:nvGraphicFramePr>
        <p:xfrm>
          <a:off x="1115616" y="1772816"/>
          <a:ext cx="6602377" cy="288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2" name="Picture" r:id="rId3" imgW="4779264" imgH="2090928" progId="Word.Picture.8">
                  <p:embed/>
                </p:oleObj>
              </mc:Choice>
              <mc:Fallback>
                <p:oleObj name="Picture" r:id="rId3" imgW="4779264" imgH="2090928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772816"/>
                        <a:ext cx="6602377" cy="2880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Генерация схемы 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 smtClean="0"/>
              <a:t>На этапе генерации схемы БД </a:t>
            </a:r>
            <a:r>
              <a:rPr lang="ru-RU" dirty="0" err="1" smtClean="0"/>
              <a:t>ERwin</a:t>
            </a:r>
            <a:r>
              <a:rPr lang="ru-RU" dirty="0" smtClean="0"/>
              <a:t> автоматически создает следующие элементы:</a:t>
            </a:r>
          </a:p>
          <a:p>
            <a:pPr lvl="0"/>
            <a:r>
              <a:rPr lang="ru-RU" dirty="0" smtClean="0"/>
              <a:t>таблицы</a:t>
            </a:r>
          </a:p>
          <a:p>
            <a:pPr lvl="0"/>
            <a:r>
              <a:rPr lang="ru-RU" dirty="0" smtClean="0"/>
              <a:t>уникальные индексы для каждого первичного и альтернативного ключа и неуникальные – для инверсных входов</a:t>
            </a:r>
          </a:p>
          <a:p>
            <a:pPr lvl="0"/>
            <a:r>
              <a:rPr lang="ru-RU" dirty="0" smtClean="0"/>
              <a:t>хранимые процедуры</a:t>
            </a:r>
          </a:p>
          <a:p>
            <a:pPr lvl="0"/>
            <a:r>
              <a:rPr lang="ru-RU" dirty="0" smtClean="0"/>
              <a:t>триггеры для обеспечения ссылочной целостности </a:t>
            </a:r>
          </a:p>
          <a:p>
            <a:pPr lvl="0"/>
            <a:r>
              <a:rPr lang="ru-RU" dirty="0" smtClean="0"/>
              <a:t>другие объекты, необходимые для управления данными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2824</TotalTime>
  <Words>1689</Words>
  <Application>Microsoft Office PowerPoint</Application>
  <PresentationFormat>Экран (4:3)</PresentationFormat>
  <Paragraphs>179</Paragraphs>
  <Slides>52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6" baseType="lpstr">
      <vt:lpstr>Arial</vt:lpstr>
      <vt:lpstr>Calibri</vt:lpstr>
      <vt:lpstr>Тема Office</vt:lpstr>
      <vt:lpstr>Picture</vt:lpstr>
      <vt:lpstr>План лекции</vt:lpstr>
      <vt:lpstr>Вопрос 1</vt:lpstr>
      <vt:lpstr>Недостатки проектирования в терминах модели данных</vt:lpstr>
      <vt:lpstr>Семантическое моделирование</vt:lpstr>
      <vt:lpstr>Современный подход</vt:lpstr>
      <vt:lpstr>Вопрос 2</vt:lpstr>
      <vt:lpstr>Краткая справка</vt:lpstr>
      <vt:lpstr>Сущность</vt:lpstr>
      <vt:lpstr>Связь</vt:lpstr>
      <vt:lpstr>Пример связи между сущностями</vt:lpstr>
      <vt:lpstr>Пример связи между сущностями</vt:lpstr>
      <vt:lpstr>Пример рекурсивной связи</vt:lpstr>
      <vt:lpstr>Атрибут</vt:lpstr>
      <vt:lpstr>Уникальный идентификатор</vt:lpstr>
      <vt:lpstr>Нормальные формы</vt:lpstr>
      <vt:lpstr>Вопрос 3</vt:lpstr>
      <vt:lpstr>Первый подход</vt:lpstr>
      <vt:lpstr>Второй подход</vt:lpstr>
      <vt:lpstr>Третий подход</vt:lpstr>
      <vt:lpstr>Вопрос 4</vt:lpstr>
      <vt:lpstr>Общие сведения</vt:lpstr>
      <vt:lpstr>Главное окно ERWin</vt:lpstr>
      <vt:lpstr>Методология IDEF1X</vt:lpstr>
      <vt:lpstr>Вопрос 5</vt:lpstr>
      <vt:lpstr>Уровни представления модели</vt:lpstr>
      <vt:lpstr>Основные этапы</vt:lpstr>
      <vt:lpstr>Вопрос 6</vt:lpstr>
      <vt:lpstr>Описание сущностей</vt:lpstr>
      <vt:lpstr>Первичный ключ</vt:lpstr>
      <vt:lpstr>AK и IE</vt:lpstr>
      <vt:lpstr>Примеры сущностей</vt:lpstr>
      <vt:lpstr>Зависимые vs независимые</vt:lpstr>
      <vt:lpstr>Описание связей</vt:lpstr>
      <vt:lpstr>Основные типы связей</vt:lpstr>
      <vt:lpstr>Идентифицирующая связь</vt:lpstr>
      <vt:lpstr>Неидентифицирующая связь</vt:lpstr>
      <vt:lpstr>Пример неидентифицирующей связи</vt:lpstr>
      <vt:lpstr>Миграция атрибутов ключа</vt:lpstr>
      <vt:lpstr>Пример использования ролей</vt:lpstr>
      <vt:lpstr>Многие-ко-многим</vt:lpstr>
      <vt:lpstr>Пример связи многие-ко-многим</vt:lpstr>
      <vt:lpstr>Пример связи многие-ко-многим</vt:lpstr>
      <vt:lpstr>Категориальные связи</vt:lpstr>
      <vt:lpstr>Пример неполной категории</vt:lpstr>
      <vt:lpstr>Пример полной категории</vt:lpstr>
      <vt:lpstr>Мощность связи</vt:lpstr>
      <vt:lpstr>Ссылочная целостность</vt:lpstr>
      <vt:lpstr>Вопрос 7</vt:lpstr>
      <vt:lpstr>Физический уровень</vt:lpstr>
      <vt:lpstr>Пример физического представления</vt:lpstr>
      <vt:lpstr>Развязка связи многие-ко-многим</vt:lpstr>
      <vt:lpstr>Генерация схемы БД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322</cp:revision>
  <dcterms:created xsi:type="dcterms:W3CDTF">2012-04-10T15:36:07Z</dcterms:created>
  <dcterms:modified xsi:type="dcterms:W3CDTF">2021-12-22T10:17:43Z</dcterms:modified>
</cp:coreProperties>
</file>