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0" r:id="rId1"/>
  </p:sldMasterIdLst>
  <p:notesMasterIdLst>
    <p:notesMasterId r:id="rId61"/>
  </p:notesMasterIdLst>
  <p:sldIdLst>
    <p:sldId id="257" r:id="rId2"/>
    <p:sldId id="321" r:id="rId3"/>
    <p:sldId id="329" r:id="rId4"/>
    <p:sldId id="330" r:id="rId5"/>
    <p:sldId id="328" r:id="rId6"/>
    <p:sldId id="331" r:id="rId7"/>
    <p:sldId id="332" r:id="rId8"/>
    <p:sldId id="322" r:id="rId9"/>
    <p:sldId id="333" r:id="rId10"/>
    <p:sldId id="349" r:id="rId11"/>
    <p:sldId id="334" r:id="rId12"/>
    <p:sldId id="350" r:id="rId13"/>
    <p:sldId id="323" r:id="rId14"/>
    <p:sldId id="342" r:id="rId15"/>
    <p:sldId id="337" r:id="rId16"/>
    <p:sldId id="341" r:id="rId17"/>
    <p:sldId id="338" r:id="rId18"/>
    <p:sldId id="335" r:id="rId19"/>
    <p:sldId id="339" r:id="rId20"/>
    <p:sldId id="336" r:id="rId21"/>
    <p:sldId id="340" r:id="rId22"/>
    <p:sldId id="324" r:id="rId23"/>
    <p:sldId id="343" r:id="rId24"/>
    <p:sldId id="346" r:id="rId25"/>
    <p:sldId id="344" r:id="rId26"/>
    <p:sldId id="347" r:id="rId27"/>
    <p:sldId id="345" r:id="rId28"/>
    <p:sldId id="348" r:id="rId29"/>
    <p:sldId id="325" r:id="rId30"/>
    <p:sldId id="351" r:id="rId31"/>
    <p:sldId id="358" r:id="rId32"/>
    <p:sldId id="359" r:id="rId33"/>
    <p:sldId id="352" r:id="rId34"/>
    <p:sldId id="353" r:id="rId35"/>
    <p:sldId id="354" r:id="rId36"/>
    <p:sldId id="355" r:id="rId37"/>
    <p:sldId id="361" r:id="rId38"/>
    <p:sldId id="356" r:id="rId39"/>
    <p:sldId id="362" r:id="rId40"/>
    <p:sldId id="357" r:id="rId41"/>
    <p:sldId id="363" r:id="rId42"/>
    <p:sldId id="360" r:id="rId43"/>
    <p:sldId id="326" r:id="rId44"/>
    <p:sldId id="364" r:id="rId45"/>
    <p:sldId id="366" r:id="rId46"/>
    <p:sldId id="365" r:id="rId47"/>
    <p:sldId id="367" r:id="rId48"/>
    <p:sldId id="370" r:id="rId49"/>
    <p:sldId id="368" r:id="rId50"/>
    <p:sldId id="369" r:id="rId51"/>
    <p:sldId id="371" r:id="rId52"/>
    <p:sldId id="327" r:id="rId53"/>
    <p:sldId id="372" r:id="rId54"/>
    <p:sldId id="376" r:id="rId55"/>
    <p:sldId id="373" r:id="rId56"/>
    <p:sldId id="374" r:id="rId57"/>
    <p:sldId id="377" r:id="rId58"/>
    <p:sldId id="378" r:id="rId59"/>
    <p:sldId id="375" r:id="rId60"/>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Нет стиля, нет сетки">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8FB837D-C827-4EFA-A057-4D05807E0F7C}" styleName="Стиль из темы 1 - акцент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667" autoAdjust="0"/>
  </p:normalViewPr>
  <p:slideViewPr>
    <p:cSldViewPr>
      <p:cViewPr varScale="1">
        <p:scale>
          <a:sx n="72" d="100"/>
          <a:sy n="72" d="100"/>
        </p:scale>
        <p:origin x="504" y="6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41EBBD4-DF2A-466B-9C02-819997BF5FCB}" type="datetimeFigureOut">
              <a:rPr lang="ru-RU" smtClean="0"/>
              <a:pPr/>
              <a:t>08.01.2022</a:t>
            </a:fld>
            <a:endParaRPr lang="ru-RU"/>
          </a:p>
        </p:txBody>
      </p:sp>
      <p:sp>
        <p:nvSpPr>
          <p:cNvPr id="4" name="Образ слайда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CB924E2-C814-4D75-AACF-890EFECD7813}" type="slidenum">
              <a:rPr lang="ru-RU" smtClean="0"/>
              <a:pPr/>
              <a:t>‹#›</a:t>
            </a:fld>
            <a:endParaRPr lang="ru-RU"/>
          </a:p>
        </p:txBody>
      </p:sp>
    </p:spTree>
    <p:extLst>
      <p:ext uri="{BB962C8B-B14F-4D97-AF65-F5344CB8AC3E}">
        <p14:creationId xmlns:p14="http://schemas.microsoft.com/office/powerpoint/2010/main" val="9888143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E60437A7-3297-49EF-A824-ADB59F7B1FB0}" type="datetimeFigureOut">
              <a:rPr lang="ru-RU" smtClean="0"/>
              <a:pPr/>
              <a:t>08.01.2022</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3FC0405F-7A8E-4392-8689-8912801FE43B}" type="slidenum">
              <a:rPr lang="ru-RU" smtClean="0"/>
              <a:pPr/>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E60437A7-3297-49EF-A824-ADB59F7B1FB0}" type="datetimeFigureOut">
              <a:rPr lang="ru-RU" smtClean="0"/>
              <a:pPr/>
              <a:t>08.01.2022</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3FC0405F-7A8E-4392-8689-8912801FE43B}" type="slidenum">
              <a:rPr lang="ru-RU" smtClean="0"/>
              <a:pPr/>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E60437A7-3297-49EF-A824-ADB59F7B1FB0}" type="datetimeFigureOut">
              <a:rPr lang="ru-RU" smtClean="0"/>
              <a:pPr/>
              <a:t>08.01.2022</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3FC0405F-7A8E-4392-8689-8912801FE43B}" type="slidenum">
              <a:rPr lang="ru-RU" smtClean="0"/>
              <a:pPr/>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Содержимое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E60437A7-3297-49EF-A824-ADB59F7B1FB0}" type="datetimeFigureOut">
              <a:rPr lang="ru-RU" smtClean="0"/>
              <a:pPr/>
              <a:t>08.01.2022</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3FC0405F-7A8E-4392-8689-8912801FE43B}" type="slidenum">
              <a:rPr lang="ru-RU" smtClean="0"/>
              <a:pPr/>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Содержимое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Содержимое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E60437A7-3297-49EF-A824-ADB59F7B1FB0}" type="datetimeFigureOut">
              <a:rPr lang="ru-RU" smtClean="0"/>
              <a:pPr/>
              <a:t>08.01.2022</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3FC0405F-7A8E-4392-8689-8912801FE43B}" type="slidenum">
              <a:rPr lang="ru-RU" smtClean="0"/>
              <a:pPr/>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E60437A7-3297-49EF-A824-ADB59F7B1FB0}" type="datetimeFigureOut">
              <a:rPr lang="ru-RU" smtClean="0"/>
              <a:pPr/>
              <a:t>08.01.2022</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3FC0405F-7A8E-4392-8689-8912801FE43B}" type="slidenum">
              <a:rPr lang="ru-RU" smtClean="0"/>
              <a:pPr/>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E60437A7-3297-49EF-A824-ADB59F7B1FB0}" type="datetimeFigureOut">
              <a:rPr lang="ru-RU" smtClean="0"/>
              <a:pPr/>
              <a:t>08.01.2022</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3FC0405F-7A8E-4392-8689-8912801FE43B}" type="slidenum">
              <a:rPr lang="ru-RU" smtClean="0"/>
              <a:pPr/>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Содержимое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E60437A7-3297-49EF-A824-ADB59F7B1FB0}" type="datetimeFigureOut">
              <a:rPr lang="ru-RU" smtClean="0"/>
              <a:pPr/>
              <a:t>08.01.2022</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3FC0405F-7A8E-4392-8689-8912801FE43B}" type="slidenum">
              <a:rPr lang="ru-RU" smtClean="0"/>
              <a:pPr/>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E60437A7-3297-49EF-A824-ADB59F7B1FB0}" type="datetimeFigureOut">
              <a:rPr lang="ru-RU" smtClean="0"/>
              <a:pPr/>
              <a:t>08.01.2022</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3FC0405F-7A8E-4392-8689-8912801FE43B}" type="slidenum">
              <a:rPr lang="ru-RU" smtClean="0"/>
              <a:pPr/>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E60437A7-3297-49EF-A824-ADB59F7B1FB0}" type="datetimeFigureOut">
              <a:rPr lang="ru-RU" smtClean="0"/>
              <a:pPr/>
              <a:t>08.01.2022</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3FC0405F-7A8E-4392-8689-8912801FE43B}" type="slidenum">
              <a:rPr lang="ru-RU" smtClean="0"/>
              <a:pPr/>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E60437A7-3297-49EF-A824-ADB59F7B1FB0}" type="datetimeFigureOut">
              <a:rPr lang="ru-RU" smtClean="0"/>
              <a:pPr/>
              <a:t>08.01.2022</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3FC0405F-7A8E-4392-8689-8912801FE43B}" type="slidenum">
              <a:rPr lang="ru-RU" smtClean="0"/>
              <a:pPr/>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0437A7-3297-49EF-A824-ADB59F7B1FB0}" type="datetimeFigureOut">
              <a:rPr lang="ru-RU" smtClean="0"/>
              <a:pPr/>
              <a:t>08.01.2022</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C0405F-7A8E-4392-8689-8912801FE43B}" type="slidenum">
              <a:rPr lang="ru-RU" smtClean="0"/>
              <a:pPr/>
              <a:t>‹#›</a:t>
            </a:fld>
            <a:endParaRPr lang="ru-RU"/>
          </a:p>
        </p:txBody>
      </p:sp>
    </p:spTree>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tif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tif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tif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tif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tif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0.tif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1.tif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2.tif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3.tif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3.tif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3.tif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3.tiff"/><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4.tiff"/><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План лекции</a:t>
            </a:r>
            <a:endParaRPr lang="ru-RU" dirty="0"/>
          </a:p>
        </p:txBody>
      </p:sp>
      <p:sp>
        <p:nvSpPr>
          <p:cNvPr id="3" name="Содержимое 2"/>
          <p:cNvSpPr>
            <a:spLocks noGrp="1"/>
          </p:cNvSpPr>
          <p:nvPr>
            <p:ph idx="1"/>
          </p:nvPr>
        </p:nvSpPr>
        <p:spPr>
          <a:xfrm>
            <a:off x="827584" y="1600200"/>
            <a:ext cx="7704856" cy="4781128"/>
          </a:xfrm>
        </p:spPr>
        <p:txBody>
          <a:bodyPr>
            <a:normAutofit lnSpcReduction="10000"/>
          </a:bodyPr>
          <a:lstStyle/>
          <a:p>
            <a:pPr marL="514350" lvl="0" indent="-514350" hangingPunct="0">
              <a:buFont typeface="+mj-lt"/>
              <a:buAutoNum type="arabicPeriod"/>
            </a:pPr>
            <a:r>
              <a:rPr lang="ru-RU" dirty="0" smtClean="0"/>
              <a:t>Процесс доступа к базе данных</a:t>
            </a:r>
          </a:p>
          <a:p>
            <a:pPr marL="514350" lvl="0" indent="-514350" hangingPunct="0">
              <a:buFont typeface="+mj-lt"/>
              <a:buAutoNum type="arabicPeriod"/>
            </a:pPr>
            <a:r>
              <a:rPr lang="ru-RU" dirty="0" smtClean="0"/>
              <a:t>Физический порядок хранимых записей. Кластеризация</a:t>
            </a:r>
          </a:p>
          <a:p>
            <a:pPr marL="514350" lvl="0" indent="-514350" hangingPunct="0">
              <a:buFont typeface="+mj-lt"/>
              <a:buAutoNum type="arabicPeriod"/>
            </a:pPr>
            <a:r>
              <a:rPr lang="ru-RU" dirty="0" smtClean="0"/>
              <a:t>Страничная организация наборов данных</a:t>
            </a:r>
          </a:p>
          <a:p>
            <a:pPr marL="514350" lvl="0" indent="-514350" hangingPunct="0">
              <a:buFont typeface="+mj-lt"/>
              <a:buAutoNum type="arabicPeriod"/>
            </a:pPr>
            <a:r>
              <a:rPr lang="ru-RU" dirty="0" smtClean="0"/>
              <a:t>Структура страницы. RID</a:t>
            </a:r>
          </a:p>
          <a:p>
            <a:pPr marL="514350" lvl="0" indent="-514350" hangingPunct="0">
              <a:buFont typeface="+mj-lt"/>
              <a:buAutoNum type="arabicPeriod"/>
            </a:pPr>
            <a:r>
              <a:rPr lang="ru-RU" dirty="0" smtClean="0"/>
              <a:t>Индексирование</a:t>
            </a:r>
          </a:p>
          <a:p>
            <a:pPr marL="514350" lvl="0" indent="-514350" hangingPunct="0">
              <a:buFont typeface="+mj-lt"/>
              <a:buAutoNum type="arabicPeriod"/>
            </a:pPr>
            <a:r>
              <a:rPr lang="ru-RU" dirty="0" smtClean="0"/>
              <a:t>Структуры типа </a:t>
            </a:r>
            <a:r>
              <a:rPr lang="en-US" dirty="0" smtClean="0"/>
              <a:t>B</a:t>
            </a:r>
            <a:r>
              <a:rPr lang="ru-RU" dirty="0" smtClean="0"/>
              <a:t>-дерево</a:t>
            </a:r>
          </a:p>
          <a:p>
            <a:pPr marL="514350" lvl="0" indent="-514350" hangingPunct="0">
              <a:buFont typeface="+mj-lt"/>
              <a:buAutoNum type="arabicPeriod"/>
            </a:pPr>
            <a:r>
              <a:rPr lang="ru-RU" dirty="0" smtClean="0"/>
              <a:t>Хеширование</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Вопрос 1</a:t>
            </a:r>
            <a:endParaRPr lang="ru-RU" dirty="0"/>
          </a:p>
        </p:txBody>
      </p:sp>
      <p:sp>
        <p:nvSpPr>
          <p:cNvPr id="3" name="Содержимое 2"/>
          <p:cNvSpPr>
            <a:spLocks noGrp="1"/>
          </p:cNvSpPr>
          <p:nvPr>
            <p:ph idx="1"/>
          </p:nvPr>
        </p:nvSpPr>
        <p:spPr>
          <a:xfrm>
            <a:off x="457200" y="1600201"/>
            <a:ext cx="8229600" cy="1828800"/>
          </a:xfrm>
        </p:spPr>
        <p:txBody>
          <a:bodyPr>
            <a:normAutofit/>
          </a:bodyPr>
          <a:lstStyle/>
          <a:p>
            <a:pPr marL="0" lvl="0" indent="0" algn="ctr">
              <a:buNone/>
            </a:pPr>
            <a:r>
              <a:rPr lang="ru-RU" sz="4400" dirty="0" smtClean="0"/>
              <a:t>Процесс доступа к базе данных</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Скорость доступа к памяти</a:t>
            </a:r>
            <a:endParaRPr lang="ru-RU" dirty="0"/>
          </a:p>
        </p:txBody>
      </p:sp>
      <p:sp>
        <p:nvSpPr>
          <p:cNvPr id="3" name="Содержимое 2"/>
          <p:cNvSpPr>
            <a:spLocks noGrp="1"/>
          </p:cNvSpPr>
          <p:nvPr>
            <p:ph idx="1"/>
          </p:nvPr>
        </p:nvSpPr>
        <p:spPr/>
        <p:txBody>
          <a:bodyPr>
            <a:normAutofit/>
          </a:bodyPr>
          <a:lstStyle/>
          <a:p>
            <a:r>
              <a:rPr lang="ru-RU" dirty="0" smtClean="0"/>
              <a:t>Скорость доступа к диску составляет единицы-десятки миллисекунд (основное время тратится на выполнение операции позиционирования блока головок)</a:t>
            </a:r>
          </a:p>
          <a:p>
            <a:r>
              <a:rPr lang="ru-RU" dirty="0" smtClean="0"/>
              <a:t>Скорость доступа к ОП составляет единицы наносекунд</a:t>
            </a:r>
          </a:p>
          <a:p>
            <a:r>
              <a:rPr lang="ru-RU" dirty="0" smtClean="0"/>
              <a:t>Скорость доступа к диску на 5-6 порядков ниже скорости доступа к ОП</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Повышение производительности</a:t>
            </a:r>
            <a:endParaRPr lang="ru-RU" dirty="0"/>
          </a:p>
        </p:txBody>
      </p:sp>
      <p:sp>
        <p:nvSpPr>
          <p:cNvPr id="3" name="Содержимое 2"/>
          <p:cNvSpPr>
            <a:spLocks noGrp="1"/>
          </p:cNvSpPr>
          <p:nvPr>
            <p:ph idx="1"/>
          </p:nvPr>
        </p:nvSpPr>
        <p:spPr/>
        <p:txBody>
          <a:bodyPr/>
          <a:lstStyle/>
          <a:p>
            <a:pPr>
              <a:buNone/>
            </a:pPr>
            <a:r>
              <a:rPr lang="ru-RU" dirty="0" smtClean="0"/>
              <a:t>	Основной целью повышения производительности доступа к внешней памяти  является  минимизация количества операций ввода-вывода данных</a:t>
            </a:r>
          </a:p>
          <a:p>
            <a:endParaRPr lang="ru-RU"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3610744" cy="1143000"/>
          </a:xfrm>
        </p:spPr>
        <p:txBody>
          <a:bodyPr/>
          <a:lstStyle/>
          <a:p>
            <a:r>
              <a:rPr lang="ru-RU" dirty="0" smtClean="0"/>
              <a:t>Доступ к БД</a:t>
            </a:r>
            <a:endParaRPr lang="ru-RU" dirty="0"/>
          </a:p>
        </p:txBody>
      </p:sp>
      <p:pic>
        <p:nvPicPr>
          <p:cNvPr id="6" name="Содержимое 5" descr="Безымянный.tif"/>
          <p:cNvPicPr>
            <a:picLocks noGrp="1" noChangeAspect="1"/>
          </p:cNvPicPr>
          <p:nvPr>
            <p:ph idx="1"/>
          </p:nvPr>
        </p:nvPicPr>
        <p:blipFill>
          <a:blip r:embed="rId2" cstate="print"/>
          <a:stretch>
            <a:fillRect/>
          </a:stretch>
        </p:blipFill>
        <p:spPr>
          <a:xfrm>
            <a:off x="4427984" y="188640"/>
            <a:ext cx="4032448" cy="6424567"/>
          </a:xfr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Уровни представления данных</a:t>
            </a:r>
            <a:endParaRPr lang="ru-RU" dirty="0"/>
          </a:p>
        </p:txBody>
      </p:sp>
      <p:sp>
        <p:nvSpPr>
          <p:cNvPr id="3" name="Содержимое 2"/>
          <p:cNvSpPr>
            <a:spLocks noGrp="1"/>
          </p:cNvSpPr>
          <p:nvPr>
            <p:ph idx="1"/>
          </p:nvPr>
        </p:nvSpPr>
        <p:spPr/>
        <p:txBody>
          <a:bodyPr/>
          <a:lstStyle/>
          <a:p>
            <a:pPr hangingPunct="0"/>
            <a:r>
              <a:rPr lang="ru-RU" dirty="0" smtClean="0"/>
              <a:t>С точки зрения СУБД БД выглядит как </a:t>
            </a:r>
            <a:r>
              <a:rPr lang="ru-RU" i="1" dirty="0" smtClean="0"/>
              <a:t>набор записей</a:t>
            </a:r>
            <a:endParaRPr lang="ru-RU" dirty="0" smtClean="0"/>
          </a:p>
          <a:p>
            <a:pPr hangingPunct="0"/>
            <a:r>
              <a:rPr lang="ru-RU" dirty="0" smtClean="0"/>
              <a:t>С точки зрения диспетчера файлов БД выглядит как </a:t>
            </a:r>
            <a:r>
              <a:rPr lang="ru-RU" i="1" dirty="0" smtClean="0"/>
              <a:t>набор страниц</a:t>
            </a:r>
            <a:endParaRPr lang="ru-RU" dirty="0" smtClean="0"/>
          </a:p>
          <a:p>
            <a:pPr hangingPunct="0"/>
            <a:r>
              <a:rPr lang="ru-RU" dirty="0" smtClean="0"/>
              <a:t>Диспетчер дисков участвует в </a:t>
            </a:r>
            <a:r>
              <a:rPr lang="ru-RU" i="1" dirty="0" smtClean="0"/>
              <a:t>непосредственной работе</a:t>
            </a:r>
            <a:r>
              <a:rPr lang="ru-RU" dirty="0" smtClean="0"/>
              <a:t> с диском</a:t>
            </a:r>
          </a:p>
          <a:p>
            <a:endParaRPr lang="ru-RU"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Граница между ОС и СУБД</a:t>
            </a:r>
            <a:endParaRPr lang="ru-RU" dirty="0"/>
          </a:p>
        </p:txBody>
      </p:sp>
      <p:sp>
        <p:nvSpPr>
          <p:cNvPr id="3" name="Содержимое 2"/>
          <p:cNvSpPr>
            <a:spLocks noGrp="1"/>
          </p:cNvSpPr>
          <p:nvPr>
            <p:ph idx="1"/>
          </p:nvPr>
        </p:nvSpPr>
        <p:spPr/>
        <p:txBody>
          <a:bodyPr/>
          <a:lstStyle/>
          <a:p>
            <a:pPr hangingPunct="0"/>
            <a:r>
              <a:rPr lang="ru-RU" dirty="0" smtClean="0"/>
              <a:t>Диспетчер дисков – компонента ОС</a:t>
            </a:r>
          </a:p>
          <a:p>
            <a:pPr hangingPunct="0"/>
            <a:r>
              <a:rPr lang="ru-RU" dirty="0" smtClean="0"/>
              <a:t>Диспетчер файлов в одних системах – компонента ОС, а в других – часть СУБД</a:t>
            </a:r>
          </a:p>
          <a:p>
            <a:endParaRPr lang="ru-RU"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smtClean="0"/>
              <a:t>Вопрос </a:t>
            </a:r>
            <a:r>
              <a:rPr lang="en-US" dirty="0" smtClean="0"/>
              <a:t>2</a:t>
            </a:r>
            <a:endParaRPr lang="ru-RU" dirty="0"/>
          </a:p>
        </p:txBody>
      </p:sp>
      <p:sp>
        <p:nvSpPr>
          <p:cNvPr id="3" name="Содержимое 2"/>
          <p:cNvSpPr>
            <a:spLocks noGrp="1"/>
          </p:cNvSpPr>
          <p:nvPr>
            <p:ph idx="1"/>
          </p:nvPr>
        </p:nvSpPr>
        <p:spPr>
          <a:xfrm>
            <a:off x="457200" y="1600201"/>
            <a:ext cx="8229600" cy="1828800"/>
          </a:xfrm>
        </p:spPr>
        <p:txBody>
          <a:bodyPr>
            <a:normAutofit/>
          </a:bodyPr>
          <a:lstStyle/>
          <a:p>
            <a:pPr marL="0" lvl="0" indent="0" algn="ctr">
              <a:buNone/>
            </a:pPr>
            <a:r>
              <a:rPr lang="ru-RU" sz="4400" dirty="0" smtClean="0"/>
              <a:t>Физический порядок хранимых записей. Кластеризация</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Кластеризация</a:t>
            </a:r>
            <a:endParaRPr lang="ru-RU" dirty="0"/>
          </a:p>
        </p:txBody>
      </p:sp>
      <p:sp>
        <p:nvSpPr>
          <p:cNvPr id="3" name="Содержимое 2"/>
          <p:cNvSpPr>
            <a:spLocks noGrp="1"/>
          </p:cNvSpPr>
          <p:nvPr>
            <p:ph idx="1"/>
          </p:nvPr>
        </p:nvSpPr>
        <p:spPr/>
        <p:txBody>
          <a:bodyPr>
            <a:normAutofit/>
          </a:bodyPr>
          <a:lstStyle/>
          <a:p>
            <a:pPr hangingPunct="0"/>
            <a:r>
              <a:rPr lang="ru-RU" dirty="0" smtClean="0"/>
              <a:t>В основе технологии кластеризации лежит </a:t>
            </a:r>
            <a:r>
              <a:rPr lang="ru-RU" i="1" dirty="0" smtClean="0"/>
              <a:t>принцип </a:t>
            </a:r>
            <a:r>
              <a:rPr lang="ru-RU" dirty="0" smtClean="0"/>
              <a:t>как можно более </a:t>
            </a:r>
            <a:r>
              <a:rPr lang="ru-RU" i="1" dirty="0" smtClean="0"/>
              <a:t>близкого размещения </a:t>
            </a:r>
            <a:r>
              <a:rPr lang="ru-RU" dirty="0" smtClean="0"/>
              <a:t>на диске логически связанных между собой записей</a:t>
            </a:r>
          </a:p>
          <a:p>
            <a:pPr hangingPunct="0"/>
            <a:r>
              <a:rPr lang="ru-RU" dirty="0" smtClean="0"/>
              <a:t>Кластеризации существенно влияет на производительность</a:t>
            </a:r>
          </a:p>
          <a:p>
            <a:endParaRPr lang="ru-RU"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Влияние на производительность</a:t>
            </a:r>
            <a:endParaRPr lang="ru-RU" dirty="0"/>
          </a:p>
        </p:txBody>
      </p:sp>
      <p:sp>
        <p:nvSpPr>
          <p:cNvPr id="3" name="Содержимое 2"/>
          <p:cNvSpPr>
            <a:spLocks noGrp="1"/>
          </p:cNvSpPr>
          <p:nvPr>
            <p:ph idx="1"/>
          </p:nvPr>
        </p:nvSpPr>
        <p:spPr/>
        <p:txBody>
          <a:bodyPr>
            <a:normAutofit lnSpcReduction="10000"/>
          </a:bodyPr>
          <a:lstStyle/>
          <a:p>
            <a:r>
              <a:rPr lang="ru-RU" dirty="0" smtClean="0"/>
              <a:t>Если запрашиваемые записи находятся на одной странице, то не потребуется выполнять лишнюю операцию ввода/вывода</a:t>
            </a:r>
          </a:p>
          <a:p>
            <a:r>
              <a:rPr lang="ru-RU" dirty="0" smtClean="0"/>
              <a:t>Если они находятся на смежных страницах, то вторая операция ввода/вывода займет меньше времени, поскольку блок головок будет уже находиться в непосредственной близости от нужного положения</a:t>
            </a:r>
          </a:p>
          <a:p>
            <a:endParaRPr lang="ru-RU"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Виды кластеризации</a:t>
            </a:r>
            <a:endParaRPr lang="ru-RU" dirty="0"/>
          </a:p>
        </p:txBody>
      </p:sp>
      <p:sp>
        <p:nvSpPr>
          <p:cNvPr id="3" name="Содержимое 2"/>
          <p:cNvSpPr>
            <a:spLocks noGrp="1"/>
          </p:cNvSpPr>
          <p:nvPr>
            <p:ph idx="1"/>
          </p:nvPr>
        </p:nvSpPr>
        <p:spPr/>
        <p:txBody>
          <a:bodyPr>
            <a:normAutofit/>
          </a:bodyPr>
          <a:lstStyle/>
          <a:p>
            <a:pPr hangingPunct="0"/>
            <a:r>
              <a:rPr lang="ru-RU" dirty="0" smtClean="0"/>
              <a:t>При </a:t>
            </a:r>
            <a:r>
              <a:rPr lang="ru-RU" i="1" dirty="0" err="1" smtClean="0"/>
              <a:t>внутрифайловой</a:t>
            </a:r>
            <a:r>
              <a:rPr lang="ru-RU" i="1" dirty="0" smtClean="0"/>
              <a:t> </a:t>
            </a:r>
            <a:r>
              <a:rPr lang="ru-RU" dirty="0" smtClean="0"/>
              <a:t>кластеризации речь идет о близком расположении однотипных записей</a:t>
            </a:r>
            <a:endParaRPr lang="ru-RU" i="1" dirty="0" smtClean="0"/>
          </a:p>
          <a:p>
            <a:pPr hangingPunct="0"/>
            <a:r>
              <a:rPr lang="ru-RU" dirty="0" smtClean="0"/>
              <a:t>При </a:t>
            </a:r>
            <a:r>
              <a:rPr lang="ru-RU" i="1" dirty="0" err="1" smtClean="0"/>
              <a:t>межфайловой</a:t>
            </a:r>
            <a:r>
              <a:rPr lang="ru-RU" dirty="0" smtClean="0"/>
              <a:t> кластеризации речь идет о близком расположении записей разного типа</a:t>
            </a:r>
          </a:p>
          <a:p>
            <a:endParaRPr lang="ru-RU"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Особенности</a:t>
            </a:r>
            <a:endParaRPr lang="ru-RU" dirty="0"/>
          </a:p>
        </p:txBody>
      </p:sp>
      <p:sp>
        <p:nvSpPr>
          <p:cNvPr id="3" name="Содержимое 2"/>
          <p:cNvSpPr>
            <a:spLocks noGrp="1"/>
          </p:cNvSpPr>
          <p:nvPr>
            <p:ph idx="1"/>
          </p:nvPr>
        </p:nvSpPr>
        <p:spPr/>
        <p:txBody>
          <a:bodyPr>
            <a:normAutofit/>
          </a:bodyPr>
          <a:lstStyle/>
          <a:p>
            <a:pPr hangingPunct="0"/>
            <a:r>
              <a:rPr lang="ru-RU" dirty="0" smtClean="0"/>
              <a:t>В каждый момент времени кластеризацию можно осуществить только одним способом</a:t>
            </a:r>
          </a:p>
          <a:p>
            <a:pPr hangingPunct="0"/>
            <a:r>
              <a:rPr lang="ru-RU" dirty="0" smtClean="0"/>
              <a:t>СУБД может осуществлять кластеризацию, размещая логически связанные записи на одной или смежных страницах</a:t>
            </a:r>
          </a:p>
          <a:p>
            <a:pPr hangingPunct="0"/>
            <a:r>
              <a:rPr lang="ru-RU" dirty="0" smtClean="0"/>
              <a:t>Для этого СУБД необходимо иметь сведения о страницах</a:t>
            </a:r>
          </a:p>
          <a:p>
            <a:endParaRPr lang="ru-RU"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smtClean="0"/>
              <a:t>Вопрос </a:t>
            </a:r>
            <a:r>
              <a:rPr lang="en-US" dirty="0" smtClean="0"/>
              <a:t>3</a:t>
            </a:r>
            <a:endParaRPr lang="ru-RU" dirty="0"/>
          </a:p>
        </p:txBody>
      </p:sp>
      <p:sp>
        <p:nvSpPr>
          <p:cNvPr id="3" name="Содержимое 2"/>
          <p:cNvSpPr>
            <a:spLocks noGrp="1"/>
          </p:cNvSpPr>
          <p:nvPr>
            <p:ph idx="1"/>
          </p:nvPr>
        </p:nvSpPr>
        <p:spPr>
          <a:xfrm>
            <a:off x="457200" y="1600201"/>
            <a:ext cx="8229600" cy="1828800"/>
          </a:xfrm>
        </p:spPr>
        <p:txBody>
          <a:bodyPr>
            <a:normAutofit/>
          </a:bodyPr>
          <a:lstStyle/>
          <a:p>
            <a:pPr marL="0" lvl="0" indent="0" algn="ctr">
              <a:buNone/>
            </a:pPr>
            <a:r>
              <a:rPr lang="ru-RU" sz="4400" dirty="0" smtClean="0"/>
              <a:t>Страничная организация наборов данных</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Упрощенная БД</a:t>
            </a:r>
            <a:endParaRPr lang="ru-RU" dirty="0"/>
          </a:p>
        </p:txBody>
      </p:sp>
      <p:sp>
        <p:nvSpPr>
          <p:cNvPr id="3" name="Содержимое 2"/>
          <p:cNvSpPr>
            <a:spLocks noGrp="1"/>
          </p:cNvSpPr>
          <p:nvPr>
            <p:ph idx="1"/>
          </p:nvPr>
        </p:nvSpPr>
        <p:spPr/>
        <p:txBody>
          <a:bodyPr/>
          <a:lstStyle/>
          <a:p>
            <a:r>
              <a:rPr lang="en-US" dirty="0" smtClean="0"/>
              <a:t>S – </a:t>
            </a:r>
            <a:r>
              <a:rPr lang="ru-RU" dirty="0" smtClean="0"/>
              <a:t>поставщики</a:t>
            </a:r>
          </a:p>
          <a:p>
            <a:r>
              <a:rPr lang="en-US" dirty="0" smtClean="0"/>
              <a:t>P </a:t>
            </a:r>
            <a:r>
              <a:rPr lang="ru-RU" dirty="0" smtClean="0"/>
              <a:t>– детали</a:t>
            </a:r>
          </a:p>
          <a:p>
            <a:r>
              <a:rPr lang="en-US" dirty="0" smtClean="0"/>
              <a:t>S</a:t>
            </a:r>
            <a:r>
              <a:rPr lang="ru-RU" dirty="0" smtClean="0"/>
              <a:t>/</a:t>
            </a:r>
            <a:r>
              <a:rPr lang="en-US" dirty="0" smtClean="0"/>
              <a:t>P – </a:t>
            </a:r>
            <a:r>
              <a:rPr lang="ru-RU" dirty="0" smtClean="0"/>
              <a:t>поставки</a:t>
            </a:r>
          </a:p>
          <a:p>
            <a:r>
              <a:rPr lang="ru-RU" dirty="0" smtClean="0"/>
              <a:t>Каждая запись занимает одну страницу</a:t>
            </a:r>
          </a:p>
          <a:p>
            <a:endParaRPr lang="ru-RU"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После первоначальной загрузки БД</a:t>
            </a:r>
            <a:endParaRPr lang="ru-RU" dirty="0"/>
          </a:p>
        </p:txBody>
      </p:sp>
      <p:pic>
        <p:nvPicPr>
          <p:cNvPr id="4" name="Содержимое 3" descr="Безымянный2.tif"/>
          <p:cNvPicPr>
            <a:picLocks noGrp="1" noChangeAspect="1"/>
          </p:cNvPicPr>
          <p:nvPr>
            <p:ph idx="1"/>
          </p:nvPr>
        </p:nvPicPr>
        <p:blipFill>
          <a:blip r:embed="rId2" cstate="print"/>
          <a:stretch>
            <a:fillRect/>
          </a:stretch>
        </p:blipFill>
        <p:spPr>
          <a:xfrm>
            <a:off x="690562" y="1867694"/>
            <a:ext cx="7762875" cy="3990975"/>
          </a:xfr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Выполнены операции</a:t>
            </a:r>
            <a:endParaRPr lang="ru-RU" dirty="0"/>
          </a:p>
        </p:txBody>
      </p:sp>
      <p:sp>
        <p:nvSpPr>
          <p:cNvPr id="3" name="Содержимое 2"/>
          <p:cNvSpPr>
            <a:spLocks noGrp="1"/>
          </p:cNvSpPr>
          <p:nvPr>
            <p:ph idx="1"/>
          </p:nvPr>
        </p:nvSpPr>
        <p:spPr/>
        <p:txBody>
          <a:bodyPr/>
          <a:lstStyle/>
          <a:p>
            <a:r>
              <a:rPr lang="ru-RU" dirty="0" smtClean="0"/>
              <a:t>вставки записи поставщика S6</a:t>
            </a:r>
          </a:p>
          <a:p>
            <a:r>
              <a:rPr lang="ru-RU" dirty="0" smtClean="0"/>
              <a:t>удаления записи поставщика S2</a:t>
            </a:r>
          </a:p>
          <a:p>
            <a:r>
              <a:rPr lang="ru-RU" dirty="0" smtClean="0"/>
              <a:t>вставки записи детали Р7</a:t>
            </a:r>
          </a:p>
          <a:p>
            <a:r>
              <a:rPr lang="ru-RU" dirty="0" smtClean="0"/>
              <a:t>удаления записи поставщика S4</a:t>
            </a:r>
          </a:p>
          <a:p>
            <a:endParaRPr lang="ru-RU"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После выполнения ряда операций</a:t>
            </a:r>
            <a:endParaRPr lang="ru-RU" dirty="0"/>
          </a:p>
        </p:txBody>
      </p:sp>
      <p:pic>
        <p:nvPicPr>
          <p:cNvPr id="4" name="Содержимое 3" descr="Безымянный3.tif"/>
          <p:cNvPicPr>
            <a:picLocks noGrp="1" noChangeAspect="1"/>
          </p:cNvPicPr>
          <p:nvPr>
            <p:ph idx="1"/>
          </p:nvPr>
        </p:nvPicPr>
        <p:blipFill>
          <a:blip r:embed="rId2" cstate="print"/>
          <a:stretch>
            <a:fillRect/>
          </a:stretch>
        </p:blipFill>
        <p:spPr>
          <a:xfrm>
            <a:off x="685800" y="1853406"/>
            <a:ext cx="7772400" cy="4019550"/>
          </a:xfr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Выводы</a:t>
            </a:r>
            <a:endParaRPr lang="ru-RU" dirty="0"/>
          </a:p>
        </p:txBody>
      </p:sp>
      <p:sp>
        <p:nvSpPr>
          <p:cNvPr id="3" name="Содержимое 2"/>
          <p:cNvSpPr>
            <a:spLocks noGrp="1"/>
          </p:cNvSpPr>
          <p:nvPr>
            <p:ph idx="1"/>
          </p:nvPr>
        </p:nvSpPr>
        <p:spPr/>
        <p:txBody>
          <a:bodyPr>
            <a:normAutofit/>
          </a:bodyPr>
          <a:lstStyle/>
          <a:p>
            <a:pPr hangingPunct="0"/>
            <a:r>
              <a:rPr lang="ru-RU" dirty="0" smtClean="0"/>
              <a:t>После выполнения нескольких обычных действий </a:t>
            </a:r>
            <a:r>
              <a:rPr lang="ru-RU" i="1" dirty="0" smtClean="0"/>
              <a:t>нельзя гарантировать</a:t>
            </a:r>
            <a:r>
              <a:rPr lang="ru-RU" dirty="0" smtClean="0"/>
              <a:t>, что логически близкие страницы будут физически располагаться одна возле другой</a:t>
            </a:r>
          </a:p>
          <a:p>
            <a:pPr hangingPunct="0"/>
            <a:r>
              <a:rPr lang="ru-RU" dirty="0" smtClean="0"/>
              <a:t>Поэтому </a:t>
            </a:r>
            <a:r>
              <a:rPr lang="ru-RU" i="1" dirty="0" smtClean="0"/>
              <a:t>логическую последовательность</a:t>
            </a:r>
            <a:r>
              <a:rPr lang="ru-RU" dirty="0" smtClean="0"/>
              <a:t> страниц следует задавать с помощью указателей, для чего каждая страница содержит </a:t>
            </a:r>
            <a:r>
              <a:rPr lang="ru-RU" i="1" dirty="0" smtClean="0"/>
              <a:t>заголовок</a:t>
            </a:r>
            <a:endParaRPr lang="ru-RU" dirty="0" smtClean="0"/>
          </a:p>
          <a:p>
            <a:pPr hangingPunct="0"/>
            <a:endParaRPr lang="ru-RU" dirty="0" smtClean="0"/>
          </a:p>
          <a:p>
            <a:endParaRPr lang="ru-RU"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Применение указателей</a:t>
            </a:r>
            <a:endParaRPr lang="ru-RU" dirty="0"/>
          </a:p>
        </p:txBody>
      </p:sp>
      <p:pic>
        <p:nvPicPr>
          <p:cNvPr id="6" name="Содержимое 5" descr="Безымянный4.tif"/>
          <p:cNvPicPr>
            <a:picLocks noGrp="1" noChangeAspect="1"/>
          </p:cNvPicPr>
          <p:nvPr>
            <p:ph idx="1"/>
          </p:nvPr>
        </p:nvPicPr>
        <p:blipFill>
          <a:blip r:embed="rId2" cstate="print"/>
          <a:stretch>
            <a:fillRect/>
          </a:stretch>
        </p:blipFill>
        <p:spPr>
          <a:xfrm>
            <a:off x="666750" y="1872456"/>
            <a:ext cx="7810500" cy="3981450"/>
          </a:xfr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Особенности</a:t>
            </a:r>
            <a:endParaRPr lang="ru-RU" dirty="0"/>
          </a:p>
        </p:txBody>
      </p:sp>
      <p:sp>
        <p:nvSpPr>
          <p:cNvPr id="3" name="Содержимое 2"/>
          <p:cNvSpPr>
            <a:spLocks noGrp="1"/>
          </p:cNvSpPr>
          <p:nvPr>
            <p:ph idx="1"/>
          </p:nvPr>
        </p:nvSpPr>
        <p:spPr/>
        <p:txBody>
          <a:bodyPr>
            <a:normAutofit lnSpcReduction="10000"/>
          </a:bodyPr>
          <a:lstStyle/>
          <a:p>
            <a:pPr lvl="0" hangingPunct="0"/>
            <a:r>
              <a:rPr lang="ru-RU" dirty="0" smtClean="0"/>
              <a:t>Заголовки страниц (в частности, указатели следующих страниц) должны быть скрыты от диспетчера файлов</a:t>
            </a:r>
          </a:p>
          <a:p>
            <a:pPr lvl="0" hangingPunct="0"/>
            <a:r>
              <a:rPr lang="ru-RU" dirty="0" smtClean="0"/>
              <a:t>Размещение и удаление страниц ведется блоками – экстентами (например, по 64 страницы)</a:t>
            </a:r>
          </a:p>
          <a:p>
            <a:pPr lvl="0" hangingPunct="0"/>
            <a:r>
              <a:rPr lang="ru-RU" dirty="0" smtClean="0"/>
              <a:t>Для хранения информации о различных наборах страниц отводится специальная </a:t>
            </a:r>
            <a:r>
              <a:rPr lang="ru-RU" i="1" dirty="0" smtClean="0"/>
              <a:t>страница 0 (каталог)</a:t>
            </a:r>
            <a:endParaRPr lang="ru-RU" dirty="0" smtClean="0"/>
          </a:p>
          <a:p>
            <a:endParaRPr lang="ru-RU"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Страница 0 (каталог)</a:t>
            </a:r>
            <a:endParaRPr lang="ru-RU" dirty="0"/>
          </a:p>
        </p:txBody>
      </p:sp>
      <p:pic>
        <p:nvPicPr>
          <p:cNvPr id="4" name="Содержимое 3" descr="Безымянный5.tif"/>
          <p:cNvPicPr>
            <a:picLocks noGrp="1" noChangeAspect="1"/>
          </p:cNvPicPr>
          <p:nvPr>
            <p:ph idx="1"/>
          </p:nvPr>
        </p:nvPicPr>
        <p:blipFill>
          <a:blip r:embed="rId2" cstate="print"/>
          <a:stretch>
            <a:fillRect/>
          </a:stretch>
        </p:blipFill>
        <p:spPr>
          <a:xfrm>
            <a:off x="2411760" y="1600200"/>
            <a:ext cx="4275913" cy="4997152"/>
          </a:xfr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smtClean="0"/>
              <a:t>Вопрос </a:t>
            </a:r>
            <a:r>
              <a:rPr lang="en-US" dirty="0" smtClean="0"/>
              <a:t>4</a:t>
            </a:r>
            <a:endParaRPr lang="ru-RU" dirty="0"/>
          </a:p>
        </p:txBody>
      </p:sp>
      <p:sp>
        <p:nvSpPr>
          <p:cNvPr id="3" name="Содержимое 2"/>
          <p:cNvSpPr>
            <a:spLocks noGrp="1"/>
          </p:cNvSpPr>
          <p:nvPr>
            <p:ph idx="1"/>
          </p:nvPr>
        </p:nvSpPr>
        <p:spPr>
          <a:xfrm>
            <a:off x="457200" y="1600201"/>
            <a:ext cx="8229600" cy="1828800"/>
          </a:xfrm>
        </p:spPr>
        <p:txBody>
          <a:bodyPr>
            <a:normAutofit/>
          </a:bodyPr>
          <a:lstStyle/>
          <a:p>
            <a:pPr marL="0" lvl="0" indent="0" algn="ctr">
              <a:buNone/>
            </a:pPr>
            <a:r>
              <a:rPr lang="ru-RU" sz="4400" dirty="0" smtClean="0"/>
              <a:t>Структура страницы. </a:t>
            </a:r>
            <a:r>
              <a:rPr lang="en-US" sz="4400" dirty="0" smtClean="0"/>
              <a:t>RID</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После первоначальной загрузки</a:t>
            </a:r>
            <a:endParaRPr lang="ru-RU" dirty="0"/>
          </a:p>
        </p:txBody>
      </p:sp>
      <p:pic>
        <p:nvPicPr>
          <p:cNvPr id="4" name="Содержимое 3" descr="Безымянный6.tif"/>
          <p:cNvPicPr>
            <a:picLocks noGrp="1" noChangeAspect="1"/>
          </p:cNvPicPr>
          <p:nvPr>
            <p:ph idx="1"/>
          </p:nvPr>
        </p:nvPicPr>
        <p:blipFill>
          <a:blip r:embed="rId2" cstate="print"/>
          <a:stretch>
            <a:fillRect/>
          </a:stretch>
        </p:blipFill>
        <p:spPr>
          <a:xfrm>
            <a:off x="2162175" y="1600994"/>
            <a:ext cx="4819650" cy="4524375"/>
          </a:xfr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Выполнены операции</a:t>
            </a:r>
            <a:endParaRPr lang="ru-RU" dirty="0"/>
          </a:p>
        </p:txBody>
      </p:sp>
      <p:sp>
        <p:nvSpPr>
          <p:cNvPr id="3" name="Содержимое 2"/>
          <p:cNvSpPr>
            <a:spLocks noGrp="1"/>
          </p:cNvSpPr>
          <p:nvPr>
            <p:ph idx="1"/>
          </p:nvPr>
        </p:nvSpPr>
        <p:spPr/>
        <p:txBody>
          <a:bodyPr/>
          <a:lstStyle/>
          <a:p>
            <a:r>
              <a:rPr lang="ru-RU" dirty="0" smtClean="0"/>
              <a:t>вставки записи поставщика S9</a:t>
            </a:r>
          </a:p>
          <a:p>
            <a:r>
              <a:rPr lang="ru-RU" dirty="0" smtClean="0"/>
              <a:t>удаления записи поставщика S2</a:t>
            </a:r>
          </a:p>
          <a:p>
            <a:r>
              <a:rPr lang="ru-RU" dirty="0" smtClean="0"/>
              <a:t>вставки записи поставщика S7</a:t>
            </a:r>
          </a:p>
          <a:p>
            <a:endParaRPr lang="ru-RU"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После выполнения ряда операций</a:t>
            </a:r>
            <a:endParaRPr lang="ru-RU" dirty="0"/>
          </a:p>
        </p:txBody>
      </p:sp>
      <p:pic>
        <p:nvPicPr>
          <p:cNvPr id="4" name="Содержимое 3" descr="Безымянный7.tif"/>
          <p:cNvPicPr>
            <a:picLocks noGrp="1" noChangeAspect="1"/>
          </p:cNvPicPr>
          <p:nvPr>
            <p:ph idx="1"/>
          </p:nvPr>
        </p:nvPicPr>
        <p:blipFill>
          <a:blip r:embed="rId2" cstate="print"/>
          <a:stretch>
            <a:fillRect/>
          </a:stretch>
        </p:blipFill>
        <p:spPr>
          <a:xfrm>
            <a:off x="2152131" y="1600200"/>
            <a:ext cx="4839738" cy="4525963"/>
          </a:xfr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Выводы</a:t>
            </a:r>
            <a:endParaRPr lang="ru-RU" dirty="0"/>
          </a:p>
        </p:txBody>
      </p:sp>
      <p:sp>
        <p:nvSpPr>
          <p:cNvPr id="3" name="Содержимое 2"/>
          <p:cNvSpPr>
            <a:spLocks noGrp="1"/>
          </p:cNvSpPr>
          <p:nvPr>
            <p:ph idx="1"/>
          </p:nvPr>
        </p:nvSpPr>
        <p:spPr/>
        <p:txBody>
          <a:bodyPr>
            <a:normAutofit fontScale="92500"/>
          </a:bodyPr>
          <a:lstStyle/>
          <a:p>
            <a:pPr hangingPunct="0"/>
            <a:r>
              <a:rPr lang="ru-RU" i="1" dirty="0" smtClean="0"/>
              <a:t>Логическая последовательность</a:t>
            </a:r>
            <a:r>
              <a:rPr lang="ru-RU" dirty="0" smtClean="0"/>
              <a:t> записей на странице совпадает с </a:t>
            </a:r>
            <a:r>
              <a:rPr lang="ru-RU" i="1" dirty="0" smtClean="0"/>
              <a:t>физической последовательностью</a:t>
            </a:r>
            <a:r>
              <a:rPr lang="ru-RU" dirty="0" smtClean="0"/>
              <a:t> записей на странице</a:t>
            </a:r>
          </a:p>
          <a:p>
            <a:r>
              <a:rPr lang="ru-RU" dirty="0" smtClean="0"/>
              <a:t>Для достижения этого эффекта диспетчер файлов сдвигает записи вверх и вниз и обеспечивает то, что все записи с данными постоянно находятся в верхней части страницы, а все свободное пространство — в нижней ее части</a:t>
            </a:r>
          </a:p>
          <a:p>
            <a:endParaRPr lang="ru-RU"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91264" cy="1143000"/>
          </a:xfrm>
        </p:spPr>
        <p:txBody>
          <a:bodyPr>
            <a:normAutofit fontScale="90000"/>
          </a:bodyPr>
          <a:lstStyle/>
          <a:p>
            <a:r>
              <a:rPr lang="ru-RU" dirty="0" smtClean="0"/>
              <a:t>Косвенная адресация с помощью </a:t>
            </a:r>
            <a:r>
              <a:rPr lang="en-US" dirty="0" smtClean="0"/>
              <a:t>RID</a:t>
            </a:r>
            <a:endParaRPr lang="ru-RU" dirty="0"/>
          </a:p>
        </p:txBody>
      </p:sp>
      <p:pic>
        <p:nvPicPr>
          <p:cNvPr id="4" name="Содержимое 3" descr="Безымянный8.tif"/>
          <p:cNvPicPr>
            <a:picLocks noGrp="1" noChangeAspect="1"/>
          </p:cNvPicPr>
          <p:nvPr>
            <p:ph idx="1"/>
          </p:nvPr>
        </p:nvPicPr>
        <p:blipFill>
          <a:blip r:embed="rId2" cstate="print"/>
          <a:stretch>
            <a:fillRect/>
          </a:stretch>
        </p:blipFill>
        <p:spPr>
          <a:xfrm>
            <a:off x="755576" y="1484784"/>
            <a:ext cx="7573767" cy="4503895"/>
          </a:xfr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Приставка записи</a:t>
            </a:r>
            <a:endParaRPr lang="ru-RU" dirty="0"/>
          </a:p>
        </p:txBody>
      </p:sp>
      <p:sp>
        <p:nvSpPr>
          <p:cNvPr id="3" name="Содержимое 2"/>
          <p:cNvSpPr>
            <a:spLocks noGrp="1"/>
          </p:cNvSpPr>
          <p:nvPr>
            <p:ph idx="1"/>
          </p:nvPr>
        </p:nvSpPr>
        <p:spPr/>
        <p:txBody>
          <a:bodyPr/>
          <a:lstStyle/>
          <a:p>
            <a:r>
              <a:rPr lang="ru-RU" i="1" dirty="0" smtClean="0"/>
              <a:t>Приставка (префикс) записи</a:t>
            </a:r>
            <a:r>
              <a:rPr lang="ru-RU" dirty="0" smtClean="0"/>
              <a:t> – сопроводительная информация о записи, срытая от СУБД</a:t>
            </a:r>
          </a:p>
          <a:p>
            <a:r>
              <a:rPr lang="ru-RU" dirty="0" smtClean="0"/>
              <a:t>Примеры сопроводительной информации: </a:t>
            </a:r>
          </a:p>
          <a:p>
            <a:pPr lvl="1"/>
            <a:r>
              <a:rPr lang="ru-RU" dirty="0" smtClean="0"/>
              <a:t>длина записи</a:t>
            </a:r>
          </a:p>
          <a:p>
            <a:pPr lvl="1"/>
            <a:r>
              <a:rPr lang="ru-RU" dirty="0" smtClean="0"/>
              <a:t>флаг удаления</a:t>
            </a:r>
          </a:p>
          <a:p>
            <a:pPr lvl="1"/>
            <a:r>
              <a:rPr lang="ru-RU" dirty="0" smtClean="0"/>
              <a:t>и т.п.</a:t>
            </a:r>
          </a:p>
          <a:p>
            <a:endParaRPr lang="ru-RU"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smtClean="0"/>
              <a:t>Вопрос </a:t>
            </a:r>
            <a:r>
              <a:rPr lang="en-US" dirty="0" smtClean="0"/>
              <a:t>5</a:t>
            </a:r>
            <a:endParaRPr lang="ru-RU" dirty="0"/>
          </a:p>
        </p:txBody>
      </p:sp>
      <p:sp>
        <p:nvSpPr>
          <p:cNvPr id="3" name="Содержимое 2"/>
          <p:cNvSpPr>
            <a:spLocks noGrp="1"/>
          </p:cNvSpPr>
          <p:nvPr>
            <p:ph idx="1"/>
          </p:nvPr>
        </p:nvSpPr>
        <p:spPr>
          <a:xfrm>
            <a:off x="457200" y="1600200"/>
            <a:ext cx="8229600" cy="2332855"/>
          </a:xfrm>
        </p:spPr>
        <p:txBody>
          <a:bodyPr>
            <a:normAutofit/>
          </a:bodyPr>
          <a:lstStyle/>
          <a:p>
            <a:pPr marL="0" lvl="0" indent="0" algn="ctr">
              <a:buNone/>
            </a:pPr>
            <a:r>
              <a:rPr lang="ru-RU" sz="4400" dirty="0" smtClean="0"/>
              <a:t>Индексирование</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Индекс</a:t>
            </a:r>
            <a:endParaRPr lang="ru-RU" dirty="0"/>
          </a:p>
        </p:txBody>
      </p:sp>
      <p:sp>
        <p:nvSpPr>
          <p:cNvPr id="3" name="Содержимое 2"/>
          <p:cNvSpPr>
            <a:spLocks noGrp="1"/>
          </p:cNvSpPr>
          <p:nvPr>
            <p:ph idx="1"/>
          </p:nvPr>
        </p:nvSpPr>
        <p:spPr>
          <a:xfrm>
            <a:off x="457200" y="1600200"/>
            <a:ext cx="8291264" cy="4525963"/>
          </a:xfrm>
        </p:spPr>
        <p:txBody>
          <a:bodyPr>
            <a:normAutofit lnSpcReduction="10000"/>
          </a:bodyPr>
          <a:lstStyle/>
          <a:p>
            <a:r>
              <a:rPr lang="ru-RU" i="1" dirty="0" smtClean="0"/>
              <a:t>Индексный файл (индекс)</a:t>
            </a:r>
            <a:r>
              <a:rPr lang="ru-RU" dirty="0" smtClean="0"/>
              <a:t>– это хранимый файл особого типа, в котором каждая запись состоит из двух значений, а именно данных и </a:t>
            </a:r>
            <a:r>
              <a:rPr lang="en-US" dirty="0" smtClean="0"/>
              <a:t>RID</a:t>
            </a:r>
            <a:r>
              <a:rPr lang="ru-RU" dirty="0" smtClean="0"/>
              <a:t>-указателя</a:t>
            </a:r>
          </a:p>
          <a:p>
            <a:r>
              <a:rPr lang="ru-RU" dirty="0" smtClean="0"/>
              <a:t>Данные содержат значение индексного поля из индексированного файла</a:t>
            </a:r>
          </a:p>
          <a:p>
            <a:r>
              <a:rPr lang="ru-RU" dirty="0" smtClean="0"/>
              <a:t>Указатель необходим для связывания с соответствующей записью индексированного файла</a:t>
            </a:r>
          </a:p>
          <a:p>
            <a:endParaRPr lang="ru-RU"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Пример индекса</a:t>
            </a:r>
            <a:endParaRPr lang="ru-RU" dirty="0"/>
          </a:p>
        </p:txBody>
      </p:sp>
      <p:pic>
        <p:nvPicPr>
          <p:cNvPr id="4" name="Содержимое 3" descr="1.tif"/>
          <p:cNvPicPr>
            <a:picLocks noGrp="1" noChangeAspect="1"/>
          </p:cNvPicPr>
          <p:nvPr>
            <p:ph idx="1"/>
          </p:nvPr>
        </p:nvPicPr>
        <p:blipFill>
          <a:blip r:embed="rId2" cstate="print"/>
          <a:stretch>
            <a:fillRect/>
          </a:stretch>
        </p:blipFill>
        <p:spPr>
          <a:xfrm>
            <a:off x="683568" y="1916832"/>
            <a:ext cx="7709958" cy="3744416"/>
          </a:xfr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Инвертированные списки</a:t>
            </a:r>
            <a:endParaRPr lang="ru-RU" dirty="0"/>
          </a:p>
        </p:txBody>
      </p:sp>
      <p:sp>
        <p:nvSpPr>
          <p:cNvPr id="3" name="Содержимое 2"/>
          <p:cNvSpPr>
            <a:spLocks noGrp="1"/>
          </p:cNvSpPr>
          <p:nvPr>
            <p:ph idx="1"/>
          </p:nvPr>
        </p:nvSpPr>
        <p:spPr/>
        <p:txBody>
          <a:bodyPr>
            <a:normAutofit/>
          </a:bodyPr>
          <a:lstStyle/>
          <a:p>
            <a:r>
              <a:rPr lang="ru-RU" dirty="0" smtClean="0"/>
              <a:t>Индексы иногда называют </a:t>
            </a:r>
            <a:r>
              <a:rPr lang="ru-RU" i="1" dirty="0" smtClean="0"/>
              <a:t>инвертированными списками</a:t>
            </a:r>
          </a:p>
          <a:p>
            <a:r>
              <a:rPr lang="ru-RU" dirty="0" smtClean="0"/>
              <a:t>«Обычный» файл содержит для каждой записи список значений полей данной записи</a:t>
            </a:r>
          </a:p>
          <a:p>
            <a:r>
              <a:rPr lang="ru-RU" dirty="0" smtClean="0"/>
              <a:t>Индекс, по сути, для каждого значения индексированного поля содержит список записей, имеющих это значение</a:t>
            </a:r>
            <a:endParaRPr lang="ru-RU"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Ключи и индексы</a:t>
            </a:r>
            <a:endParaRPr lang="ru-RU" dirty="0"/>
          </a:p>
        </p:txBody>
      </p:sp>
      <p:sp>
        <p:nvSpPr>
          <p:cNvPr id="3" name="Содержимое 2"/>
          <p:cNvSpPr>
            <a:spLocks noGrp="1"/>
          </p:cNvSpPr>
          <p:nvPr>
            <p:ph idx="1"/>
          </p:nvPr>
        </p:nvSpPr>
        <p:spPr/>
        <p:txBody>
          <a:bodyPr/>
          <a:lstStyle/>
          <a:p>
            <a:r>
              <a:rPr lang="ru-RU" dirty="0" smtClean="0"/>
              <a:t>Индекс, организованный на основе первичного ключа называется </a:t>
            </a:r>
            <a:r>
              <a:rPr lang="ru-RU" i="1" dirty="0" smtClean="0"/>
              <a:t>первичным</a:t>
            </a:r>
          </a:p>
          <a:p>
            <a:r>
              <a:rPr lang="ru-RU" dirty="0" smtClean="0"/>
              <a:t>Индексы, организованные на основе других полей называются </a:t>
            </a:r>
            <a:r>
              <a:rPr lang="ru-RU" i="1" dirty="0" smtClean="0"/>
              <a:t>вторичными</a:t>
            </a:r>
            <a:endParaRPr lang="ru-RU" dirty="0" smtClean="0"/>
          </a:p>
          <a:p>
            <a:r>
              <a:rPr lang="ru-RU" dirty="0" smtClean="0"/>
              <a:t>Кроме того, индекс, организованный на основе любого потенциального ключа называется </a:t>
            </a:r>
            <a:r>
              <a:rPr lang="ru-RU" i="1" dirty="0" smtClean="0"/>
              <a:t>уникальным</a:t>
            </a:r>
            <a:endParaRPr lang="ru-RU" dirty="0" smtClean="0"/>
          </a:p>
          <a:p>
            <a:endParaRPr lang="ru-RU"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714202"/>
          </a:xfrm>
        </p:spPr>
        <p:txBody>
          <a:bodyPr>
            <a:normAutofit/>
          </a:bodyPr>
          <a:lstStyle/>
          <a:p>
            <a:r>
              <a:rPr lang="ru-RU" dirty="0" smtClean="0"/>
              <a:t>Преимущества и недостатки индексирования</a:t>
            </a:r>
            <a:endParaRPr lang="ru-RU" dirty="0"/>
          </a:p>
        </p:txBody>
      </p:sp>
      <p:sp>
        <p:nvSpPr>
          <p:cNvPr id="3" name="Содержимое 2"/>
          <p:cNvSpPr>
            <a:spLocks noGrp="1"/>
          </p:cNvSpPr>
          <p:nvPr>
            <p:ph idx="1"/>
          </p:nvPr>
        </p:nvSpPr>
        <p:spPr>
          <a:xfrm>
            <a:off x="457200" y="2132856"/>
            <a:ext cx="8229600" cy="3993307"/>
          </a:xfrm>
        </p:spPr>
        <p:txBody>
          <a:bodyPr/>
          <a:lstStyle/>
          <a:p>
            <a:r>
              <a:rPr lang="ru-RU" dirty="0" smtClean="0"/>
              <a:t>Основным </a:t>
            </a:r>
            <a:r>
              <a:rPr lang="ru-RU" i="1" dirty="0" smtClean="0"/>
              <a:t>преимуществом </a:t>
            </a:r>
            <a:r>
              <a:rPr lang="ru-RU" dirty="0" smtClean="0"/>
              <a:t>использования индексов является значительное ускорение процесса выборки данных</a:t>
            </a:r>
          </a:p>
          <a:p>
            <a:r>
              <a:rPr lang="ru-RU" dirty="0" smtClean="0"/>
              <a:t>Основным </a:t>
            </a:r>
            <a:r>
              <a:rPr lang="ru-RU" i="1" dirty="0" smtClean="0"/>
              <a:t>недостатком </a:t>
            </a:r>
            <a:r>
              <a:rPr lang="ru-RU" dirty="0" smtClean="0"/>
              <a:t>– замедление процессов обновления данных</a:t>
            </a:r>
          </a:p>
          <a:p>
            <a:endParaRPr lang="ru-RU"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Варианты использования индексов</a:t>
            </a:r>
            <a:endParaRPr lang="ru-RU" dirty="0"/>
          </a:p>
        </p:txBody>
      </p:sp>
      <p:sp>
        <p:nvSpPr>
          <p:cNvPr id="3" name="Содержимое 2"/>
          <p:cNvSpPr>
            <a:spLocks noGrp="1"/>
          </p:cNvSpPr>
          <p:nvPr>
            <p:ph idx="1"/>
          </p:nvPr>
        </p:nvSpPr>
        <p:spPr/>
        <p:txBody>
          <a:bodyPr/>
          <a:lstStyle/>
          <a:p>
            <a:pPr lvl="0" hangingPunct="0"/>
            <a:r>
              <a:rPr lang="ru-RU" dirty="0" smtClean="0"/>
              <a:t>Последовательный доступ</a:t>
            </a:r>
          </a:p>
          <a:p>
            <a:pPr lvl="1" hangingPunct="0">
              <a:buNone/>
            </a:pPr>
            <a:r>
              <a:rPr lang="ru-RU" dirty="0" smtClean="0"/>
              <a:t>например, для упорядочивания данных запроса</a:t>
            </a:r>
          </a:p>
          <a:p>
            <a:pPr lvl="0" hangingPunct="0"/>
            <a:r>
              <a:rPr lang="ru-RU" dirty="0" smtClean="0"/>
              <a:t>Прямой доступ</a:t>
            </a:r>
          </a:p>
          <a:p>
            <a:pPr lvl="1" hangingPunct="0">
              <a:buNone/>
            </a:pPr>
            <a:r>
              <a:rPr lang="ru-RU" dirty="0" smtClean="0"/>
              <a:t>например, при поиске на точное совпадение</a:t>
            </a:r>
          </a:p>
          <a:p>
            <a:endParaRPr lang="ru-RU"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Составной индекс</a:t>
            </a:r>
            <a:endParaRPr lang="ru-RU" dirty="0"/>
          </a:p>
        </p:txBody>
      </p:sp>
      <p:sp>
        <p:nvSpPr>
          <p:cNvPr id="3" name="Содержимое 2"/>
          <p:cNvSpPr>
            <a:spLocks noGrp="1"/>
          </p:cNvSpPr>
          <p:nvPr>
            <p:ph idx="1"/>
          </p:nvPr>
        </p:nvSpPr>
        <p:spPr/>
        <p:txBody>
          <a:bodyPr>
            <a:normAutofit lnSpcReduction="10000"/>
          </a:bodyPr>
          <a:lstStyle/>
          <a:p>
            <a:pPr hangingPunct="0"/>
            <a:r>
              <a:rPr lang="ru-RU" dirty="0" smtClean="0"/>
              <a:t>Индекс можно также создавать на основе </a:t>
            </a:r>
            <a:r>
              <a:rPr lang="ru-RU" i="1" dirty="0" smtClean="0"/>
              <a:t>комбинации двух и более полей</a:t>
            </a:r>
            <a:endParaRPr lang="ru-RU" dirty="0" smtClean="0"/>
          </a:p>
          <a:p>
            <a:pPr hangingPunct="0"/>
            <a:r>
              <a:rPr lang="ru-RU" dirty="0" smtClean="0"/>
              <a:t>При этом, индекс построенный на основе комбинации полей (</a:t>
            </a:r>
            <a:r>
              <a:rPr lang="en-US" i="1" dirty="0" smtClean="0"/>
              <a:t>F</a:t>
            </a:r>
            <a:r>
              <a:rPr lang="ru-RU" i="1" dirty="0" smtClean="0"/>
              <a:t>1, </a:t>
            </a:r>
            <a:r>
              <a:rPr lang="en-US" i="1" dirty="0" smtClean="0"/>
              <a:t>F</a:t>
            </a:r>
            <a:r>
              <a:rPr lang="ru-RU" i="1" dirty="0" smtClean="0"/>
              <a:t>2, </a:t>
            </a:r>
            <a:r>
              <a:rPr lang="en-US" i="1" dirty="0" smtClean="0"/>
              <a:t>F</a:t>
            </a:r>
            <a:r>
              <a:rPr lang="ru-RU" i="1" dirty="0" smtClean="0"/>
              <a:t>3, … </a:t>
            </a:r>
            <a:r>
              <a:rPr lang="en-US" i="1" dirty="0" smtClean="0"/>
              <a:t>Fn</a:t>
            </a:r>
            <a:r>
              <a:rPr lang="ru-RU" dirty="0" smtClean="0"/>
              <a:t>)</a:t>
            </a:r>
            <a:r>
              <a:rPr lang="ru-RU" i="1" dirty="0" smtClean="0"/>
              <a:t> </a:t>
            </a:r>
            <a:r>
              <a:rPr lang="ru-RU" dirty="0" smtClean="0"/>
              <a:t>может также служить индексом по полю </a:t>
            </a:r>
            <a:r>
              <a:rPr lang="en-US" i="1" dirty="0" smtClean="0"/>
              <a:t>F</a:t>
            </a:r>
            <a:r>
              <a:rPr lang="ru-RU" i="1" dirty="0" smtClean="0"/>
              <a:t>1 </a:t>
            </a:r>
            <a:r>
              <a:rPr lang="ru-RU" dirty="0" smtClean="0"/>
              <a:t>или по комбинации полей (</a:t>
            </a:r>
            <a:r>
              <a:rPr lang="en-US" i="1" dirty="0" smtClean="0"/>
              <a:t>F</a:t>
            </a:r>
            <a:r>
              <a:rPr lang="ru-RU" i="1" dirty="0" smtClean="0"/>
              <a:t>1, </a:t>
            </a:r>
            <a:r>
              <a:rPr lang="en-US" i="1" dirty="0" smtClean="0"/>
              <a:t>F</a:t>
            </a:r>
            <a:r>
              <a:rPr lang="ru-RU" i="1" dirty="0" smtClean="0"/>
              <a:t>2</a:t>
            </a:r>
            <a:r>
              <a:rPr lang="ru-RU" dirty="0" smtClean="0"/>
              <a:t>) , (</a:t>
            </a:r>
            <a:r>
              <a:rPr lang="en-US" i="1" dirty="0" smtClean="0"/>
              <a:t>F</a:t>
            </a:r>
            <a:r>
              <a:rPr lang="ru-RU" i="1" dirty="0" smtClean="0"/>
              <a:t>1, </a:t>
            </a:r>
            <a:r>
              <a:rPr lang="en-US" i="1" dirty="0" smtClean="0"/>
              <a:t>F</a:t>
            </a:r>
            <a:r>
              <a:rPr lang="ru-RU" i="1" dirty="0" smtClean="0"/>
              <a:t>2, </a:t>
            </a:r>
            <a:r>
              <a:rPr lang="en-US" i="1" dirty="0" smtClean="0"/>
              <a:t>F</a:t>
            </a:r>
            <a:r>
              <a:rPr lang="ru-RU" i="1" dirty="0" smtClean="0"/>
              <a:t>3</a:t>
            </a:r>
            <a:r>
              <a:rPr lang="ru-RU" dirty="0" smtClean="0"/>
              <a:t>) и т.п.</a:t>
            </a:r>
          </a:p>
          <a:p>
            <a:pPr hangingPunct="0"/>
            <a:r>
              <a:rPr lang="ru-RU" dirty="0" smtClean="0"/>
              <a:t>Но его нельзя использовать для комбинаций полей с порядком отличным от исходного, например, для (</a:t>
            </a:r>
            <a:r>
              <a:rPr lang="en-US" i="1" dirty="0" smtClean="0"/>
              <a:t>F</a:t>
            </a:r>
            <a:r>
              <a:rPr lang="ru-RU" i="1" dirty="0" smtClean="0"/>
              <a:t>2, </a:t>
            </a:r>
            <a:r>
              <a:rPr lang="en-US" i="1" dirty="0" smtClean="0"/>
              <a:t>F</a:t>
            </a:r>
            <a:r>
              <a:rPr lang="ru-RU" i="1" dirty="0" smtClean="0"/>
              <a:t>1</a:t>
            </a:r>
            <a:r>
              <a:rPr lang="ru-RU" dirty="0" smtClean="0"/>
              <a:t>)</a:t>
            </a:r>
          </a:p>
          <a:p>
            <a:endParaRPr lang="ru-RU"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Пример составного индекса</a:t>
            </a:r>
            <a:endParaRPr lang="ru-RU" dirty="0"/>
          </a:p>
        </p:txBody>
      </p:sp>
      <p:pic>
        <p:nvPicPr>
          <p:cNvPr id="4" name="Содержимое 3" descr="3.tif"/>
          <p:cNvPicPr>
            <a:picLocks noGrp="1" noChangeAspect="1"/>
          </p:cNvPicPr>
          <p:nvPr>
            <p:ph idx="1"/>
          </p:nvPr>
        </p:nvPicPr>
        <p:blipFill>
          <a:blip r:embed="rId2" cstate="print"/>
          <a:stretch>
            <a:fillRect/>
          </a:stretch>
        </p:blipFill>
        <p:spPr>
          <a:xfrm>
            <a:off x="678117" y="1916832"/>
            <a:ext cx="7772275" cy="3744416"/>
          </a:xfrm>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Неплотный индекс</a:t>
            </a:r>
            <a:endParaRPr lang="ru-RU" dirty="0"/>
          </a:p>
        </p:txBody>
      </p:sp>
      <p:sp>
        <p:nvSpPr>
          <p:cNvPr id="3" name="Содержимое 2"/>
          <p:cNvSpPr>
            <a:spLocks noGrp="1"/>
          </p:cNvSpPr>
          <p:nvPr>
            <p:ph idx="1"/>
          </p:nvPr>
        </p:nvSpPr>
        <p:spPr/>
        <p:txBody>
          <a:bodyPr>
            <a:normAutofit fontScale="92500" lnSpcReduction="10000"/>
          </a:bodyPr>
          <a:lstStyle/>
          <a:p>
            <a:pPr hangingPunct="0">
              <a:buNone/>
            </a:pPr>
            <a:r>
              <a:rPr lang="ru-RU" dirty="0" smtClean="0"/>
              <a:t>	Если в индексируемом файле выполнена кластеризация по индексному полю, то существует возможность построения </a:t>
            </a:r>
            <a:r>
              <a:rPr lang="ru-RU" i="1" dirty="0" smtClean="0"/>
              <a:t>неплотного</a:t>
            </a:r>
            <a:r>
              <a:rPr lang="ru-RU" dirty="0" smtClean="0"/>
              <a:t> (</a:t>
            </a:r>
            <a:r>
              <a:rPr lang="ru-RU" i="1" dirty="0" smtClean="0"/>
              <a:t>разреженного</a:t>
            </a:r>
            <a:r>
              <a:rPr lang="ru-RU" dirty="0" smtClean="0"/>
              <a:t>) индекса. Его особенностью является то, что вместо хранения пар: </a:t>
            </a:r>
          </a:p>
          <a:p>
            <a:pPr algn="ctr" hangingPunct="0">
              <a:buNone/>
            </a:pPr>
            <a:r>
              <a:rPr lang="ru-RU" dirty="0" smtClean="0"/>
              <a:t>	(</a:t>
            </a:r>
            <a:r>
              <a:rPr lang="ru-RU" i="1" dirty="0" smtClean="0"/>
              <a:t>значение поля</a:t>
            </a:r>
            <a:r>
              <a:rPr lang="ru-RU" dirty="0" smtClean="0"/>
              <a:t>, </a:t>
            </a:r>
            <a:r>
              <a:rPr lang="en-US" i="1" dirty="0" smtClean="0"/>
              <a:t>RID</a:t>
            </a:r>
            <a:r>
              <a:rPr lang="ru-RU" dirty="0" smtClean="0"/>
              <a:t>) </a:t>
            </a:r>
          </a:p>
          <a:p>
            <a:pPr hangingPunct="0">
              <a:buNone/>
            </a:pPr>
            <a:r>
              <a:rPr lang="ru-RU" dirty="0" smtClean="0"/>
              <a:t>	в нем хранятся пары вида: </a:t>
            </a:r>
          </a:p>
          <a:p>
            <a:pPr algn="ctr" hangingPunct="0">
              <a:buNone/>
            </a:pPr>
            <a:r>
              <a:rPr lang="ru-RU" dirty="0" smtClean="0"/>
              <a:t>	(</a:t>
            </a:r>
            <a:r>
              <a:rPr lang="ru-RU" i="1" dirty="0" smtClean="0"/>
              <a:t>максимальное значение поля на данной странице</a:t>
            </a:r>
            <a:r>
              <a:rPr lang="ru-RU" dirty="0" smtClean="0"/>
              <a:t>,</a:t>
            </a:r>
            <a:r>
              <a:rPr lang="ru-RU" i="1" dirty="0" smtClean="0"/>
              <a:t> номер страницы</a:t>
            </a:r>
            <a:r>
              <a:rPr lang="ru-RU" dirty="0" smtClean="0"/>
              <a:t>)</a:t>
            </a:r>
          </a:p>
          <a:p>
            <a:endParaRPr lang="ru-RU"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Пример неплотного индекса</a:t>
            </a:r>
            <a:endParaRPr lang="ru-RU" dirty="0"/>
          </a:p>
        </p:txBody>
      </p:sp>
      <p:pic>
        <p:nvPicPr>
          <p:cNvPr id="4" name="Содержимое 3" descr="4.tif"/>
          <p:cNvPicPr>
            <a:picLocks noGrp="1" noChangeAspect="1"/>
          </p:cNvPicPr>
          <p:nvPr>
            <p:ph idx="1"/>
          </p:nvPr>
        </p:nvPicPr>
        <p:blipFill>
          <a:blip r:embed="rId2" cstate="print"/>
          <a:stretch>
            <a:fillRect/>
          </a:stretch>
        </p:blipFill>
        <p:spPr>
          <a:xfrm>
            <a:off x="755576" y="1844824"/>
            <a:ext cx="7705303" cy="4248472"/>
          </a:xfrm>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Преимущества и недостатки неплотных индексов</a:t>
            </a:r>
            <a:endParaRPr lang="ru-RU" dirty="0"/>
          </a:p>
        </p:txBody>
      </p:sp>
      <p:sp>
        <p:nvSpPr>
          <p:cNvPr id="3" name="Содержимое 2"/>
          <p:cNvSpPr>
            <a:spLocks noGrp="1"/>
          </p:cNvSpPr>
          <p:nvPr>
            <p:ph idx="1"/>
          </p:nvPr>
        </p:nvSpPr>
        <p:spPr/>
        <p:txBody>
          <a:bodyPr>
            <a:normAutofit/>
          </a:bodyPr>
          <a:lstStyle/>
          <a:p>
            <a:pPr hangingPunct="0"/>
            <a:r>
              <a:rPr lang="ru-RU" dirty="0" smtClean="0"/>
              <a:t>Одним из </a:t>
            </a:r>
            <a:r>
              <a:rPr lang="ru-RU" i="1" dirty="0" smtClean="0"/>
              <a:t>преимуществ </a:t>
            </a:r>
            <a:r>
              <a:rPr lang="ru-RU" dirty="0" smtClean="0"/>
              <a:t>неплотных индексов перед плотными является их малый размер, т.к. они содержат меньшее количество записей. Это позволяет ускорить доступ к данным</a:t>
            </a:r>
          </a:p>
          <a:p>
            <a:pPr hangingPunct="0"/>
            <a:r>
              <a:rPr lang="ru-RU" dirty="0" smtClean="0"/>
              <a:t>Однако с помощью неплотного индекса нельзя непосредственно выполнить проверку наличия некоторого значения</a:t>
            </a:r>
          </a:p>
          <a:p>
            <a:endParaRPr lang="ru-RU"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Количество индексов</a:t>
            </a:r>
            <a:endParaRPr lang="ru-RU" dirty="0"/>
          </a:p>
        </p:txBody>
      </p:sp>
      <p:sp>
        <p:nvSpPr>
          <p:cNvPr id="3" name="Содержимое 2"/>
          <p:cNvSpPr>
            <a:spLocks noGrp="1"/>
          </p:cNvSpPr>
          <p:nvPr>
            <p:ph idx="1"/>
          </p:nvPr>
        </p:nvSpPr>
        <p:spPr/>
        <p:txBody>
          <a:bodyPr>
            <a:normAutofit/>
          </a:bodyPr>
          <a:lstStyle/>
          <a:p>
            <a:r>
              <a:rPr lang="ru-RU" dirty="0" smtClean="0"/>
              <a:t>Для одного хранимого файла может быть создано множество индексов</a:t>
            </a:r>
          </a:p>
          <a:p>
            <a:r>
              <a:rPr lang="ru-RU" dirty="0" smtClean="0"/>
              <a:t>Среди них может быть создан только один неплотный индекс, который организуется на основе физической последовательности, заданной в файле </a:t>
            </a:r>
          </a:p>
          <a:p>
            <a:r>
              <a:rPr lang="ru-RU" dirty="0" smtClean="0"/>
              <a:t>Все остальные индексы обязательно должны быть плотными</a:t>
            </a:r>
          </a:p>
          <a:p>
            <a:endParaRPr lang="ru-RU"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Пример с двумя индексами</a:t>
            </a:r>
            <a:endParaRPr lang="ru-RU" dirty="0"/>
          </a:p>
        </p:txBody>
      </p:sp>
      <p:pic>
        <p:nvPicPr>
          <p:cNvPr id="4" name="Содержимое 3" descr="2.tif"/>
          <p:cNvPicPr>
            <a:picLocks noGrp="1" noChangeAspect="1"/>
          </p:cNvPicPr>
          <p:nvPr>
            <p:ph idx="1"/>
          </p:nvPr>
        </p:nvPicPr>
        <p:blipFill>
          <a:blip r:embed="rId2" cstate="print"/>
          <a:stretch>
            <a:fillRect/>
          </a:stretch>
        </p:blipFill>
        <p:spPr>
          <a:xfrm>
            <a:off x="107504" y="1844824"/>
            <a:ext cx="9036496" cy="3456384"/>
          </a:xfrm>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smtClean="0"/>
              <a:t>Вопрос </a:t>
            </a:r>
            <a:r>
              <a:rPr lang="en-US" dirty="0" smtClean="0"/>
              <a:t>6</a:t>
            </a:r>
            <a:endParaRPr lang="ru-RU" dirty="0"/>
          </a:p>
        </p:txBody>
      </p:sp>
      <p:sp>
        <p:nvSpPr>
          <p:cNvPr id="3" name="Содержимое 2"/>
          <p:cNvSpPr>
            <a:spLocks noGrp="1"/>
          </p:cNvSpPr>
          <p:nvPr>
            <p:ph idx="1"/>
          </p:nvPr>
        </p:nvSpPr>
        <p:spPr>
          <a:xfrm>
            <a:off x="457200" y="1600200"/>
            <a:ext cx="8229600" cy="2332855"/>
          </a:xfrm>
        </p:spPr>
        <p:txBody>
          <a:bodyPr>
            <a:normAutofit/>
          </a:bodyPr>
          <a:lstStyle/>
          <a:p>
            <a:pPr marL="0" lvl="0" indent="0" algn="ctr">
              <a:buNone/>
            </a:pPr>
            <a:r>
              <a:rPr lang="ru-RU" sz="4400" dirty="0" smtClean="0"/>
              <a:t>Структуры типа </a:t>
            </a:r>
            <a:r>
              <a:rPr lang="en-US" sz="4400" dirty="0" smtClean="0"/>
              <a:t>B</a:t>
            </a:r>
            <a:r>
              <a:rPr lang="ru-RU" sz="4400" dirty="0" smtClean="0"/>
              <a:t>-дерево</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Многоуровневые индексы</a:t>
            </a:r>
            <a:endParaRPr lang="ru-RU" dirty="0"/>
          </a:p>
        </p:txBody>
      </p:sp>
      <p:sp>
        <p:nvSpPr>
          <p:cNvPr id="3" name="Содержимое 2"/>
          <p:cNvSpPr>
            <a:spLocks noGrp="1"/>
          </p:cNvSpPr>
          <p:nvPr>
            <p:ph idx="1"/>
          </p:nvPr>
        </p:nvSpPr>
        <p:spPr>
          <a:xfrm>
            <a:off x="323528" y="1600200"/>
            <a:ext cx="8496944" cy="4925144"/>
          </a:xfrm>
        </p:spPr>
        <p:txBody>
          <a:bodyPr>
            <a:normAutofit fontScale="92500" lnSpcReduction="20000"/>
          </a:bodyPr>
          <a:lstStyle/>
          <a:p>
            <a:pPr hangingPunct="0"/>
            <a:r>
              <a:rPr lang="ru-RU" dirty="0" smtClean="0"/>
              <a:t>Избежать необходимости полного просмотра большого индекса позволяет подход, рассматривающий его как хранимый файл, для которого в свою очередь создается новый индекс (</a:t>
            </a:r>
            <a:r>
              <a:rPr lang="ru-RU" i="1" dirty="0" err="1" smtClean="0"/>
              <a:t>индекс</a:t>
            </a:r>
            <a:r>
              <a:rPr lang="ru-RU" i="1" dirty="0" smtClean="0"/>
              <a:t> второго уровня</a:t>
            </a:r>
            <a:r>
              <a:rPr lang="ru-RU" dirty="0" smtClean="0"/>
              <a:t>)</a:t>
            </a:r>
          </a:p>
          <a:p>
            <a:pPr hangingPunct="0"/>
            <a:r>
              <a:rPr lang="ru-RU" dirty="0" smtClean="0"/>
              <a:t>Данную процедуру можно выполнить требуемое количество раз,  при этом индекс на каждом из уровней будет </a:t>
            </a:r>
            <a:r>
              <a:rPr lang="ru-RU" i="1" dirty="0" smtClean="0"/>
              <a:t>неплотным </a:t>
            </a:r>
            <a:r>
              <a:rPr lang="ru-RU" dirty="0" smtClean="0"/>
              <a:t>по отношению к первому уровню</a:t>
            </a:r>
          </a:p>
          <a:p>
            <a:pPr hangingPunct="0"/>
            <a:r>
              <a:rPr lang="ru-RU" dirty="0" smtClean="0"/>
              <a:t>Полученную таким образом совокупность индексов можно рассматривать как один </a:t>
            </a:r>
            <a:r>
              <a:rPr lang="ru-RU" i="1" dirty="0" smtClean="0"/>
              <a:t>многоуровневый</a:t>
            </a:r>
            <a:r>
              <a:rPr lang="ru-RU" dirty="0" smtClean="0"/>
              <a:t> или </a:t>
            </a:r>
            <a:r>
              <a:rPr lang="ru-RU" i="1" dirty="0" smtClean="0"/>
              <a:t>древовидный</a:t>
            </a:r>
            <a:r>
              <a:rPr lang="ru-RU" dirty="0" smtClean="0"/>
              <a:t> индекс</a:t>
            </a:r>
          </a:p>
          <a:p>
            <a:endParaRPr lang="ru-RU"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B</a:t>
            </a:r>
            <a:r>
              <a:rPr lang="ru-RU" dirty="0" smtClean="0"/>
              <a:t>-дерево</a:t>
            </a:r>
            <a:endParaRPr lang="ru-RU" dirty="0"/>
          </a:p>
        </p:txBody>
      </p:sp>
      <p:sp>
        <p:nvSpPr>
          <p:cNvPr id="3" name="Содержимое 2"/>
          <p:cNvSpPr>
            <a:spLocks noGrp="1"/>
          </p:cNvSpPr>
          <p:nvPr>
            <p:ph idx="1"/>
          </p:nvPr>
        </p:nvSpPr>
        <p:spPr/>
        <p:txBody>
          <a:bodyPr/>
          <a:lstStyle/>
          <a:p>
            <a:r>
              <a:rPr lang="ru-RU" dirty="0" smtClean="0"/>
              <a:t>Наиболее распространенной структурой, используемой при организации древовидного индекса, является </a:t>
            </a:r>
            <a:r>
              <a:rPr lang="en-US" i="1" dirty="0" smtClean="0"/>
              <a:t>B</a:t>
            </a:r>
            <a:r>
              <a:rPr lang="ru-RU" i="1" dirty="0" smtClean="0"/>
              <a:t>-дерево</a:t>
            </a:r>
          </a:p>
          <a:p>
            <a:r>
              <a:rPr lang="ru-RU" dirty="0" smtClean="0"/>
              <a:t>В английской интерпретации </a:t>
            </a:r>
            <a:r>
              <a:rPr lang="en-US" i="1" dirty="0" smtClean="0"/>
              <a:t>B-tree</a:t>
            </a:r>
            <a:r>
              <a:rPr lang="en-US" dirty="0" smtClean="0"/>
              <a:t> (</a:t>
            </a:r>
            <a:r>
              <a:rPr lang="en-US" i="1" dirty="0" smtClean="0"/>
              <a:t>balanced</a:t>
            </a:r>
            <a:r>
              <a:rPr lang="en-US" dirty="0" smtClean="0"/>
              <a:t> tree)</a:t>
            </a:r>
            <a:r>
              <a:rPr lang="ru-RU" dirty="0" smtClean="0"/>
              <a:t>.</a:t>
            </a:r>
          </a:p>
          <a:p>
            <a:r>
              <a:rPr lang="ru-RU" dirty="0" smtClean="0"/>
              <a:t>Т.е., </a:t>
            </a:r>
            <a:r>
              <a:rPr lang="ru-RU" i="1" dirty="0" smtClean="0"/>
              <a:t>сбалансированное </a:t>
            </a:r>
            <a:r>
              <a:rPr lang="ru-RU" dirty="0" smtClean="0"/>
              <a:t>дерево, а не </a:t>
            </a:r>
            <a:r>
              <a:rPr lang="ru-RU" i="1" dirty="0" smtClean="0"/>
              <a:t>бинарное</a:t>
            </a:r>
          </a:p>
          <a:p>
            <a:endParaRPr lang="ru-RU"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B</a:t>
            </a:r>
            <a:r>
              <a:rPr lang="en-US" baseline="30000" dirty="0" smtClean="0"/>
              <a:t>+</a:t>
            </a:r>
            <a:r>
              <a:rPr lang="ru-RU" dirty="0" smtClean="0"/>
              <a:t>-дерево</a:t>
            </a:r>
            <a:endParaRPr lang="ru-RU" dirty="0"/>
          </a:p>
        </p:txBody>
      </p:sp>
      <p:sp>
        <p:nvSpPr>
          <p:cNvPr id="3" name="Содержимое 2"/>
          <p:cNvSpPr>
            <a:spLocks noGrp="1"/>
          </p:cNvSpPr>
          <p:nvPr>
            <p:ph idx="1"/>
          </p:nvPr>
        </p:nvSpPr>
        <p:spPr/>
        <p:txBody>
          <a:bodyPr>
            <a:normAutofit fontScale="92500" lnSpcReduction="10000"/>
          </a:bodyPr>
          <a:lstStyle/>
          <a:p>
            <a:pPr hangingPunct="0"/>
            <a:r>
              <a:rPr lang="ru-RU" dirty="0" smtClean="0"/>
              <a:t>Индекс, построенный на основе Б-дерева, состоит из двух частей:</a:t>
            </a:r>
          </a:p>
          <a:p>
            <a:pPr lvl="1" hangingPunct="0"/>
            <a:r>
              <a:rPr lang="ru-RU" dirty="0" smtClean="0"/>
              <a:t>набора последовательностей, представляющего собой одноуровневый (как правило, плотный) индекс для реальных данных</a:t>
            </a:r>
          </a:p>
          <a:p>
            <a:pPr lvl="1" hangingPunct="0"/>
            <a:r>
              <a:rPr lang="ru-RU" dirty="0" smtClean="0"/>
              <a:t>набора индексов, обеспечивающих быстрый непосредственный доступ к набору последовательностей</a:t>
            </a:r>
          </a:p>
          <a:p>
            <a:pPr hangingPunct="0"/>
            <a:r>
              <a:rPr lang="ru-RU" dirty="0" smtClean="0"/>
              <a:t>Такую комбинацию наборов иногда называют </a:t>
            </a:r>
            <a:r>
              <a:rPr lang="en-US" i="1" dirty="0" smtClean="0"/>
              <a:t>B</a:t>
            </a:r>
            <a:r>
              <a:rPr lang="en-US" i="1" baseline="30000" dirty="0" smtClean="0"/>
              <a:t>+</a:t>
            </a:r>
            <a:r>
              <a:rPr lang="ru-RU" i="1" dirty="0" smtClean="0"/>
              <a:t>-деревом</a:t>
            </a:r>
            <a:endParaRPr lang="ru-RU" dirty="0" smtClean="0"/>
          </a:p>
          <a:p>
            <a:endParaRPr lang="ru-RU"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Пример </a:t>
            </a:r>
            <a:r>
              <a:rPr lang="en-US" dirty="0" smtClean="0"/>
              <a:t>B</a:t>
            </a:r>
            <a:r>
              <a:rPr lang="en-US" baseline="30000" dirty="0" smtClean="0"/>
              <a:t>+</a:t>
            </a:r>
            <a:r>
              <a:rPr lang="ru-RU" dirty="0" smtClean="0"/>
              <a:t>-дерева</a:t>
            </a:r>
            <a:endParaRPr lang="ru-RU" dirty="0"/>
          </a:p>
        </p:txBody>
      </p:sp>
      <p:pic>
        <p:nvPicPr>
          <p:cNvPr id="4" name="Содержимое 3" descr="5.tif"/>
          <p:cNvPicPr>
            <a:picLocks noGrp="1" noChangeAspect="1"/>
          </p:cNvPicPr>
          <p:nvPr>
            <p:ph idx="1"/>
          </p:nvPr>
        </p:nvPicPr>
        <p:blipFill>
          <a:blip r:embed="rId2" cstate="print"/>
          <a:stretch>
            <a:fillRect/>
          </a:stretch>
        </p:blipFill>
        <p:spPr>
          <a:xfrm>
            <a:off x="107504" y="1844824"/>
            <a:ext cx="8928992" cy="2376264"/>
          </a:xfrm>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Пример </a:t>
            </a:r>
            <a:r>
              <a:rPr lang="en-US" dirty="0" smtClean="0"/>
              <a:t>B</a:t>
            </a:r>
            <a:r>
              <a:rPr lang="en-US" baseline="30000" dirty="0" smtClean="0"/>
              <a:t>+</a:t>
            </a:r>
            <a:r>
              <a:rPr lang="ru-RU" dirty="0" smtClean="0"/>
              <a:t>-дерева</a:t>
            </a:r>
            <a:endParaRPr lang="ru-RU" dirty="0"/>
          </a:p>
        </p:txBody>
      </p:sp>
      <p:pic>
        <p:nvPicPr>
          <p:cNvPr id="4" name="Содержимое 3" descr="5.tif"/>
          <p:cNvPicPr>
            <a:picLocks noGrp="1" noChangeAspect="1"/>
          </p:cNvPicPr>
          <p:nvPr>
            <p:ph idx="1"/>
          </p:nvPr>
        </p:nvPicPr>
        <p:blipFill>
          <a:blip r:embed="rId2" cstate="print"/>
          <a:srcRect t="81098" r="14516"/>
          <a:stretch>
            <a:fillRect/>
          </a:stretch>
        </p:blipFill>
        <p:spPr>
          <a:xfrm>
            <a:off x="107504" y="4077072"/>
            <a:ext cx="8856984" cy="520276"/>
          </a:xfrm>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Пример </a:t>
            </a:r>
            <a:r>
              <a:rPr lang="en-US" dirty="0" smtClean="0"/>
              <a:t>B</a:t>
            </a:r>
            <a:r>
              <a:rPr lang="en-US" baseline="30000" dirty="0" smtClean="0"/>
              <a:t>+</a:t>
            </a:r>
            <a:r>
              <a:rPr lang="ru-RU" dirty="0" smtClean="0"/>
              <a:t>-дерева</a:t>
            </a:r>
            <a:endParaRPr lang="ru-RU" dirty="0"/>
          </a:p>
        </p:txBody>
      </p:sp>
      <p:pic>
        <p:nvPicPr>
          <p:cNvPr id="4" name="Содержимое 3" descr="5.tif"/>
          <p:cNvPicPr>
            <a:picLocks noGrp="1" noChangeAspect="1"/>
          </p:cNvPicPr>
          <p:nvPr>
            <p:ph idx="1"/>
          </p:nvPr>
        </p:nvPicPr>
        <p:blipFill>
          <a:blip r:embed="rId2" cstate="print"/>
          <a:srcRect t="44473" r="14516"/>
          <a:stretch>
            <a:fillRect/>
          </a:stretch>
        </p:blipFill>
        <p:spPr>
          <a:xfrm>
            <a:off x="107504" y="3068960"/>
            <a:ext cx="8856984" cy="1528388"/>
          </a:xfrm>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Пример </a:t>
            </a:r>
            <a:r>
              <a:rPr lang="en-US" dirty="0" smtClean="0"/>
              <a:t>B</a:t>
            </a:r>
            <a:r>
              <a:rPr lang="en-US" baseline="30000" dirty="0" smtClean="0"/>
              <a:t>+</a:t>
            </a:r>
            <a:r>
              <a:rPr lang="ru-RU" dirty="0" smtClean="0"/>
              <a:t>-дерева</a:t>
            </a:r>
            <a:endParaRPr lang="ru-RU" dirty="0"/>
          </a:p>
        </p:txBody>
      </p:sp>
      <p:pic>
        <p:nvPicPr>
          <p:cNvPr id="4" name="Содержимое 3" descr="5.tif"/>
          <p:cNvPicPr>
            <a:picLocks noGrp="1" noChangeAspect="1"/>
          </p:cNvPicPr>
          <p:nvPr>
            <p:ph idx="1"/>
          </p:nvPr>
        </p:nvPicPr>
        <p:blipFill>
          <a:blip r:embed="rId2" cstate="print"/>
          <a:srcRect r="14516"/>
          <a:stretch>
            <a:fillRect/>
          </a:stretch>
        </p:blipFill>
        <p:spPr>
          <a:xfrm>
            <a:off x="107504" y="1844823"/>
            <a:ext cx="8856984" cy="2752525"/>
          </a:xfrm>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Преимущества </a:t>
            </a:r>
            <a:r>
              <a:rPr lang="en-US" dirty="0" smtClean="0"/>
              <a:t>B</a:t>
            </a:r>
            <a:r>
              <a:rPr lang="ru-RU" dirty="0" smtClean="0"/>
              <a:t>-дерева</a:t>
            </a:r>
            <a:endParaRPr lang="ru-RU" dirty="0"/>
          </a:p>
        </p:txBody>
      </p:sp>
      <p:sp>
        <p:nvSpPr>
          <p:cNvPr id="3" name="Содержимое 2"/>
          <p:cNvSpPr>
            <a:spLocks noGrp="1"/>
          </p:cNvSpPr>
          <p:nvPr>
            <p:ph idx="1"/>
          </p:nvPr>
        </p:nvSpPr>
        <p:spPr/>
        <p:txBody>
          <a:bodyPr/>
          <a:lstStyle/>
          <a:p>
            <a:pPr hangingPunct="0"/>
            <a:r>
              <a:rPr lang="ru-RU" dirty="0" smtClean="0"/>
              <a:t>Одним из недостатков иерархических структур является </a:t>
            </a:r>
            <a:r>
              <a:rPr lang="ru-RU" i="1" dirty="0" smtClean="0"/>
              <a:t>несбалансированность </a:t>
            </a:r>
            <a:r>
              <a:rPr lang="ru-RU" dirty="0" smtClean="0"/>
              <a:t>их работы после удаления или вставки некоторых элементов</a:t>
            </a:r>
          </a:p>
          <a:p>
            <a:r>
              <a:rPr lang="ru-RU" dirty="0" smtClean="0"/>
              <a:t>Однако замечательным преимуществом структуры типа </a:t>
            </a:r>
            <a:r>
              <a:rPr lang="en-US" dirty="0" smtClean="0"/>
              <a:t>B</a:t>
            </a:r>
            <a:r>
              <a:rPr lang="ru-RU" dirty="0" smtClean="0"/>
              <a:t>-дерева является возможность сбалансированной вставки или удаления значений</a:t>
            </a:r>
            <a:endParaRPr lang="ru-RU"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smtClean="0"/>
              <a:t>Вопрос </a:t>
            </a:r>
            <a:r>
              <a:rPr lang="en-US" dirty="0" smtClean="0"/>
              <a:t>7</a:t>
            </a:r>
            <a:endParaRPr lang="ru-RU" dirty="0"/>
          </a:p>
        </p:txBody>
      </p:sp>
      <p:sp>
        <p:nvSpPr>
          <p:cNvPr id="3" name="Содержимое 2"/>
          <p:cNvSpPr>
            <a:spLocks noGrp="1"/>
          </p:cNvSpPr>
          <p:nvPr>
            <p:ph idx="1"/>
          </p:nvPr>
        </p:nvSpPr>
        <p:spPr>
          <a:xfrm>
            <a:off x="457200" y="1600200"/>
            <a:ext cx="8229600" cy="2332855"/>
          </a:xfrm>
        </p:spPr>
        <p:txBody>
          <a:bodyPr>
            <a:normAutofit/>
          </a:bodyPr>
          <a:lstStyle/>
          <a:p>
            <a:pPr marL="0" lvl="0" indent="0" algn="ctr">
              <a:buNone/>
            </a:pPr>
            <a:r>
              <a:rPr lang="ru-RU" sz="4400" dirty="0" smtClean="0"/>
              <a:t>Хеширование</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Основная идея </a:t>
            </a:r>
            <a:endParaRPr lang="ru-RU" dirty="0"/>
          </a:p>
        </p:txBody>
      </p:sp>
      <p:sp>
        <p:nvSpPr>
          <p:cNvPr id="3" name="Содержимое 2"/>
          <p:cNvSpPr>
            <a:spLocks noGrp="1"/>
          </p:cNvSpPr>
          <p:nvPr>
            <p:ph idx="1"/>
          </p:nvPr>
        </p:nvSpPr>
        <p:spPr/>
        <p:txBody>
          <a:bodyPr>
            <a:normAutofit fontScale="92500"/>
          </a:bodyPr>
          <a:lstStyle/>
          <a:p>
            <a:r>
              <a:rPr lang="ru-RU" dirty="0" smtClean="0"/>
              <a:t>Основная идея </a:t>
            </a:r>
            <a:r>
              <a:rPr lang="ru-RU" i="1" dirty="0" err="1" smtClean="0"/>
              <a:t>хэширования</a:t>
            </a:r>
            <a:r>
              <a:rPr lang="en-US" i="1" dirty="0" smtClean="0"/>
              <a:t> (</a:t>
            </a:r>
            <a:r>
              <a:rPr lang="ru-RU" i="1" dirty="0" err="1" smtClean="0"/>
              <a:t>hashing</a:t>
            </a:r>
            <a:r>
              <a:rPr lang="en-US" i="1" dirty="0" smtClean="0"/>
              <a:t>)</a:t>
            </a:r>
            <a:r>
              <a:rPr lang="ru-RU" dirty="0" smtClean="0"/>
              <a:t> – организация ассоциативной памяти для хранения строк таблицы с определением места строки в таблице по значениям одного или нескольких ее ключевых атрибутов</a:t>
            </a:r>
            <a:endParaRPr lang="en-US" dirty="0" smtClean="0"/>
          </a:p>
          <a:p>
            <a:r>
              <a:rPr lang="ru-RU" dirty="0" smtClean="0"/>
              <a:t>Место строки вычисляется </a:t>
            </a:r>
            <a:r>
              <a:rPr lang="ru-RU" i="1" dirty="0" smtClean="0"/>
              <a:t>хэш-функцией</a:t>
            </a:r>
            <a:r>
              <a:rPr lang="ru-RU" dirty="0" smtClean="0"/>
              <a:t>, аргументы которой – значения атрибутов, а результат – целое число в диапазоне номеров строк таблицы</a:t>
            </a:r>
          </a:p>
          <a:p>
            <a:endParaRPr lang="ru-RU" dirty="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Пример хешированной структуры</a:t>
            </a:r>
            <a:endParaRPr lang="ru-RU" dirty="0"/>
          </a:p>
        </p:txBody>
      </p:sp>
      <p:pic>
        <p:nvPicPr>
          <p:cNvPr id="4" name="Содержимое 3" descr="6.tif"/>
          <p:cNvPicPr>
            <a:picLocks noGrp="1" noChangeAspect="1"/>
          </p:cNvPicPr>
          <p:nvPr>
            <p:ph idx="1"/>
          </p:nvPr>
        </p:nvPicPr>
        <p:blipFill>
          <a:blip r:embed="rId2" cstate="print"/>
          <a:stretch>
            <a:fillRect/>
          </a:stretch>
        </p:blipFill>
        <p:spPr>
          <a:xfrm>
            <a:off x="179512" y="1844824"/>
            <a:ext cx="8856984" cy="2504840"/>
          </a:xfrm>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Пример хеш-функции</a:t>
            </a:r>
            <a:endParaRPr lang="ru-RU" dirty="0"/>
          </a:p>
        </p:txBody>
      </p:sp>
      <p:sp>
        <p:nvSpPr>
          <p:cNvPr id="3" name="Содержимое 2"/>
          <p:cNvSpPr>
            <a:spLocks noGrp="1"/>
          </p:cNvSpPr>
          <p:nvPr>
            <p:ph idx="1"/>
          </p:nvPr>
        </p:nvSpPr>
        <p:spPr/>
        <p:txBody>
          <a:bodyPr/>
          <a:lstStyle/>
          <a:p>
            <a:pPr algn="ctr" hangingPunct="0">
              <a:buNone/>
            </a:pPr>
            <a:endParaRPr lang="ru-RU" i="1" dirty="0" smtClean="0"/>
          </a:p>
          <a:p>
            <a:pPr algn="ctr" hangingPunct="0">
              <a:buNone/>
            </a:pPr>
            <a:r>
              <a:rPr lang="en-US" sz="3600" i="1" dirty="0" smtClean="0"/>
              <a:t>f(k) </a:t>
            </a:r>
            <a:r>
              <a:rPr lang="en-US" sz="3600" dirty="0" smtClean="0"/>
              <a:t>= </a:t>
            </a:r>
            <a:r>
              <a:rPr lang="en-US" sz="3600" i="1" dirty="0" smtClean="0"/>
              <a:t>k mod p</a:t>
            </a:r>
            <a:r>
              <a:rPr lang="en-US" sz="3600" dirty="0" smtClean="0"/>
              <a:t>,</a:t>
            </a:r>
            <a:endParaRPr lang="ru-RU" sz="3600" dirty="0" smtClean="0"/>
          </a:p>
          <a:p>
            <a:pPr hangingPunct="0">
              <a:buNone/>
            </a:pPr>
            <a:r>
              <a:rPr lang="ru-RU" dirty="0" smtClean="0"/>
              <a:t> 	</a:t>
            </a:r>
          </a:p>
          <a:p>
            <a:pPr hangingPunct="0">
              <a:buNone/>
            </a:pPr>
            <a:r>
              <a:rPr lang="ru-RU" dirty="0" smtClean="0"/>
              <a:t>	где </a:t>
            </a:r>
          </a:p>
          <a:p>
            <a:pPr hangingPunct="0">
              <a:buNone/>
            </a:pPr>
            <a:r>
              <a:rPr lang="ru-RU" dirty="0" smtClean="0"/>
              <a:t>	</a:t>
            </a:r>
            <a:r>
              <a:rPr lang="ru-RU" i="1" dirty="0" err="1" smtClean="0"/>
              <a:t>f</a:t>
            </a:r>
            <a:r>
              <a:rPr lang="ru-RU" dirty="0" smtClean="0"/>
              <a:t> – хэш-функция,</a:t>
            </a:r>
          </a:p>
          <a:p>
            <a:pPr hangingPunct="0">
              <a:buNone/>
            </a:pPr>
            <a:r>
              <a:rPr lang="ru-RU" dirty="0" smtClean="0"/>
              <a:t>	</a:t>
            </a:r>
            <a:r>
              <a:rPr lang="ru-RU" i="1" dirty="0" err="1" smtClean="0"/>
              <a:t>k</a:t>
            </a:r>
            <a:r>
              <a:rPr lang="ru-RU" dirty="0" smtClean="0"/>
              <a:t> – целочисленный атрибут,</a:t>
            </a:r>
          </a:p>
          <a:p>
            <a:pPr hangingPunct="0">
              <a:buNone/>
            </a:pPr>
            <a:r>
              <a:rPr lang="ru-RU" i="1" dirty="0" smtClean="0"/>
              <a:t>	</a:t>
            </a:r>
            <a:r>
              <a:rPr lang="ru-RU" i="1" dirty="0" err="1" smtClean="0"/>
              <a:t>p</a:t>
            </a:r>
            <a:r>
              <a:rPr lang="ru-RU" dirty="0" smtClean="0"/>
              <a:t> – простое число. </a:t>
            </a:r>
          </a:p>
          <a:p>
            <a:endParaRPr lang="ru-RU" dirty="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Коллизии</a:t>
            </a:r>
            <a:endParaRPr lang="ru-RU" dirty="0"/>
          </a:p>
        </p:txBody>
      </p:sp>
      <p:sp>
        <p:nvSpPr>
          <p:cNvPr id="3" name="Содержимое 2"/>
          <p:cNvSpPr>
            <a:spLocks noGrp="1"/>
          </p:cNvSpPr>
          <p:nvPr>
            <p:ph idx="1"/>
          </p:nvPr>
        </p:nvSpPr>
        <p:spPr>
          <a:xfrm>
            <a:off x="457200" y="1600200"/>
            <a:ext cx="8229600" cy="4853136"/>
          </a:xfrm>
        </p:spPr>
        <p:txBody>
          <a:bodyPr>
            <a:normAutofit fontScale="92500" lnSpcReduction="20000"/>
          </a:bodyPr>
          <a:lstStyle/>
          <a:p>
            <a:r>
              <a:rPr lang="ru-RU" dirty="0" smtClean="0"/>
              <a:t>Идеальная хэш-функция должна давать разные значения номеров строк для разных ключевых атрибутов. Однако построить такую хэш-функцию дело трудоемкое и не всегда возможное.</a:t>
            </a:r>
          </a:p>
          <a:p>
            <a:r>
              <a:rPr lang="ru-RU" dirty="0" smtClean="0"/>
              <a:t>Ситуацию, когда хэш-функция выдает один и тот же номер строки для разных значений ключевых атрибутов называют </a:t>
            </a:r>
            <a:r>
              <a:rPr lang="ru-RU" i="1" dirty="0" smtClean="0"/>
              <a:t>коллизий</a:t>
            </a:r>
            <a:endParaRPr lang="ru-RU" dirty="0" smtClean="0"/>
          </a:p>
          <a:p>
            <a:r>
              <a:rPr lang="ru-RU" dirty="0" smtClean="0"/>
              <a:t>Если таблица заполнена не более, чем на 60%, то для размещения в ней новой строки необходимо проверить в среднем не более двух ячеек</a:t>
            </a: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Вставка данных</a:t>
            </a:r>
            <a:endParaRPr lang="ru-RU" dirty="0"/>
          </a:p>
        </p:txBody>
      </p:sp>
      <p:sp>
        <p:nvSpPr>
          <p:cNvPr id="3" name="Содержимое 2"/>
          <p:cNvSpPr>
            <a:spLocks noGrp="1"/>
          </p:cNvSpPr>
          <p:nvPr>
            <p:ph idx="1"/>
          </p:nvPr>
        </p:nvSpPr>
        <p:spPr>
          <a:xfrm>
            <a:off x="467544" y="1484784"/>
            <a:ext cx="8363272" cy="4925144"/>
          </a:xfrm>
        </p:spPr>
        <p:txBody>
          <a:bodyPr>
            <a:normAutofit fontScale="85000" lnSpcReduction="10000"/>
          </a:bodyPr>
          <a:lstStyle/>
          <a:p>
            <a:r>
              <a:rPr lang="ru-RU" dirty="0" smtClean="0"/>
              <a:t>В начале работы с БД таблица состоит из пустых строк</a:t>
            </a:r>
          </a:p>
          <a:p>
            <a:r>
              <a:rPr lang="ru-RU" dirty="0" smtClean="0"/>
              <a:t>Когда строка с данными заносится в таблицу, вычисляется значение хэш-функции для ее ключевых атрибутов, и результат трактуется как номер строки отношения, в которую она должна быть записана</a:t>
            </a:r>
          </a:p>
          <a:p>
            <a:r>
              <a:rPr lang="ru-RU" dirty="0" smtClean="0"/>
              <a:t>Если эта строка уже занята, то производится по некоторому алгоритму проверка следующих строк таблицы, до тех пор, пока не будет обнаружено свободное место (как правило, считается, что таблица имеет кольцевую структуру). В это место и помещается записываемая строка</a:t>
            </a:r>
            <a:endParaRPr lang="ru-RU"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Поиск данных</a:t>
            </a:r>
            <a:endParaRPr lang="ru-RU" dirty="0"/>
          </a:p>
        </p:txBody>
      </p:sp>
      <p:sp>
        <p:nvSpPr>
          <p:cNvPr id="3" name="Содержимое 2"/>
          <p:cNvSpPr>
            <a:spLocks noGrp="1"/>
          </p:cNvSpPr>
          <p:nvPr>
            <p:ph idx="1"/>
          </p:nvPr>
        </p:nvSpPr>
        <p:spPr>
          <a:xfrm>
            <a:off x="467544" y="1484784"/>
            <a:ext cx="8363272" cy="4997152"/>
          </a:xfrm>
        </p:spPr>
        <p:txBody>
          <a:bodyPr>
            <a:normAutofit fontScale="85000" lnSpcReduction="20000"/>
          </a:bodyPr>
          <a:lstStyle/>
          <a:p>
            <a:r>
              <a:rPr lang="ru-RU" dirty="0" smtClean="0"/>
              <a:t>Сначала вычисляется значение хэш-функции для требуемого значения ключевого атрибута и проверяется строка таблицы, номер которой вычислен хэш-функцией</a:t>
            </a:r>
          </a:p>
          <a:p>
            <a:r>
              <a:rPr lang="ru-RU" dirty="0" smtClean="0"/>
              <a:t>Если значение атрибута, по которому происходит доступ соответствует значению ключа строки, то поиск заканчивается</a:t>
            </a:r>
          </a:p>
          <a:p>
            <a:r>
              <a:rPr lang="ru-RU" dirty="0" smtClean="0"/>
              <a:t>В противном случае проверяются следующие строки таблицы до обнаружения кортежа с нужным значением или пустой строки</a:t>
            </a:r>
          </a:p>
          <a:p>
            <a:r>
              <a:rPr lang="ru-RU" dirty="0" smtClean="0"/>
              <a:t>Пустая строка свидетельствует об отсутствии кортежа с нужным значением ключа в таблице – процедура занесения данных обязательно бы использовала ее, если бы требуемый кортеж существовал</a:t>
            </a:r>
          </a:p>
          <a:p>
            <a:endParaRPr lang="ru-RU"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Ограничения</a:t>
            </a:r>
            <a:endParaRPr lang="ru-RU" dirty="0"/>
          </a:p>
        </p:txBody>
      </p:sp>
      <p:sp>
        <p:nvSpPr>
          <p:cNvPr id="3" name="Содержимое 2"/>
          <p:cNvSpPr>
            <a:spLocks noGrp="1"/>
          </p:cNvSpPr>
          <p:nvPr>
            <p:ph idx="1"/>
          </p:nvPr>
        </p:nvSpPr>
        <p:spPr/>
        <p:txBody>
          <a:bodyPr/>
          <a:lstStyle/>
          <a:p>
            <a:pPr>
              <a:buNone/>
            </a:pPr>
            <a:r>
              <a:rPr lang="ru-RU" dirty="0" smtClean="0"/>
              <a:t>	Хеширование может использоваться для поиска строк по точному совпадению значения атрибута кортежа с нужным значением ключа</a:t>
            </a:r>
          </a:p>
          <a:p>
            <a:endParaRPr lang="ru-RU"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3140</TotalTime>
  <Words>1366</Words>
  <Application>Microsoft Office PowerPoint</Application>
  <PresentationFormat>Экран (4:3)</PresentationFormat>
  <Paragraphs>173</Paragraphs>
  <Slides>59</Slides>
  <Notes>0</Notes>
  <HiddenSlides>0</HiddenSlides>
  <MMClips>0</MMClips>
  <ScaleCrop>false</ScaleCrop>
  <HeadingPairs>
    <vt:vector size="6" baseType="variant">
      <vt:variant>
        <vt:lpstr>Использованные шрифты</vt:lpstr>
      </vt:variant>
      <vt:variant>
        <vt:i4>2</vt:i4>
      </vt:variant>
      <vt:variant>
        <vt:lpstr>Тема</vt:lpstr>
      </vt:variant>
      <vt:variant>
        <vt:i4>1</vt:i4>
      </vt:variant>
      <vt:variant>
        <vt:lpstr>Заголовки слайдов</vt:lpstr>
      </vt:variant>
      <vt:variant>
        <vt:i4>59</vt:i4>
      </vt:variant>
    </vt:vector>
  </HeadingPairs>
  <TitlesOfParts>
    <vt:vector size="62" baseType="lpstr">
      <vt:lpstr>Arial</vt:lpstr>
      <vt:lpstr>Calibri</vt:lpstr>
      <vt:lpstr>Тема Office</vt:lpstr>
      <vt:lpstr>План лекции</vt:lpstr>
      <vt:lpstr>Вопрос 1</vt:lpstr>
      <vt:lpstr>Скорость доступа к памяти</vt:lpstr>
      <vt:lpstr>Повышение производительности</vt:lpstr>
      <vt:lpstr>Доступ к БД</vt:lpstr>
      <vt:lpstr>Уровни представления данных</vt:lpstr>
      <vt:lpstr>Граница между ОС и СУБД</vt:lpstr>
      <vt:lpstr>Вопрос 2</vt:lpstr>
      <vt:lpstr>Кластеризация</vt:lpstr>
      <vt:lpstr>Влияние на производительность</vt:lpstr>
      <vt:lpstr>Виды кластеризации</vt:lpstr>
      <vt:lpstr>Особенности</vt:lpstr>
      <vt:lpstr>Вопрос 3</vt:lpstr>
      <vt:lpstr>Упрощенная БД</vt:lpstr>
      <vt:lpstr>После первоначальной загрузки БД</vt:lpstr>
      <vt:lpstr>Выполнены операции</vt:lpstr>
      <vt:lpstr>После выполнения ряда операций</vt:lpstr>
      <vt:lpstr>Выводы</vt:lpstr>
      <vt:lpstr>Применение указателей</vt:lpstr>
      <vt:lpstr>Особенности</vt:lpstr>
      <vt:lpstr>Страница 0 (каталог)</vt:lpstr>
      <vt:lpstr>Вопрос 4</vt:lpstr>
      <vt:lpstr>После первоначальной загрузки</vt:lpstr>
      <vt:lpstr>Выполнены операции</vt:lpstr>
      <vt:lpstr>После выполнения ряда операций</vt:lpstr>
      <vt:lpstr>Выводы</vt:lpstr>
      <vt:lpstr>Косвенная адресация с помощью RID</vt:lpstr>
      <vt:lpstr>Приставка записи</vt:lpstr>
      <vt:lpstr>Вопрос 5</vt:lpstr>
      <vt:lpstr>Индекс</vt:lpstr>
      <vt:lpstr>Пример индекса</vt:lpstr>
      <vt:lpstr>Инвертированные списки</vt:lpstr>
      <vt:lpstr>Ключи и индексы</vt:lpstr>
      <vt:lpstr>Преимущества и недостатки индексирования</vt:lpstr>
      <vt:lpstr>Варианты использования индексов</vt:lpstr>
      <vt:lpstr>Составной индекс</vt:lpstr>
      <vt:lpstr>Пример составного индекса</vt:lpstr>
      <vt:lpstr>Неплотный индекс</vt:lpstr>
      <vt:lpstr>Пример неплотного индекса</vt:lpstr>
      <vt:lpstr>Преимущества и недостатки неплотных индексов</vt:lpstr>
      <vt:lpstr>Количество индексов</vt:lpstr>
      <vt:lpstr>Пример с двумя индексами</vt:lpstr>
      <vt:lpstr>Вопрос 6</vt:lpstr>
      <vt:lpstr>Многоуровневые индексы</vt:lpstr>
      <vt:lpstr>B-дерево</vt:lpstr>
      <vt:lpstr>B+-дерево</vt:lpstr>
      <vt:lpstr>Пример B+-дерева</vt:lpstr>
      <vt:lpstr>Пример B+-дерева</vt:lpstr>
      <vt:lpstr>Пример B+-дерева</vt:lpstr>
      <vt:lpstr>Пример B+-дерева</vt:lpstr>
      <vt:lpstr>Преимущества B-дерева</vt:lpstr>
      <vt:lpstr>Вопрос 7</vt:lpstr>
      <vt:lpstr>Основная идея </vt:lpstr>
      <vt:lpstr>Пример хешированной структуры</vt:lpstr>
      <vt:lpstr>Пример хеш-функции</vt:lpstr>
      <vt:lpstr>Коллизии</vt:lpstr>
      <vt:lpstr>Вставка данных</vt:lpstr>
      <vt:lpstr>Поиск данных</vt:lpstr>
      <vt:lpstr>Ограничения</vt:lpstr>
    </vt:vector>
  </TitlesOfParts>
  <Company>TOSHIBA</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Слайд 1</dc:title>
  <dc:creator>art</dc:creator>
  <cp:lastModifiedBy>Николай Волков</cp:lastModifiedBy>
  <cp:revision>356</cp:revision>
  <dcterms:created xsi:type="dcterms:W3CDTF">2012-04-10T15:36:07Z</dcterms:created>
  <dcterms:modified xsi:type="dcterms:W3CDTF">2022-01-08T17:15:46Z</dcterms:modified>
</cp:coreProperties>
</file>