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76"/>
  </p:notesMasterIdLst>
  <p:sldIdLst>
    <p:sldId id="257" r:id="rId2"/>
    <p:sldId id="321" r:id="rId3"/>
    <p:sldId id="326" r:id="rId4"/>
    <p:sldId id="349" r:id="rId5"/>
    <p:sldId id="327" r:id="rId6"/>
    <p:sldId id="329" r:id="rId7"/>
    <p:sldId id="328" r:id="rId8"/>
    <p:sldId id="334" r:id="rId9"/>
    <p:sldId id="335" r:id="rId10"/>
    <p:sldId id="337" r:id="rId11"/>
    <p:sldId id="340" r:id="rId12"/>
    <p:sldId id="341" r:id="rId13"/>
    <p:sldId id="339" r:id="rId14"/>
    <p:sldId id="344" r:id="rId15"/>
    <p:sldId id="345" r:id="rId16"/>
    <p:sldId id="342" r:id="rId17"/>
    <p:sldId id="346" r:id="rId18"/>
    <p:sldId id="348" r:id="rId19"/>
    <p:sldId id="347" r:id="rId20"/>
    <p:sldId id="343" r:id="rId21"/>
    <p:sldId id="355" r:id="rId22"/>
    <p:sldId id="351" r:id="rId23"/>
    <p:sldId id="352" r:id="rId24"/>
    <p:sldId id="353" r:id="rId25"/>
    <p:sldId id="322" r:id="rId26"/>
    <p:sldId id="357" r:id="rId27"/>
    <p:sldId id="358" r:id="rId28"/>
    <p:sldId id="359" r:id="rId29"/>
    <p:sldId id="360" r:id="rId30"/>
    <p:sldId id="361" r:id="rId31"/>
    <p:sldId id="364" r:id="rId32"/>
    <p:sldId id="362" r:id="rId33"/>
    <p:sldId id="366" r:id="rId34"/>
    <p:sldId id="363" r:id="rId35"/>
    <p:sldId id="365" r:id="rId36"/>
    <p:sldId id="323" r:id="rId37"/>
    <p:sldId id="330" r:id="rId38"/>
    <p:sldId id="331" r:id="rId39"/>
    <p:sldId id="387" r:id="rId40"/>
    <p:sldId id="333" r:id="rId41"/>
    <p:sldId id="374" r:id="rId42"/>
    <p:sldId id="367" r:id="rId43"/>
    <p:sldId id="368" r:id="rId44"/>
    <p:sldId id="370" r:id="rId45"/>
    <p:sldId id="372" r:id="rId46"/>
    <p:sldId id="373" r:id="rId47"/>
    <p:sldId id="324" r:id="rId48"/>
    <p:sldId id="390" r:id="rId49"/>
    <p:sldId id="392" r:id="rId50"/>
    <p:sldId id="393" r:id="rId51"/>
    <p:sldId id="385" r:id="rId52"/>
    <p:sldId id="394" r:id="rId53"/>
    <p:sldId id="391" r:id="rId54"/>
    <p:sldId id="386" r:id="rId55"/>
    <p:sldId id="325" r:id="rId56"/>
    <p:sldId id="377" r:id="rId57"/>
    <p:sldId id="379" r:id="rId58"/>
    <p:sldId id="380" r:id="rId59"/>
    <p:sldId id="376" r:id="rId60"/>
    <p:sldId id="332" r:id="rId61"/>
    <p:sldId id="378" r:id="rId62"/>
    <p:sldId id="375" r:id="rId63"/>
    <p:sldId id="396" r:id="rId64"/>
    <p:sldId id="399" r:id="rId65"/>
    <p:sldId id="398" r:id="rId66"/>
    <p:sldId id="400" r:id="rId67"/>
    <p:sldId id="395" r:id="rId68"/>
    <p:sldId id="403" r:id="rId69"/>
    <p:sldId id="402" r:id="rId70"/>
    <p:sldId id="405" r:id="rId71"/>
    <p:sldId id="404" r:id="rId72"/>
    <p:sldId id="406" r:id="rId73"/>
    <p:sldId id="401" r:id="rId74"/>
    <p:sldId id="320" r:id="rId7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5696" autoAdjust="0"/>
  </p:normalViewPr>
  <p:slideViewPr>
    <p:cSldViewPr>
      <p:cViewPr varScale="1">
        <p:scale>
          <a:sx n="111" d="100"/>
          <a:sy n="111" d="100"/>
        </p:scale>
        <p:origin x="161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50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EBBD4-DF2A-466B-9C02-819997BF5FCB}" type="datetimeFigureOut">
              <a:rPr lang="ru-RU" smtClean="0"/>
              <a:pPr/>
              <a:t>01.10.2021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924E2-C814-4D75-AACF-890EFECD781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01.10.2021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01.10.2021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01.10.2021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01.10.2021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01.10.2021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01.10.2021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01.10.2021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01.10.2021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01.10.2021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01.10.2021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01.10.2021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7A7-3297-49EF-A824-ADB59F7B1FB0}" type="datetimeFigureOut">
              <a:rPr lang="ru-RU" smtClean="0"/>
              <a:pPr/>
              <a:t>01.10.2021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лекции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704856" cy="4781128"/>
          </a:xfrm>
        </p:spPr>
        <p:txBody>
          <a:bodyPr>
            <a:normAutofit lnSpcReduction="10000"/>
          </a:bodyPr>
          <a:lstStyle/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Основные разделы команды выборки данных SELECT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Специальные предикаты IN, BETWEEN, LIKE, IS NULL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Применение агрегатных функций. Группировка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Вложенные запросы. Специальные предикаты SOME, ANY, ALL, EXISTS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Соединение наборов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Основные разделы команды выборки данных SELECT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SELECT</a:t>
            </a:r>
            <a:r>
              <a:rPr lang="ru-RU" dirty="0" smtClean="0"/>
              <a:t> (1/4)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84784"/>
            <a:ext cx="8352928" cy="4752528"/>
          </a:xfrm>
        </p:spPr>
        <p:txBody>
          <a:bodyPr>
            <a:normAutofit/>
          </a:bodyPr>
          <a:lstStyle/>
          <a:p>
            <a:pPr marL="0" indent="0" hangingPunct="0">
              <a:buNone/>
            </a:pPr>
            <a:r>
              <a:rPr lang="ru-RU" sz="3000" b="1" dirty="0" smtClean="0"/>
              <a:t>SELECT</a:t>
            </a:r>
            <a:r>
              <a:rPr lang="ru-RU" sz="3000" dirty="0" smtClean="0"/>
              <a:t> * | { [ DISTINCT | ALL] &lt;</a:t>
            </a:r>
            <a:r>
              <a:rPr lang="ru-RU" sz="3000" dirty="0" err="1" smtClean="0"/>
              <a:t>value</a:t>
            </a:r>
            <a:r>
              <a:rPr lang="ru-RU" sz="3000" dirty="0" smtClean="0"/>
              <a:t> </a:t>
            </a:r>
            <a:r>
              <a:rPr lang="ru-RU" sz="3000" dirty="0" err="1" smtClean="0"/>
              <a:t>expression</a:t>
            </a:r>
            <a:r>
              <a:rPr lang="ru-RU" sz="3000" dirty="0" smtClean="0"/>
              <a:t>&gt;.,..}</a:t>
            </a:r>
            <a:br>
              <a:rPr lang="ru-RU" sz="3000" dirty="0" smtClean="0"/>
            </a:br>
            <a:r>
              <a:rPr lang="ru-RU" sz="3000" dirty="0" smtClean="0"/>
              <a:t>   FROM { &lt;</a:t>
            </a:r>
            <a:r>
              <a:rPr lang="ru-RU" sz="3000" dirty="0" err="1" smtClean="0"/>
              <a:t>table</a:t>
            </a:r>
            <a:r>
              <a:rPr lang="ru-RU" sz="3000" dirty="0" smtClean="0"/>
              <a:t> </a:t>
            </a:r>
            <a:r>
              <a:rPr lang="ru-RU" sz="3000" dirty="0" err="1" smtClean="0"/>
              <a:t>name</a:t>
            </a:r>
            <a:r>
              <a:rPr lang="ru-RU" sz="3000" dirty="0" smtClean="0"/>
              <a:t>&gt; [ &lt;</a:t>
            </a:r>
            <a:r>
              <a:rPr lang="ru-RU" sz="3000" dirty="0" err="1" smtClean="0"/>
              <a:t>alias</a:t>
            </a:r>
            <a:r>
              <a:rPr lang="ru-RU" sz="3000" dirty="0" smtClean="0"/>
              <a:t>&gt; ] }.,..</a:t>
            </a:r>
            <a:br>
              <a:rPr lang="ru-RU" sz="3000" dirty="0" smtClean="0"/>
            </a:br>
            <a:r>
              <a:rPr lang="ru-RU" sz="3000" dirty="0" smtClean="0"/>
              <a:t>   [ WHERE &lt;</a:t>
            </a:r>
            <a:r>
              <a:rPr lang="ru-RU" sz="3000" dirty="0" err="1" smtClean="0"/>
              <a:t>predicate</a:t>
            </a:r>
            <a:r>
              <a:rPr lang="ru-RU" sz="3000" dirty="0" smtClean="0"/>
              <a:t>&gt;]</a:t>
            </a:r>
            <a:br>
              <a:rPr lang="ru-RU" sz="3000" dirty="0" smtClean="0"/>
            </a:br>
            <a:r>
              <a:rPr lang="ru-RU" sz="3000" dirty="0" smtClean="0"/>
              <a:t>   [ GROUP BY { &lt;</a:t>
            </a:r>
            <a:r>
              <a:rPr lang="ru-RU" sz="3000" dirty="0" err="1" smtClean="0"/>
              <a:t>column</a:t>
            </a:r>
            <a:r>
              <a:rPr lang="ru-RU" sz="3000" dirty="0" smtClean="0"/>
              <a:t> </a:t>
            </a:r>
            <a:r>
              <a:rPr lang="ru-RU" sz="3000" dirty="0" err="1" smtClean="0"/>
              <a:t>name</a:t>
            </a:r>
            <a:r>
              <a:rPr lang="ru-RU" sz="3000" dirty="0" smtClean="0"/>
              <a:t>&gt; | &lt;</a:t>
            </a:r>
            <a:r>
              <a:rPr lang="ru-RU" sz="3000" dirty="0" err="1" smtClean="0"/>
              <a:t>integer</a:t>
            </a:r>
            <a:r>
              <a:rPr lang="ru-RU" sz="3000" dirty="0" smtClean="0"/>
              <a:t>&gt; }.,..]</a:t>
            </a:r>
            <a:br>
              <a:rPr lang="ru-RU" sz="3000" dirty="0" smtClean="0"/>
            </a:br>
            <a:r>
              <a:rPr lang="ru-RU" sz="3000" dirty="0" smtClean="0"/>
              <a:t>   [ HAVING &lt;</a:t>
            </a:r>
            <a:r>
              <a:rPr lang="ru-RU" sz="3000" dirty="0" err="1" smtClean="0"/>
              <a:t>predicate</a:t>
            </a:r>
            <a:r>
              <a:rPr lang="ru-RU" sz="3000" dirty="0" smtClean="0"/>
              <a:t>&gt;]</a:t>
            </a:r>
            <a:br>
              <a:rPr lang="ru-RU" sz="3000" dirty="0" smtClean="0"/>
            </a:br>
            <a:r>
              <a:rPr lang="ru-RU" sz="3000" dirty="0" smtClean="0"/>
              <a:t>   [ ORDER BY { &lt;</a:t>
            </a:r>
            <a:r>
              <a:rPr lang="ru-RU" sz="3000" dirty="0" err="1" smtClean="0"/>
              <a:t>column</a:t>
            </a:r>
            <a:r>
              <a:rPr lang="ru-RU" sz="3000" dirty="0" smtClean="0"/>
              <a:t> </a:t>
            </a:r>
            <a:r>
              <a:rPr lang="ru-RU" sz="3000" dirty="0" err="1" smtClean="0"/>
              <a:t>name</a:t>
            </a:r>
            <a:r>
              <a:rPr lang="ru-RU" sz="3000" dirty="0" smtClean="0"/>
              <a:t>&gt; | &lt;</a:t>
            </a:r>
            <a:r>
              <a:rPr lang="ru-RU" sz="3000" dirty="0" err="1" smtClean="0"/>
              <a:t>integer</a:t>
            </a:r>
            <a:r>
              <a:rPr lang="ru-RU" sz="3000" dirty="0" smtClean="0"/>
              <a:t>&gt; }.,..]</a:t>
            </a:r>
            <a:br>
              <a:rPr lang="ru-RU" sz="3000" dirty="0" smtClean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SELECT</a:t>
            </a:r>
            <a:r>
              <a:rPr lang="ru-RU" dirty="0" smtClean="0"/>
              <a:t> (2/4)</a:t>
            </a:r>
            <a:endParaRPr lang="ru-RU" dirty="0"/>
          </a:p>
        </p:txBody>
      </p:sp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032"/>
                <a:gridCol w="668656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SELECT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Определяет</a:t>
                      </a:r>
                      <a:r>
                        <a:rPr lang="ru-RU" sz="2400" baseline="0" dirty="0" smtClean="0"/>
                        <a:t> столбцы, которые должны быть включены в результат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FROM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Указывает таблицы из которых производится выборка и способ их соединения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WHERE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Ограничивает</a:t>
                      </a:r>
                      <a:r>
                        <a:rPr lang="ru-RU" sz="2400" baseline="0" dirty="0" smtClean="0"/>
                        <a:t> число строк в результате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GROUP BY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Используется для группировки строк по одинаковым значениям столбцов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HAVING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Ограничивает</a:t>
                      </a:r>
                      <a:r>
                        <a:rPr lang="ru-RU" sz="2400" baseline="0" dirty="0" smtClean="0"/>
                        <a:t> число строк в результате</a:t>
                      </a:r>
                      <a:endParaRPr lang="ru-RU" sz="2400" dirty="0" smtClean="0"/>
                    </a:p>
                    <a:p>
                      <a:r>
                        <a:rPr lang="ru-RU" sz="2400" dirty="0" smtClean="0"/>
                        <a:t>после группировки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ORDER BY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Сортирует</a:t>
                      </a:r>
                      <a:r>
                        <a:rPr lang="ru-RU" sz="2400" baseline="0" dirty="0" smtClean="0"/>
                        <a:t> строки результата по одному или нескольким столбцам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SELECT</a:t>
            </a:r>
            <a:r>
              <a:rPr lang="ru-RU" dirty="0" smtClean="0"/>
              <a:t> (4/4)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4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34680"/>
                <a:gridCol w="5194920"/>
              </a:tblGrid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value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expression</a:t>
                      </a:r>
                      <a:r>
                        <a:rPr lang="ru-RU" sz="2800" kern="1200" dirty="0" smtClean="0"/>
                        <a:t>&gt;	</a:t>
                      </a:r>
                    </a:p>
                    <a:p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Выражение, которое производит значение. Оно может включать в себя или содержать &lt;</a:t>
                      </a:r>
                      <a:r>
                        <a:rPr lang="ru-RU" sz="2800" kern="1200" dirty="0" err="1" smtClean="0"/>
                        <a:t>column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table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или синоним таблицы или представления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alias</a:t>
                      </a:r>
                      <a:r>
                        <a:rPr lang="ru-RU" sz="2800" kern="1200" dirty="0" smtClean="0"/>
                        <a:t>&gt;	</a:t>
                      </a:r>
                    </a:p>
                    <a:p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Временный синоним для &lt;</a:t>
                      </a:r>
                      <a:r>
                        <a:rPr lang="ru-RU" sz="2800" kern="1200" dirty="0" err="1" smtClean="0"/>
                        <a:t>table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&gt;, определенный в этой таблице и используемый только в этой команде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SELECT</a:t>
            </a:r>
            <a:r>
              <a:rPr lang="ru-RU" dirty="0" smtClean="0"/>
              <a:t> (3/3)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688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6648"/>
                <a:gridCol w="5482952"/>
              </a:tblGrid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predicate</a:t>
                      </a:r>
                      <a:r>
                        <a:rPr lang="ru-RU" sz="2800" kern="1200" dirty="0" smtClean="0"/>
                        <a:t>&gt;</a:t>
                      </a:r>
                    </a:p>
                    <a:p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Условие, которое может быть верным или неверным для каждой строки или комбинации строк таблицы в разделе FROM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column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столбца в таблице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integer</a:t>
                      </a:r>
                      <a:r>
                        <a:rPr lang="ru-RU" sz="2800" kern="1200" dirty="0" smtClean="0"/>
                        <a:t>&gt;	</a:t>
                      </a:r>
                    </a:p>
                    <a:p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Целое</a:t>
                      </a:r>
                      <a:r>
                        <a:rPr lang="ru-RU" sz="2800" kern="1200" baseline="0" dirty="0" smtClean="0"/>
                        <a:t> число, которое  является </a:t>
                      </a:r>
                      <a:r>
                        <a:rPr lang="ru-RU" sz="2800" kern="1200" dirty="0" smtClean="0"/>
                        <a:t>номером &lt;</a:t>
                      </a:r>
                      <a:r>
                        <a:rPr lang="ru-RU" sz="2800" kern="1200" dirty="0" err="1" smtClean="0"/>
                        <a:t>value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expression</a:t>
                      </a:r>
                      <a:r>
                        <a:rPr lang="ru-RU" sz="2800" kern="1200" dirty="0" smtClean="0"/>
                        <a:t>&gt; в разделе SELECT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Тривиальные примеры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1</a:t>
            </a:r>
          </a:p>
          <a:p>
            <a:r>
              <a:rPr lang="en-US" dirty="0" smtClean="0"/>
              <a:t>SELECT GETDATE()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для примера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 gridSpan="5">
                  <a:txBody>
                    <a:bodyPr/>
                    <a:lstStyle/>
                    <a:p>
                      <a:r>
                        <a:rPr lang="en-US" sz="2400" dirty="0" smtClean="0"/>
                        <a:t>Student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1993/08/17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1993/07/05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1993/05/09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Васильевич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Соколов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1992/12/21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Выборка всего содержимого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7667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/>
              <a:t>SELECT * FROM Student</a:t>
            </a:r>
          </a:p>
          <a:p>
            <a:pPr lvl="1"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428596" y="2571744"/>
          <a:ext cx="82296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1993/08/17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1993/07/05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1993/05/09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Васильевич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Соколов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1992/12/21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Выборка значений атрибута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4868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GroupNo</a:t>
            </a:r>
            <a:r>
              <a:rPr lang="en-US" dirty="0" smtClean="0"/>
              <a:t> FROM Student</a:t>
            </a:r>
          </a:p>
          <a:p>
            <a:endParaRPr lang="en-US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Выборка значений атрибута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4868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GroupNo</a:t>
            </a:r>
            <a:r>
              <a:rPr lang="en-US" dirty="0" smtClean="0"/>
              <a:t> FROM Student</a:t>
            </a:r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3779912" y="2492896"/>
          <a:ext cx="1450504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Подавление дубликатов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4868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/>
              <a:t>SELECT DISTINCT </a:t>
            </a:r>
            <a:r>
              <a:rPr lang="en-US" dirty="0" err="1" smtClean="0"/>
              <a:t>GroupNo</a:t>
            </a:r>
            <a:r>
              <a:rPr lang="en-US" dirty="0" smtClean="0"/>
              <a:t> FROM Student</a:t>
            </a:r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3779912" y="2492896"/>
          <a:ext cx="145050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Выборка значений нескольких атрибутов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87624" y="1600201"/>
            <a:ext cx="7056784" cy="1324744"/>
          </a:xfrm>
        </p:spPr>
        <p:txBody>
          <a:bodyPr>
            <a:normAutofit/>
          </a:bodyPr>
          <a:lstStyle/>
          <a:p>
            <a:pPr marL="712788" indent="-712788">
              <a:buNone/>
            </a:pPr>
            <a:r>
              <a:rPr lang="en-US" dirty="0" smtClean="0"/>
              <a:t>SELECT Name, Patronymic, Surname</a:t>
            </a:r>
            <a:endParaRPr lang="ru-RU" dirty="0" smtClean="0"/>
          </a:p>
          <a:p>
            <a:pPr marL="712788" indent="-712788">
              <a:buNone/>
            </a:pPr>
            <a:r>
              <a:rPr lang="en-US" dirty="0" smtClean="0"/>
              <a:t>	FROM Student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Выборка значений нескольких атрибутов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87624" y="1600201"/>
            <a:ext cx="7056784" cy="1324744"/>
          </a:xfrm>
        </p:spPr>
        <p:txBody>
          <a:bodyPr>
            <a:normAutofit/>
          </a:bodyPr>
          <a:lstStyle/>
          <a:p>
            <a:pPr marL="712788" indent="-712788">
              <a:buNone/>
            </a:pPr>
            <a:r>
              <a:rPr lang="en-US" dirty="0" smtClean="0"/>
              <a:t>SELECT Name, Patronymic, Surname</a:t>
            </a:r>
            <a:endParaRPr lang="ru-RU" dirty="0" smtClean="0"/>
          </a:p>
          <a:p>
            <a:pPr marL="712788" indent="-712788">
              <a:buNone/>
            </a:pPr>
            <a:r>
              <a:rPr lang="en-US" dirty="0" smtClean="0"/>
              <a:t>	FROM Student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2123728" y="3068960"/>
          <a:ext cx="4968552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60"/>
                <a:gridCol w="1872208"/>
                <a:gridCol w="165618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Васильевич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Соколов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Порядок важен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87624" y="1600201"/>
            <a:ext cx="7056784" cy="1324744"/>
          </a:xfrm>
        </p:spPr>
        <p:txBody>
          <a:bodyPr>
            <a:normAutofit/>
          </a:bodyPr>
          <a:lstStyle/>
          <a:p>
            <a:pPr marL="712788" indent="-712788">
              <a:buNone/>
            </a:pPr>
            <a:r>
              <a:rPr lang="en-US" dirty="0" smtClean="0"/>
              <a:t>SELECT Surname</a:t>
            </a:r>
            <a:r>
              <a:rPr lang="ru-RU" dirty="0" smtClean="0"/>
              <a:t>, </a:t>
            </a:r>
            <a:r>
              <a:rPr lang="en-US" dirty="0" smtClean="0"/>
              <a:t>Name, Patronymic</a:t>
            </a:r>
            <a:endParaRPr lang="ru-RU" dirty="0" smtClean="0"/>
          </a:p>
          <a:p>
            <a:pPr marL="712788" indent="-712788">
              <a:buNone/>
            </a:pPr>
            <a:r>
              <a:rPr lang="en-US" dirty="0" smtClean="0"/>
              <a:t>	FROM Student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2123728" y="3068960"/>
          <a:ext cx="4896543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3801"/>
                <a:gridCol w="1483801"/>
                <a:gridCol w="192894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Дмитриевич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Соколов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Васильевич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выражений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80728"/>
          </a:xfrm>
        </p:spPr>
        <p:txBody>
          <a:bodyPr>
            <a:normAutofit/>
          </a:bodyPr>
          <a:lstStyle/>
          <a:p>
            <a:pPr marL="712788" indent="-712788">
              <a:buNone/>
            </a:pPr>
            <a:r>
              <a:rPr lang="en-US" dirty="0" smtClean="0"/>
              <a:t>SELECT Surname + ‘ ‘ + Name + ‘ ‘ + Patronymic</a:t>
            </a:r>
            <a:endParaRPr lang="ru-RU" dirty="0" smtClean="0"/>
          </a:p>
          <a:p>
            <a:pPr marL="712788" indent="-712788">
              <a:buNone/>
            </a:pPr>
            <a:r>
              <a:rPr lang="ru-RU" dirty="0" smtClean="0"/>
              <a:t>	</a:t>
            </a:r>
            <a:r>
              <a:rPr lang="en-US" dirty="0" smtClean="0"/>
              <a:t>FROM Student</a:t>
            </a:r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5" name="Содержимое 3"/>
          <p:cNvGraphicFramePr>
            <a:graphicFrameLocks/>
          </p:cNvGraphicFramePr>
          <p:nvPr/>
        </p:nvGraphicFramePr>
        <p:xfrm>
          <a:off x="2123728" y="3068960"/>
          <a:ext cx="4896543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654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Expr001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 Иван 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 Иван Сергеевич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 Сергей Дмитриевич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Соколов Дмитрий Васильевич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синонимов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051720" y="1600200"/>
            <a:ext cx="6635080" cy="1396751"/>
          </a:xfrm>
        </p:spPr>
        <p:txBody>
          <a:bodyPr>
            <a:normAutofit fontScale="92500" lnSpcReduction="20000"/>
          </a:bodyPr>
          <a:lstStyle/>
          <a:p>
            <a:pPr marL="712788" indent="-712788">
              <a:buNone/>
            </a:pPr>
            <a:r>
              <a:rPr lang="en-US" dirty="0" smtClean="0"/>
              <a:t>SELECT Surname + ‘ ‘ + Name +</a:t>
            </a:r>
            <a:endParaRPr lang="ru-RU" dirty="0" smtClean="0"/>
          </a:p>
          <a:p>
            <a:pPr marL="712788" indent="-712788">
              <a:buNone/>
            </a:pPr>
            <a:r>
              <a:rPr lang="ru-RU" dirty="0" smtClean="0"/>
              <a:t>	</a:t>
            </a:r>
            <a:r>
              <a:rPr lang="en-US" dirty="0" smtClean="0"/>
              <a:t> ‘ ‘ + Patronymic “</a:t>
            </a:r>
            <a:r>
              <a:rPr lang="ru-RU" dirty="0" smtClean="0"/>
              <a:t>ФИО</a:t>
            </a:r>
            <a:r>
              <a:rPr lang="en-US" dirty="0" smtClean="0"/>
              <a:t>”</a:t>
            </a:r>
            <a:endParaRPr lang="ru-RU" dirty="0" smtClean="0"/>
          </a:p>
          <a:p>
            <a:pPr marL="712788" indent="-712788">
              <a:buNone/>
            </a:pPr>
            <a:r>
              <a:rPr lang="ru-RU" dirty="0" smtClean="0"/>
              <a:t>	</a:t>
            </a:r>
            <a:r>
              <a:rPr lang="en-US" dirty="0" smtClean="0"/>
              <a:t>FROM Student</a:t>
            </a:r>
          </a:p>
          <a:p>
            <a:endParaRPr lang="en-US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синонимов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051720" y="1600200"/>
            <a:ext cx="6635080" cy="1396751"/>
          </a:xfrm>
        </p:spPr>
        <p:txBody>
          <a:bodyPr>
            <a:normAutofit fontScale="92500" lnSpcReduction="20000"/>
          </a:bodyPr>
          <a:lstStyle/>
          <a:p>
            <a:pPr marL="712788" indent="-712788">
              <a:buNone/>
            </a:pPr>
            <a:r>
              <a:rPr lang="en-US" dirty="0" smtClean="0"/>
              <a:t>SELECT Surname + ‘ ‘ + Name +</a:t>
            </a:r>
            <a:endParaRPr lang="ru-RU" dirty="0" smtClean="0"/>
          </a:p>
          <a:p>
            <a:pPr marL="712788" indent="-712788">
              <a:buNone/>
            </a:pPr>
            <a:r>
              <a:rPr lang="ru-RU" dirty="0" smtClean="0"/>
              <a:t>	</a:t>
            </a:r>
            <a:r>
              <a:rPr lang="en-US" dirty="0" smtClean="0"/>
              <a:t> ‘ ‘ + Patronymic</a:t>
            </a:r>
            <a:r>
              <a:rPr lang="ru-RU" dirty="0" smtClean="0"/>
              <a:t> </a:t>
            </a:r>
            <a:r>
              <a:rPr lang="en-US" dirty="0" smtClean="0"/>
              <a:t>AS “</a:t>
            </a:r>
            <a:r>
              <a:rPr lang="ru-RU" dirty="0" smtClean="0"/>
              <a:t>ФИО</a:t>
            </a:r>
            <a:r>
              <a:rPr lang="en-US" dirty="0" smtClean="0"/>
              <a:t>”</a:t>
            </a:r>
            <a:endParaRPr lang="ru-RU" dirty="0" smtClean="0"/>
          </a:p>
          <a:p>
            <a:pPr marL="712788" indent="-712788">
              <a:buNone/>
            </a:pPr>
            <a:r>
              <a:rPr lang="ru-RU" dirty="0" smtClean="0"/>
              <a:t>	</a:t>
            </a:r>
            <a:r>
              <a:rPr lang="en-US" dirty="0" smtClean="0"/>
              <a:t>FROM Student</a:t>
            </a:r>
          </a:p>
          <a:p>
            <a:endParaRPr lang="en-US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синонимов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051720" y="1600200"/>
            <a:ext cx="6635080" cy="1396751"/>
          </a:xfrm>
        </p:spPr>
        <p:txBody>
          <a:bodyPr>
            <a:normAutofit fontScale="92500" lnSpcReduction="20000"/>
          </a:bodyPr>
          <a:lstStyle/>
          <a:p>
            <a:pPr marL="712788" indent="-712788">
              <a:buNone/>
            </a:pPr>
            <a:r>
              <a:rPr lang="en-US" dirty="0" smtClean="0"/>
              <a:t>SELECT Surname + ‘ ‘ + Name +</a:t>
            </a:r>
            <a:endParaRPr lang="ru-RU" dirty="0" smtClean="0"/>
          </a:p>
          <a:p>
            <a:pPr marL="712788" indent="-712788">
              <a:buNone/>
            </a:pPr>
            <a:r>
              <a:rPr lang="ru-RU" dirty="0" smtClean="0"/>
              <a:t>	</a:t>
            </a:r>
            <a:r>
              <a:rPr lang="en-US" dirty="0" smtClean="0"/>
              <a:t> ‘ ‘ + Patronymic</a:t>
            </a:r>
            <a:r>
              <a:rPr lang="ru-RU" dirty="0" smtClean="0"/>
              <a:t> </a:t>
            </a:r>
            <a:r>
              <a:rPr lang="en-US" dirty="0" smtClean="0"/>
              <a:t>AS “</a:t>
            </a:r>
            <a:r>
              <a:rPr lang="ru-RU" dirty="0" smtClean="0"/>
              <a:t>ФИО</a:t>
            </a:r>
            <a:r>
              <a:rPr lang="en-US" dirty="0" smtClean="0"/>
              <a:t>”</a:t>
            </a:r>
            <a:endParaRPr lang="ru-RU" dirty="0" smtClean="0"/>
          </a:p>
          <a:p>
            <a:pPr marL="712788" indent="-712788">
              <a:buNone/>
            </a:pPr>
            <a:r>
              <a:rPr lang="ru-RU" dirty="0" smtClean="0"/>
              <a:t>	</a:t>
            </a:r>
            <a:r>
              <a:rPr lang="en-US" dirty="0" smtClean="0"/>
              <a:t>FROM Student</a:t>
            </a:r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5" name="Содержимое 3"/>
          <p:cNvGraphicFramePr>
            <a:graphicFrameLocks/>
          </p:cNvGraphicFramePr>
          <p:nvPr/>
        </p:nvGraphicFramePr>
        <p:xfrm>
          <a:off x="2123728" y="3284984"/>
          <a:ext cx="4896543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6543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ФИО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 Иван 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 Иван Сергеевич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 Сергей Дмитриевич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Соколов Дмитрий Васильевич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Усложним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00200"/>
            <a:ext cx="8424936" cy="4525963"/>
          </a:xfrm>
        </p:spPr>
        <p:txBody>
          <a:bodyPr>
            <a:normAutofit/>
          </a:bodyPr>
          <a:lstStyle/>
          <a:p>
            <a:pPr marL="712788" indent="-712788">
              <a:buNone/>
            </a:pPr>
            <a:r>
              <a:rPr lang="en-US" sz="2700" dirty="0" smtClean="0"/>
              <a:t>SELECT Surname + ‘ ‘ +</a:t>
            </a:r>
            <a:r>
              <a:rPr lang="ru-RU" sz="2700" dirty="0" smtClean="0"/>
              <a:t> </a:t>
            </a:r>
            <a:r>
              <a:rPr lang="en-US" sz="2700" dirty="0" smtClean="0"/>
              <a:t>Name +</a:t>
            </a:r>
            <a:r>
              <a:rPr lang="ru-RU" sz="2700" dirty="0" smtClean="0"/>
              <a:t> </a:t>
            </a:r>
            <a:r>
              <a:rPr lang="en-US" sz="2700" dirty="0" smtClean="0"/>
              <a:t>‘ ‘ + Patronymic</a:t>
            </a:r>
            <a:r>
              <a:rPr lang="ru-RU" sz="2700" dirty="0" smtClean="0"/>
              <a:t> </a:t>
            </a:r>
            <a:r>
              <a:rPr lang="en-US" sz="2700" dirty="0" smtClean="0"/>
              <a:t>AS “</a:t>
            </a:r>
            <a:r>
              <a:rPr lang="ru-RU" sz="2700" dirty="0" smtClean="0"/>
              <a:t>ФИО</a:t>
            </a:r>
            <a:r>
              <a:rPr lang="en-US" sz="2700" dirty="0" smtClean="0"/>
              <a:t>”</a:t>
            </a:r>
            <a:r>
              <a:rPr lang="ru-RU" sz="2700" dirty="0" smtClean="0"/>
              <a:t>,</a:t>
            </a:r>
          </a:p>
          <a:p>
            <a:pPr marL="712788" indent="-712788">
              <a:buNone/>
            </a:pPr>
            <a:r>
              <a:rPr lang="ru-RU" sz="2700" dirty="0" smtClean="0"/>
              <a:t>	</a:t>
            </a:r>
            <a:r>
              <a:rPr lang="en-US" sz="2700" dirty="0" smtClean="0"/>
              <a:t>YEAR(GETDATE()</a:t>
            </a:r>
            <a:r>
              <a:rPr lang="ru-RU" sz="2700" dirty="0" smtClean="0"/>
              <a:t> - </a:t>
            </a:r>
            <a:r>
              <a:rPr lang="en-US" sz="2700" dirty="0" err="1" smtClean="0"/>
              <a:t>BirthDate</a:t>
            </a:r>
            <a:r>
              <a:rPr lang="en-US" sz="2700" dirty="0" smtClean="0"/>
              <a:t>)</a:t>
            </a:r>
            <a:r>
              <a:rPr lang="ru-RU" sz="2700" dirty="0" smtClean="0"/>
              <a:t> </a:t>
            </a:r>
            <a:r>
              <a:rPr lang="en-US" sz="2700" dirty="0" smtClean="0"/>
              <a:t>AS “</a:t>
            </a:r>
            <a:r>
              <a:rPr lang="ru-RU" sz="2700" dirty="0" smtClean="0"/>
              <a:t>Возраст</a:t>
            </a:r>
            <a:r>
              <a:rPr lang="en-US" sz="2700" dirty="0" smtClean="0"/>
              <a:t>”</a:t>
            </a:r>
          </a:p>
          <a:p>
            <a:pPr marL="712788" indent="-712788">
              <a:buNone/>
            </a:pPr>
            <a:r>
              <a:rPr lang="en-US" sz="2700" dirty="0" smtClean="0"/>
              <a:t>	FROM Student</a:t>
            </a:r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1691680" y="3284984"/>
          <a:ext cx="6048672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48472"/>
                <a:gridCol w="1800200"/>
              </a:tblGrid>
              <a:tr h="432048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ФИО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Возраст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 Иван 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 Иван 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 Сергей Дмитриевич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Соколов Дмитрий Васильевич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20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Выборка с простым условием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3108" y="1600200"/>
            <a:ext cx="6543692" cy="104298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SELECT * FROM Student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WHERE Name = ‘</a:t>
            </a:r>
            <a:r>
              <a:rPr lang="ru-RU" dirty="0" smtClean="0"/>
              <a:t>Иван</a:t>
            </a:r>
            <a:r>
              <a:rPr lang="en-US" dirty="0" smtClean="0"/>
              <a:t>’</a:t>
            </a:r>
          </a:p>
          <a:p>
            <a:pPr lvl="1"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428596" y="3000372"/>
          <a:ext cx="8229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1993/08/17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1993/07/05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Выборка с простым условием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3108" y="1600200"/>
            <a:ext cx="6543692" cy="104298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SELECT * FROM Student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WHERE YEAR(</a:t>
            </a:r>
            <a:r>
              <a:rPr lang="en-US" dirty="0" err="1" smtClean="0"/>
              <a:t>BirthDate</a:t>
            </a:r>
            <a:r>
              <a:rPr lang="en-US" dirty="0" smtClean="0"/>
              <a:t>) &gt;= 1993</a:t>
            </a:r>
          </a:p>
          <a:p>
            <a:pPr lvl="1">
              <a:buNone/>
            </a:pPr>
            <a:endParaRPr lang="ru-RU" dirty="0"/>
          </a:p>
        </p:txBody>
      </p:sp>
      <p:graphicFrame>
        <p:nvGraphicFramePr>
          <p:cNvPr id="6" name="Содержимое 3"/>
          <p:cNvGraphicFramePr>
            <a:graphicFrameLocks/>
          </p:cNvGraphicFramePr>
          <p:nvPr/>
        </p:nvGraphicFramePr>
        <p:xfrm>
          <a:off x="428596" y="3000372"/>
          <a:ext cx="82296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1993/08/17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1993/07/05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1993/05/09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Выборка со сложным условием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14348" y="1600200"/>
            <a:ext cx="7972452" cy="1042981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 smtClean="0"/>
              <a:t>SELECT * FROM Student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WHERE Name = ‘</a:t>
            </a:r>
            <a:r>
              <a:rPr lang="ru-RU" dirty="0" smtClean="0"/>
              <a:t>Иван</a:t>
            </a:r>
            <a:r>
              <a:rPr lang="en-US" dirty="0" smtClean="0"/>
              <a:t>’</a:t>
            </a:r>
            <a:r>
              <a:rPr lang="ru-RU" dirty="0" smtClean="0"/>
              <a:t> </a:t>
            </a:r>
            <a:r>
              <a:rPr lang="en-US" dirty="0" smtClean="0"/>
              <a:t>AND Surname = ‘</a:t>
            </a:r>
            <a:r>
              <a:rPr lang="ru-RU" dirty="0" smtClean="0"/>
              <a:t>Иванов</a:t>
            </a:r>
            <a:r>
              <a:rPr lang="en-US" dirty="0" smtClean="0"/>
              <a:t>’</a:t>
            </a:r>
          </a:p>
          <a:p>
            <a:pPr lvl="1"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428596" y="3000372"/>
          <a:ext cx="8229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1993/08/17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1993/07/05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Выборка со сложным условием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14348" y="1600200"/>
            <a:ext cx="7972452" cy="197167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SELECT * FROM Student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WHERE Name = ‘</a:t>
            </a:r>
            <a:r>
              <a:rPr lang="ru-RU" dirty="0" smtClean="0"/>
              <a:t>Иван</a:t>
            </a:r>
            <a:r>
              <a:rPr lang="en-US" dirty="0" smtClean="0"/>
              <a:t>’</a:t>
            </a:r>
            <a:r>
              <a:rPr lang="ru-RU" dirty="0" smtClean="0"/>
              <a:t> </a:t>
            </a:r>
            <a:r>
              <a:rPr lang="en-US" dirty="0" smtClean="0"/>
              <a:t>AND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		</a:t>
            </a:r>
            <a:r>
              <a:rPr lang="en-US" dirty="0" smtClean="0"/>
              <a:t>Surname = ‘</a:t>
            </a:r>
            <a:r>
              <a:rPr lang="ru-RU" dirty="0" smtClean="0"/>
              <a:t>Иванов</a:t>
            </a:r>
            <a:r>
              <a:rPr lang="en-US" dirty="0" smtClean="0"/>
              <a:t>’</a:t>
            </a:r>
            <a:r>
              <a:rPr lang="ru-RU" dirty="0" smtClean="0"/>
              <a:t> </a:t>
            </a:r>
            <a:r>
              <a:rPr lang="en-US" dirty="0" smtClean="0"/>
              <a:t>AND</a:t>
            </a:r>
          </a:p>
          <a:p>
            <a:pPr>
              <a:buNone/>
            </a:pPr>
            <a:r>
              <a:rPr lang="en-US" dirty="0" smtClean="0"/>
              <a:t>			Patronymic &lt;&gt; ‘</a:t>
            </a:r>
            <a:r>
              <a:rPr lang="ru-RU" dirty="0" smtClean="0"/>
              <a:t>Иванович</a:t>
            </a:r>
            <a:r>
              <a:rPr lang="en-US" dirty="0" smtClean="0"/>
              <a:t>’</a:t>
            </a:r>
          </a:p>
          <a:p>
            <a:pPr lvl="1"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357158" y="3929066"/>
          <a:ext cx="82296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1993/07/05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</a:t>
            </a:r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Специальные предикаты IN, BETWEEN, LIKE, IS NULL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Выборка по ИЛИ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1455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SELECT * FROM Student</a:t>
            </a:r>
          </a:p>
          <a:p>
            <a:pPr>
              <a:buNone/>
            </a:pPr>
            <a:r>
              <a:rPr lang="en-US" dirty="0" smtClean="0"/>
              <a:t>		WHERE MONTH(</a:t>
            </a:r>
            <a:r>
              <a:rPr lang="en-US" dirty="0" err="1" smtClean="0"/>
              <a:t>BirthDate</a:t>
            </a:r>
            <a:r>
              <a:rPr lang="en-US" dirty="0" smtClean="0"/>
              <a:t>) = 6 OR</a:t>
            </a:r>
          </a:p>
          <a:p>
            <a:pPr>
              <a:buNone/>
            </a:pPr>
            <a:r>
              <a:rPr lang="en-US" dirty="0" smtClean="0"/>
              <a:t>			MONTH(</a:t>
            </a:r>
            <a:r>
              <a:rPr lang="en-US" dirty="0" err="1" smtClean="0"/>
              <a:t>BirthDate</a:t>
            </a:r>
            <a:r>
              <a:rPr lang="en-US" dirty="0" smtClean="0"/>
              <a:t>) = 7 OR</a:t>
            </a:r>
          </a:p>
          <a:p>
            <a:pPr>
              <a:buNone/>
            </a:pPr>
            <a:r>
              <a:rPr lang="en-US" dirty="0" smtClean="0"/>
              <a:t>			MONTH(</a:t>
            </a:r>
            <a:r>
              <a:rPr lang="en-US" dirty="0" err="1" smtClean="0"/>
              <a:t>BirthDate</a:t>
            </a:r>
            <a:r>
              <a:rPr lang="en-US" dirty="0" smtClean="0"/>
              <a:t>) = 8</a:t>
            </a:r>
          </a:p>
          <a:p>
            <a:pPr lvl="1"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428596" y="4000504"/>
          <a:ext cx="8229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1993/08/17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1993/07/05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Предикат </a:t>
            </a:r>
            <a:r>
              <a:rPr lang="en-US" dirty="0" smtClean="0"/>
              <a:t>IN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145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SELECT * FROM Student</a:t>
            </a:r>
          </a:p>
          <a:p>
            <a:pPr>
              <a:buNone/>
            </a:pPr>
            <a:r>
              <a:rPr lang="en-US" dirty="0" smtClean="0"/>
              <a:t>		WHERE MONTH(</a:t>
            </a:r>
            <a:r>
              <a:rPr lang="en-US" dirty="0" err="1" smtClean="0"/>
              <a:t>BirthDate</a:t>
            </a:r>
            <a:r>
              <a:rPr lang="en-US" dirty="0" smtClean="0"/>
              <a:t>) IN (6, 7, 8)</a:t>
            </a:r>
          </a:p>
          <a:p>
            <a:pPr lvl="1"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428596" y="4000504"/>
          <a:ext cx="8229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1993/08/17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1993/07/05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Выборка </a:t>
            </a:r>
            <a:r>
              <a:rPr lang="en-US" dirty="0" smtClean="0"/>
              <a:t>c </a:t>
            </a:r>
            <a:r>
              <a:rPr lang="ru-RU" dirty="0" smtClean="0"/>
              <a:t>диапазоном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145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SELECT * FROM Student</a:t>
            </a:r>
          </a:p>
          <a:p>
            <a:pPr>
              <a:buNone/>
            </a:pPr>
            <a:r>
              <a:rPr lang="en-US" dirty="0" smtClean="0"/>
              <a:t>		WHERE MONTH(</a:t>
            </a:r>
            <a:r>
              <a:rPr lang="en-US" dirty="0" err="1" smtClean="0"/>
              <a:t>BirthDate</a:t>
            </a:r>
            <a:r>
              <a:rPr lang="en-US" dirty="0" smtClean="0"/>
              <a:t>) &gt;= 6 AND</a:t>
            </a:r>
          </a:p>
          <a:p>
            <a:pPr>
              <a:buNone/>
            </a:pPr>
            <a:r>
              <a:rPr lang="en-US" dirty="0" smtClean="0"/>
              <a:t>			MONTH(</a:t>
            </a:r>
            <a:r>
              <a:rPr lang="en-US" dirty="0" err="1" smtClean="0"/>
              <a:t>BirthDate</a:t>
            </a:r>
            <a:r>
              <a:rPr lang="en-US" dirty="0" smtClean="0"/>
              <a:t>) &lt;= 8</a:t>
            </a:r>
          </a:p>
          <a:p>
            <a:pPr lvl="1"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428596" y="4000504"/>
          <a:ext cx="8229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1993/08/17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1993/07/05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Предикат </a:t>
            </a:r>
            <a:r>
              <a:rPr lang="en-US" dirty="0" smtClean="0"/>
              <a:t>BETWEEN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145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SELECT * FROM Student</a:t>
            </a:r>
          </a:p>
          <a:p>
            <a:pPr>
              <a:buNone/>
            </a:pPr>
            <a:r>
              <a:rPr lang="en-US" dirty="0" smtClean="0"/>
              <a:t>	WHERE MONTH(</a:t>
            </a:r>
            <a:r>
              <a:rPr lang="en-US" dirty="0" err="1" smtClean="0"/>
              <a:t>BirthDate</a:t>
            </a:r>
            <a:r>
              <a:rPr lang="en-US" dirty="0" smtClean="0"/>
              <a:t>) BETWEEN 6 AND 8</a:t>
            </a:r>
          </a:p>
          <a:p>
            <a:pPr lvl="1"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428596" y="4000504"/>
          <a:ext cx="8229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1993/08/17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1993/07/05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Символы заменители </a:t>
            </a:r>
            <a:br>
              <a:rPr lang="ru-RU" dirty="0" smtClean="0"/>
            </a:br>
            <a:r>
              <a:rPr lang="ru-RU" dirty="0" smtClean="0"/>
              <a:t>в предикате </a:t>
            </a:r>
            <a:r>
              <a:rPr lang="en-US" dirty="0" smtClean="0"/>
              <a:t>LIKE</a:t>
            </a:r>
            <a:endParaRPr lang="ru-RU" dirty="0"/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28850"/>
                <a:gridCol w="59007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%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Любое количество символов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_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Только один</a:t>
                      </a:r>
                      <a:r>
                        <a:rPr lang="ru-RU" sz="2400" baseline="0" dirty="0" smtClean="0"/>
                        <a:t> символ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[]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Любой</a:t>
                      </a:r>
                      <a:r>
                        <a:rPr lang="ru-RU" sz="2400" baseline="0" dirty="0" smtClean="0"/>
                        <a:t> из набора или диапазона символов,  задаваемых в скобках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^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Любой</a:t>
                      </a:r>
                      <a:r>
                        <a:rPr lang="ru-RU" sz="2400" baseline="0" dirty="0" smtClean="0"/>
                        <a:t> символ не из набора и не из диапазона символов,  задаваемых в скобках</a:t>
                      </a:r>
                      <a:endParaRPr lang="ru-RU" sz="24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для примера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 gridSpan="5">
                  <a:txBody>
                    <a:bodyPr/>
                    <a:lstStyle/>
                    <a:p>
                      <a:r>
                        <a:rPr lang="en-US" sz="2400" dirty="0" smtClean="0"/>
                        <a:t>Student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1993/08/17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1993/07/05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1993/05/09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Васильевич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Соколов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1992/12/21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7323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Василий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1994/03/07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NULL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Антон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Кузнецов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1995/03/07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Предикат </a:t>
            </a:r>
            <a:r>
              <a:rPr lang="en-US" dirty="0" smtClean="0"/>
              <a:t>LIKE</a:t>
            </a:r>
            <a:r>
              <a:rPr lang="ru-RU" dirty="0" smtClean="0"/>
              <a:t> (</a:t>
            </a:r>
            <a:r>
              <a:rPr lang="en-US" dirty="0" smtClean="0"/>
              <a:t>1</a:t>
            </a:r>
            <a:r>
              <a:rPr lang="ru-RU" dirty="0" smtClean="0"/>
              <a:t>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85852" y="1600200"/>
            <a:ext cx="7400948" cy="111442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SELECT * FROM Student</a:t>
            </a:r>
          </a:p>
          <a:p>
            <a:pPr>
              <a:buNone/>
            </a:pPr>
            <a:r>
              <a:rPr lang="en-US" dirty="0" smtClean="0"/>
              <a:t>		WHERE </a:t>
            </a:r>
            <a:r>
              <a:rPr lang="en-US" dirty="0" err="1" smtClean="0"/>
              <a:t>GroupNo</a:t>
            </a:r>
            <a:r>
              <a:rPr lang="en-US" dirty="0" smtClean="0"/>
              <a:t> LIKE ’733_’</a:t>
            </a:r>
          </a:p>
          <a:p>
            <a:pPr lvl="1"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428596" y="3071810"/>
          <a:ext cx="82296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1993/08/17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1993/07/05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1993/05/09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Васильевич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Соколов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1992/12/21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Предикат </a:t>
            </a:r>
            <a:r>
              <a:rPr lang="en-US" dirty="0" smtClean="0"/>
              <a:t>LIKE</a:t>
            </a:r>
            <a:r>
              <a:rPr lang="ru-RU" dirty="0" smtClean="0"/>
              <a:t> (</a:t>
            </a:r>
            <a:r>
              <a:rPr lang="en-US" dirty="0" smtClean="0"/>
              <a:t>2</a:t>
            </a:r>
            <a:r>
              <a:rPr lang="ru-RU" dirty="0" smtClean="0"/>
              <a:t>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85852" y="1600200"/>
            <a:ext cx="7400948" cy="111442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SELECT * FROM Student</a:t>
            </a:r>
          </a:p>
          <a:p>
            <a:pPr>
              <a:buNone/>
            </a:pPr>
            <a:r>
              <a:rPr lang="en-US" dirty="0" smtClean="0"/>
              <a:t>		WHERE Patronymic LIKE ’</a:t>
            </a:r>
            <a:r>
              <a:rPr lang="ru-RU" dirty="0" err="1" smtClean="0"/>
              <a:t>Иван%</a:t>
            </a:r>
            <a:r>
              <a:rPr lang="en-US" dirty="0" smtClean="0"/>
              <a:t>’</a:t>
            </a:r>
          </a:p>
          <a:p>
            <a:pPr lvl="1"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428596" y="3071810"/>
          <a:ext cx="8229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1993/08/17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7323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Василий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1994/03/07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Предикат </a:t>
            </a:r>
            <a:r>
              <a:rPr lang="en-US" dirty="0" smtClean="0"/>
              <a:t>IS NULL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00166" y="1600200"/>
            <a:ext cx="7186634" cy="147160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SELECT * FROM Student</a:t>
            </a:r>
          </a:p>
          <a:p>
            <a:pPr>
              <a:buNone/>
            </a:pPr>
            <a:r>
              <a:rPr lang="en-US" dirty="0" smtClean="0"/>
              <a:t>		WHERE </a:t>
            </a:r>
            <a:r>
              <a:rPr lang="en-US" dirty="0" err="1" smtClean="0"/>
              <a:t>GroupNo</a:t>
            </a:r>
            <a:r>
              <a:rPr lang="en-US" dirty="0" smtClean="0"/>
              <a:t> IS NULL</a:t>
            </a:r>
          </a:p>
          <a:p>
            <a:pPr lvl="1"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428596" y="3571876"/>
          <a:ext cx="82296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NULL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Антон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Кузнецов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1995/03/07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Предикат </a:t>
            </a:r>
            <a:r>
              <a:rPr lang="en-US" dirty="0" smtClean="0"/>
              <a:t>IS NOT NULL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00166" y="1600200"/>
            <a:ext cx="7186634" cy="118585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SELECT * FROM Student</a:t>
            </a:r>
          </a:p>
          <a:p>
            <a:pPr>
              <a:buNone/>
            </a:pPr>
            <a:r>
              <a:rPr lang="en-US" dirty="0" smtClean="0"/>
              <a:t>		WHERE </a:t>
            </a:r>
            <a:r>
              <a:rPr lang="en-US" dirty="0" err="1" smtClean="0"/>
              <a:t>GroupNo</a:t>
            </a:r>
            <a:r>
              <a:rPr lang="en-US" dirty="0" smtClean="0"/>
              <a:t> IS NOT NULL</a:t>
            </a:r>
          </a:p>
          <a:p>
            <a:pPr lvl="1"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428596" y="3071810"/>
          <a:ext cx="822960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504"/>
                <a:gridCol w="1440160"/>
                <a:gridCol w="1872208"/>
                <a:gridCol w="1656184"/>
                <a:gridCol w="181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GroupNo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Patronymic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Surname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BirthDate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1993/08/17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1993/07/05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Сергей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1993/05/09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7334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Дмитрий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Васильевич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Соколов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1992/12/21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7323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Василий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Иванович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Смирнов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1994/03/07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</a:t>
            </a:r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Применение агрегатных функций. Группировка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Агрегатные функции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899592" y="1600200"/>
          <a:ext cx="7787208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2039"/>
                <a:gridCol w="566516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COUNT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aseline="0" dirty="0" smtClean="0"/>
                        <a:t>Количество строк результата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SUM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Сумма значений атрибута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AVG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Среднее</a:t>
                      </a:r>
                      <a:r>
                        <a:rPr lang="ru-RU" sz="2800" baseline="0" dirty="0" smtClean="0"/>
                        <a:t> значение атрибута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MIN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Минимальное значение </a:t>
                      </a:r>
                      <a:r>
                        <a:rPr lang="ru-RU" sz="2800" baseline="0" dirty="0" smtClean="0"/>
                        <a:t>атрибута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MAX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Максимальное значение </a:t>
                      </a:r>
                      <a:r>
                        <a:rPr lang="ru-RU" sz="2800" baseline="0" dirty="0" smtClean="0"/>
                        <a:t>атрибута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Способы агрегирования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42976" y="1600200"/>
            <a:ext cx="7543824" cy="4525963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Простое агрегирование</a:t>
            </a:r>
          </a:p>
          <a:p>
            <a:pPr>
              <a:buNone/>
            </a:pPr>
            <a:r>
              <a:rPr lang="ru-RU" sz="3600" dirty="0" smtClean="0"/>
              <a:t>	(без группировки)</a:t>
            </a:r>
          </a:p>
          <a:p>
            <a:r>
              <a:rPr lang="ru-RU" sz="3600" dirty="0" smtClean="0"/>
              <a:t>Агрегирование с группировкой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для примера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500034" y="1428736"/>
          <a:ext cx="8229600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12"/>
                <a:gridCol w="1928826"/>
                <a:gridCol w="2928958"/>
                <a:gridCol w="1657304"/>
              </a:tblGrid>
              <a:tr h="370840">
                <a:tc gridSpan="4">
                  <a:txBody>
                    <a:bodyPr/>
                    <a:lstStyle/>
                    <a:p>
                      <a:r>
                        <a:rPr lang="en-US" sz="2800" dirty="0" smtClean="0"/>
                        <a:t>Exam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Subject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GroupNo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Mark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Кузнецов К.А.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Количество сдач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5723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/>
              <a:t>SELECT COUNT(*) FROM Exam</a:t>
            </a:r>
          </a:p>
          <a:p>
            <a:endParaRPr lang="en-US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3929059" y="3068960"/>
          <a:ext cx="150019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019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Expr001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Количество сдач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5723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/>
              <a:t>SELECT COUNT(DISTINCT </a:t>
            </a:r>
            <a:r>
              <a:rPr lang="en-US" dirty="0" err="1" smtClean="0"/>
              <a:t>GroupNo</a:t>
            </a:r>
            <a:r>
              <a:rPr lang="en-US" dirty="0" smtClean="0"/>
              <a:t>) FROM Exam</a:t>
            </a:r>
          </a:p>
          <a:p>
            <a:endParaRPr lang="en-US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670643"/>
              </p:ext>
            </p:extLst>
          </p:nvPr>
        </p:nvGraphicFramePr>
        <p:xfrm>
          <a:off x="3929059" y="3068960"/>
          <a:ext cx="150019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019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Expr001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56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Средняя оценка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866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/>
              <a:t>SELECT AVG(Mark) FROM Exam</a:t>
            </a:r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3714744" y="3071810"/>
          <a:ext cx="185738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738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Expr001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3,857142857</a:t>
                      </a:r>
                      <a:endParaRPr lang="ru-RU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Средняя оценка по предмету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00166" y="1600201"/>
            <a:ext cx="7186634" cy="168592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SELECT Subject</a:t>
            </a:r>
            <a:r>
              <a:rPr lang="ru-RU" dirty="0" smtClean="0"/>
              <a:t>,</a:t>
            </a:r>
            <a:r>
              <a:rPr lang="en-US" dirty="0" smtClean="0"/>
              <a:t> AVG(Mark)</a:t>
            </a:r>
          </a:p>
          <a:p>
            <a:pPr>
              <a:buNone/>
            </a:pPr>
            <a:r>
              <a:rPr lang="en-US" dirty="0" smtClean="0"/>
              <a:t>		FROM Exam</a:t>
            </a:r>
          </a:p>
          <a:p>
            <a:pPr>
              <a:buNone/>
            </a:pPr>
            <a:r>
              <a:rPr lang="en-US" dirty="0" smtClean="0"/>
              <a:t>		GROUP BY Subject</a:t>
            </a:r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/>
        </p:nvGraphicFramePr>
        <p:xfrm>
          <a:off x="2500298" y="3571876"/>
          <a:ext cx="4071966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1636"/>
                <a:gridCol w="250033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Subect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Expr001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4,25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3,333333333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Средняя оценка по предмету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00166" y="1600201"/>
            <a:ext cx="7186634" cy="168592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SELECT Subject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GroupNo</a:t>
            </a:r>
            <a:r>
              <a:rPr lang="en-US" dirty="0" smtClean="0"/>
              <a:t>, AVG(Mark) </a:t>
            </a:r>
          </a:p>
          <a:p>
            <a:pPr>
              <a:buNone/>
            </a:pPr>
            <a:r>
              <a:rPr lang="en-US" dirty="0" smtClean="0"/>
              <a:t>		FROM Exam</a:t>
            </a:r>
          </a:p>
          <a:p>
            <a:pPr>
              <a:buNone/>
            </a:pPr>
            <a:r>
              <a:rPr lang="en-US" dirty="0" smtClean="0"/>
              <a:t>		GROUP BY Subject, </a:t>
            </a:r>
            <a:r>
              <a:rPr lang="en-US" dirty="0" err="1" smtClean="0"/>
              <a:t>GroupNo</a:t>
            </a:r>
            <a:endParaRPr lang="en-US" dirty="0" smtClean="0"/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5" name="Содержимое 3"/>
          <p:cNvGraphicFramePr>
            <a:graphicFrameLocks/>
          </p:cNvGraphicFramePr>
          <p:nvPr/>
        </p:nvGraphicFramePr>
        <p:xfrm>
          <a:off x="2071670" y="3500438"/>
          <a:ext cx="5300642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12"/>
                <a:gridCol w="1928826"/>
                <a:gridCol w="16573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Subect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GroupNo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Expr001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r>
                        <a:rPr lang="en-US" sz="2800" dirty="0" smtClean="0"/>
                        <a:t>,5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4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r>
                        <a:rPr lang="en-US" sz="2800" dirty="0" smtClean="0"/>
                        <a:t>,5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Средняя оценка по предмету 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00166" y="1600201"/>
            <a:ext cx="7186634" cy="211455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GroupNo</a:t>
            </a:r>
            <a:r>
              <a:rPr lang="en-US" dirty="0" smtClean="0"/>
              <a:t>, AVG(Mark) </a:t>
            </a:r>
          </a:p>
          <a:p>
            <a:pPr>
              <a:buNone/>
            </a:pPr>
            <a:r>
              <a:rPr lang="en-US" dirty="0" smtClean="0"/>
              <a:t>		FROM Exam</a:t>
            </a:r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WHERE Subject = ‘</a:t>
            </a:r>
            <a:r>
              <a:rPr lang="ru-RU" dirty="0" smtClean="0"/>
              <a:t>БД</a:t>
            </a:r>
            <a:r>
              <a:rPr lang="en-US" dirty="0" smtClean="0"/>
              <a:t>’</a:t>
            </a:r>
          </a:p>
          <a:p>
            <a:pPr>
              <a:buNone/>
            </a:pPr>
            <a:r>
              <a:rPr lang="en-US" dirty="0" smtClean="0"/>
              <a:t>		GROUP BY Subject, </a:t>
            </a:r>
            <a:r>
              <a:rPr lang="en-US" dirty="0" err="1" smtClean="0"/>
              <a:t>GroupNo</a:t>
            </a:r>
            <a:endParaRPr lang="en-US" dirty="0" smtClean="0"/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5" name="Содержимое 3"/>
          <p:cNvGraphicFramePr>
            <a:graphicFrameLocks/>
          </p:cNvGraphicFramePr>
          <p:nvPr/>
        </p:nvGraphicFramePr>
        <p:xfrm>
          <a:off x="2714612" y="4214818"/>
          <a:ext cx="3586130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8826"/>
                <a:gridCol w="16573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GroupNo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Expr001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r>
                        <a:rPr lang="en-US" sz="2800" dirty="0" smtClean="0"/>
                        <a:t>,5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4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Средняя оценка по предмету БД</a:t>
            </a:r>
            <a:r>
              <a:rPr lang="en-US" dirty="0" smtClean="0"/>
              <a:t> </a:t>
            </a:r>
            <a:r>
              <a:rPr lang="ru-RU" dirty="0" smtClean="0"/>
              <a:t>более заданной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71604" y="1714488"/>
            <a:ext cx="7186634" cy="2328865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GroupNo</a:t>
            </a:r>
            <a:r>
              <a:rPr lang="en-US" dirty="0" smtClean="0"/>
              <a:t>, AVG(Mark) </a:t>
            </a:r>
          </a:p>
          <a:p>
            <a:pPr>
              <a:buNone/>
            </a:pPr>
            <a:r>
              <a:rPr lang="en-US" dirty="0" smtClean="0"/>
              <a:t>		FROM Exam</a:t>
            </a:r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WHERE Subject = ‘</a:t>
            </a:r>
            <a:r>
              <a:rPr lang="ru-RU" dirty="0" smtClean="0"/>
              <a:t>БД</a:t>
            </a:r>
            <a:r>
              <a:rPr lang="en-US" dirty="0" smtClean="0"/>
              <a:t>’</a:t>
            </a:r>
          </a:p>
          <a:p>
            <a:pPr>
              <a:buNone/>
            </a:pPr>
            <a:r>
              <a:rPr lang="en-US" dirty="0" smtClean="0"/>
              <a:t>		GROUP BY Subject, </a:t>
            </a:r>
            <a:r>
              <a:rPr lang="en-US" dirty="0" err="1" smtClean="0"/>
              <a:t>GroupNo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	HAVING AVG(Mark) &gt; 4</a:t>
            </a:r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5" name="Содержимое 3"/>
          <p:cNvGraphicFramePr>
            <a:graphicFrameLocks/>
          </p:cNvGraphicFramePr>
          <p:nvPr/>
        </p:nvGraphicFramePr>
        <p:xfrm>
          <a:off x="2643174" y="4357694"/>
          <a:ext cx="3586130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8826"/>
                <a:gridCol w="16573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GroupNo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Expr001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r>
                        <a:rPr lang="en-US" sz="2800" dirty="0" smtClean="0"/>
                        <a:t>,5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</a:t>
            </a:r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 fontScale="92500"/>
          </a:bodyPr>
          <a:lstStyle/>
          <a:p>
            <a:pPr marL="0" lvl="0" indent="0" algn="ctr">
              <a:buNone/>
            </a:pPr>
            <a:r>
              <a:rPr lang="ru-RU" sz="4400" dirty="0" smtClean="0"/>
              <a:t>Вложенные запросы. Специальные предикаты SOME, ANY, ALL, EXISTS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 кого оценка по БД выше средней?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87624" y="1556792"/>
            <a:ext cx="7632848" cy="280831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SELECT * FROM Exam</a:t>
            </a:r>
          </a:p>
          <a:p>
            <a:pPr>
              <a:buNone/>
            </a:pPr>
            <a:r>
              <a:rPr lang="en-US" dirty="0" smtClean="0"/>
              <a:t>WHERE Subject = ‘</a:t>
            </a:r>
            <a:r>
              <a:rPr lang="ru-RU" dirty="0" smtClean="0"/>
              <a:t>БД</a:t>
            </a:r>
            <a:r>
              <a:rPr lang="en-US" dirty="0" smtClean="0"/>
              <a:t>’</a:t>
            </a:r>
            <a:r>
              <a:rPr lang="ru-RU" dirty="0" smtClean="0"/>
              <a:t> </a:t>
            </a:r>
            <a:r>
              <a:rPr lang="en-US" dirty="0" smtClean="0"/>
              <a:t>AND </a:t>
            </a:r>
          </a:p>
          <a:p>
            <a:pPr>
              <a:buNone/>
            </a:pPr>
            <a:r>
              <a:rPr lang="en-US" dirty="0" smtClean="0"/>
              <a:t>		Mark &gt; (SELECT AVG(Mark) </a:t>
            </a:r>
          </a:p>
          <a:p>
            <a:pPr>
              <a:buNone/>
            </a:pPr>
            <a:r>
              <a:rPr lang="en-US" dirty="0" smtClean="0"/>
              <a:t>			FROM Exam</a:t>
            </a:r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	WHERE Subject = ‘</a:t>
            </a:r>
            <a:r>
              <a:rPr lang="ru-RU" dirty="0" smtClean="0"/>
              <a:t>БД</a:t>
            </a:r>
            <a:r>
              <a:rPr lang="en-US" dirty="0" smtClean="0"/>
              <a:t>’)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6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467544" y="4653136"/>
          <a:ext cx="8229600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12"/>
                <a:gridCol w="1928826"/>
                <a:gridCol w="2928958"/>
                <a:gridCol w="1657304"/>
              </a:tblGrid>
              <a:tr h="30213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Subject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GroupNo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Mark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136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02136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У кого есть хотя бы одна 5?</a:t>
            </a:r>
            <a:endParaRPr lang="ru-RU" dirty="0"/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2339752" y="1412776"/>
            <a:ext cx="5040560" cy="144015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SELECT * FROM Exam</a:t>
            </a:r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WHERE Mark </a:t>
            </a:r>
            <a:r>
              <a:rPr lang="ru-RU" dirty="0" smtClean="0"/>
              <a:t>= </a:t>
            </a:r>
            <a:r>
              <a:rPr lang="en-US" dirty="0" smtClean="0"/>
              <a:t>5</a:t>
            </a:r>
          </a:p>
          <a:p>
            <a:endParaRPr lang="ru-RU" dirty="0"/>
          </a:p>
        </p:txBody>
      </p:sp>
      <p:graphicFrame>
        <p:nvGraphicFramePr>
          <p:cNvPr id="6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539552" y="3212976"/>
          <a:ext cx="8229600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12"/>
                <a:gridCol w="1928826"/>
                <a:gridCol w="2928958"/>
                <a:gridCol w="16573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Subject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GroupNo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Mark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А остальные их оценки? (1/2)</a:t>
            </a:r>
            <a:endParaRPr lang="ru-RU" dirty="0"/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1115616" y="1484785"/>
            <a:ext cx="7618682" cy="20162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SELECT * FROM Exam</a:t>
            </a:r>
          </a:p>
          <a:p>
            <a:pPr>
              <a:buNone/>
            </a:pPr>
            <a:r>
              <a:rPr lang="en-US" dirty="0" smtClean="0"/>
              <a:t>WHERE </a:t>
            </a:r>
            <a:r>
              <a:rPr lang="en-US" dirty="0" err="1" smtClean="0"/>
              <a:t>Fio</a:t>
            </a:r>
            <a:r>
              <a:rPr lang="en-US" dirty="0" smtClean="0"/>
              <a:t> IN (SELECT </a:t>
            </a:r>
            <a:r>
              <a:rPr lang="en-US" dirty="0" err="1" smtClean="0"/>
              <a:t>Fio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FROM Exam WHERE Mark </a:t>
            </a:r>
            <a:r>
              <a:rPr lang="ru-RU" dirty="0" smtClean="0"/>
              <a:t>= </a:t>
            </a:r>
            <a:r>
              <a:rPr lang="en-US" dirty="0" smtClean="0"/>
              <a:t>5)</a:t>
            </a:r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6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539552" y="3933056"/>
          <a:ext cx="8229600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12"/>
                <a:gridCol w="1928826"/>
                <a:gridCol w="2928958"/>
                <a:gridCol w="16573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Subject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GroupNo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Mark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А остальные их оценки? (2/2)</a:t>
            </a:r>
            <a:endParaRPr lang="ru-RU" dirty="0"/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1115616" y="1484785"/>
            <a:ext cx="7618682" cy="252028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SELECT * FROM Exam</a:t>
            </a:r>
          </a:p>
          <a:p>
            <a:pPr>
              <a:buNone/>
            </a:pPr>
            <a:r>
              <a:rPr lang="en-US" dirty="0" smtClean="0"/>
              <a:t>WHERE 5 = ANY (SELECT Mark</a:t>
            </a:r>
          </a:p>
          <a:p>
            <a:pPr>
              <a:buNone/>
            </a:pPr>
            <a:r>
              <a:rPr lang="en-US" dirty="0" smtClean="0"/>
              <a:t>			FROM Exam AS Exam2</a:t>
            </a:r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	WHERE </a:t>
            </a:r>
            <a:r>
              <a:rPr lang="en-US" dirty="0" err="1" smtClean="0"/>
              <a:t>Exam.Fio</a:t>
            </a:r>
            <a:r>
              <a:rPr lang="en-US" dirty="0" smtClean="0"/>
              <a:t> = Exam2.Fio)</a:t>
            </a:r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6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539552" y="3933056"/>
          <a:ext cx="8229600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12"/>
                <a:gridCol w="1928826"/>
                <a:gridCol w="2928958"/>
                <a:gridCol w="16573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Subject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GroupNo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Mark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Замечания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84784"/>
            <a:ext cx="8291264" cy="4781128"/>
          </a:xfrm>
        </p:spPr>
        <p:txBody>
          <a:bodyPr>
            <a:normAutofit/>
          </a:bodyPr>
          <a:lstStyle/>
          <a:p>
            <a:r>
              <a:rPr lang="ru-RU" dirty="0" smtClean="0"/>
              <a:t>Подзапрос с </a:t>
            </a:r>
            <a:r>
              <a:rPr lang="en-US" dirty="0" smtClean="0"/>
              <a:t>IN </a:t>
            </a:r>
            <a:r>
              <a:rPr lang="ru-RU" dirty="0" smtClean="0"/>
              <a:t>был </a:t>
            </a:r>
            <a:r>
              <a:rPr lang="ru-RU" b="1" i="1" dirty="0" smtClean="0"/>
              <a:t>независимым </a:t>
            </a:r>
            <a:r>
              <a:rPr lang="ru-RU" dirty="0" smtClean="0"/>
              <a:t>от внешнего запроса</a:t>
            </a:r>
          </a:p>
          <a:p>
            <a:r>
              <a:rPr lang="ru-RU" dirty="0" smtClean="0"/>
              <a:t>Подзапрос с </a:t>
            </a:r>
            <a:r>
              <a:rPr lang="en-US" dirty="0" smtClean="0"/>
              <a:t>ANY </a:t>
            </a:r>
            <a:r>
              <a:rPr lang="ru-RU" dirty="0" smtClean="0"/>
              <a:t>был </a:t>
            </a:r>
            <a:r>
              <a:rPr lang="ru-RU" b="1" i="1" dirty="0" smtClean="0"/>
              <a:t>зависимым </a:t>
            </a:r>
            <a:r>
              <a:rPr lang="ru-RU" dirty="0" smtClean="0"/>
              <a:t>от внешнего запроса (</a:t>
            </a:r>
            <a:r>
              <a:rPr lang="ru-RU" b="1" i="1" dirty="0" err="1" smtClean="0"/>
              <a:t>кореллированным</a:t>
            </a:r>
            <a:r>
              <a:rPr lang="ru-RU" b="1" i="1" dirty="0" smtClean="0"/>
              <a:t>, соотнесенным </a:t>
            </a:r>
            <a:r>
              <a:rPr lang="ru-RU" dirty="0" smtClean="0"/>
              <a:t>с внешним запросом)</a:t>
            </a:r>
          </a:p>
          <a:p>
            <a:r>
              <a:rPr lang="ru-RU" dirty="0" smtClean="0"/>
              <a:t>При возникновении неоднозначности в подзапросах нужно использовать </a:t>
            </a:r>
            <a:r>
              <a:rPr lang="ru-RU" b="1" i="1" dirty="0" smtClean="0"/>
              <a:t>псевдонимы</a:t>
            </a:r>
            <a:r>
              <a:rPr lang="ru-RU" dirty="0" smtClean="0"/>
              <a:t> названий таблиц</a:t>
            </a:r>
          </a:p>
          <a:p>
            <a:r>
              <a:rPr lang="ru-RU" dirty="0" smtClean="0"/>
              <a:t>Предикаты </a:t>
            </a:r>
            <a:r>
              <a:rPr lang="en-US" dirty="0" smtClean="0"/>
              <a:t>ANY </a:t>
            </a:r>
            <a:r>
              <a:rPr lang="ru-RU" dirty="0" smtClean="0"/>
              <a:t>и </a:t>
            </a:r>
            <a:r>
              <a:rPr lang="en-US" dirty="0" smtClean="0"/>
              <a:t>SOME – </a:t>
            </a:r>
            <a:r>
              <a:rPr lang="ru-RU" dirty="0" smtClean="0"/>
              <a:t>полные синонимы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Кто хорошо сдал все экзамены?</a:t>
            </a:r>
            <a:endParaRPr lang="ru-RU" dirty="0"/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1259632" y="1628800"/>
            <a:ext cx="7186634" cy="262088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SELECT * FROM Exam</a:t>
            </a:r>
          </a:p>
          <a:p>
            <a:pPr>
              <a:buNone/>
            </a:pPr>
            <a:r>
              <a:rPr lang="en-US" dirty="0" smtClean="0"/>
              <a:t>WHERE 3 &lt; ALL (SELECT Mark</a:t>
            </a:r>
          </a:p>
          <a:p>
            <a:pPr>
              <a:buNone/>
            </a:pPr>
            <a:r>
              <a:rPr lang="en-US" dirty="0" smtClean="0"/>
              <a:t>			FROM Exam AS Exam2</a:t>
            </a:r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	WHERE </a:t>
            </a:r>
            <a:r>
              <a:rPr lang="en-US" dirty="0" err="1" smtClean="0"/>
              <a:t>Exam.Fio</a:t>
            </a:r>
            <a:r>
              <a:rPr lang="en-US" dirty="0" smtClean="0"/>
              <a:t> = Exam2.Fio)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4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467544" y="4293096"/>
          <a:ext cx="8229600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12"/>
                <a:gridCol w="1928826"/>
                <a:gridCol w="2928958"/>
                <a:gridCol w="16573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Subject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GroupNo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Mark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Кто не сдал ТА?</a:t>
            </a:r>
            <a:endParaRPr lang="ru-RU" dirty="0"/>
          </a:p>
        </p:txBody>
      </p:sp>
      <p:sp>
        <p:nvSpPr>
          <p:cNvPr id="4" name="Содержимое 2"/>
          <p:cNvSpPr>
            <a:spLocks noGrp="1"/>
          </p:cNvSpPr>
          <p:nvPr>
            <p:ph idx="1"/>
          </p:nvPr>
        </p:nvSpPr>
        <p:spPr>
          <a:xfrm>
            <a:off x="755576" y="1628800"/>
            <a:ext cx="7992888" cy="280831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SELECT * FROM Exam</a:t>
            </a:r>
          </a:p>
          <a:p>
            <a:pPr>
              <a:buNone/>
            </a:pPr>
            <a:r>
              <a:rPr lang="en-US" dirty="0" smtClean="0"/>
              <a:t>WHERE NOT EXISTS (SELECT *</a:t>
            </a:r>
            <a:r>
              <a:rPr lang="ru-RU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FROM Exam AS Exam2</a:t>
            </a:r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	WHERE </a:t>
            </a:r>
            <a:r>
              <a:rPr lang="en-US" dirty="0" err="1" smtClean="0"/>
              <a:t>Exam.Fio</a:t>
            </a:r>
            <a:r>
              <a:rPr lang="en-US" dirty="0" smtClean="0"/>
              <a:t> = Exam2.Fio AND</a:t>
            </a:r>
          </a:p>
          <a:p>
            <a:pPr>
              <a:buNone/>
            </a:pPr>
            <a:r>
              <a:rPr lang="en-US" dirty="0" smtClean="0"/>
              <a:t>				Subject = ‘</a:t>
            </a:r>
            <a:r>
              <a:rPr lang="ru-RU" dirty="0" smtClean="0"/>
              <a:t>ТА</a:t>
            </a:r>
            <a:r>
              <a:rPr lang="en-US" dirty="0" smtClean="0"/>
              <a:t>’)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5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539552" y="4725144"/>
          <a:ext cx="8229600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12"/>
                <a:gridCol w="1928826"/>
                <a:gridCol w="2928958"/>
                <a:gridCol w="16573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Subject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GroupNo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Mark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7334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Кузнецов К.А.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</a:t>
            </a:r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Соединение наборов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Таблицы для примера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4788024" y="1268760"/>
          <a:ext cx="3708920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5607"/>
                <a:gridCol w="1321807"/>
                <a:gridCol w="1101506"/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sz="2800" dirty="0" smtClean="0"/>
                        <a:t>Exam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SubjID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StudID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Mark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539552" y="1268760"/>
          <a:ext cx="3528392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513"/>
                <a:gridCol w="2374879"/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800" dirty="0" smtClean="0"/>
                        <a:t>Student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StudID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Кузнецов К.А.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539552" y="4509120"/>
          <a:ext cx="3528392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0562"/>
                <a:gridCol w="2377830"/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Subject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SubjID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SubjName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Попытка «в лоб»</a:t>
            </a:r>
            <a:r>
              <a:rPr lang="en-US" dirty="0" smtClean="0"/>
              <a:t> (1/2)</a:t>
            </a:r>
            <a:endParaRPr lang="ru-RU" dirty="0"/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611560" y="1628800"/>
            <a:ext cx="7848872" cy="2664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SubjName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Fio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Mark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FROM Subject, Student, Exam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Попытка «в лоб»</a:t>
            </a:r>
            <a:r>
              <a:rPr lang="en-US" dirty="0" smtClean="0"/>
              <a:t> (</a:t>
            </a:r>
            <a:r>
              <a:rPr lang="ru-RU" dirty="0" smtClean="0"/>
              <a:t>2</a:t>
            </a:r>
            <a:r>
              <a:rPr lang="en-US" dirty="0" smtClean="0"/>
              <a:t>/2)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1403648" y="1412776"/>
          <a:ext cx="6300774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12"/>
                <a:gridCol w="2928958"/>
                <a:gridCol w="1657304"/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SubjName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Mark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smtClean="0"/>
                        <a:t>Иванов</a:t>
                      </a:r>
                      <a:r>
                        <a:rPr lang="ru-RU" sz="2800" baseline="0" smtClean="0"/>
                        <a:t> И.И.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smtClean="0"/>
                        <a:t>Иванов</a:t>
                      </a:r>
                      <a:r>
                        <a:rPr lang="ru-RU" sz="2800" baseline="0" smtClean="0"/>
                        <a:t> И.И.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smtClean="0"/>
                        <a:t>Иванов</a:t>
                      </a:r>
                      <a:r>
                        <a:rPr lang="ru-RU" sz="2800" baseline="0" smtClean="0"/>
                        <a:t> И.И.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smtClean="0"/>
                        <a:t>Иванов</a:t>
                      </a:r>
                      <a:r>
                        <a:rPr lang="ru-RU" sz="2800" baseline="0" smtClean="0"/>
                        <a:t> И.И.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smtClean="0"/>
                        <a:t>Иванов</a:t>
                      </a:r>
                      <a:r>
                        <a:rPr lang="ru-RU" sz="2800" baseline="0" smtClean="0"/>
                        <a:t> И.И.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…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…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…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Простое соединение (</a:t>
            </a:r>
            <a:r>
              <a:rPr lang="en-US" dirty="0" smtClean="0"/>
              <a:t>1</a:t>
            </a:r>
            <a:r>
              <a:rPr lang="ru-RU" dirty="0" smtClean="0"/>
              <a:t>/3)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 разделе </a:t>
            </a:r>
            <a:r>
              <a:rPr lang="en-US" dirty="0" smtClean="0"/>
              <a:t>FROM </a:t>
            </a:r>
            <a:r>
              <a:rPr lang="ru-RU" dirty="0" smtClean="0"/>
              <a:t>перечисляются все соединяемые таблицы через запятую</a:t>
            </a:r>
          </a:p>
          <a:p>
            <a:r>
              <a:rPr lang="ru-RU" dirty="0" smtClean="0"/>
              <a:t>В разделе </a:t>
            </a:r>
            <a:r>
              <a:rPr lang="en-US" dirty="0" smtClean="0"/>
              <a:t>WHERE </a:t>
            </a:r>
            <a:r>
              <a:rPr lang="ru-RU" dirty="0" smtClean="0"/>
              <a:t>по </a:t>
            </a:r>
            <a:r>
              <a:rPr lang="en-US" dirty="0" smtClean="0"/>
              <a:t>AND </a:t>
            </a:r>
            <a:r>
              <a:rPr lang="ru-RU" dirty="0" smtClean="0"/>
              <a:t>объединяются условия, проверяющие совпадение значений атрибутов, по которым производится соединение, в соответствующих таблицах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Простое соединение</a:t>
            </a:r>
            <a:r>
              <a:rPr lang="en-US" dirty="0" smtClean="0"/>
              <a:t> (</a:t>
            </a:r>
            <a:r>
              <a:rPr lang="ru-RU" dirty="0" smtClean="0"/>
              <a:t>2</a:t>
            </a:r>
            <a:r>
              <a:rPr lang="en-US" dirty="0" smtClean="0"/>
              <a:t>/</a:t>
            </a:r>
            <a:r>
              <a:rPr lang="ru-RU" dirty="0" smtClean="0"/>
              <a:t>3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611560" y="1628800"/>
            <a:ext cx="7848872" cy="2664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SubjName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Fio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Mark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FROM Subject, Student, Exam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WHERE </a:t>
            </a:r>
            <a:r>
              <a:rPr lang="en-US" sz="3200" dirty="0" err="1" smtClean="0"/>
              <a:t>Subject.SubjID</a:t>
            </a:r>
            <a:r>
              <a:rPr lang="en-US" sz="3200" dirty="0" smtClean="0"/>
              <a:t> = </a:t>
            </a:r>
            <a:r>
              <a:rPr lang="en-US" sz="3200" dirty="0" err="1" smtClean="0"/>
              <a:t>Exam.SubjID</a:t>
            </a:r>
            <a:r>
              <a:rPr lang="en-US" sz="3200" dirty="0" smtClean="0"/>
              <a:t> AND</a:t>
            </a:r>
          </a:p>
          <a:p>
            <a:pPr marL="1257300" lvl="2" indent="-342900">
              <a:spcBef>
                <a:spcPct val="20000"/>
              </a:spcBef>
            </a:pPr>
            <a:r>
              <a:rPr lang="en-US" sz="3200" dirty="0" smtClean="0"/>
              <a:t>		</a:t>
            </a:r>
            <a:r>
              <a:rPr lang="en-US" sz="3200" dirty="0" err="1" smtClean="0"/>
              <a:t>Student.StudID</a:t>
            </a:r>
            <a:r>
              <a:rPr lang="en-US" sz="3200" dirty="0" smtClean="0"/>
              <a:t> = </a:t>
            </a:r>
            <a:r>
              <a:rPr lang="en-US" sz="3200" dirty="0" err="1" smtClean="0"/>
              <a:t>Exam.StudID</a:t>
            </a:r>
            <a:endParaRPr lang="en-US" sz="3200" dirty="0" smtClean="0"/>
          </a:p>
          <a:p>
            <a:pPr marL="342900" lvl="0" indent="-342900">
              <a:spcBef>
                <a:spcPct val="20000"/>
              </a:spcBef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Простое соединение (3/3)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1403648" y="1700808"/>
          <a:ext cx="6300774" cy="414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12"/>
                <a:gridCol w="2928958"/>
                <a:gridCol w="1657304"/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SubjName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Mark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5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Кузнецов К.А.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</a:t>
            </a:r>
            <a:r>
              <a:rPr lang="en-US" dirty="0" smtClean="0"/>
              <a:t>JOIN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827584" y="1600200"/>
          <a:ext cx="7848872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80160"/>
                <a:gridCol w="518322"/>
                <a:gridCol w="3850390"/>
              </a:tblGrid>
              <a:tr h="639390">
                <a:tc>
                  <a:txBody>
                    <a:bodyPr/>
                    <a:lstStyle/>
                    <a:p>
                      <a:pPr algn="r"/>
                      <a:r>
                        <a:rPr lang="en-US" sz="3000" dirty="0" smtClean="0"/>
                        <a:t>CROSS JOIN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3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3000" dirty="0" smtClean="0"/>
                        <a:t>Декартово</a:t>
                      </a:r>
                      <a:r>
                        <a:rPr lang="ru-RU" sz="3000" baseline="0" dirty="0" smtClean="0"/>
                        <a:t> произведение</a:t>
                      </a:r>
                      <a:endParaRPr lang="ru-RU" sz="3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39390">
                <a:tc>
                  <a:txBody>
                    <a:bodyPr/>
                    <a:lstStyle/>
                    <a:p>
                      <a:pPr algn="r"/>
                      <a:r>
                        <a:rPr lang="en-US" sz="3000" dirty="0" smtClean="0"/>
                        <a:t>INNER JOIN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3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3000" dirty="0" smtClean="0"/>
                        <a:t>Внутреннее соединение</a:t>
                      </a:r>
                      <a:endParaRPr lang="ru-RU" sz="3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39390">
                <a:tc>
                  <a:txBody>
                    <a:bodyPr/>
                    <a:lstStyle/>
                    <a:p>
                      <a:pPr algn="r"/>
                      <a:r>
                        <a:rPr lang="en-US" sz="3000" dirty="0" smtClean="0"/>
                        <a:t>LEFT [OUTER] JOIN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3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3000" dirty="0" smtClean="0"/>
                        <a:t>Левое внешнее соединение</a:t>
                      </a:r>
                      <a:endParaRPr lang="ru-RU" sz="3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39390">
                <a:tc>
                  <a:txBody>
                    <a:bodyPr/>
                    <a:lstStyle/>
                    <a:p>
                      <a:pPr algn="r"/>
                      <a:r>
                        <a:rPr lang="en-US" sz="3000" dirty="0" smtClean="0"/>
                        <a:t>RIGHT [OUTER] JOIN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3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3000" dirty="0" smtClean="0"/>
                        <a:t>Правое внешнее</a:t>
                      </a:r>
                      <a:r>
                        <a:rPr lang="ru-RU" sz="3000" baseline="0" dirty="0" smtClean="0"/>
                        <a:t> соединение</a:t>
                      </a:r>
                      <a:endParaRPr lang="ru-RU" sz="3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3939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 smtClean="0"/>
                        <a:t>FULL [OUTER] JOIN</a:t>
                      </a:r>
                      <a:endParaRPr lang="ru-RU" sz="3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3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3000" dirty="0" smtClean="0"/>
                        <a:t>Полное внешнее соединение</a:t>
                      </a:r>
                      <a:endParaRPr lang="ru-RU" sz="3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Декартово произведение</a:t>
            </a:r>
            <a:endParaRPr lang="ru-RU" dirty="0"/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251520" y="1484784"/>
            <a:ext cx="3888432" cy="2304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SubjName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Fio</a:t>
            </a:r>
            <a:endParaRPr kumimoji="0" lang="en-US" sz="32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FROM Subject,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     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4283968" y="1556792"/>
          <a:ext cx="4392488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3297"/>
                <a:gridCol w="2569191"/>
              </a:tblGrid>
              <a:tr h="51816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SubjName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Кузнецов К.А.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Кузнецов К.А.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Декартово произведение</a:t>
            </a:r>
            <a:endParaRPr lang="ru-RU" dirty="0"/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251520" y="1484784"/>
            <a:ext cx="3888432" cy="2304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SubjName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Fio</a:t>
            </a:r>
            <a:endParaRPr kumimoji="0" lang="en-US" sz="32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FROM Subject,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     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200" noProof="0" dirty="0" smtClean="0">
                <a:solidFill>
                  <a:srgbClr val="FF0000"/>
                </a:solidFill>
              </a:rPr>
              <a:t>Может ошибка?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4283968" y="1556792"/>
          <a:ext cx="4392488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3297"/>
                <a:gridCol w="2569191"/>
              </a:tblGrid>
              <a:tr h="51816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SubjName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Кузнецов К.А.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Кузнецов К.А.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Декартово произведение</a:t>
            </a:r>
            <a:endParaRPr lang="ru-RU" dirty="0"/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251520" y="1484784"/>
            <a:ext cx="3888432" cy="2304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SubjName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Fio</a:t>
            </a:r>
            <a:endParaRPr kumimoji="0" lang="en-US" sz="32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FROM Subject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CROSS JOIN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200" noProof="0" dirty="0" smtClean="0">
                <a:solidFill>
                  <a:srgbClr val="FF0000"/>
                </a:solidFill>
              </a:rPr>
              <a:t>Точно не ошибка!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4283968" y="1556792"/>
          <a:ext cx="4392488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3297"/>
                <a:gridCol w="2569191"/>
              </a:tblGrid>
              <a:tr h="51816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SubjName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Кузнецов К.А.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Кузнецов К.А.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Где ошибка?</a:t>
            </a:r>
            <a:endParaRPr lang="ru-RU" dirty="0"/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683568" y="1700808"/>
            <a:ext cx="7848872" cy="2664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SubjName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Fio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Mark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FROM Subject, Student, Exam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WHERE </a:t>
            </a:r>
            <a:r>
              <a:rPr lang="en-US" sz="3200" dirty="0" err="1" smtClean="0"/>
              <a:t>Subject.SubjID</a:t>
            </a:r>
            <a:r>
              <a:rPr lang="en-US" sz="3200" dirty="0" smtClean="0"/>
              <a:t> = </a:t>
            </a:r>
            <a:r>
              <a:rPr lang="en-US" sz="3200" dirty="0" err="1" smtClean="0"/>
              <a:t>Exam.SubjID</a:t>
            </a:r>
            <a:r>
              <a:rPr lang="ru-RU" sz="3200" dirty="0" smtClean="0"/>
              <a:t> </a:t>
            </a:r>
            <a:r>
              <a:rPr lang="en-US" sz="3200" dirty="0" smtClean="0"/>
              <a:t>AND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lang="en-US" sz="3200" dirty="0" smtClean="0"/>
              <a:t>	 </a:t>
            </a:r>
            <a:r>
              <a:rPr lang="en-US" sz="3200" dirty="0" err="1" smtClean="0"/>
              <a:t>SubjName</a:t>
            </a:r>
            <a:r>
              <a:rPr lang="en-US" sz="3200" dirty="0" smtClean="0"/>
              <a:t> = ‘</a:t>
            </a:r>
            <a:r>
              <a:rPr lang="ru-RU" sz="3200" dirty="0" smtClean="0"/>
              <a:t>БД</a:t>
            </a:r>
            <a:r>
              <a:rPr lang="en-US" sz="3200" dirty="0" smtClean="0"/>
              <a:t>’</a:t>
            </a:r>
            <a:r>
              <a:rPr lang="ru-RU" sz="3200" dirty="0" smtClean="0"/>
              <a:t> </a:t>
            </a:r>
            <a:r>
              <a:rPr lang="en-US" sz="3200" dirty="0" smtClean="0"/>
              <a:t>AND Mark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&gt;=4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Внутреннее соединение</a:t>
            </a:r>
            <a:endParaRPr lang="ru-RU" dirty="0"/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1043608" y="1556792"/>
            <a:ext cx="7200800" cy="4464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SubjName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Fio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Mark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FROM Subject 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sz="3200" dirty="0" smtClean="0"/>
              <a:t>	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INNER </a:t>
            </a:r>
            <a:r>
              <a:rPr lang="en-US" sz="3200" dirty="0" smtClean="0"/>
              <a:t>JOIN Exam ON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sz="3200" dirty="0" smtClean="0"/>
              <a:t>		</a:t>
            </a:r>
            <a:r>
              <a:rPr lang="en-US" sz="3200" dirty="0" err="1" smtClean="0"/>
              <a:t>Subject.SubjID</a:t>
            </a:r>
            <a:r>
              <a:rPr lang="en-US" sz="3200" dirty="0" smtClean="0"/>
              <a:t> = </a:t>
            </a:r>
            <a:r>
              <a:rPr lang="en-US" sz="3200" dirty="0" err="1" smtClean="0"/>
              <a:t>Exam.SubjID</a:t>
            </a:r>
            <a:endParaRPr lang="en-US" sz="3200" dirty="0" smtClean="0"/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sz="3200" dirty="0" smtClean="0"/>
              <a:t>	INNER JOIN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Student ON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	</a:t>
            </a:r>
            <a:r>
              <a:rPr lang="en-US" sz="3200" dirty="0" err="1" smtClean="0"/>
              <a:t>Student.StudID</a:t>
            </a:r>
            <a:r>
              <a:rPr lang="en-US" sz="3200" dirty="0" smtClean="0"/>
              <a:t> = </a:t>
            </a:r>
            <a:r>
              <a:rPr lang="en-US" sz="3200" dirty="0" err="1" smtClean="0"/>
              <a:t>Exam.StudID</a:t>
            </a:r>
            <a:endParaRPr lang="ru-RU" sz="3200" dirty="0" smtClean="0"/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WHERE</a:t>
            </a:r>
            <a:r>
              <a:rPr lang="ru-RU" sz="3200" dirty="0" smtClean="0"/>
              <a:t> </a:t>
            </a:r>
            <a:r>
              <a:rPr lang="en-US" sz="3200" dirty="0" err="1" smtClean="0"/>
              <a:t>SubjName</a:t>
            </a:r>
            <a:r>
              <a:rPr lang="en-US" sz="3200" dirty="0" smtClean="0"/>
              <a:t> = ‘</a:t>
            </a:r>
            <a:r>
              <a:rPr lang="ru-RU" sz="3200" dirty="0" smtClean="0"/>
              <a:t>БД</a:t>
            </a:r>
            <a:r>
              <a:rPr lang="en-US" sz="3200" dirty="0" smtClean="0"/>
              <a:t>’</a:t>
            </a:r>
            <a:r>
              <a:rPr lang="ru-RU" sz="3200" dirty="0" smtClean="0"/>
              <a:t> </a:t>
            </a:r>
            <a:r>
              <a:rPr lang="en-US" sz="3200" dirty="0" smtClean="0"/>
              <a:t>AND Mark &gt;=4</a:t>
            </a:r>
          </a:p>
          <a:p>
            <a:pPr marL="342900" lvl="0" indent="-342900">
              <a:spcBef>
                <a:spcPct val="20000"/>
              </a:spcBef>
            </a:pPr>
            <a:endParaRPr lang="en-US" sz="3200" dirty="0" smtClean="0"/>
          </a:p>
          <a:p>
            <a:pPr marL="342900" lvl="0" indent="-342900">
              <a:spcBef>
                <a:spcPct val="20000"/>
              </a:spcBef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Итоги по ТА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7089094"/>
              </p:ext>
            </p:extLst>
          </p:nvPr>
        </p:nvGraphicFramePr>
        <p:xfrm>
          <a:off x="2195736" y="1700808"/>
          <a:ext cx="4586262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8958"/>
                <a:gridCol w="1657304"/>
              </a:tblGrid>
              <a:tr h="446152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Fio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Mark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Иванов</a:t>
                      </a:r>
                      <a:r>
                        <a:rPr lang="ru-RU" sz="2800" baseline="0" dirty="0" smtClean="0"/>
                        <a:t> И.И.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Смирнов</a:t>
                      </a:r>
                      <a:r>
                        <a:rPr lang="ru-RU" sz="2800" baseline="0" dirty="0" smtClean="0"/>
                        <a:t> С.И.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4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Петров П.П.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3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Кузнецов К.А.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NULL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«Непростое» соединение</a:t>
            </a:r>
            <a:r>
              <a:rPr lang="en-US" dirty="0" smtClean="0"/>
              <a:t> </a:t>
            </a:r>
            <a:r>
              <a:rPr lang="ru-RU" dirty="0" smtClean="0"/>
              <a:t>;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539552" y="1484784"/>
            <a:ext cx="8280920" cy="20162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Fio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Mark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FROM Subject, Student, Exam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WHERE </a:t>
            </a:r>
            <a:r>
              <a:rPr lang="en-US" sz="3200" dirty="0" err="1" smtClean="0"/>
              <a:t>Subject.SubjID</a:t>
            </a:r>
            <a:r>
              <a:rPr lang="en-US" sz="3200" dirty="0" smtClean="0"/>
              <a:t> = </a:t>
            </a:r>
            <a:r>
              <a:rPr lang="en-US" sz="3200" dirty="0" err="1" smtClean="0"/>
              <a:t>Exam.SubjID</a:t>
            </a:r>
            <a:r>
              <a:rPr lang="en-US" sz="3200" dirty="0" smtClean="0"/>
              <a:t> AND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	</a:t>
            </a:r>
            <a:r>
              <a:rPr lang="en-US" sz="3200" dirty="0" err="1" smtClean="0"/>
              <a:t>Student.StudID</a:t>
            </a:r>
            <a:r>
              <a:rPr lang="en-US" sz="3200" dirty="0" smtClean="0"/>
              <a:t> = </a:t>
            </a:r>
            <a:r>
              <a:rPr lang="en-US" sz="3200" dirty="0" err="1" smtClean="0"/>
              <a:t>Exam.StudID</a:t>
            </a:r>
            <a:r>
              <a:rPr lang="ru-RU" sz="3200" dirty="0" smtClean="0"/>
              <a:t> </a:t>
            </a:r>
            <a:r>
              <a:rPr lang="en-US" sz="3200" dirty="0" smtClean="0"/>
              <a:t>AND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	</a:t>
            </a:r>
            <a:r>
              <a:rPr lang="en-US" sz="3200" dirty="0" err="1" smtClean="0"/>
              <a:t>SubjName</a:t>
            </a:r>
            <a:r>
              <a:rPr lang="en-US" sz="3200" dirty="0" smtClean="0"/>
              <a:t> = ‘</a:t>
            </a:r>
            <a:r>
              <a:rPr lang="ru-RU" sz="3200" dirty="0" smtClean="0"/>
              <a:t>ТА</a:t>
            </a:r>
            <a:r>
              <a:rPr lang="en-US" sz="3200" dirty="0" smtClean="0"/>
              <a:t>’</a:t>
            </a:r>
          </a:p>
          <a:p>
            <a:pPr marL="1257300" lvl="2" indent="-342900">
              <a:spcBef>
                <a:spcPct val="20000"/>
              </a:spcBef>
            </a:pPr>
            <a:endParaRPr lang="en-US" sz="3200" dirty="0" smtClean="0"/>
          </a:p>
          <a:p>
            <a:pPr marL="342900" lvl="0" indent="-342900">
              <a:spcBef>
                <a:spcPct val="20000"/>
              </a:spcBef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«Непростое» соединение</a:t>
            </a:r>
            <a:r>
              <a:rPr lang="en-US" dirty="0" smtClean="0"/>
              <a:t> </a:t>
            </a:r>
            <a:r>
              <a:rPr lang="ru-RU" dirty="0" smtClean="0"/>
              <a:t>;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539552" y="1484784"/>
            <a:ext cx="8280920" cy="309634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Fio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Mark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FROM Subject, Student, Exam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WHERE </a:t>
            </a:r>
            <a:r>
              <a:rPr lang="en-US" sz="3200" dirty="0" err="1" smtClean="0"/>
              <a:t>Subject.SubjID</a:t>
            </a:r>
            <a:r>
              <a:rPr lang="en-US" sz="3200" dirty="0" smtClean="0"/>
              <a:t> = </a:t>
            </a:r>
            <a:r>
              <a:rPr lang="en-US" sz="3200" dirty="0" err="1" smtClean="0"/>
              <a:t>Exam.SubjID</a:t>
            </a:r>
            <a:r>
              <a:rPr lang="en-US" sz="3200" dirty="0" smtClean="0"/>
              <a:t> AND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	</a:t>
            </a:r>
            <a:r>
              <a:rPr lang="en-US" sz="3200" dirty="0" err="1" smtClean="0"/>
              <a:t>Student.StudID</a:t>
            </a:r>
            <a:r>
              <a:rPr lang="en-US" sz="3200" dirty="0" smtClean="0"/>
              <a:t> = </a:t>
            </a:r>
            <a:r>
              <a:rPr lang="en-US" sz="3200" dirty="0" err="1" smtClean="0"/>
              <a:t>Exam.StudID</a:t>
            </a:r>
            <a:r>
              <a:rPr lang="ru-RU" sz="3200" dirty="0" smtClean="0"/>
              <a:t> </a:t>
            </a:r>
            <a:r>
              <a:rPr lang="en-US" sz="3200" dirty="0" smtClean="0"/>
              <a:t>AND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	</a:t>
            </a:r>
            <a:r>
              <a:rPr lang="en-US" sz="3200" dirty="0" err="1" smtClean="0"/>
              <a:t>SubjName</a:t>
            </a:r>
            <a:r>
              <a:rPr lang="en-US" sz="3200" dirty="0" smtClean="0"/>
              <a:t> = ‘</a:t>
            </a:r>
            <a:r>
              <a:rPr lang="ru-RU" sz="3200" dirty="0" smtClean="0"/>
              <a:t>ТА</a:t>
            </a:r>
            <a:r>
              <a:rPr lang="en-US" sz="3200" dirty="0" smtClean="0"/>
              <a:t>’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smtClean="0"/>
              <a:t>UNI</a:t>
            </a:r>
            <a:r>
              <a:rPr lang="en-US" sz="3200"/>
              <a:t>O</a:t>
            </a:r>
            <a:r>
              <a:rPr lang="en-US" sz="3200" smtClean="0"/>
              <a:t>N</a:t>
            </a:r>
            <a:endParaRPr lang="ru-RU" sz="3200" dirty="0" smtClean="0"/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sz="3200" dirty="0" smtClean="0"/>
              <a:t>SELECT</a:t>
            </a:r>
            <a:r>
              <a:rPr lang="ru-RU" sz="3200" dirty="0" smtClean="0"/>
              <a:t> </a:t>
            </a:r>
            <a:r>
              <a:rPr lang="en-US" sz="3200" dirty="0" err="1" smtClean="0"/>
              <a:t>Fio</a:t>
            </a:r>
            <a:r>
              <a:rPr lang="en-US" sz="3200" dirty="0" smtClean="0"/>
              <a:t>, NULL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sz="3200" dirty="0" smtClean="0"/>
              <a:t>	</a:t>
            </a:r>
          </a:p>
          <a:p>
            <a:pPr marL="342900" lvl="0" indent="-342900">
              <a:spcBef>
                <a:spcPct val="20000"/>
              </a:spcBef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«Непростое» соединение</a:t>
            </a:r>
            <a:r>
              <a:rPr lang="en-US" dirty="0" smtClean="0"/>
              <a:t> </a:t>
            </a:r>
            <a:r>
              <a:rPr lang="ru-RU" dirty="0" smtClean="0"/>
              <a:t>;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539552" y="1484784"/>
            <a:ext cx="8280920" cy="5229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Fio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Mark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FROM Subject, Student, Exam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WHERE </a:t>
            </a:r>
            <a:r>
              <a:rPr lang="en-US" sz="3200" dirty="0" err="1" smtClean="0"/>
              <a:t>Subject.SubjID</a:t>
            </a:r>
            <a:r>
              <a:rPr lang="en-US" sz="3200" dirty="0" smtClean="0"/>
              <a:t> = </a:t>
            </a:r>
            <a:r>
              <a:rPr lang="en-US" sz="3200" dirty="0" err="1" smtClean="0"/>
              <a:t>Exam.SubjID</a:t>
            </a:r>
            <a:r>
              <a:rPr lang="en-US" sz="3200" dirty="0" smtClean="0"/>
              <a:t> AND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	</a:t>
            </a:r>
            <a:r>
              <a:rPr lang="en-US" sz="3200" dirty="0" err="1" smtClean="0"/>
              <a:t>Student.StudID</a:t>
            </a:r>
            <a:r>
              <a:rPr lang="en-US" sz="3200" dirty="0" smtClean="0"/>
              <a:t> = </a:t>
            </a:r>
            <a:r>
              <a:rPr lang="en-US" sz="3200" dirty="0" err="1" smtClean="0"/>
              <a:t>Exam.StudID</a:t>
            </a:r>
            <a:r>
              <a:rPr lang="ru-RU" sz="3200" dirty="0" smtClean="0"/>
              <a:t> </a:t>
            </a:r>
            <a:r>
              <a:rPr lang="en-US" sz="3200" dirty="0" smtClean="0"/>
              <a:t>AND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	</a:t>
            </a:r>
            <a:r>
              <a:rPr lang="en-US" sz="3200" dirty="0" err="1" smtClean="0"/>
              <a:t>SubjName</a:t>
            </a:r>
            <a:r>
              <a:rPr lang="en-US" sz="3200" dirty="0" smtClean="0"/>
              <a:t> = ‘</a:t>
            </a:r>
            <a:r>
              <a:rPr lang="ru-RU" sz="3200" dirty="0" smtClean="0"/>
              <a:t>ТА</a:t>
            </a:r>
            <a:r>
              <a:rPr lang="en-US" sz="3200" dirty="0" smtClean="0"/>
              <a:t>’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UNOIN</a:t>
            </a:r>
            <a:endParaRPr lang="ru-RU" sz="3200" dirty="0" smtClean="0"/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sz="3200" dirty="0" smtClean="0"/>
              <a:t>SELECT</a:t>
            </a:r>
            <a:r>
              <a:rPr lang="ru-RU" sz="3200" dirty="0" smtClean="0"/>
              <a:t> </a:t>
            </a:r>
            <a:r>
              <a:rPr lang="en-US" sz="3200" dirty="0" err="1" smtClean="0"/>
              <a:t>Fio</a:t>
            </a:r>
            <a:r>
              <a:rPr lang="en-US" sz="3200" dirty="0" smtClean="0"/>
              <a:t>, NULL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sz="3200" dirty="0" smtClean="0"/>
              <a:t>	FROM Student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WHERE NOT EXISTS (SELECT *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	FROM Exam, Subject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	WHERE </a:t>
            </a:r>
            <a:r>
              <a:rPr lang="en-US" sz="3200" dirty="0" err="1" smtClean="0"/>
              <a:t>Subject.SubjID</a:t>
            </a:r>
            <a:r>
              <a:rPr lang="en-US" sz="3200" dirty="0" smtClean="0"/>
              <a:t> = </a:t>
            </a:r>
            <a:r>
              <a:rPr lang="en-US" sz="3200" dirty="0" err="1" smtClean="0"/>
              <a:t>Exam.SubjID</a:t>
            </a:r>
            <a:r>
              <a:rPr lang="en-US" sz="3200" dirty="0" smtClean="0"/>
              <a:t> AND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		</a:t>
            </a:r>
            <a:r>
              <a:rPr lang="en-US" sz="3200" dirty="0" err="1" smtClean="0"/>
              <a:t>SubjName</a:t>
            </a:r>
            <a:r>
              <a:rPr lang="en-US" sz="3200" dirty="0" smtClean="0"/>
              <a:t> = ‘</a:t>
            </a:r>
            <a:r>
              <a:rPr lang="ru-RU" sz="3200" dirty="0" smtClean="0"/>
              <a:t>ТА</a:t>
            </a:r>
            <a:r>
              <a:rPr lang="en-US" sz="3200" dirty="0" smtClean="0"/>
              <a:t>’ AND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		</a:t>
            </a:r>
            <a:r>
              <a:rPr lang="en-US" sz="3200" dirty="0" err="1" smtClean="0"/>
              <a:t>Exam.StudID</a:t>
            </a:r>
            <a:r>
              <a:rPr lang="en-US" sz="3200" dirty="0" smtClean="0"/>
              <a:t> = Student. </a:t>
            </a:r>
            <a:r>
              <a:rPr lang="en-US" sz="3200" dirty="0" err="1" smtClean="0"/>
              <a:t>StudID</a:t>
            </a:r>
            <a:r>
              <a:rPr lang="en-US" sz="3200" dirty="0" smtClean="0"/>
              <a:t>)</a:t>
            </a:r>
          </a:p>
          <a:p>
            <a:pPr marL="1257300" lvl="2" indent="-342900">
              <a:spcBef>
                <a:spcPct val="20000"/>
              </a:spcBef>
            </a:pPr>
            <a:endParaRPr lang="en-US" sz="3200" dirty="0" smtClean="0"/>
          </a:p>
          <a:p>
            <a:pPr marL="342900" lvl="0" indent="-342900">
              <a:spcBef>
                <a:spcPct val="20000"/>
              </a:spcBef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Напоминание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UNION –</a:t>
            </a:r>
            <a:r>
              <a:rPr lang="ru-RU" dirty="0" smtClean="0"/>
              <a:t> </a:t>
            </a:r>
            <a:r>
              <a:rPr lang="ru-RU" b="1" i="1" dirty="0" smtClean="0"/>
              <a:t>объединение </a:t>
            </a:r>
            <a:r>
              <a:rPr lang="ru-RU" dirty="0" smtClean="0"/>
              <a:t>результатов </a:t>
            </a:r>
            <a:r>
              <a:rPr lang="ru-RU" smtClean="0"/>
              <a:t>выполнения запросов</a:t>
            </a:r>
            <a:r>
              <a:rPr lang="en-US" dirty="0" smtClean="0"/>
              <a:t> </a:t>
            </a:r>
          </a:p>
          <a:p>
            <a:r>
              <a:rPr lang="en-US" dirty="0" smtClean="0"/>
              <a:t>JOIN – </a:t>
            </a:r>
            <a:r>
              <a:rPr lang="ru-RU" b="1" i="1" dirty="0" smtClean="0"/>
              <a:t>соединение </a:t>
            </a:r>
            <a:r>
              <a:rPr lang="ru-RU" dirty="0" smtClean="0"/>
              <a:t>таблиц внутри одного запроса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Правое соединение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  <a:defRPr/>
            </a:pPr>
            <a:r>
              <a:rPr lang="en-US" dirty="0" smtClean="0"/>
              <a:t>SELECT </a:t>
            </a:r>
            <a:r>
              <a:rPr lang="en-US" dirty="0" err="1" smtClean="0"/>
              <a:t>Fio</a:t>
            </a:r>
            <a:r>
              <a:rPr lang="en-US" dirty="0" smtClean="0"/>
              <a:t>, Mark</a:t>
            </a:r>
          </a:p>
          <a:p>
            <a:pPr lvl="0">
              <a:buNone/>
              <a:defRPr/>
            </a:pPr>
            <a:r>
              <a:rPr lang="en-US" dirty="0" smtClean="0"/>
              <a:t>	FROM Subject </a:t>
            </a:r>
          </a:p>
          <a:p>
            <a:pPr lvl="0">
              <a:buNone/>
              <a:defRPr/>
            </a:pPr>
            <a:r>
              <a:rPr lang="en-US" dirty="0" smtClean="0"/>
              <a:t>	INNER JOIN Exam ON</a:t>
            </a:r>
          </a:p>
          <a:p>
            <a:pPr lvl="0">
              <a:buNone/>
              <a:defRPr/>
            </a:pPr>
            <a:r>
              <a:rPr lang="en-US" dirty="0" smtClean="0"/>
              <a:t>		</a:t>
            </a:r>
            <a:r>
              <a:rPr lang="en-US" dirty="0" err="1" smtClean="0"/>
              <a:t>Subject.SubjID</a:t>
            </a:r>
            <a:r>
              <a:rPr lang="en-US" dirty="0" smtClean="0"/>
              <a:t> = </a:t>
            </a:r>
            <a:r>
              <a:rPr lang="en-US" dirty="0" err="1" smtClean="0"/>
              <a:t>Exam.SubjID</a:t>
            </a:r>
            <a:r>
              <a:rPr lang="en-US" dirty="0" smtClean="0"/>
              <a:t> AND</a:t>
            </a:r>
          </a:p>
          <a:p>
            <a:pPr lvl="0">
              <a:buNone/>
              <a:defRPr/>
            </a:pPr>
            <a:r>
              <a:rPr lang="en-US" dirty="0" smtClean="0"/>
              <a:t>		</a:t>
            </a:r>
            <a:r>
              <a:rPr lang="en-US" dirty="0" err="1" smtClean="0"/>
              <a:t>SubjName</a:t>
            </a:r>
            <a:r>
              <a:rPr lang="en-US" dirty="0" smtClean="0"/>
              <a:t> = ‘</a:t>
            </a:r>
            <a:r>
              <a:rPr lang="ru-RU" dirty="0" smtClean="0"/>
              <a:t>ТА</a:t>
            </a:r>
            <a:r>
              <a:rPr lang="en-US" dirty="0" smtClean="0"/>
              <a:t>’</a:t>
            </a:r>
          </a:p>
          <a:p>
            <a:pPr lvl="0">
              <a:buNone/>
              <a:defRPr/>
            </a:pPr>
            <a:r>
              <a:rPr lang="en-US" dirty="0" smtClean="0"/>
              <a:t>	RIGHT JOIN Student ON </a:t>
            </a:r>
          </a:p>
          <a:p>
            <a:pPr lvl="0">
              <a:buNone/>
            </a:pPr>
            <a:r>
              <a:rPr lang="en-US" dirty="0" smtClean="0"/>
              <a:t>		</a:t>
            </a:r>
            <a:r>
              <a:rPr lang="en-US" dirty="0" err="1" smtClean="0"/>
              <a:t>Student.StudID</a:t>
            </a:r>
            <a:r>
              <a:rPr lang="en-US" dirty="0" smtClean="0"/>
              <a:t> = </a:t>
            </a:r>
            <a:r>
              <a:rPr lang="en-US" dirty="0" err="1" smtClean="0"/>
              <a:t>Exam.StudID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Литература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Грубер</a:t>
            </a:r>
            <a:r>
              <a:rPr lang="ru-RU" dirty="0" smtClean="0"/>
              <a:t> М. Понимание SQL: Пер. с англ.  М.</a:t>
            </a:r>
            <a:r>
              <a:rPr lang="en-US" dirty="0" smtClean="0"/>
              <a:t>:</a:t>
            </a:r>
            <a:r>
              <a:rPr lang="ru-RU" dirty="0" smtClean="0"/>
              <a:t>Лори, 1993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 smtClean="0"/>
              <a:t>Мамаев Е.В. </a:t>
            </a:r>
            <a:r>
              <a:rPr lang="en-US" dirty="0" smtClean="0"/>
              <a:t>Microsoft SQL Server 2000. </a:t>
            </a:r>
            <a:r>
              <a:rPr lang="ru-RU" dirty="0" err="1" smtClean="0"/>
              <a:t>СПб.:БХВ-Петербург</a:t>
            </a:r>
            <a:r>
              <a:rPr lang="ru-RU" dirty="0" smtClean="0"/>
              <a:t>, 2001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 smtClean="0"/>
              <a:t>Тихомиров Ю. В. </a:t>
            </a:r>
            <a:r>
              <a:rPr lang="en-US" dirty="0" smtClean="0"/>
              <a:t>Microsoft SQL Server 7.0 </a:t>
            </a:r>
            <a:r>
              <a:rPr lang="ru-RU" dirty="0" smtClean="0"/>
              <a:t>М.:БХВ, 1999</a:t>
            </a:r>
          </a:p>
          <a:p>
            <a:pPr marL="514350" lvl="0" indent="-514350">
              <a:buNone/>
            </a:pPr>
            <a:endParaRPr lang="ru-RU" dirty="0" smtClean="0"/>
          </a:p>
          <a:p>
            <a:pPr marL="514350" lvl="0" indent="-514350"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4640</TotalTime>
  <Words>1826</Words>
  <Application>Microsoft Office PowerPoint</Application>
  <PresentationFormat>Экран (4:3)</PresentationFormat>
  <Paragraphs>973</Paragraphs>
  <Slides>74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74</vt:i4>
      </vt:variant>
    </vt:vector>
  </HeadingPairs>
  <TitlesOfParts>
    <vt:vector size="77" baseType="lpstr">
      <vt:lpstr>Arial</vt:lpstr>
      <vt:lpstr>Calibri</vt:lpstr>
      <vt:lpstr>Тема Office</vt:lpstr>
      <vt:lpstr>План лекции</vt:lpstr>
      <vt:lpstr>Вопрос 1</vt:lpstr>
      <vt:lpstr>Синтаксис команды SELECT (1/4)</vt:lpstr>
      <vt:lpstr>Синтаксис команды SELECT (2/4)</vt:lpstr>
      <vt:lpstr>Синтаксис команды SELECT (4/4)</vt:lpstr>
      <vt:lpstr>Синтаксис команды SELECT (3/3)</vt:lpstr>
      <vt:lpstr>Тривиальные примеры</vt:lpstr>
      <vt:lpstr>Таблица для примера</vt:lpstr>
      <vt:lpstr>Выборка всего содержимого</vt:lpstr>
      <vt:lpstr>Выборка значений атрибута</vt:lpstr>
      <vt:lpstr>Выборка значений атрибута</vt:lpstr>
      <vt:lpstr>Подавление дубликатов</vt:lpstr>
      <vt:lpstr>Выборка значений нескольких атрибутов</vt:lpstr>
      <vt:lpstr>Выборка значений нескольких атрибутов</vt:lpstr>
      <vt:lpstr>Порядок важен</vt:lpstr>
      <vt:lpstr>Использование выражений</vt:lpstr>
      <vt:lpstr>Использование синонимов</vt:lpstr>
      <vt:lpstr>Использование синонимов</vt:lpstr>
      <vt:lpstr>Использование синонимов</vt:lpstr>
      <vt:lpstr>Усложним</vt:lpstr>
      <vt:lpstr>Выборка с простым условием</vt:lpstr>
      <vt:lpstr>Выборка с простым условием</vt:lpstr>
      <vt:lpstr>Выборка со сложным условием</vt:lpstr>
      <vt:lpstr>Выборка со сложным условием</vt:lpstr>
      <vt:lpstr>Вопрос 2</vt:lpstr>
      <vt:lpstr>Выборка по ИЛИ</vt:lpstr>
      <vt:lpstr>Предикат IN</vt:lpstr>
      <vt:lpstr>Выборка c диапазоном</vt:lpstr>
      <vt:lpstr>Предикат BETWEEN</vt:lpstr>
      <vt:lpstr>Символы заменители  в предикате LIKE</vt:lpstr>
      <vt:lpstr>Таблица для примера</vt:lpstr>
      <vt:lpstr>Предикат LIKE (1/2)</vt:lpstr>
      <vt:lpstr>Предикат LIKE (2/2)</vt:lpstr>
      <vt:lpstr>Предикат IS NULL</vt:lpstr>
      <vt:lpstr>Предикат IS NOT NULL</vt:lpstr>
      <vt:lpstr>Вопрос 3</vt:lpstr>
      <vt:lpstr>Агрегатные функции</vt:lpstr>
      <vt:lpstr>Способы агрегирования</vt:lpstr>
      <vt:lpstr>Таблица для примера</vt:lpstr>
      <vt:lpstr>Количество сдач</vt:lpstr>
      <vt:lpstr>Количество сдач</vt:lpstr>
      <vt:lpstr>Средняя оценка</vt:lpstr>
      <vt:lpstr>Средняя оценка по предмету</vt:lpstr>
      <vt:lpstr>Средняя оценка по предмету</vt:lpstr>
      <vt:lpstr>Средняя оценка по предмету БД</vt:lpstr>
      <vt:lpstr>Средняя оценка по предмету БД более заданной</vt:lpstr>
      <vt:lpstr>Вопрос 4</vt:lpstr>
      <vt:lpstr>У кого оценка по БД выше средней?</vt:lpstr>
      <vt:lpstr>У кого есть хотя бы одна 5?</vt:lpstr>
      <vt:lpstr>А остальные их оценки? (1/2)</vt:lpstr>
      <vt:lpstr>А остальные их оценки? (2/2)</vt:lpstr>
      <vt:lpstr>Замечания</vt:lpstr>
      <vt:lpstr>Кто хорошо сдал все экзамены?</vt:lpstr>
      <vt:lpstr>Кто не сдал ТА?</vt:lpstr>
      <vt:lpstr>Вопрос 5</vt:lpstr>
      <vt:lpstr>Таблицы для примера</vt:lpstr>
      <vt:lpstr>Попытка «в лоб» (1/2)</vt:lpstr>
      <vt:lpstr>Попытка «в лоб» (2/2)</vt:lpstr>
      <vt:lpstr>Простое соединение (1/3)</vt:lpstr>
      <vt:lpstr>Простое соединение (2/3)</vt:lpstr>
      <vt:lpstr>Простое соединение (3/3)</vt:lpstr>
      <vt:lpstr>Использование JOIN</vt:lpstr>
      <vt:lpstr>Декартово произведение</vt:lpstr>
      <vt:lpstr>Декартово произведение</vt:lpstr>
      <vt:lpstr>Декартово произведение</vt:lpstr>
      <vt:lpstr>Где ошибка?</vt:lpstr>
      <vt:lpstr>Внутреннее соединение</vt:lpstr>
      <vt:lpstr>Итоги по ТА</vt:lpstr>
      <vt:lpstr>«Непростое» соединение ;)</vt:lpstr>
      <vt:lpstr>«Непростое» соединение ;)</vt:lpstr>
      <vt:lpstr>«Непростое» соединение ;)</vt:lpstr>
      <vt:lpstr>Напоминание</vt:lpstr>
      <vt:lpstr>Правое соединение</vt:lpstr>
      <vt:lpstr>Литература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</dc:creator>
  <cp:lastModifiedBy>Николай Волков</cp:lastModifiedBy>
  <cp:revision>492</cp:revision>
  <dcterms:created xsi:type="dcterms:W3CDTF">2012-04-10T15:36:07Z</dcterms:created>
  <dcterms:modified xsi:type="dcterms:W3CDTF">2021-10-01T06:48:50Z</dcterms:modified>
</cp:coreProperties>
</file>