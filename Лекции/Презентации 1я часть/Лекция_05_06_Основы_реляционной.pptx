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95"/>
  </p:notesMasterIdLst>
  <p:sldIdLst>
    <p:sldId id="257" r:id="rId2"/>
    <p:sldId id="321" r:id="rId3"/>
    <p:sldId id="322" r:id="rId4"/>
    <p:sldId id="324" r:id="rId5"/>
    <p:sldId id="323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3" r:id="rId14"/>
    <p:sldId id="332" r:id="rId15"/>
    <p:sldId id="334" r:id="rId16"/>
    <p:sldId id="335" r:id="rId17"/>
    <p:sldId id="336" r:id="rId18"/>
    <p:sldId id="339" r:id="rId19"/>
    <p:sldId id="340" r:id="rId20"/>
    <p:sldId id="341" r:id="rId21"/>
    <p:sldId id="337" r:id="rId22"/>
    <p:sldId id="338" r:id="rId23"/>
    <p:sldId id="342" r:id="rId24"/>
    <p:sldId id="343" r:id="rId25"/>
    <p:sldId id="353" r:id="rId26"/>
    <p:sldId id="417" r:id="rId27"/>
    <p:sldId id="344" r:id="rId28"/>
    <p:sldId id="345" r:id="rId29"/>
    <p:sldId id="346" r:id="rId30"/>
    <p:sldId id="347" r:id="rId31"/>
    <p:sldId id="349" r:id="rId32"/>
    <p:sldId id="348" r:id="rId33"/>
    <p:sldId id="350" r:id="rId34"/>
    <p:sldId id="351" r:id="rId35"/>
    <p:sldId id="352" r:id="rId36"/>
    <p:sldId id="356" r:id="rId37"/>
    <p:sldId id="358" r:id="rId38"/>
    <p:sldId id="355" r:id="rId39"/>
    <p:sldId id="357" r:id="rId40"/>
    <p:sldId id="388" r:id="rId41"/>
    <p:sldId id="389" r:id="rId42"/>
    <p:sldId id="359" r:id="rId43"/>
    <p:sldId id="390" r:id="rId44"/>
    <p:sldId id="391" r:id="rId45"/>
    <p:sldId id="360" r:id="rId46"/>
    <p:sldId id="392" r:id="rId47"/>
    <p:sldId id="393" r:id="rId48"/>
    <p:sldId id="361" r:id="rId49"/>
    <p:sldId id="362" r:id="rId50"/>
    <p:sldId id="395" r:id="rId51"/>
    <p:sldId id="396" r:id="rId52"/>
    <p:sldId id="376" r:id="rId53"/>
    <p:sldId id="377" r:id="rId54"/>
    <p:sldId id="397" r:id="rId55"/>
    <p:sldId id="398" r:id="rId56"/>
    <p:sldId id="363" r:id="rId57"/>
    <p:sldId id="364" r:id="rId58"/>
    <p:sldId id="367" r:id="rId59"/>
    <p:sldId id="399" r:id="rId60"/>
    <p:sldId id="401" r:id="rId61"/>
    <p:sldId id="400" r:id="rId62"/>
    <p:sldId id="365" r:id="rId63"/>
    <p:sldId id="366" r:id="rId64"/>
    <p:sldId id="402" r:id="rId65"/>
    <p:sldId id="403" r:id="rId66"/>
    <p:sldId id="368" r:id="rId67"/>
    <p:sldId id="369" r:id="rId68"/>
    <p:sldId id="370" r:id="rId69"/>
    <p:sldId id="404" r:id="rId70"/>
    <p:sldId id="406" r:id="rId71"/>
    <p:sldId id="407" r:id="rId72"/>
    <p:sldId id="371" r:id="rId73"/>
    <p:sldId id="408" r:id="rId74"/>
    <p:sldId id="409" r:id="rId75"/>
    <p:sldId id="372" r:id="rId76"/>
    <p:sldId id="373" r:id="rId77"/>
    <p:sldId id="374" r:id="rId78"/>
    <p:sldId id="410" r:id="rId79"/>
    <p:sldId id="379" r:id="rId80"/>
    <p:sldId id="378" r:id="rId81"/>
    <p:sldId id="380" r:id="rId82"/>
    <p:sldId id="382" r:id="rId83"/>
    <p:sldId id="381" r:id="rId84"/>
    <p:sldId id="383" r:id="rId85"/>
    <p:sldId id="384" r:id="rId86"/>
    <p:sldId id="385" r:id="rId87"/>
    <p:sldId id="386" r:id="rId88"/>
    <p:sldId id="412" r:id="rId89"/>
    <p:sldId id="413" r:id="rId90"/>
    <p:sldId id="414" r:id="rId91"/>
    <p:sldId id="387" r:id="rId92"/>
    <p:sldId id="415" r:id="rId93"/>
    <p:sldId id="416" r:id="rId9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50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EBBD4-DF2A-466B-9C02-819997BF5FCB}" type="datetimeFigureOut">
              <a:rPr lang="ru-RU" smtClean="0"/>
              <a:pPr/>
              <a:t>27.12.2021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924E2-C814-4D75-AACF-890EFECD781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814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27.12.2021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27.12.2021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27.12.2021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27.12.2021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27.12.2021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27.12.2021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27.12.2021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27.12.2021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27.12.2021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27.12.2021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27.12.2021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437A7-3297-49EF-A824-ADB59F7B1FB0}" type="datetimeFigureOut">
              <a:rPr lang="ru-RU" smtClean="0"/>
              <a:pPr/>
              <a:t>27.12.2021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План лекции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7584" y="1600200"/>
            <a:ext cx="7416824" cy="4525963"/>
          </a:xfrm>
        </p:spPr>
        <p:txBody>
          <a:bodyPr>
            <a:normAutofit/>
          </a:bodyPr>
          <a:lstStyle/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Основные понятия реляционной алгебры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Целостность реляционных данных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Основные операции над отношениями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Нормализация отношений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1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 smtClean="0"/>
              <a:t>Основные понятия реляционной алгебры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Атрибут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1" dirty="0" smtClean="0"/>
              <a:t>Атрибут отношения</a:t>
            </a:r>
            <a:r>
              <a:rPr lang="ru-RU" dirty="0" smtClean="0"/>
              <a:t> есть пара вида</a:t>
            </a:r>
            <a:endParaRPr lang="en-US" dirty="0" smtClean="0"/>
          </a:p>
          <a:p>
            <a:pPr algn="ctr">
              <a:buNone/>
            </a:pPr>
            <a:r>
              <a:rPr lang="ru-RU" dirty="0" smtClean="0"/>
              <a:t>&lt;</a:t>
            </a:r>
            <a:r>
              <a:rPr lang="ru-RU" dirty="0" err="1" smtClean="0"/>
              <a:t>Имя_атрибута</a:t>
            </a:r>
            <a:r>
              <a:rPr lang="ru-RU" dirty="0" smtClean="0"/>
              <a:t> : </a:t>
            </a:r>
            <a:r>
              <a:rPr lang="ru-RU" dirty="0" err="1" smtClean="0"/>
              <a:t>Имя_домена</a:t>
            </a:r>
            <a:r>
              <a:rPr lang="ru-RU" dirty="0" smtClean="0"/>
              <a:t>&gt;</a:t>
            </a:r>
          </a:p>
          <a:p>
            <a:r>
              <a:rPr lang="ru-RU" dirty="0" smtClean="0"/>
              <a:t>Имена атрибутов должны быть уникальны в пределах отношения</a:t>
            </a:r>
          </a:p>
          <a:p>
            <a:r>
              <a:rPr lang="ru-RU" dirty="0" smtClean="0"/>
              <a:t>Часто имена атрибутов отношения совпадают с именами соответствующих доменов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Домен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5214974"/>
          </a:xfrm>
        </p:spPr>
        <p:txBody>
          <a:bodyPr>
            <a:normAutofit fontScale="92500" lnSpcReduction="20000"/>
          </a:bodyPr>
          <a:lstStyle/>
          <a:p>
            <a:r>
              <a:rPr lang="ru-RU" b="1" i="1" dirty="0" smtClean="0"/>
              <a:t>Домен</a:t>
            </a:r>
            <a:r>
              <a:rPr lang="ru-RU" dirty="0" smtClean="0"/>
              <a:t> - это семантическое понятие, которое можно рассматривать как подмножество значений некоторого типа данных имеющих определенный смысл</a:t>
            </a:r>
          </a:p>
          <a:p>
            <a:r>
              <a:rPr lang="ru-RU" dirty="0" smtClean="0"/>
              <a:t>Домен характеризуется следующими свойствами: </a:t>
            </a:r>
          </a:p>
          <a:p>
            <a:pPr lvl="1"/>
            <a:r>
              <a:rPr lang="ru-RU" dirty="0" smtClean="0"/>
              <a:t>имеет </a:t>
            </a:r>
            <a:r>
              <a:rPr lang="ru-RU" i="1" dirty="0" smtClean="0"/>
              <a:t>уникальное имя </a:t>
            </a:r>
            <a:r>
              <a:rPr lang="ru-RU" dirty="0" smtClean="0"/>
              <a:t>(в пределах базы данных)</a:t>
            </a:r>
          </a:p>
          <a:p>
            <a:pPr lvl="1"/>
            <a:r>
              <a:rPr lang="ru-RU" dirty="0" smtClean="0"/>
              <a:t>определен на некотором </a:t>
            </a:r>
            <a:r>
              <a:rPr lang="ru-RU" i="1" dirty="0" smtClean="0"/>
              <a:t>простом </a:t>
            </a:r>
            <a:r>
              <a:rPr lang="ru-RU" dirty="0" smtClean="0"/>
              <a:t>типе данных или на другом домене</a:t>
            </a:r>
          </a:p>
          <a:p>
            <a:pPr lvl="1"/>
            <a:r>
              <a:rPr lang="ru-RU" dirty="0" smtClean="0"/>
              <a:t>может иметь некоторое </a:t>
            </a:r>
            <a:r>
              <a:rPr lang="ru-RU" i="1" dirty="0" smtClean="0"/>
              <a:t>логическое условие</a:t>
            </a:r>
            <a:r>
              <a:rPr lang="ru-RU" dirty="0" smtClean="0"/>
              <a:t>, позволяющее описать подмножество данных, допустимых для данного домена</a:t>
            </a:r>
          </a:p>
          <a:p>
            <a:pPr lvl="1"/>
            <a:r>
              <a:rPr lang="ru-RU" dirty="0" smtClean="0"/>
              <a:t>несет определенную </a:t>
            </a:r>
            <a:r>
              <a:rPr lang="ru-RU" i="1" dirty="0" smtClean="0"/>
              <a:t>смысловую нагрузку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11222"/>
          </a:xfrm>
        </p:spPr>
        <p:txBody>
          <a:bodyPr/>
          <a:lstStyle/>
          <a:p>
            <a:r>
              <a:rPr lang="ru-RU" dirty="0" smtClean="0"/>
              <a:t>Отношение (1/2)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572164"/>
          </a:xfrm>
        </p:spPr>
        <p:txBody>
          <a:bodyPr>
            <a:noAutofit/>
          </a:bodyPr>
          <a:lstStyle/>
          <a:p>
            <a:r>
              <a:rPr lang="ru-RU" sz="2800" b="1" i="1" dirty="0" smtClean="0"/>
              <a:t>Отношение</a:t>
            </a:r>
            <a:r>
              <a:rPr lang="ru-RU" sz="2800" dirty="0" smtClean="0"/>
              <a:t> </a:t>
            </a:r>
            <a:r>
              <a:rPr lang="en-US" sz="2800" dirty="0" smtClean="0"/>
              <a:t>R</a:t>
            </a:r>
            <a:r>
              <a:rPr lang="ru-RU" sz="2800" dirty="0" smtClean="0"/>
              <a:t>, определенное на множестве доменов </a:t>
            </a:r>
            <a:r>
              <a:rPr lang="en-US" sz="2800" dirty="0" smtClean="0"/>
              <a:t>D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,D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,..,D</a:t>
            </a:r>
            <a:r>
              <a:rPr lang="en-US" sz="2800" baseline="-25000" dirty="0" smtClean="0"/>
              <a:t>n</a:t>
            </a:r>
            <a:r>
              <a:rPr lang="ru-RU" sz="2800" dirty="0" smtClean="0"/>
              <a:t>(не обязательно различных), содержит две части: заголовок и тело</a:t>
            </a:r>
          </a:p>
          <a:p>
            <a:r>
              <a:rPr lang="ru-RU" sz="2800" b="1" i="1" dirty="0" smtClean="0"/>
              <a:t>Заголовок отношения</a:t>
            </a:r>
            <a:r>
              <a:rPr lang="ru-RU" sz="2800" dirty="0" smtClean="0"/>
              <a:t> содержит фиксированное количество атрибутов отношения: </a:t>
            </a:r>
            <a:endParaRPr lang="en-US" sz="2800" dirty="0" smtClean="0"/>
          </a:p>
          <a:p>
            <a:pPr algn="ctr">
              <a:buNone/>
            </a:pPr>
            <a:r>
              <a:rPr lang="en-US" sz="2800" dirty="0" smtClean="0"/>
              <a:t>(&lt;A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,D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&gt;, &lt;A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,D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&gt;,…, &lt;</a:t>
            </a:r>
            <a:r>
              <a:rPr lang="en-US" sz="2800" dirty="0" err="1" smtClean="0"/>
              <a:t>A</a:t>
            </a:r>
            <a:r>
              <a:rPr lang="en-US" sz="2800" baseline="-25000" dirty="0" err="1" smtClean="0"/>
              <a:t>n</a:t>
            </a:r>
            <a:r>
              <a:rPr lang="en-US" sz="2800" dirty="0" err="1" smtClean="0"/>
              <a:t>,D</a:t>
            </a:r>
            <a:r>
              <a:rPr lang="en-US" sz="2800" baseline="-25000" dirty="0" err="1" smtClean="0"/>
              <a:t>n</a:t>
            </a:r>
            <a:r>
              <a:rPr lang="en-US" sz="2800" dirty="0" smtClean="0"/>
              <a:t>&gt;)</a:t>
            </a:r>
            <a:endParaRPr lang="ru-RU" sz="2800" dirty="0" smtClean="0"/>
          </a:p>
          <a:p>
            <a:r>
              <a:rPr lang="ru-RU" sz="2800" b="1" i="1" dirty="0" smtClean="0"/>
              <a:t>Тело отношения</a:t>
            </a:r>
            <a:r>
              <a:rPr lang="ru-RU" sz="2800" dirty="0" smtClean="0"/>
              <a:t> содержит множество кортежей отношения. Каждый </a:t>
            </a:r>
            <a:r>
              <a:rPr lang="ru-RU" sz="2800" b="1" i="1" dirty="0" smtClean="0"/>
              <a:t>кортеж отношения</a:t>
            </a:r>
            <a:r>
              <a:rPr lang="ru-RU" sz="2800" dirty="0" smtClean="0"/>
              <a:t> представляет собой множество пар вида</a:t>
            </a:r>
            <a:endParaRPr lang="en-US" sz="2800" dirty="0" smtClean="0"/>
          </a:p>
          <a:p>
            <a:pPr algn="ctr">
              <a:buNone/>
            </a:pPr>
            <a:r>
              <a:rPr lang="en-US" sz="2800" dirty="0" smtClean="0"/>
              <a:t>(&lt;A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,V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&gt;, &lt;A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,V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&gt;,…, &lt;</a:t>
            </a:r>
            <a:r>
              <a:rPr lang="en-US" sz="2800" dirty="0" err="1" smtClean="0"/>
              <a:t>A</a:t>
            </a:r>
            <a:r>
              <a:rPr lang="en-US" sz="2800" baseline="-25000" dirty="0" err="1" smtClean="0"/>
              <a:t>n</a:t>
            </a:r>
            <a:r>
              <a:rPr lang="en-US" sz="2800" dirty="0" err="1" smtClean="0"/>
              <a:t>,V</a:t>
            </a:r>
            <a:r>
              <a:rPr lang="en-US" sz="2800" baseline="-25000" dirty="0" err="1" smtClean="0"/>
              <a:t>n</a:t>
            </a:r>
            <a:r>
              <a:rPr lang="en-US" sz="2800" dirty="0" smtClean="0"/>
              <a:t>&gt;)</a:t>
            </a:r>
            <a:endParaRPr lang="ru-RU" sz="2800" dirty="0" smtClean="0"/>
          </a:p>
          <a:p>
            <a:pPr>
              <a:buNone/>
            </a:pPr>
            <a:r>
              <a:rPr lang="en-US" sz="2800" dirty="0" smtClean="0"/>
              <a:t>	</a:t>
            </a:r>
            <a:r>
              <a:rPr lang="ru-RU" sz="2800" dirty="0" smtClean="0"/>
              <a:t>таких что значение </a:t>
            </a:r>
            <a:r>
              <a:rPr lang="en-US" sz="2800" dirty="0" smtClean="0"/>
              <a:t>V</a:t>
            </a:r>
            <a:r>
              <a:rPr lang="en-US" sz="2800" baseline="-25000" dirty="0" smtClean="0"/>
              <a:t>i</a:t>
            </a:r>
            <a:r>
              <a:rPr lang="en-US" sz="2800" dirty="0" smtClean="0"/>
              <a:t> </a:t>
            </a:r>
            <a:r>
              <a:rPr lang="ru-RU" sz="2800" dirty="0" smtClean="0"/>
              <a:t>атрибута </a:t>
            </a:r>
            <a:r>
              <a:rPr lang="en-US" sz="2800" dirty="0" smtClean="0"/>
              <a:t>A</a:t>
            </a:r>
            <a:r>
              <a:rPr lang="en-US" sz="2800" baseline="-25000" dirty="0" smtClean="0"/>
              <a:t>i</a:t>
            </a:r>
            <a:r>
              <a:rPr lang="en-US" sz="2800" dirty="0" smtClean="0"/>
              <a:t> </a:t>
            </a:r>
            <a:r>
              <a:rPr lang="ru-RU" sz="2800" dirty="0" smtClean="0"/>
              <a:t>принадлежит домену </a:t>
            </a:r>
            <a:r>
              <a:rPr lang="en-US" sz="2800" dirty="0" smtClean="0"/>
              <a:t>D</a:t>
            </a:r>
            <a:r>
              <a:rPr lang="en-US" sz="2800" baseline="-25000" dirty="0" smtClean="0"/>
              <a:t>i</a:t>
            </a:r>
            <a:endParaRPr lang="ru-RU" sz="2800" baseline="-25000" dirty="0" smtClean="0"/>
          </a:p>
          <a:p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Отношение (2/2)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Варианты обозначения отношений:</a:t>
            </a:r>
            <a:endParaRPr lang="en-US" dirty="0" smtClean="0"/>
          </a:p>
          <a:p>
            <a:pPr algn="ctr">
              <a:buNone/>
            </a:pPr>
            <a:r>
              <a:rPr lang="en-US" dirty="0" smtClean="0"/>
              <a:t>R(&lt;A</a:t>
            </a:r>
            <a:r>
              <a:rPr lang="en-US" baseline="-25000" dirty="0" smtClean="0"/>
              <a:t>1</a:t>
            </a:r>
            <a:r>
              <a:rPr lang="en-US" dirty="0" smtClean="0"/>
              <a:t>,D</a:t>
            </a:r>
            <a:r>
              <a:rPr lang="en-US" baseline="-25000" dirty="0" smtClean="0"/>
              <a:t>1</a:t>
            </a:r>
            <a:r>
              <a:rPr lang="en-US" dirty="0" smtClean="0"/>
              <a:t>&gt;, &lt;A</a:t>
            </a:r>
            <a:r>
              <a:rPr lang="en-US" baseline="-25000" dirty="0" smtClean="0"/>
              <a:t>2</a:t>
            </a:r>
            <a:r>
              <a:rPr lang="en-US" dirty="0" smtClean="0"/>
              <a:t>,D</a:t>
            </a:r>
            <a:r>
              <a:rPr lang="en-US" baseline="-25000" dirty="0" smtClean="0"/>
              <a:t>2</a:t>
            </a:r>
            <a:r>
              <a:rPr lang="en-US" dirty="0" smtClean="0"/>
              <a:t>&gt;,…, &lt;</a:t>
            </a:r>
            <a:r>
              <a:rPr lang="en-US" dirty="0" err="1" smtClean="0"/>
              <a:t>A</a:t>
            </a:r>
            <a:r>
              <a:rPr lang="en-US" baseline="-25000" dirty="0" err="1" smtClean="0"/>
              <a:t>n</a:t>
            </a:r>
            <a:r>
              <a:rPr lang="en-US" dirty="0" err="1" smtClean="0"/>
              <a:t>,D</a:t>
            </a:r>
            <a:r>
              <a:rPr lang="en-US" baseline="-25000" dirty="0" err="1" smtClean="0"/>
              <a:t>n</a:t>
            </a:r>
            <a:r>
              <a:rPr lang="en-US" dirty="0" smtClean="0"/>
              <a:t>&gt;)</a:t>
            </a:r>
          </a:p>
          <a:p>
            <a:pPr algn="ctr">
              <a:buNone/>
            </a:pPr>
            <a:r>
              <a:rPr lang="en-US" dirty="0" smtClean="0"/>
              <a:t>R(A</a:t>
            </a:r>
            <a:r>
              <a:rPr lang="en-US" baseline="-25000" dirty="0" smtClean="0"/>
              <a:t>1</a:t>
            </a:r>
            <a:r>
              <a:rPr lang="en-US" dirty="0"/>
              <a:t>,A</a:t>
            </a:r>
            <a:r>
              <a:rPr lang="en-US" baseline="-25000" dirty="0" smtClean="0"/>
              <a:t>2</a:t>
            </a:r>
            <a:r>
              <a:rPr lang="en-US" dirty="0" smtClean="0"/>
              <a:t>,…, A</a:t>
            </a:r>
            <a:r>
              <a:rPr lang="en-US" baseline="-25000" dirty="0" smtClean="0"/>
              <a:t>n</a:t>
            </a:r>
            <a:r>
              <a:rPr lang="en-US" dirty="0" smtClean="0"/>
              <a:t>)</a:t>
            </a:r>
            <a:endParaRPr lang="ru-RU" dirty="0" smtClean="0"/>
          </a:p>
          <a:p>
            <a:r>
              <a:rPr lang="ru-RU" dirty="0" smtClean="0"/>
              <a:t>Число атрибутов в отношении называют </a:t>
            </a:r>
            <a:r>
              <a:rPr lang="ru-RU" b="1" i="1" dirty="0" smtClean="0"/>
              <a:t>степенью</a:t>
            </a:r>
            <a:r>
              <a:rPr lang="ru-RU" dirty="0" smtClean="0"/>
              <a:t> (или </a:t>
            </a:r>
            <a:r>
              <a:rPr lang="ru-RU" b="1" i="1" dirty="0" smtClean="0"/>
              <a:t>-арностью</a:t>
            </a:r>
            <a:r>
              <a:rPr lang="ru-RU" dirty="0" smtClean="0"/>
              <a:t>) отношения</a:t>
            </a:r>
          </a:p>
          <a:p>
            <a:r>
              <a:rPr lang="ru-RU" dirty="0" smtClean="0"/>
              <a:t>Мощность множества кортежей отношения называют </a:t>
            </a:r>
            <a:r>
              <a:rPr lang="ru-RU" b="1" i="1" dirty="0" smtClean="0"/>
              <a:t>мощностью</a:t>
            </a:r>
            <a:r>
              <a:rPr lang="ru-RU" dirty="0" smtClean="0"/>
              <a:t> отношения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Замечания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Заголовок отношения описывает декартово произведение доменов, на котором задано отношение</a:t>
            </a:r>
          </a:p>
          <a:p>
            <a:r>
              <a:rPr lang="ru-RU" dirty="0" smtClean="0"/>
              <a:t>Тело отношения представляет собой набор кортежей, т.е. подмножество декартового произведения доменов. Таким образом, тело отношения собственно и является отношением в математическом смысле слова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отношения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357158" y="2000240"/>
          <a:ext cx="8215368" cy="241103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14644"/>
                <a:gridCol w="1714512"/>
                <a:gridCol w="1732370"/>
                <a:gridCol w="2053842"/>
              </a:tblGrid>
              <a:tr h="48220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400" b="1" dirty="0" smtClean="0">
                          <a:latin typeface="+mn-lt"/>
                          <a:ea typeface="Times New Roman"/>
                        </a:rPr>
                        <a:t>СОТРУДНИКИ</a:t>
                      </a:r>
                      <a:endParaRPr lang="ru-RU" sz="2400" b="1" dirty="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400" b="1" dirty="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400" b="1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400" b="1" dirty="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8220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 b="1" dirty="0" err="1" smtClean="0"/>
                        <a:t>Номер_сотрудника</a:t>
                      </a:r>
                      <a:endParaRPr lang="ru-RU" sz="2400" b="1" dirty="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 b="1" dirty="0"/>
                        <a:t>Фамилия</a:t>
                      </a:r>
                      <a:endParaRPr lang="ru-RU" sz="2400" b="1" dirty="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 b="1" dirty="0"/>
                        <a:t>Зарплата</a:t>
                      </a:r>
                      <a:endParaRPr lang="ru-RU" sz="2400" b="1" dirty="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 b="1" dirty="0" err="1"/>
                        <a:t>Номер_отдела</a:t>
                      </a:r>
                      <a:endParaRPr lang="ru-RU" sz="2400" b="1" dirty="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20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1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Иванов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1000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1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8220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2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Петров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2000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2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/>
                </a:tc>
              </a:tr>
              <a:tr h="48220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3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Сидоров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3000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 dirty="0"/>
                        <a:t>1</a:t>
                      </a:r>
                      <a:endParaRPr lang="ru-RU" sz="2400" dirty="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Реляционная БД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1" dirty="0" smtClean="0"/>
              <a:t>Реляционной базой данных</a:t>
            </a:r>
            <a:r>
              <a:rPr lang="ru-RU" dirty="0" smtClean="0"/>
              <a:t> называется набор отношений</a:t>
            </a:r>
          </a:p>
          <a:p>
            <a:r>
              <a:rPr lang="ru-RU" b="1" i="1" dirty="0" smtClean="0"/>
              <a:t>Схемой реляционной базы</a:t>
            </a:r>
            <a:r>
              <a:rPr lang="ru-RU" dirty="0" smtClean="0"/>
              <a:t> данных называется набор заголовков отношений, входящих в базу данных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Отношения </a:t>
            </a:r>
            <a:r>
              <a:rPr lang="en-US" dirty="0" err="1" smtClean="0"/>
              <a:t>vs</a:t>
            </a:r>
            <a:r>
              <a:rPr lang="ru-RU" dirty="0" smtClean="0"/>
              <a:t> таблицы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500034" y="1428736"/>
          <a:ext cx="8286808" cy="5017770"/>
        </p:xfrm>
        <a:graphic>
          <a:graphicData uri="http://schemas.openxmlformats.org/drawingml/2006/table">
            <a:tbl>
              <a:tblPr/>
              <a:tblGrid>
                <a:gridCol w="3571900"/>
                <a:gridCol w="4714908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Реляционный термин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 b="1" dirty="0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«Табличный» </a:t>
                      </a:r>
                      <a:r>
                        <a:rPr lang="ru-RU" sz="24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термин</a:t>
                      </a:r>
                      <a:endParaRPr lang="ru-RU" sz="2400" dirty="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База данных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Набор таблиц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Схема базы данных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Набор заголовков таблиц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Отношение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Таблица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Заголовок отношения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Заголовок таблицы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Тело отношения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Тело таблицы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Атрибут отношения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Наименование столбца таблицы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Кортеж отношения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Строка таблицы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Степень (-арность) отношения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Количество столбцов таблицы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Мощность отношения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Количество строк таблицы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Домены и типы данных</a:t>
                      </a:r>
                      <a:endParaRPr lang="ru-RU" sz="240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Типы данные в ячейках таблицы</a:t>
                      </a:r>
                      <a:endParaRPr lang="ru-RU" sz="2400" dirty="0">
                        <a:latin typeface="+mn-lt"/>
                        <a:ea typeface="Times New Roman"/>
                      </a:endParaRPr>
                    </a:p>
                  </a:txBody>
                  <a:tcPr marL="28575" marR="28575" marT="28575" marB="2857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Отношения </a:t>
            </a:r>
            <a:r>
              <a:rPr lang="en-US" dirty="0" err="1" smtClean="0"/>
              <a:t>vs</a:t>
            </a:r>
            <a:r>
              <a:rPr lang="ru-RU" dirty="0" smtClean="0"/>
              <a:t> таблицы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5143536"/>
          </a:xfrm>
        </p:spPr>
        <p:txBody>
          <a:bodyPr>
            <a:noAutofit/>
          </a:bodyPr>
          <a:lstStyle/>
          <a:p>
            <a:pPr lvl="0"/>
            <a:r>
              <a:rPr lang="ru-RU" sz="2400" dirty="0" smtClean="0"/>
              <a:t>В отношении </a:t>
            </a:r>
            <a:r>
              <a:rPr lang="ru-RU" sz="2400" i="1" dirty="0" smtClean="0"/>
              <a:t>нет одинаковых кортежей</a:t>
            </a:r>
            <a:r>
              <a:rPr lang="ru-RU" sz="2400" dirty="0" smtClean="0"/>
              <a:t>. Таблицы в отличие от отношений могут содержать одинаковые строки</a:t>
            </a:r>
          </a:p>
          <a:p>
            <a:pPr lvl="0"/>
            <a:r>
              <a:rPr lang="ru-RU" sz="2400" i="1" dirty="0" smtClean="0"/>
              <a:t>Кортежи не упорядочены (сверху вниз)</a:t>
            </a:r>
            <a:r>
              <a:rPr lang="ru-RU" sz="2400" dirty="0" smtClean="0"/>
              <a:t>. Одно и то же отношение может быть </a:t>
            </a:r>
            <a:r>
              <a:rPr lang="ru-RU" sz="2400" i="1" dirty="0" smtClean="0"/>
              <a:t>изображено </a:t>
            </a:r>
            <a:r>
              <a:rPr lang="ru-RU" sz="2400" dirty="0" smtClean="0"/>
              <a:t>разными таблицами, в которых </a:t>
            </a:r>
            <a:r>
              <a:rPr lang="ru-RU" sz="2400" i="1" dirty="0" smtClean="0"/>
              <a:t>строки идут в различном порядке</a:t>
            </a:r>
            <a:endParaRPr lang="ru-RU" sz="2400" dirty="0" smtClean="0"/>
          </a:p>
          <a:p>
            <a:pPr lvl="0"/>
            <a:r>
              <a:rPr lang="ru-RU" sz="2400" i="1" dirty="0" smtClean="0"/>
              <a:t>Атрибуты не упорядочены (слева направо)</a:t>
            </a:r>
            <a:r>
              <a:rPr lang="ru-RU" sz="2400" dirty="0" smtClean="0"/>
              <a:t>. Одно и то же отношение может быть </a:t>
            </a:r>
            <a:r>
              <a:rPr lang="ru-RU" sz="2400" i="1" dirty="0" smtClean="0"/>
              <a:t>изображено </a:t>
            </a:r>
            <a:r>
              <a:rPr lang="ru-RU" sz="2400" dirty="0" smtClean="0"/>
              <a:t>разными таблицами, в которых </a:t>
            </a:r>
            <a:r>
              <a:rPr lang="ru-RU" sz="2400" i="1" dirty="0" smtClean="0"/>
              <a:t>столбцы идут в различном порядке</a:t>
            </a:r>
            <a:endParaRPr lang="ru-RU" sz="2400" dirty="0" smtClean="0"/>
          </a:p>
          <a:p>
            <a:pPr lvl="0"/>
            <a:r>
              <a:rPr lang="ru-RU" sz="2400" i="1" dirty="0" smtClean="0"/>
              <a:t>Все значения атрибутов </a:t>
            </a:r>
            <a:r>
              <a:rPr lang="ru-RU" sz="2400" i="1" dirty="0" err="1" smtClean="0"/>
              <a:t>атомарны</a:t>
            </a:r>
            <a:r>
              <a:rPr lang="ru-RU" sz="2400" dirty="0" smtClean="0"/>
              <a:t>. В ячейки таблиц можно поместить что угодно - массивы, структуры, и даже другие таблицы</a:t>
            </a:r>
          </a:p>
          <a:p>
            <a:endParaRPr lang="ru-RU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 smtClean="0"/>
              <a:t>Целостность реляционных данных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Виды целостности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928662" y="1600200"/>
            <a:ext cx="7758138" cy="4525963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ru-RU" dirty="0" smtClean="0"/>
              <a:t>В </a:t>
            </a:r>
            <a:r>
              <a:rPr lang="ru-RU" i="1" dirty="0" smtClean="0"/>
              <a:t>любой </a:t>
            </a:r>
            <a:r>
              <a:rPr lang="ru-RU" dirty="0" smtClean="0"/>
              <a:t>реляционной базе данных должны выполняться два ограничения: </a:t>
            </a:r>
          </a:p>
          <a:p>
            <a:r>
              <a:rPr lang="ru-RU" dirty="0" smtClean="0"/>
              <a:t>Целостность сущностей</a:t>
            </a:r>
          </a:p>
          <a:p>
            <a:r>
              <a:rPr lang="ru-RU" dirty="0" smtClean="0"/>
              <a:t>Целостность внешних ключей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Null-</a:t>
            </a:r>
            <a:r>
              <a:rPr lang="ru-RU" dirty="0" smtClean="0"/>
              <a:t>значения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Null-значение - это, собственно, не значение, а некий маркер, показывающий, что значение неизвестно</a:t>
            </a:r>
          </a:p>
          <a:p>
            <a:r>
              <a:rPr lang="ru-RU" dirty="0" smtClean="0"/>
              <a:t>Можно не использовать null-значения, а вместо неизвестных данных вводить либо нулевые значения, либо значения специального вида. В этом случае на пользователя (или на разработчика) ложится ответственность на правильную трактовку таких данных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Трехзначная логика (1/2</a:t>
            </a:r>
            <a:r>
              <a:rPr lang="en-US" dirty="0" smtClean="0"/>
              <a:t>)</a:t>
            </a:r>
            <a:endParaRPr lang="ru-RU" dirty="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928662" y="1857364"/>
          <a:ext cx="3357588" cy="1691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39397"/>
                <a:gridCol w="839397"/>
                <a:gridCol w="839397"/>
                <a:gridCol w="839397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 dirty="0"/>
                        <a:t>AND</a:t>
                      </a:r>
                      <a:endParaRPr lang="ru-RU" sz="240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F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T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U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F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F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F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F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T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F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T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U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U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F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 dirty="0"/>
                        <a:t>U</a:t>
                      </a:r>
                      <a:endParaRPr lang="ru-RU" sz="240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 dirty="0"/>
                        <a:t>U</a:t>
                      </a:r>
                      <a:endParaRPr lang="ru-RU" sz="240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5072066" y="1857364"/>
          <a:ext cx="3357588" cy="1691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39397"/>
                <a:gridCol w="839397"/>
                <a:gridCol w="839397"/>
                <a:gridCol w="839397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 dirty="0"/>
                        <a:t>OR</a:t>
                      </a:r>
                      <a:endParaRPr lang="ru-RU" sz="240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F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T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U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F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F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T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U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T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T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T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T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U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 dirty="0"/>
                        <a:t>U</a:t>
                      </a:r>
                      <a:endParaRPr lang="ru-RU" sz="240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T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 dirty="0"/>
                        <a:t>U</a:t>
                      </a:r>
                      <a:endParaRPr lang="ru-RU" sz="240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3929058" y="4214818"/>
          <a:ext cx="1500198" cy="1691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50099"/>
                <a:gridCol w="750099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 dirty="0"/>
                        <a:t>NOT</a:t>
                      </a:r>
                      <a:endParaRPr lang="ru-RU" sz="240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2400"/>
                        <a:t> 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F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T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T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F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/>
                        <a:t>U</a:t>
                      </a:r>
                      <a:endParaRPr lang="ru-RU" sz="24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 dirty="0"/>
                        <a:t>U</a:t>
                      </a:r>
                      <a:endParaRPr lang="ru-RU" sz="240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Трехзначная логика (2/2</a:t>
            </a:r>
            <a:r>
              <a:rPr lang="en-US" dirty="0" smtClean="0"/>
              <a:t>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72006"/>
          </a:xfrm>
        </p:spPr>
        <p:txBody>
          <a:bodyPr>
            <a:normAutofit/>
          </a:bodyPr>
          <a:lstStyle/>
          <a:p>
            <a:r>
              <a:rPr lang="ru-RU" u="sng" dirty="0" smtClean="0"/>
              <a:t>Парадокс 1.</a:t>
            </a:r>
            <a:r>
              <a:rPr lang="ru-RU" dirty="0" smtClean="0"/>
              <a:t> Null-значение не равно самому себе!</a:t>
            </a:r>
          </a:p>
          <a:p>
            <a:r>
              <a:rPr lang="ru-RU" u="sng" dirty="0" smtClean="0"/>
              <a:t>Парадокс 2.</a:t>
            </a:r>
            <a:r>
              <a:rPr lang="ru-RU" dirty="0" smtClean="0"/>
              <a:t> Неверно также, что null-значение не равно самому себе! </a:t>
            </a:r>
          </a:p>
          <a:p>
            <a:r>
              <a:rPr lang="ru-RU" u="sng" dirty="0" smtClean="0"/>
              <a:t>Парадокс 3.</a:t>
            </a:r>
            <a:r>
              <a:rPr lang="ru-RU" dirty="0" smtClean="0"/>
              <a:t> В трехзначной логике не работает принцип исключенного третьего. Выражение </a:t>
            </a:r>
            <a:r>
              <a:rPr lang="en-US" dirty="0" smtClean="0"/>
              <a:t>a or not(a) </a:t>
            </a:r>
            <a:r>
              <a:rPr lang="ru-RU" dirty="0" smtClean="0"/>
              <a:t>не обязательно ИСТИНА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Потенциальные ключи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Подмножество атрибутов </a:t>
            </a:r>
            <a:r>
              <a:rPr lang="en-US" dirty="0" smtClean="0"/>
              <a:t>K </a:t>
            </a:r>
            <a:r>
              <a:rPr lang="ru-RU" dirty="0" smtClean="0"/>
              <a:t>отношения </a:t>
            </a:r>
            <a:r>
              <a:rPr lang="en-US" dirty="0" smtClean="0"/>
              <a:t>R </a:t>
            </a:r>
            <a:r>
              <a:rPr lang="ru-RU" dirty="0" smtClean="0"/>
              <a:t>будем называть </a:t>
            </a:r>
            <a:r>
              <a:rPr lang="ru-RU" b="1" i="1" dirty="0" smtClean="0"/>
              <a:t>потенциальным ключом</a:t>
            </a:r>
            <a:r>
              <a:rPr lang="ru-RU" dirty="0" smtClean="0"/>
              <a:t>, если </a:t>
            </a:r>
            <a:r>
              <a:rPr lang="en-US" dirty="0" smtClean="0"/>
              <a:t>K </a:t>
            </a:r>
            <a:r>
              <a:rPr lang="ru-RU" dirty="0" smtClean="0"/>
              <a:t>обладает следующими свойствами:</a:t>
            </a:r>
          </a:p>
          <a:p>
            <a:r>
              <a:rPr lang="ru-RU" b="1" i="1" dirty="0" smtClean="0"/>
              <a:t>Свойством уникальности </a:t>
            </a:r>
            <a:r>
              <a:rPr lang="ru-RU" dirty="0" smtClean="0"/>
              <a:t>- в отношении не может быть двух различных кортежей, с одинаковым значением </a:t>
            </a:r>
            <a:r>
              <a:rPr lang="en-US" dirty="0" smtClean="0"/>
              <a:t>K</a:t>
            </a:r>
            <a:endParaRPr lang="ru-RU" dirty="0" smtClean="0"/>
          </a:p>
          <a:p>
            <a:r>
              <a:rPr lang="ru-RU" b="1" i="1" dirty="0" smtClean="0"/>
              <a:t>Свойством </a:t>
            </a:r>
            <a:r>
              <a:rPr lang="ru-RU" b="1" i="1" dirty="0" err="1" smtClean="0"/>
              <a:t>неизбыточности</a:t>
            </a:r>
            <a:r>
              <a:rPr lang="ru-RU" b="1" i="1" dirty="0" smtClean="0"/>
              <a:t> </a:t>
            </a:r>
            <a:r>
              <a:rPr lang="ru-RU" dirty="0" smtClean="0"/>
              <a:t>- никакое подмножество в </a:t>
            </a:r>
            <a:r>
              <a:rPr lang="en-US" dirty="0" smtClean="0"/>
              <a:t>K </a:t>
            </a:r>
            <a:r>
              <a:rPr lang="ru-RU" dirty="0" smtClean="0"/>
              <a:t>не обладает свойством уникальности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899592" y="1772816"/>
          <a:ext cx="7488834" cy="3181614"/>
        </p:xfrm>
        <a:graphic>
          <a:graphicData uri="http://schemas.openxmlformats.org/drawingml/2006/table">
            <a:tbl>
              <a:tblPr/>
              <a:tblGrid>
                <a:gridCol w="2496278"/>
                <a:gridCol w="2496278"/>
                <a:gridCol w="2496278"/>
              </a:tblGrid>
              <a:tr h="704938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Табельный номер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/>
                        <a:t>Фамилия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Зарплата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938">
                <a:tc>
                  <a:txBody>
                    <a:bodyPr/>
                    <a:lstStyle/>
                    <a:p>
                      <a:pPr algn="ctr"/>
                      <a:r>
                        <a:rPr lang="ru-RU" sz="32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/>
                        <a:t>Иванов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/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938">
                <a:tc>
                  <a:txBody>
                    <a:bodyPr/>
                    <a:lstStyle/>
                    <a:p>
                      <a:pPr algn="ctr"/>
                      <a:r>
                        <a:rPr lang="ru-RU" sz="320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/>
                        <a:t>Петров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/>
                        <a:t>2000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938">
                <a:tc>
                  <a:txBody>
                    <a:bodyPr/>
                    <a:lstStyle/>
                    <a:p>
                      <a:pPr algn="ctr"/>
                      <a:r>
                        <a:rPr lang="ru-RU" sz="320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/>
                        <a:t>Сидоров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3000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Еще пример</a:t>
            </a:r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899592" y="1772816"/>
          <a:ext cx="7056784" cy="3181614"/>
        </p:xfrm>
        <a:graphic>
          <a:graphicData uri="http://schemas.openxmlformats.org/drawingml/2006/table">
            <a:tbl>
              <a:tblPr/>
              <a:tblGrid>
                <a:gridCol w="2322487"/>
                <a:gridCol w="2322487"/>
                <a:gridCol w="2411810"/>
              </a:tblGrid>
              <a:tr h="704938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Номер группы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Номер по списку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/>
                        <a:t>Фамилия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938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7333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1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Афанасьев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938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7333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2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Борисов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938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7333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3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Васильев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Еще пример</a:t>
            </a:r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899592" y="1772816"/>
          <a:ext cx="7056784" cy="4591490"/>
        </p:xfrm>
        <a:graphic>
          <a:graphicData uri="http://schemas.openxmlformats.org/drawingml/2006/table">
            <a:tbl>
              <a:tblPr/>
              <a:tblGrid>
                <a:gridCol w="2322487"/>
                <a:gridCol w="2322487"/>
                <a:gridCol w="2411810"/>
              </a:tblGrid>
              <a:tr h="704938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Номер группы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Номер по списку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/>
                        <a:t>Фамилия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938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7333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1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Афанасьев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938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7333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2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Борисов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938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7333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3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Васильев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938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…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 smtClean="0"/>
                        <a:t>…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 smtClean="0"/>
                        <a:t>…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4938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7334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1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err="1" smtClean="0"/>
                        <a:t>Афонин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Виды потенциальных колючей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 smtClean="0"/>
              <a:t>Потенциальный ключ, состоящий из одного атрибута, называется </a:t>
            </a:r>
            <a:r>
              <a:rPr lang="ru-RU" b="1" i="1" dirty="0" smtClean="0"/>
              <a:t>простым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ru-RU" dirty="0" smtClean="0"/>
              <a:t>Потенциальный ключ, состоящий из нескольких атрибутов, называется </a:t>
            </a:r>
            <a:r>
              <a:rPr lang="ru-RU" b="1" i="1" dirty="0" smtClean="0"/>
              <a:t>составным</a:t>
            </a:r>
            <a:endParaRPr lang="ru-RU" dirty="0" smtClean="0"/>
          </a:p>
          <a:p>
            <a:r>
              <a:rPr lang="ru-RU" dirty="0" smtClean="0"/>
              <a:t>Отношение может иметь несколько потенциальных ключей. Традиционно, один из потенциальных ключей объявляется </a:t>
            </a:r>
            <a:r>
              <a:rPr lang="ru-RU" b="1" i="1" dirty="0" smtClean="0"/>
              <a:t>первичным</a:t>
            </a:r>
            <a:r>
              <a:rPr lang="ru-RU" dirty="0" smtClean="0"/>
              <a:t>, а остальные - </a:t>
            </a:r>
            <a:r>
              <a:rPr lang="ru-RU" b="1" i="1" dirty="0" smtClean="0"/>
              <a:t>альтернативными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Замечания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12776"/>
            <a:ext cx="8435280" cy="5184576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Любое отношение имеет по крайней мере один потенциальный ключ</a:t>
            </a:r>
            <a:endParaRPr lang="en-US" dirty="0" smtClean="0"/>
          </a:p>
          <a:p>
            <a:r>
              <a:rPr lang="ru-RU" dirty="0" smtClean="0"/>
              <a:t>Понятие потенциального ключа является </a:t>
            </a:r>
            <a:r>
              <a:rPr lang="ru-RU" i="1" dirty="0" smtClean="0"/>
              <a:t>семантическим </a:t>
            </a:r>
            <a:r>
              <a:rPr lang="ru-RU" dirty="0" smtClean="0"/>
              <a:t>понятием и отражает некоторый смысл понятий из конкретной предметной области</a:t>
            </a:r>
            <a:endParaRPr lang="en-US" dirty="0" smtClean="0"/>
          </a:p>
          <a:p>
            <a:r>
              <a:rPr lang="ru-RU" dirty="0" smtClean="0"/>
              <a:t>Потенциальные ключи служат</a:t>
            </a:r>
            <a:r>
              <a:rPr lang="ru-RU" b="1" dirty="0" smtClean="0"/>
              <a:t> </a:t>
            </a:r>
            <a:r>
              <a:rPr lang="ru-RU" i="1" dirty="0" smtClean="0"/>
              <a:t>средством идентификации</a:t>
            </a:r>
            <a:r>
              <a:rPr lang="ru-RU" b="1" i="1" dirty="0" smtClean="0"/>
              <a:t> </a:t>
            </a:r>
            <a:r>
              <a:rPr lang="ru-RU" dirty="0" smtClean="0"/>
              <a:t>объектов предметной области, данные о которых хранятся в отношении</a:t>
            </a:r>
            <a:endParaRPr lang="en-US" dirty="0" smtClean="0"/>
          </a:p>
          <a:p>
            <a:r>
              <a:rPr lang="ru-RU" dirty="0" smtClean="0"/>
              <a:t>Потенциальные ключи служат единственным </a:t>
            </a:r>
            <a:r>
              <a:rPr lang="ru-RU" i="1" dirty="0" smtClean="0"/>
              <a:t>средством адресации на уровне кортежей</a:t>
            </a:r>
            <a:r>
              <a:rPr lang="ru-RU" dirty="0" smtClean="0"/>
              <a:t> в отношении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Правило целостности сущностей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</a:t>
            </a:r>
            <a:r>
              <a:rPr lang="ru-RU" dirty="0" smtClean="0"/>
              <a:t>Атрибуты, входящие в состав некоторого потенциального ключа не могут принимать null-значений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Внешние ключи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dirty="0" smtClean="0"/>
              <a:t>Подмножество атрибутов </a:t>
            </a:r>
            <a:r>
              <a:rPr lang="en-US" dirty="0" smtClean="0"/>
              <a:t>FK </a:t>
            </a:r>
            <a:r>
              <a:rPr lang="ru-RU" dirty="0" smtClean="0"/>
              <a:t>отношения </a:t>
            </a:r>
            <a:r>
              <a:rPr lang="en-US" dirty="0" smtClean="0"/>
              <a:t>R </a:t>
            </a:r>
            <a:r>
              <a:rPr lang="ru-RU" dirty="0" smtClean="0"/>
              <a:t>будем называть </a:t>
            </a:r>
            <a:r>
              <a:rPr lang="ru-RU" b="1" i="1" dirty="0" smtClean="0"/>
              <a:t>внешним ключом</a:t>
            </a:r>
            <a:r>
              <a:rPr lang="ru-RU" dirty="0" smtClean="0"/>
              <a:t>, если: </a:t>
            </a:r>
          </a:p>
          <a:p>
            <a:r>
              <a:rPr lang="ru-RU" dirty="0" smtClean="0"/>
              <a:t>Существует отношение</a:t>
            </a:r>
            <a:r>
              <a:rPr lang="en-US" dirty="0" smtClean="0"/>
              <a:t> S</a:t>
            </a:r>
            <a:r>
              <a:rPr lang="ru-RU" dirty="0" smtClean="0"/>
              <a:t> (</a:t>
            </a:r>
            <a:r>
              <a:rPr lang="en-US" dirty="0" smtClean="0"/>
              <a:t>S</a:t>
            </a:r>
            <a:r>
              <a:rPr lang="ru-RU" dirty="0" smtClean="0"/>
              <a:t> и </a:t>
            </a:r>
            <a:r>
              <a:rPr lang="en-US" dirty="0" smtClean="0"/>
              <a:t>R </a:t>
            </a:r>
            <a:r>
              <a:rPr lang="ru-RU" dirty="0" smtClean="0"/>
              <a:t>не обязательно различны) с потенциальным ключом </a:t>
            </a:r>
            <a:r>
              <a:rPr lang="en-US" dirty="0" smtClean="0"/>
              <a:t>K</a:t>
            </a:r>
            <a:r>
              <a:rPr lang="ru-RU" dirty="0" smtClean="0"/>
              <a:t> </a:t>
            </a:r>
          </a:p>
          <a:p>
            <a:r>
              <a:rPr lang="ru-RU" dirty="0" smtClean="0"/>
              <a:t>Каждое значение </a:t>
            </a:r>
            <a:r>
              <a:rPr lang="en-US" dirty="0" smtClean="0"/>
              <a:t>FK </a:t>
            </a:r>
            <a:r>
              <a:rPr lang="ru-RU" dirty="0" smtClean="0"/>
              <a:t>в отношении </a:t>
            </a:r>
            <a:r>
              <a:rPr lang="en-US" dirty="0" smtClean="0"/>
              <a:t>R </a:t>
            </a:r>
            <a:r>
              <a:rPr lang="ru-RU" dirty="0" smtClean="0"/>
              <a:t>всегда совпадает со значением К для некоторого кортежа из </a:t>
            </a:r>
            <a:r>
              <a:rPr lang="en-US" dirty="0" smtClean="0"/>
              <a:t>S</a:t>
            </a:r>
            <a:r>
              <a:rPr lang="ru-RU" dirty="0" smtClean="0"/>
              <a:t>, либо является null-значением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При этом, отношение </a:t>
            </a:r>
            <a:r>
              <a:rPr lang="en-US" dirty="0" smtClean="0"/>
              <a:t>S </a:t>
            </a:r>
            <a:r>
              <a:rPr lang="ru-RU" dirty="0" smtClean="0"/>
              <a:t>будем называть </a:t>
            </a:r>
            <a:r>
              <a:rPr lang="ru-RU" b="1" i="1" dirty="0" smtClean="0"/>
              <a:t>родительским отношением</a:t>
            </a:r>
            <a:r>
              <a:rPr lang="ru-RU" dirty="0" smtClean="0"/>
              <a:t>, а отношение </a:t>
            </a:r>
            <a:r>
              <a:rPr lang="en-US" dirty="0" smtClean="0"/>
              <a:t>R </a:t>
            </a:r>
            <a:r>
              <a:rPr lang="ru-RU" dirty="0" smtClean="0"/>
              <a:t>–</a:t>
            </a:r>
            <a:r>
              <a:rPr lang="ru-RU" b="1" i="1" dirty="0" smtClean="0"/>
              <a:t>дочерним отношением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763688" y="1556792"/>
          <a:ext cx="5256584" cy="1800201"/>
        </p:xfrm>
        <a:graphic>
          <a:graphicData uri="http://schemas.openxmlformats.org/drawingml/2006/table">
            <a:tbl>
              <a:tblPr/>
              <a:tblGrid>
                <a:gridCol w="2628292"/>
                <a:gridCol w="2628292"/>
              </a:tblGrid>
              <a:tr h="600067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Номер отдела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Название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067">
                <a:tc>
                  <a:txBody>
                    <a:bodyPr/>
                    <a:lstStyle/>
                    <a:p>
                      <a:pPr algn="ctr"/>
                      <a:r>
                        <a:rPr lang="ru-RU" sz="32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Бухгалтерия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067">
                <a:tc>
                  <a:txBody>
                    <a:bodyPr/>
                    <a:lstStyle/>
                    <a:p>
                      <a:pPr algn="ctr"/>
                      <a:r>
                        <a:rPr lang="ru-RU" sz="320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Отдел</a:t>
                      </a:r>
                      <a:r>
                        <a:rPr lang="ru-RU" sz="3200" baseline="0" dirty="0" smtClean="0"/>
                        <a:t> кадров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683568" y="4005064"/>
          <a:ext cx="7632849" cy="2225040"/>
        </p:xfrm>
        <a:graphic>
          <a:graphicData uri="http://schemas.openxmlformats.org/drawingml/2006/table">
            <a:tbl>
              <a:tblPr/>
              <a:tblGrid>
                <a:gridCol w="2544283"/>
                <a:gridCol w="2544283"/>
                <a:gridCol w="2544283"/>
              </a:tblGrid>
              <a:tr h="953025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Табельный номер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/>
                        <a:t>Фамилия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Номер</a:t>
                      </a:r>
                      <a:r>
                        <a:rPr lang="ru-RU" sz="3200" baseline="0" dirty="0" smtClean="0"/>
                        <a:t> отдела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7604">
                <a:tc>
                  <a:txBody>
                    <a:bodyPr/>
                    <a:lstStyle/>
                    <a:p>
                      <a:pPr algn="ctr"/>
                      <a:r>
                        <a:rPr lang="ru-RU" sz="320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/>
                        <a:t>Иванов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2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7604">
                <a:tc>
                  <a:txBody>
                    <a:bodyPr/>
                    <a:lstStyle/>
                    <a:p>
                      <a:pPr algn="ctr"/>
                      <a:r>
                        <a:rPr lang="ru-RU" sz="320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Петров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1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Еще пример</a:t>
            </a:r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785786" y="1428736"/>
          <a:ext cx="7786743" cy="5029200"/>
        </p:xfrm>
        <a:graphic>
          <a:graphicData uri="http://schemas.openxmlformats.org/drawingml/2006/table">
            <a:tbl>
              <a:tblPr/>
              <a:tblGrid>
                <a:gridCol w="2595581"/>
                <a:gridCol w="2595581"/>
                <a:gridCol w="2595581"/>
              </a:tblGrid>
              <a:tr h="953025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Номер</a:t>
                      </a:r>
                      <a:r>
                        <a:rPr lang="ru-RU" sz="3200" baseline="0" dirty="0"/>
                        <a:t> </a:t>
                      </a:r>
                      <a:r>
                        <a:rPr lang="ru-RU" sz="3200" baseline="0" dirty="0" smtClean="0"/>
                        <a:t>рубрики</a:t>
                      </a:r>
                      <a:endParaRPr lang="ru-RU" sz="32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Название рубрики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Номер</a:t>
                      </a:r>
                      <a:r>
                        <a:rPr lang="ru-RU" sz="3200" baseline="0" dirty="0" smtClean="0"/>
                        <a:t> родительской рубрики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7604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Политика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null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7604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Спорт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null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7604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…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…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…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7604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10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Внутренняя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1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7604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11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Внешняя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1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7604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…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…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 smtClean="0"/>
                        <a:t>…</a:t>
                      </a:r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Замечания (1/2)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2072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Внешний ключ, также как и потенциальный, может быть простым и составным</a:t>
            </a:r>
          </a:p>
          <a:p>
            <a:r>
              <a:rPr lang="ru-RU" dirty="0" smtClean="0"/>
              <a:t>Внешний ключ должен быть определен на тех же доменах, что и соответствующий первичный ключ родительского отношения</a:t>
            </a:r>
          </a:p>
          <a:p>
            <a:r>
              <a:rPr lang="ru-RU" dirty="0" smtClean="0"/>
              <a:t>Внешний ключ, как правило, </a:t>
            </a:r>
            <a:r>
              <a:rPr lang="ru-RU" i="1" dirty="0" smtClean="0"/>
              <a:t>не обладает свойством уникальности</a:t>
            </a:r>
            <a:r>
              <a:rPr lang="ru-RU" dirty="0" smtClean="0"/>
              <a:t>, т.к. в дочернем отношении может быть несколько кортежей, ссылающихся на один и тот же кортеж родительского отношения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Замечания (2/2)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96544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Хотя каждое значение внешнего ключа обязано совпадать со значениями потенциального ключа в некотором кортеже родительского отношения, то обратное, вообще говоря, неверно</a:t>
            </a:r>
          </a:p>
          <a:p>
            <a:r>
              <a:rPr lang="ru-RU" dirty="0" smtClean="0"/>
              <a:t>Для внешнего ключа не требуется, чтобы он был компонентом некоторого потенциального ключа</a:t>
            </a:r>
          </a:p>
          <a:p>
            <a:r>
              <a:rPr lang="ru-RU" dirty="0" smtClean="0"/>
              <a:t>Null-значения для атрибутов внешнего ключа допустимы только в том случае, когда атрибуты внешнего ключа не входят в состав никакого потенциального ключа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i="1" dirty="0" smtClean="0"/>
              <a:t>Правило целостности внешних ключей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	Внешние ключи не должны быть несогласованными, т.е. для каждого значения внешнего ключа должно существовать соответствующее значение первичного ключа в родительском отношении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Операции, которые могут нарушить ссылочную целостность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91264" cy="4709120"/>
          </a:xfrm>
        </p:spPr>
        <p:txBody>
          <a:bodyPr>
            <a:normAutofit/>
          </a:bodyPr>
          <a:lstStyle/>
          <a:p>
            <a:r>
              <a:rPr lang="ru-RU" dirty="0" smtClean="0"/>
              <a:t>Для родительского отношения</a:t>
            </a:r>
          </a:p>
          <a:p>
            <a:pPr lvl="1"/>
            <a:r>
              <a:rPr lang="ru-RU" dirty="0" smtClean="0"/>
              <a:t>Вставка кортежа в родительском отношении</a:t>
            </a:r>
          </a:p>
          <a:p>
            <a:pPr lvl="1"/>
            <a:r>
              <a:rPr lang="ru-RU" dirty="0" smtClean="0"/>
              <a:t>Обновление кортежа в родительском отношении</a:t>
            </a:r>
          </a:p>
          <a:p>
            <a:pPr lvl="1"/>
            <a:r>
              <a:rPr lang="ru-RU" dirty="0" smtClean="0"/>
              <a:t>Удаление кортежа в родительском отношении</a:t>
            </a:r>
          </a:p>
          <a:p>
            <a:r>
              <a:rPr lang="ru-RU" dirty="0" smtClean="0"/>
              <a:t>Для дочернего отношения</a:t>
            </a:r>
          </a:p>
          <a:p>
            <a:pPr lvl="1"/>
            <a:r>
              <a:rPr lang="ru-RU" dirty="0" smtClean="0"/>
              <a:t>Вставка кортежа в дочернее отношение</a:t>
            </a:r>
          </a:p>
          <a:p>
            <a:pPr lvl="1"/>
            <a:r>
              <a:rPr lang="ru-RU" dirty="0" smtClean="0"/>
              <a:t>Обновление кортежа в дочернем отношении</a:t>
            </a:r>
          </a:p>
          <a:p>
            <a:pPr lvl="1"/>
            <a:r>
              <a:rPr lang="ru-RU" dirty="0" smtClean="0"/>
              <a:t>Удаление кортежа в дочернем отношении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Операции, которые могут нарушить ссылочную целостность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>
            <a:noAutofit/>
          </a:bodyPr>
          <a:lstStyle/>
          <a:p>
            <a:r>
              <a:rPr lang="ru-RU" dirty="0" smtClean="0"/>
              <a:t>Для родительского отношения</a:t>
            </a:r>
          </a:p>
          <a:p>
            <a:pPr lvl="1"/>
            <a:r>
              <a:rPr lang="ru-RU" dirty="0" smtClean="0"/>
              <a:t>Вставка кортежа в родительском отношении</a:t>
            </a:r>
          </a:p>
          <a:p>
            <a:pPr lvl="1"/>
            <a:r>
              <a:rPr lang="ru-RU" dirty="0" smtClean="0"/>
              <a:t>Обновление кортежа в родительском отношении </a:t>
            </a:r>
            <a:r>
              <a:rPr lang="ru-RU" b="1" dirty="0" err="1" smtClean="0">
                <a:solidFill>
                  <a:srgbClr val="FF0000"/>
                </a:solidFill>
              </a:rPr>
              <a:t>√</a:t>
            </a:r>
            <a:endParaRPr lang="ru-RU" b="1" dirty="0" smtClean="0">
              <a:solidFill>
                <a:srgbClr val="FF0000"/>
              </a:solidFill>
            </a:endParaRPr>
          </a:p>
          <a:p>
            <a:pPr lvl="1"/>
            <a:r>
              <a:rPr lang="ru-RU" dirty="0" smtClean="0"/>
              <a:t>Удаление кортежа в родительском отношении  </a:t>
            </a:r>
            <a:r>
              <a:rPr lang="ru-RU" b="1" dirty="0" err="1" smtClean="0">
                <a:solidFill>
                  <a:srgbClr val="FF0000"/>
                </a:solidFill>
              </a:rPr>
              <a:t>√</a:t>
            </a:r>
            <a:endParaRPr lang="ru-RU" dirty="0" smtClean="0"/>
          </a:p>
          <a:p>
            <a:r>
              <a:rPr lang="ru-RU" dirty="0" smtClean="0"/>
              <a:t>Для дочернего отношения</a:t>
            </a:r>
          </a:p>
          <a:p>
            <a:pPr lvl="1"/>
            <a:r>
              <a:rPr lang="ru-RU" dirty="0" smtClean="0"/>
              <a:t>Вставка кортежа в дочернее отношение  </a:t>
            </a:r>
            <a:r>
              <a:rPr lang="ru-RU" b="1" dirty="0" err="1" smtClean="0">
                <a:solidFill>
                  <a:srgbClr val="FF0000"/>
                </a:solidFill>
              </a:rPr>
              <a:t>√</a:t>
            </a:r>
            <a:endParaRPr lang="ru-RU" dirty="0" smtClean="0"/>
          </a:p>
          <a:p>
            <a:pPr lvl="1"/>
            <a:r>
              <a:rPr lang="ru-RU" dirty="0" smtClean="0"/>
              <a:t>Обновление кортежа в дочернем отношении </a:t>
            </a:r>
            <a:r>
              <a:rPr lang="ru-RU" b="1" dirty="0" err="1" smtClean="0">
                <a:solidFill>
                  <a:srgbClr val="FF0000"/>
                </a:solidFill>
              </a:rPr>
              <a:t>√</a:t>
            </a:r>
            <a:endParaRPr lang="ru-RU" dirty="0" smtClean="0"/>
          </a:p>
          <a:p>
            <a:pPr lvl="1"/>
            <a:r>
              <a:rPr lang="ru-RU" dirty="0" smtClean="0"/>
              <a:t>Удаление кортежа в дочернем отношении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Основные стратегии поддержания ссылочной целостности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 smtClean="0"/>
              <a:t>RESTRICT (ОГРАНИЧИТЬ)</a:t>
            </a:r>
            <a:r>
              <a:rPr lang="ru-RU" dirty="0" smtClean="0"/>
              <a:t> –  не разрешать выполнение операции, приводящей к нарушению ссылочной целостности</a:t>
            </a:r>
          </a:p>
          <a:p>
            <a:r>
              <a:rPr lang="ru-RU" b="1" dirty="0" smtClean="0"/>
              <a:t>CASCADE (КАСКАДИРОВАТЬ) </a:t>
            </a:r>
            <a:r>
              <a:rPr lang="ru-RU" b="1" i="1" dirty="0" smtClean="0"/>
              <a:t>– </a:t>
            </a:r>
            <a:r>
              <a:rPr lang="ru-RU" dirty="0" smtClean="0"/>
              <a:t>разрешить выполнение требуемой операции, но внести при этом необходимые поправки в других отношениях так, чтобы не допустить нарушения ссылочной целостности и сохранить все имеющиеся связи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568952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Дополнительные стратегии поддержания ссылочной целостности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 fontScale="92500"/>
          </a:bodyPr>
          <a:lstStyle/>
          <a:p>
            <a:r>
              <a:rPr lang="ru-RU" b="1" dirty="0" smtClean="0"/>
              <a:t>SET NULL (УСТАНОВИТЬ В NULL) </a:t>
            </a:r>
            <a:r>
              <a:rPr lang="ru-RU" dirty="0" smtClean="0"/>
              <a:t>– разрешить выполнение требуемой операции, но все возникающие некорректные значения внешних ключей изменять на null-значения</a:t>
            </a:r>
          </a:p>
          <a:p>
            <a:r>
              <a:rPr lang="ru-RU" b="1" dirty="0" smtClean="0"/>
              <a:t>SET DEFAULT (УСТАНОВИТЬ ПО УМОЛЧАНИЮ) </a:t>
            </a:r>
            <a:r>
              <a:rPr lang="ru-RU" i="1" dirty="0" smtClean="0"/>
              <a:t>–</a:t>
            </a:r>
            <a:r>
              <a:rPr lang="ru-RU" dirty="0" smtClean="0"/>
              <a:t> разрешить выполнение требуемой операции, но все возникающие некорректные значения внешних ключей изменять на некоторое значение, принятое по умолчанию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Тривиальная стратегия поддержания ссылочной целостности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smtClean="0"/>
              <a:t>IGNORE (ИГНОРИРОВАТЬ) </a:t>
            </a:r>
            <a:r>
              <a:rPr lang="ru-RU" i="1" dirty="0" smtClean="0"/>
              <a:t>–</a:t>
            </a:r>
            <a:r>
              <a:rPr lang="ru-RU" b="1" i="1" dirty="0" smtClean="0"/>
              <a:t> </a:t>
            </a:r>
            <a:r>
              <a:rPr lang="ru-RU" dirty="0" smtClean="0"/>
              <a:t>выполнять операции, не обращая внимания на нарушения ссылочной целостности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424936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Применение стратегий поддержания ссылочной целостности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539552" y="1700808"/>
          <a:ext cx="8136904" cy="463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8452"/>
                <a:gridCol w="4068452"/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Обновление кортежа в родительском отношении</a:t>
                      </a:r>
                      <a:endParaRPr lang="ru-RU" sz="28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RESTRICT, CASCADE,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SET NULL, SET DEFAULT, IGNORE</a:t>
                      </a:r>
                      <a:endParaRPr lang="ru-RU" sz="2800" b="0" i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Удаление кортежа в родительском отношении</a:t>
                      </a:r>
                      <a:endParaRPr lang="ru-RU" sz="2800" b="0" i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RESTRICT, CASCADE,</a:t>
                      </a:r>
                    </a:p>
                    <a:p>
                      <a:r>
                        <a:rPr lang="ru-RU" sz="2800" dirty="0" smtClean="0"/>
                        <a:t>SET NULL, SET DEFAULT, IGNORE</a:t>
                      </a:r>
                      <a:endParaRPr lang="ru-RU" sz="2800" b="0" i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Вставка кортежа в дочернее отношение</a:t>
                      </a:r>
                      <a:endParaRPr lang="ru-RU" sz="2800" b="0" i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RESTRICT, SET NULL,</a:t>
                      </a:r>
                    </a:p>
                    <a:p>
                      <a:r>
                        <a:rPr lang="ru-RU" sz="2800" dirty="0" smtClean="0"/>
                        <a:t>SET DEFAULT, IGNORE</a:t>
                      </a:r>
                      <a:endParaRPr lang="ru-RU" sz="2800" b="0" i="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Обновление кортежа в дочернем отношении</a:t>
                      </a:r>
                      <a:endParaRPr lang="ru-RU" sz="28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RESTRICT, SET NULL,</a:t>
                      </a:r>
                    </a:p>
                    <a:p>
                      <a:r>
                        <a:rPr lang="ru-RU" sz="2800" dirty="0" smtClean="0"/>
                        <a:t>SET DEFAULT, IGNORE</a:t>
                      </a:r>
                      <a:endParaRPr lang="ru-RU" sz="2800" b="0" i="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</a:t>
            </a:r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 smtClean="0"/>
              <a:t>Основные операции над отношениями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Совместимость по типу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 smtClean="0"/>
              <a:t>Будем называть отношения </a:t>
            </a:r>
            <a:r>
              <a:rPr lang="ru-RU" b="1" i="1" dirty="0" smtClean="0"/>
              <a:t>совместимыми по типу</a:t>
            </a:r>
            <a:r>
              <a:rPr lang="ru-RU" dirty="0" smtClean="0"/>
              <a:t>, если они имеют идентичные заголовки, а именно:</a:t>
            </a:r>
          </a:p>
          <a:p>
            <a:r>
              <a:rPr lang="ru-RU" dirty="0" smtClean="0"/>
              <a:t>Отношения имеют </a:t>
            </a:r>
            <a:r>
              <a:rPr lang="ru-RU" i="1" dirty="0" smtClean="0"/>
              <a:t>одно и то же множество имен атрибутов</a:t>
            </a:r>
            <a:r>
              <a:rPr lang="ru-RU" dirty="0" smtClean="0"/>
              <a:t>, т.е. для любого атрибута в одном отношении найдется атрибут с таким же наименованием в другом отношении </a:t>
            </a:r>
          </a:p>
          <a:p>
            <a:r>
              <a:rPr lang="ru-RU" dirty="0" smtClean="0"/>
              <a:t>Атрибуты с одинаковыми именами </a:t>
            </a:r>
            <a:r>
              <a:rPr lang="ru-RU" i="1" dirty="0" smtClean="0"/>
              <a:t>определены на одних и тех же доменах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Поддерживаемые операции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Теоретико-множественные операции</a:t>
            </a:r>
          </a:p>
          <a:p>
            <a:pPr lvl="1"/>
            <a:r>
              <a:rPr lang="ru-RU" dirty="0" smtClean="0"/>
              <a:t>объединение</a:t>
            </a:r>
          </a:p>
          <a:p>
            <a:pPr lvl="1"/>
            <a:r>
              <a:rPr lang="ru-RU" dirty="0" smtClean="0"/>
              <a:t>пересечение</a:t>
            </a:r>
            <a:endParaRPr lang="en-US" dirty="0" smtClean="0"/>
          </a:p>
          <a:p>
            <a:pPr lvl="1"/>
            <a:r>
              <a:rPr lang="ru-RU" dirty="0" smtClean="0"/>
              <a:t>разность</a:t>
            </a:r>
          </a:p>
          <a:p>
            <a:pPr lvl="1"/>
            <a:r>
              <a:rPr lang="ru-RU" dirty="0" smtClean="0"/>
              <a:t>декартово произведение</a:t>
            </a:r>
          </a:p>
          <a:p>
            <a:pPr lvl="1"/>
            <a:r>
              <a:rPr lang="ru-RU" dirty="0" smtClean="0"/>
              <a:t>деление</a:t>
            </a:r>
          </a:p>
          <a:p>
            <a:r>
              <a:rPr lang="ru-RU" dirty="0" smtClean="0"/>
              <a:t>Специальные реляционные операции</a:t>
            </a:r>
          </a:p>
          <a:p>
            <a:pPr lvl="1"/>
            <a:r>
              <a:rPr lang="ru-RU" dirty="0" smtClean="0"/>
              <a:t>выборка</a:t>
            </a:r>
          </a:p>
          <a:p>
            <a:pPr lvl="1"/>
            <a:r>
              <a:rPr lang="ru-RU" dirty="0" smtClean="0"/>
              <a:t>проекция</a:t>
            </a:r>
          </a:p>
          <a:p>
            <a:pPr lvl="1"/>
            <a:r>
              <a:rPr lang="ru-RU" dirty="0" smtClean="0"/>
              <a:t>соединение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Объединение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1" dirty="0" smtClean="0"/>
              <a:t>Объединением </a:t>
            </a:r>
            <a:r>
              <a:rPr lang="ru-RU" dirty="0" smtClean="0"/>
              <a:t>двух совместимых по типу отношений </a:t>
            </a:r>
            <a:r>
              <a:rPr lang="en-US" dirty="0" smtClean="0"/>
              <a:t>A </a:t>
            </a:r>
            <a:r>
              <a:rPr lang="ru-RU" dirty="0" smtClean="0"/>
              <a:t>и </a:t>
            </a:r>
            <a:r>
              <a:rPr lang="en-US" dirty="0" smtClean="0"/>
              <a:t>B </a:t>
            </a:r>
            <a:r>
              <a:rPr lang="ru-RU" dirty="0" smtClean="0"/>
              <a:t>называется отношение с тем же заголовком, что и у отношений </a:t>
            </a:r>
            <a:r>
              <a:rPr lang="en-US" dirty="0" smtClean="0"/>
              <a:t>A </a:t>
            </a:r>
            <a:r>
              <a:rPr lang="ru-RU" dirty="0" smtClean="0"/>
              <a:t>и</a:t>
            </a:r>
            <a:r>
              <a:rPr lang="en-US" dirty="0" smtClean="0"/>
              <a:t> B</a:t>
            </a:r>
            <a:r>
              <a:rPr lang="ru-RU" dirty="0" smtClean="0"/>
              <a:t>, и телом, состоящим из кортежей, принадлежащих или </a:t>
            </a:r>
            <a:r>
              <a:rPr lang="en-US" dirty="0" smtClean="0"/>
              <a:t>A</a:t>
            </a:r>
            <a:r>
              <a:rPr lang="ru-RU" dirty="0" smtClean="0"/>
              <a:t>, или </a:t>
            </a:r>
            <a:r>
              <a:rPr lang="en-US" dirty="0" smtClean="0"/>
              <a:t>B</a:t>
            </a:r>
            <a:r>
              <a:rPr lang="ru-RU" dirty="0" smtClean="0"/>
              <a:t>, или обоим отношениям</a:t>
            </a:r>
            <a:endParaRPr lang="en-US" dirty="0" smtClean="0"/>
          </a:p>
          <a:p>
            <a:r>
              <a:rPr lang="ru-RU" dirty="0" smtClean="0"/>
              <a:t>Синтаксис</a:t>
            </a:r>
            <a:r>
              <a:rPr lang="en-US" dirty="0" smtClean="0"/>
              <a:t>:</a:t>
            </a:r>
            <a:r>
              <a:rPr lang="ru-RU" dirty="0" smtClean="0"/>
              <a:t> </a:t>
            </a:r>
            <a:r>
              <a:rPr lang="en-US" dirty="0" smtClean="0"/>
              <a:t>A UNION B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объединения</a:t>
            </a:r>
            <a:endParaRPr lang="ru-RU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428596" y="1928802"/>
          <a:ext cx="3857652" cy="1752600"/>
        </p:xfrm>
        <a:graphic>
          <a:graphicData uri="http://schemas.openxmlformats.org/drawingml/2006/table">
            <a:tbl>
              <a:tblPr/>
              <a:tblGrid>
                <a:gridCol w="1354814"/>
                <a:gridCol w="1289157"/>
                <a:gridCol w="1213681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Табельный номер 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Зарплата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1000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Петров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2000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428596" y="4071942"/>
          <a:ext cx="3857653" cy="1862148"/>
        </p:xfrm>
        <a:graphic>
          <a:graphicData uri="http://schemas.openxmlformats.org/drawingml/2006/table">
            <a:tbl>
              <a:tblPr/>
              <a:tblGrid>
                <a:gridCol w="1357322"/>
                <a:gridCol w="1304684"/>
                <a:gridCol w="1195647"/>
              </a:tblGrid>
              <a:tr h="7264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Табельный </a:t>
                      </a:r>
                      <a:r>
                        <a:rPr lang="ru-RU" sz="2000" b="1" i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номер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Зарплата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04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76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Пушников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2500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04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объединения</a:t>
            </a:r>
            <a:endParaRPr lang="ru-RU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428596" y="1928802"/>
          <a:ext cx="3857652" cy="1752600"/>
        </p:xfrm>
        <a:graphic>
          <a:graphicData uri="http://schemas.openxmlformats.org/drawingml/2006/table">
            <a:tbl>
              <a:tblPr/>
              <a:tblGrid>
                <a:gridCol w="1354814"/>
                <a:gridCol w="1289157"/>
                <a:gridCol w="1213681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Табельный номер 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Зарплата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1000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Петров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2000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428596" y="4071942"/>
          <a:ext cx="3857653" cy="1862148"/>
        </p:xfrm>
        <a:graphic>
          <a:graphicData uri="http://schemas.openxmlformats.org/drawingml/2006/table">
            <a:tbl>
              <a:tblPr/>
              <a:tblGrid>
                <a:gridCol w="1357322"/>
                <a:gridCol w="1304684"/>
                <a:gridCol w="1195647"/>
              </a:tblGrid>
              <a:tr h="7264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Табельный </a:t>
                      </a:r>
                      <a:r>
                        <a:rPr lang="ru-RU" sz="2000" b="1" i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номер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Зарплата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04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76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Пушников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2500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04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4786314" y="2500306"/>
          <a:ext cx="3929090" cy="2476500"/>
        </p:xfrm>
        <a:graphic>
          <a:graphicData uri="http://schemas.openxmlformats.org/drawingml/2006/table">
            <a:tbl>
              <a:tblPr/>
              <a:tblGrid>
                <a:gridCol w="1422601"/>
                <a:gridCol w="1354859"/>
                <a:gridCol w="1151630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Табельный номер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Зарплата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1000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Петров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2000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3000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Пушников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2500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Пересечение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1" dirty="0" smtClean="0"/>
              <a:t>Пересечением </a:t>
            </a:r>
            <a:r>
              <a:rPr lang="ru-RU" dirty="0" smtClean="0"/>
              <a:t>двух совместимых по типу отношений</a:t>
            </a:r>
            <a:r>
              <a:rPr lang="en-US" dirty="0" smtClean="0"/>
              <a:t> A</a:t>
            </a:r>
            <a:r>
              <a:rPr lang="ru-RU" dirty="0" smtClean="0"/>
              <a:t> и </a:t>
            </a:r>
            <a:r>
              <a:rPr lang="en-US" dirty="0" smtClean="0"/>
              <a:t>B </a:t>
            </a:r>
            <a:r>
              <a:rPr lang="ru-RU" dirty="0" smtClean="0"/>
              <a:t>называется отношение с тем же заголовком, что и у отношений </a:t>
            </a:r>
            <a:r>
              <a:rPr lang="en-US" dirty="0" smtClean="0"/>
              <a:t>A </a:t>
            </a:r>
            <a:r>
              <a:rPr lang="ru-RU" dirty="0" smtClean="0"/>
              <a:t>и </a:t>
            </a:r>
            <a:r>
              <a:rPr lang="en-US" dirty="0" smtClean="0"/>
              <a:t>B</a:t>
            </a:r>
            <a:r>
              <a:rPr lang="ru-RU" dirty="0" smtClean="0"/>
              <a:t>, и телом, состоящим из кортежей, принадлежащих одновременно обоим отношениям </a:t>
            </a:r>
            <a:r>
              <a:rPr lang="en-US" dirty="0" smtClean="0"/>
              <a:t>A </a:t>
            </a:r>
            <a:r>
              <a:rPr lang="ru-RU" dirty="0" smtClean="0"/>
              <a:t>и </a:t>
            </a:r>
            <a:r>
              <a:rPr lang="en-US" dirty="0" smtClean="0"/>
              <a:t>B</a:t>
            </a:r>
            <a:endParaRPr lang="ru-RU" dirty="0" smtClean="0"/>
          </a:p>
          <a:p>
            <a:r>
              <a:rPr lang="ru-RU" dirty="0" smtClean="0"/>
              <a:t>Синтаксис:</a:t>
            </a:r>
            <a:r>
              <a:rPr lang="en-US" dirty="0" smtClean="0"/>
              <a:t> A INTERSECT B</a:t>
            </a:r>
            <a:r>
              <a:rPr lang="ru-RU" dirty="0" smtClean="0"/>
              <a:t> 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пересечения</a:t>
            </a:r>
            <a:endParaRPr lang="ru-RU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428596" y="1928802"/>
          <a:ext cx="3857652" cy="1752600"/>
        </p:xfrm>
        <a:graphic>
          <a:graphicData uri="http://schemas.openxmlformats.org/drawingml/2006/table">
            <a:tbl>
              <a:tblPr/>
              <a:tblGrid>
                <a:gridCol w="1354814"/>
                <a:gridCol w="1289157"/>
                <a:gridCol w="1213681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Табельный номер 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Зарплата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1000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Петров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2000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428596" y="4071942"/>
          <a:ext cx="3857653" cy="1862148"/>
        </p:xfrm>
        <a:graphic>
          <a:graphicData uri="http://schemas.openxmlformats.org/drawingml/2006/table">
            <a:tbl>
              <a:tblPr/>
              <a:tblGrid>
                <a:gridCol w="1357322"/>
                <a:gridCol w="1304684"/>
                <a:gridCol w="1195647"/>
              </a:tblGrid>
              <a:tr h="7264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Табельный </a:t>
                      </a:r>
                      <a:r>
                        <a:rPr lang="ru-RU" sz="2000" b="1" i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номер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Зарплата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04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76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Пушников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2500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04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пересечения</a:t>
            </a:r>
            <a:endParaRPr lang="ru-RU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428596" y="1928802"/>
          <a:ext cx="3857652" cy="1752600"/>
        </p:xfrm>
        <a:graphic>
          <a:graphicData uri="http://schemas.openxmlformats.org/drawingml/2006/table">
            <a:tbl>
              <a:tblPr/>
              <a:tblGrid>
                <a:gridCol w="1354814"/>
                <a:gridCol w="1289157"/>
                <a:gridCol w="1213681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Табельный номер 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Зарплата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1000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Петров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2000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428596" y="4071942"/>
          <a:ext cx="3857653" cy="1862148"/>
        </p:xfrm>
        <a:graphic>
          <a:graphicData uri="http://schemas.openxmlformats.org/drawingml/2006/table">
            <a:tbl>
              <a:tblPr/>
              <a:tblGrid>
                <a:gridCol w="1357322"/>
                <a:gridCol w="1304684"/>
                <a:gridCol w="1195647"/>
              </a:tblGrid>
              <a:tr h="7264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Табельный </a:t>
                      </a:r>
                      <a:r>
                        <a:rPr lang="ru-RU" sz="2000" b="1" i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номер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Зарплата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04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76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Пушников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2500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04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4786314" y="3000372"/>
          <a:ext cx="3929090" cy="1028700"/>
        </p:xfrm>
        <a:graphic>
          <a:graphicData uri="http://schemas.openxmlformats.org/drawingml/2006/table">
            <a:tbl>
              <a:tblPr/>
              <a:tblGrid>
                <a:gridCol w="1422601"/>
                <a:gridCol w="1354859"/>
                <a:gridCol w="1151630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Табельный номер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Зарплата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Разность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1" dirty="0" smtClean="0"/>
              <a:t>Разностью </a:t>
            </a:r>
            <a:r>
              <a:rPr lang="ru-RU" dirty="0" smtClean="0"/>
              <a:t>двух совместимых по типу отношений </a:t>
            </a:r>
            <a:r>
              <a:rPr lang="en-US" dirty="0" smtClean="0"/>
              <a:t>A </a:t>
            </a:r>
            <a:r>
              <a:rPr lang="ru-RU" dirty="0" smtClean="0"/>
              <a:t>и </a:t>
            </a:r>
            <a:r>
              <a:rPr lang="en-US" dirty="0" smtClean="0"/>
              <a:t>B </a:t>
            </a:r>
            <a:r>
              <a:rPr lang="ru-RU" dirty="0" smtClean="0"/>
              <a:t>называется отношение с тем же заголовком, что и у отношений </a:t>
            </a:r>
            <a:r>
              <a:rPr lang="en-US" dirty="0" smtClean="0"/>
              <a:t>A </a:t>
            </a:r>
            <a:r>
              <a:rPr lang="ru-RU" dirty="0" smtClean="0"/>
              <a:t>и </a:t>
            </a:r>
            <a:r>
              <a:rPr lang="en-US" dirty="0" smtClean="0"/>
              <a:t>B</a:t>
            </a:r>
            <a:r>
              <a:rPr lang="ru-RU" dirty="0" smtClean="0"/>
              <a:t>, и телом, состоящим из кортежей, принадлежащих отношению </a:t>
            </a:r>
            <a:r>
              <a:rPr lang="en-US" dirty="0" smtClean="0"/>
              <a:t>A </a:t>
            </a:r>
            <a:r>
              <a:rPr lang="ru-RU" dirty="0" smtClean="0"/>
              <a:t>и не принадлежащих отношению</a:t>
            </a:r>
            <a:r>
              <a:rPr lang="en-US" dirty="0" smtClean="0"/>
              <a:t> B</a:t>
            </a:r>
          </a:p>
          <a:p>
            <a:r>
              <a:rPr lang="ru-RU" dirty="0" smtClean="0"/>
              <a:t>Синтаксис</a:t>
            </a:r>
            <a:r>
              <a:rPr lang="en-US" dirty="0" smtClean="0"/>
              <a:t>: A MINUS B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разности</a:t>
            </a:r>
            <a:endParaRPr lang="ru-RU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428596" y="1928802"/>
          <a:ext cx="3857652" cy="1752600"/>
        </p:xfrm>
        <a:graphic>
          <a:graphicData uri="http://schemas.openxmlformats.org/drawingml/2006/table">
            <a:tbl>
              <a:tblPr/>
              <a:tblGrid>
                <a:gridCol w="1354814"/>
                <a:gridCol w="1289157"/>
                <a:gridCol w="1213681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Табельный номер 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Зарплата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1000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Петров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2000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428596" y="4071942"/>
          <a:ext cx="3857653" cy="1862148"/>
        </p:xfrm>
        <a:graphic>
          <a:graphicData uri="http://schemas.openxmlformats.org/drawingml/2006/table">
            <a:tbl>
              <a:tblPr/>
              <a:tblGrid>
                <a:gridCol w="1357322"/>
                <a:gridCol w="1304684"/>
                <a:gridCol w="1195647"/>
              </a:tblGrid>
              <a:tr h="7264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Табельный </a:t>
                      </a:r>
                      <a:r>
                        <a:rPr lang="ru-RU" sz="2000" b="1" i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номер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Зарплата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04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76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Пушников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2500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04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разности</a:t>
            </a:r>
            <a:endParaRPr lang="ru-RU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428596" y="1928802"/>
          <a:ext cx="3857652" cy="1752600"/>
        </p:xfrm>
        <a:graphic>
          <a:graphicData uri="http://schemas.openxmlformats.org/drawingml/2006/table">
            <a:tbl>
              <a:tblPr/>
              <a:tblGrid>
                <a:gridCol w="1354814"/>
                <a:gridCol w="1289157"/>
                <a:gridCol w="1213681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Табельный номер 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Зарплата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1000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Петров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2000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428596" y="4071942"/>
          <a:ext cx="3857653" cy="1862148"/>
        </p:xfrm>
        <a:graphic>
          <a:graphicData uri="http://schemas.openxmlformats.org/drawingml/2006/table">
            <a:tbl>
              <a:tblPr/>
              <a:tblGrid>
                <a:gridCol w="1357322"/>
                <a:gridCol w="1304684"/>
                <a:gridCol w="1195647"/>
              </a:tblGrid>
              <a:tr h="7264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Табельный </a:t>
                      </a:r>
                      <a:r>
                        <a:rPr lang="ru-RU" sz="2000" b="1" i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номер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Зарплата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04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76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Пушников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2500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04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4786314" y="3000372"/>
          <a:ext cx="3929090" cy="1390650"/>
        </p:xfrm>
        <a:graphic>
          <a:graphicData uri="http://schemas.openxmlformats.org/drawingml/2006/table">
            <a:tbl>
              <a:tblPr/>
              <a:tblGrid>
                <a:gridCol w="1422601"/>
                <a:gridCol w="1354859"/>
                <a:gridCol w="1151630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Табельный номер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Зарплата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Петров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2000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Декартово произведение (1/2)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9552" y="1484784"/>
            <a:ext cx="8352928" cy="50405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i="1" dirty="0" smtClean="0"/>
              <a:t>Декартовым произведением </a:t>
            </a:r>
            <a:r>
              <a:rPr lang="ru-RU" dirty="0" smtClean="0"/>
              <a:t>двух отношений </a:t>
            </a:r>
            <a:r>
              <a:rPr lang="en-US" dirty="0" smtClean="0"/>
              <a:t>A(A</a:t>
            </a:r>
            <a:r>
              <a:rPr lang="en-US" baseline="-25000" dirty="0" smtClean="0"/>
              <a:t>1</a:t>
            </a:r>
            <a:r>
              <a:rPr lang="en-US" dirty="0" smtClean="0"/>
              <a:t>,…,A</a:t>
            </a:r>
            <a:r>
              <a:rPr lang="en-US" baseline="-25000" dirty="0" smtClean="0"/>
              <a:t>n</a:t>
            </a:r>
            <a:r>
              <a:rPr lang="en-US" dirty="0" smtClean="0"/>
              <a:t>)</a:t>
            </a:r>
            <a:r>
              <a:rPr lang="ru-RU" dirty="0" smtClean="0"/>
              <a:t> и </a:t>
            </a:r>
            <a:r>
              <a:rPr lang="en-US" dirty="0" smtClean="0"/>
              <a:t>B(B</a:t>
            </a:r>
            <a:r>
              <a:rPr lang="en-US" baseline="-25000" dirty="0" smtClean="0"/>
              <a:t>1</a:t>
            </a:r>
            <a:r>
              <a:rPr lang="en-US" dirty="0" smtClean="0"/>
              <a:t>,…,</a:t>
            </a:r>
            <a:r>
              <a:rPr lang="en-US" dirty="0" err="1" smtClean="0"/>
              <a:t>B</a:t>
            </a:r>
            <a:r>
              <a:rPr lang="en-US" baseline="-25000" dirty="0" err="1" smtClean="0"/>
              <a:t>m</a:t>
            </a:r>
            <a:r>
              <a:rPr lang="en-US" dirty="0" smtClean="0"/>
              <a:t>)</a:t>
            </a:r>
            <a:r>
              <a:rPr lang="ru-RU" dirty="0" smtClean="0"/>
              <a:t> называется отношение, заголовок которого является </a:t>
            </a:r>
            <a:r>
              <a:rPr lang="ru-RU" b="1" i="1" dirty="0" smtClean="0"/>
              <a:t>сцеплением заголовков </a:t>
            </a:r>
            <a:r>
              <a:rPr lang="ru-RU" dirty="0" smtClean="0"/>
              <a:t>отношений </a:t>
            </a:r>
            <a:r>
              <a:rPr lang="en-US" dirty="0" smtClean="0"/>
              <a:t>A </a:t>
            </a:r>
            <a:r>
              <a:rPr lang="ru-RU" dirty="0" smtClean="0"/>
              <a:t>и </a:t>
            </a:r>
            <a:r>
              <a:rPr lang="en-US" dirty="0" smtClean="0"/>
              <a:t>B</a:t>
            </a:r>
            <a:r>
              <a:rPr lang="ru-RU" dirty="0" smtClean="0"/>
              <a:t>: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(A</a:t>
            </a:r>
            <a:r>
              <a:rPr lang="en-US" baseline="-25000" dirty="0" smtClean="0"/>
              <a:t>1</a:t>
            </a:r>
            <a:r>
              <a:rPr lang="en-US" dirty="0" smtClean="0"/>
              <a:t>,…,A</a:t>
            </a:r>
            <a:r>
              <a:rPr lang="en-US" baseline="-25000" dirty="0" smtClean="0"/>
              <a:t>n</a:t>
            </a:r>
            <a:r>
              <a:rPr lang="en-US" dirty="0" smtClean="0"/>
              <a:t>,B</a:t>
            </a:r>
            <a:r>
              <a:rPr lang="en-US" baseline="-25000" dirty="0" smtClean="0"/>
              <a:t>1</a:t>
            </a:r>
            <a:r>
              <a:rPr lang="en-US" dirty="0" smtClean="0"/>
              <a:t>,…,</a:t>
            </a:r>
            <a:r>
              <a:rPr lang="en-US" dirty="0" err="1" smtClean="0"/>
              <a:t>B</a:t>
            </a:r>
            <a:r>
              <a:rPr lang="en-US" baseline="-25000" dirty="0" err="1" smtClean="0"/>
              <a:t>m</a:t>
            </a:r>
            <a:r>
              <a:rPr lang="en-US" dirty="0" smtClean="0"/>
              <a:t>),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а тело состоит из кортежей, являющихся </a:t>
            </a:r>
            <a:r>
              <a:rPr lang="ru-RU" b="1" i="1" dirty="0" smtClean="0"/>
              <a:t>сцеплением кортежей </a:t>
            </a:r>
            <a:r>
              <a:rPr lang="ru-RU" dirty="0" smtClean="0"/>
              <a:t>отношений </a:t>
            </a:r>
            <a:r>
              <a:rPr lang="en-US" dirty="0" smtClean="0"/>
              <a:t>A </a:t>
            </a:r>
            <a:r>
              <a:rPr lang="ru-RU" dirty="0" smtClean="0"/>
              <a:t>и </a:t>
            </a:r>
            <a:r>
              <a:rPr lang="en-US" dirty="0" smtClean="0"/>
              <a:t>B</a:t>
            </a:r>
            <a:r>
              <a:rPr lang="ru-RU" dirty="0" smtClean="0"/>
              <a:t>: </a:t>
            </a:r>
          </a:p>
          <a:p>
            <a:pPr marL="0" indent="0" algn="ctr">
              <a:buNone/>
            </a:pPr>
            <a:r>
              <a:rPr lang="en-US" dirty="0" smtClean="0"/>
              <a:t>(a</a:t>
            </a:r>
            <a:r>
              <a:rPr lang="en-US" baseline="-25000" dirty="0" smtClean="0"/>
              <a:t>1</a:t>
            </a:r>
            <a:r>
              <a:rPr lang="en-US" dirty="0" smtClean="0"/>
              <a:t>,…,a</a:t>
            </a:r>
            <a:r>
              <a:rPr lang="en-US" baseline="-25000" dirty="0" smtClean="0"/>
              <a:t>n</a:t>
            </a:r>
            <a:r>
              <a:rPr lang="en-US" dirty="0" smtClean="0"/>
              <a:t>,b</a:t>
            </a:r>
            <a:r>
              <a:rPr lang="en-US" baseline="-25000" dirty="0" smtClean="0"/>
              <a:t>1</a:t>
            </a:r>
            <a:r>
              <a:rPr lang="en-US" dirty="0" smtClean="0"/>
              <a:t>,…,</a:t>
            </a:r>
            <a:r>
              <a:rPr lang="en-US" dirty="0" err="1" smtClean="0"/>
              <a:t>b</a:t>
            </a:r>
            <a:r>
              <a:rPr lang="en-US" baseline="-25000" dirty="0" err="1" smtClean="0"/>
              <a:t>m</a:t>
            </a:r>
            <a:r>
              <a:rPr lang="en-US" dirty="0" smtClean="0"/>
              <a:t>),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таких, что </a:t>
            </a:r>
            <a:r>
              <a:rPr lang="en-US" dirty="0" smtClean="0"/>
              <a:t>(a</a:t>
            </a:r>
            <a:r>
              <a:rPr lang="en-US" baseline="-25000" dirty="0" smtClean="0"/>
              <a:t>1</a:t>
            </a:r>
            <a:r>
              <a:rPr lang="en-US" dirty="0" smtClean="0"/>
              <a:t>,…,a</a:t>
            </a:r>
            <a:r>
              <a:rPr lang="en-US" baseline="-25000" dirty="0" smtClean="0"/>
              <a:t>n</a:t>
            </a:r>
            <a:r>
              <a:rPr lang="en-US" dirty="0" smtClean="0"/>
              <a:t>) </a:t>
            </a:r>
            <a:r>
              <a:rPr lang="ru-RU" dirty="0" err="1" smtClean="0"/>
              <a:t>є</a:t>
            </a:r>
            <a:r>
              <a:rPr lang="en-US" dirty="0" smtClean="0"/>
              <a:t> A, (b</a:t>
            </a:r>
            <a:r>
              <a:rPr lang="en-US" baseline="-25000" dirty="0" smtClean="0"/>
              <a:t>1</a:t>
            </a:r>
            <a:r>
              <a:rPr lang="en-US" dirty="0" smtClean="0"/>
              <a:t>,…,</a:t>
            </a:r>
            <a:r>
              <a:rPr lang="en-US" dirty="0" err="1" smtClean="0"/>
              <a:t>b</a:t>
            </a:r>
            <a:r>
              <a:rPr lang="en-US" baseline="-25000" dirty="0" err="1" smtClean="0"/>
              <a:t>m</a:t>
            </a:r>
            <a:r>
              <a:rPr lang="en-US" dirty="0" smtClean="0"/>
              <a:t>) </a:t>
            </a:r>
            <a:r>
              <a:rPr lang="ru-RU" dirty="0" err="1" smtClean="0"/>
              <a:t>є</a:t>
            </a:r>
            <a:r>
              <a:rPr lang="ru-RU" dirty="0" smtClean="0"/>
              <a:t> </a:t>
            </a:r>
            <a:r>
              <a:rPr lang="en-US" dirty="0" smtClean="0"/>
              <a:t>B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Декартово произведение (2/2)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 smtClean="0"/>
              <a:t>Синтаксис: </a:t>
            </a:r>
            <a:r>
              <a:rPr lang="en-US" dirty="0" smtClean="0"/>
              <a:t>A TIMES B</a:t>
            </a:r>
            <a:endParaRPr lang="ru-RU" dirty="0" smtClean="0"/>
          </a:p>
          <a:p>
            <a:r>
              <a:rPr lang="ru-RU" dirty="0" smtClean="0"/>
              <a:t>Мощность произведения равна произведению мощностей отношений </a:t>
            </a:r>
            <a:r>
              <a:rPr lang="en-US" dirty="0" smtClean="0"/>
              <a:t>A </a:t>
            </a:r>
            <a:r>
              <a:rPr lang="ru-RU" dirty="0" smtClean="0"/>
              <a:t>и </a:t>
            </a:r>
            <a:r>
              <a:rPr lang="en-US" dirty="0" smtClean="0"/>
              <a:t>B</a:t>
            </a:r>
            <a:endParaRPr lang="ru-RU" dirty="0" smtClean="0"/>
          </a:p>
          <a:p>
            <a:r>
              <a:rPr lang="ru-RU" dirty="0" smtClean="0"/>
              <a:t>Если в отношения и имеются атрибуты с одинаковыми наименованиями, то перед выполнением операции такие атрибуты необходимо переименовать</a:t>
            </a:r>
          </a:p>
          <a:p>
            <a:r>
              <a:rPr lang="ru-RU" dirty="0" smtClean="0"/>
              <a:t>Перемножать можно любые два отношения, совместимость по типу при этом не требуется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декартова произведения</a:t>
            </a:r>
            <a:endParaRPr lang="ru-RU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785786" y="1714488"/>
          <a:ext cx="2500330" cy="1752600"/>
        </p:xfrm>
        <a:graphic>
          <a:graphicData uri="http://schemas.openxmlformats.org/drawingml/2006/table">
            <a:tbl>
              <a:tblPr/>
              <a:tblGrid>
                <a:gridCol w="1281210"/>
                <a:gridCol w="1219120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i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Номер студента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Петров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1357290" y="3929066"/>
          <a:ext cx="1500198" cy="1188000"/>
        </p:xfrm>
        <a:graphic>
          <a:graphicData uri="http://schemas.openxmlformats.org/drawingml/2006/table">
            <a:tbl>
              <a:tblPr/>
              <a:tblGrid>
                <a:gridCol w="1500198"/>
              </a:tblGrid>
              <a:tr h="396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Предмет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Физика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Математика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декартова произведения</a:t>
            </a:r>
            <a:endParaRPr lang="ru-RU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785786" y="1714488"/>
          <a:ext cx="2500330" cy="1752600"/>
        </p:xfrm>
        <a:graphic>
          <a:graphicData uri="http://schemas.openxmlformats.org/drawingml/2006/table">
            <a:tbl>
              <a:tblPr/>
              <a:tblGrid>
                <a:gridCol w="1281210"/>
                <a:gridCol w="1219120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i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Номер студента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Петров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1357290" y="3929066"/>
          <a:ext cx="1500198" cy="1188000"/>
        </p:xfrm>
        <a:graphic>
          <a:graphicData uri="http://schemas.openxmlformats.org/drawingml/2006/table">
            <a:tbl>
              <a:tblPr/>
              <a:tblGrid>
                <a:gridCol w="1500198"/>
              </a:tblGrid>
              <a:tr h="396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Предмет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Физика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Математика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4214810" y="2071678"/>
          <a:ext cx="4143403" cy="2838450"/>
        </p:xfrm>
        <a:graphic>
          <a:graphicData uri="http://schemas.openxmlformats.org/drawingml/2006/table">
            <a:tbl>
              <a:tblPr/>
              <a:tblGrid>
                <a:gridCol w="1285884"/>
                <a:gridCol w="1428760"/>
                <a:gridCol w="1428759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Номер студента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Предмет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Физика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Петров</a:t>
                      </a:r>
                      <a:endParaRPr lang="ru-RU" sz="20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Физика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Физика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Математика</a:t>
                      </a:r>
                      <a:endParaRPr lang="ru-RU" sz="20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Петров</a:t>
                      </a:r>
                      <a:endParaRPr lang="ru-RU" sz="20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Математика</a:t>
                      </a:r>
                      <a:endParaRPr lang="ru-RU" sz="20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Математика</a:t>
                      </a:r>
                      <a:endParaRPr lang="ru-RU" sz="20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Деление</a:t>
            </a:r>
            <a:r>
              <a:rPr lang="en-US" dirty="0" smtClean="0"/>
              <a:t> (1/2)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245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Пусть даны отношения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A(X</a:t>
            </a:r>
            <a:r>
              <a:rPr lang="en-US" baseline="-25000" dirty="0" smtClean="0"/>
              <a:t>1</a:t>
            </a:r>
            <a:r>
              <a:rPr lang="en-US" dirty="0" smtClean="0"/>
              <a:t>,…,</a:t>
            </a:r>
            <a:r>
              <a:rPr lang="en-US" dirty="0" err="1" smtClean="0"/>
              <a:t>X</a:t>
            </a:r>
            <a:r>
              <a:rPr lang="en-US" baseline="-25000" dirty="0" err="1" smtClean="0"/>
              <a:t>n</a:t>
            </a:r>
            <a:r>
              <a:rPr lang="ru-RU" dirty="0" smtClean="0"/>
              <a:t>,</a:t>
            </a:r>
            <a:r>
              <a:rPr lang="en-US" dirty="0" smtClean="0"/>
              <a:t>Y</a:t>
            </a:r>
            <a:r>
              <a:rPr lang="en-US" baseline="-25000" dirty="0" smtClean="0"/>
              <a:t>1</a:t>
            </a:r>
            <a:r>
              <a:rPr lang="en-US" dirty="0" smtClean="0"/>
              <a:t>,…,</a:t>
            </a:r>
            <a:r>
              <a:rPr lang="en-US" dirty="0" err="1" smtClean="0"/>
              <a:t>Y</a:t>
            </a:r>
            <a:r>
              <a:rPr lang="en-US" baseline="-25000" dirty="0" err="1" smtClean="0"/>
              <a:t>m</a:t>
            </a:r>
            <a:r>
              <a:rPr lang="ru-RU" dirty="0" smtClean="0"/>
              <a:t>) и </a:t>
            </a:r>
            <a:r>
              <a:rPr lang="en-US" dirty="0" smtClean="0"/>
              <a:t>B(Y</a:t>
            </a:r>
            <a:r>
              <a:rPr lang="en-US" baseline="-25000" dirty="0" smtClean="0"/>
              <a:t>1</a:t>
            </a:r>
            <a:r>
              <a:rPr lang="en-US" dirty="0" smtClean="0"/>
              <a:t>,…,</a:t>
            </a:r>
            <a:r>
              <a:rPr lang="en-US" dirty="0" err="1" smtClean="0"/>
              <a:t>Y</a:t>
            </a:r>
            <a:r>
              <a:rPr lang="en-US" baseline="-25000" dirty="0" err="1" smtClean="0"/>
              <a:t>m</a:t>
            </a:r>
            <a:r>
              <a:rPr lang="en-US" dirty="0" smtClean="0"/>
              <a:t>)</a:t>
            </a:r>
            <a:r>
              <a:rPr lang="ru-RU" dirty="0" smtClean="0"/>
              <a:t>,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имеющие одинаковые атрибуты</a:t>
            </a:r>
            <a:r>
              <a:rPr lang="en-US" dirty="0" smtClean="0"/>
              <a:t> Y</a:t>
            </a:r>
            <a:r>
              <a:rPr lang="en-US" baseline="-25000" dirty="0" smtClean="0"/>
              <a:t>1</a:t>
            </a:r>
            <a:r>
              <a:rPr lang="en-US" dirty="0" smtClean="0"/>
              <a:t>,…,</a:t>
            </a:r>
            <a:r>
              <a:rPr lang="en-US" dirty="0" err="1" smtClean="0"/>
              <a:t>Y</a:t>
            </a:r>
            <a:r>
              <a:rPr lang="en-US" baseline="-25000" dirty="0" err="1" smtClean="0"/>
              <a:t>m</a:t>
            </a:r>
            <a:r>
              <a:rPr lang="ru-RU" dirty="0" smtClean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ru-RU" b="1" i="1" dirty="0" smtClean="0"/>
              <a:t>Делением отношения</a:t>
            </a:r>
            <a:r>
              <a:rPr lang="ru-RU" dirty="0" smtClean="0"/>
              <a:t> </a:t>
            </a:r>
            <a:r>
              <a:rPr lang="en-US" dirty="0" smtClean="0"/>
              <a:t>A </a:t>
            </a:r>
            <a:r>
              <a:rPr lang="ru-RU" dirty="0" smtClean="0"/>
              <a:t>на </a:t>
            </a:r>
            <a:r>
              <a:rPr lang="en-US" dirty="0" smtClean="0"/>
              <a:t>B </a:t>
            </a:r>
            <a:r>
              <a:rPr lang="ru-RU" dirty="0" smtClean="0"/>
              <a:t>называется отношение с заголовком </a:t>
            </a:r>
            <a:r>
              <a:rPr lang="en-US" dirty="0" smtClean="0"/>
              <a:t>(X</a:t>
            </a:r>
            <a:r>
              <a:rPr lang="en-US" baseline="-25000" dirty="0" smtClean="0"/>
              <a:t>1</a:t>
            </a:r>
            <a:r>
              <a:rPr lang="en-US" dirty="0" smtClean="0"/>
              <a:t>,…,</a:t>
            </a:r>
            <a:r>
              <a:rPr lang="en-US" dirty="0" err="1" smtClean="0"/>
              <a:t>X</a:t>
            </a:r>
            <a:r>
              <a:rPr lang="en-US" baseline="-25000" dirty="0" err="1" smtClean="0"/>
              <a:t>n</a:t>
            </a:r>
            <a:r>
              <a:rPr lang="en-US" dirty="0" smtClean="0"/>
              <a:t>)</a:t>
            </a:r>
            <a:r>
              <a:rPr lang="ru-RU" dirty="0" smtClean="0"/>
              <a:t> и телом, содержащим множество кортежей </a:t>
            </a:r>
            <a:r>
              <a:rPr lang="en-US" dirty="0" smtClean="0"/>
              <a:t>(x</a:t>
            </a:r>
            <a:r>
              <a:rPr lang="en-US" baseline="-25000" dirty="0" smtClean="0"/>
              <a:t>1</a:t>
            </a:r>
            <a:r>
              <a:rPr lang="en-US" dirty="0" smtClean="0"/>
              <a:t>,…,</a:t>
            </a:r>
            <a:r>
              <a:rPr lang="en-US" dirty="0" err="1" smtClean="0"/>
              <a:t>x</a:t>
            </a:r>
            <a:r>
              <a:rPr lang="en-US" baseline="-25000" dirty="0" err="1" smtClean="0"/>
              <a:t>n</a:t>
            </a:r>
            <a:r>
              <a:rPr lang="en-US" dirty="0" smtClean="0"/>
              <a:t>)</a:t>
            </a:r>
            <a:r>
              <a:rPr lang="ru-RU" dirty="0" smtClean="0"/>
              <a:t>, таких, что для </a:t>
            </a:r>
            <a:r>
              <a:rPr lang="ru-RU" i="1" dirty="0" smtClean="0"/>
              <a:t>всех </a:t>
            </a:r>
            <a:r>
              <a:rPr lang="ru-RU" dirty="0" smtClean="0"/>
              <a:t>кортежей </a:t>
            </a:r>
            <a:r>
              <a:rPr lang="en-US" dirty="0" smtClean="0"/>
              <a:t>(y</a:t>
            </a:r>
            <a:r>
              <a:rPr lang="en-US" baseline="-25000" dirty="0" smtClean="0"/>
              <a:t>1</a:t>
            </a:r>
            <a:r>
              <a:rPr lang="en-US" dirty="0" smtClean="0"/>
              <a:t>,…,</a:t>
            </a:r>
            <a:r>
              <a:rPr lang="en-US" dirty="0" err="1" smtClean="0"/>
              <a:t>y</a:t>
            </a:r>
            <a:r>
              <a:rPr lang="en-US" baseline="-25000" dirty="0" err="1" smtClean="0"/>
              <a:t>m</a:t>
            </a:r>
            <a:r>
              <a:rPr lang="en-US" dirty="0" smtClean="0"/>
              <a:t>) </a:t>
            </a:r>
            <a:r>
              <a:rPr lang="ru-RU" dirty="0" err="1" smtClean="0"/>
              <a:t>є</a:t>
            </a:r>
            <a:r>
              <a:rPr lang="en-US" dirty="0" smtClean="0"/>
              <a:t> B </a:t>
            </a:r>
            <a:r>
              <a:rPr lang="ru-RU" dirty="0" smtClean="0"/>
              <a:t>в отношении</a:t>
            </a:r>
            <a:r>
              <a:rPr lang="en-US" dirty="0" smtClean="0"/>
              <a:t> A</a:t>
            </a:r>
            <a:r>
              <a:rPr lang="ru-RU" dirty="0" smtClean="0"/>
              <a:t> найдется кортеж </a:t>
            </a:r>
            <a:r>
              <a:rPr lang="en-US" dirty="0" smtClean="0"/>
              <a:t>(x</a:t>
            </a:r>
            <a:r>
              <a:rPr lang="en-US" baseline="-25000" dirty="0" smtClean="0"/>
              <a:t>1</a:t>
            </a:r>
            <a:r>
              <a:rPr lang="en-US" dirty="0" smtClean="0"/>
              <a:t>,…,</a:t>
            </a:r>
            <a:r>
              <a:rPr lang="en-US" dirty="0" err="1" smtClean="0"/>
              <a:t>x</a:t>
            </a:r>
            <a:r>
              <a:rPr lang="en-US" baseline="-25000" dirty="0" err="1" smtClean="0"/>
              <a:t>n</a:t>
            </a:r>
            <a:r>
              <a:rPr lang="ru-RU" dirty="0" smtClean="0"/>
              <a:t>,</a:t>
            </a:r>
            <a:r>
              <a:rPr lang="en-US" dirty="0" smtClean="0"/>
              <a:t>y</a:t>
            </a:r>
            <a:r>
              <a:rPr lang="en-US" baseline="-25000" dirty="0" smtClean="0"/>
              <a:t>1</a:t>
            </a:r>
            <a:r>
              <a:rPr lang="en-US" dirty="0" smtClean="0"/>
              <a:t>,…,</a:t>
            </a:r>
            <a:r>
              <a:rPr lang="en-US" dirty="0" err="1" smtClean="0"/>
              <a:t>y</a:t>
            </a:r>
            <a:r>
              <a:rPr lang="en-US" baseline="-25000" dirty="0" err="1" smtClean="0"/>
              <a:t>m</a:t>
            </a:r>
            <a:r>
              <a:rPr lang="ru-RU" dirty="0" smtClean="0"/>
              <a:t>)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Деление</a:t>
            </a:r>
            <a:r>
              <a:rPr lang="en-US" dirty="0" smtClean="0"/>
              <a:t> (2/2)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Синтаксис: </a:t>
            </a:r>
            <a:r>
              <a:rPr lang="en-US" dirty="0" smtClean="0"/>
              <a:t>A DEVIDEBY B</a:t>
            </a:r>
            <a:endParaRPr lang="ru-RU" dirty="0" smtClean="0"/>
          </a:p>
          <a:p>
            <a:r>
              <a:rPr lang="ru-RU" dirty="0" smtClean="0"/>
              <a:t>Отношение </a:t>
            </a:r>
            <a:r>
              <a:rPr lang="en-US" dirty="0" smtClean="0"/>
              <a:t>A </a:t>
            </a:r>
            <a:r>
              <a:rPr lang="ru-RU" dirty="0" smtClean="0"/>
              <a:t>выступает в роли </a:t>
            </a:r>
            <a:r>
              <a:rPr lang="ru-RU" b="1" i="1" dirty="0" smtClean="0"/>
              <a:t>делимого</a:t>
            </a:r>
            <a:r>
              <a:rPr lang="ru-RU" dirty="0" smtClean="0"/>
              <a:t>, отношение</a:t>
            </a:r>
            <a:r>
              <a:rPr lang="en-US" dirty="0" smtClean="0"/>
              <a:t> B</a:t>
            </a:r>
            <a:r>
              <a:rPr lang="ru-RU" dirty="0" smtClean="0"/>
              <a:t> выступает в роли </a:t>
            </a:r>
            <a:r>
              <a:rPr lang="ru-RU" b="1" i="1" dirty="0" smtClean="0"/>
              <a:t>делителя</a:t>
            </a:r>
            <a:endParaRPr lang="en-US" dirty="0" smtClean="0"/>
          </a:p>
          <a:p>
            <a:r>
              <a:rPr lang="ru-RU" dirty="0" smtClean="0"/>
              <a:t>Деление отношений аналогично делению чисел с остатком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деления</a:t>
            </a:r>
            <a:endParaRPr lang="ru-RU" dirty="0"/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1857356" y="4643446"/>
          <a:ext cx="1500198" cy="1188000"/>
        </p:xfrm>
        <a:graphic>
          <a:graphicData uri="http://schemas.openxmlformats.org/drawingml/2006/table">
            <a:tbl>
              <a:tblPr/>
              <a:tblGrid>
                <a:gridCol w="1500198"/>
              </a:tblGrid>
              <a:tr h="396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Предмет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Физика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Математика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571472" y="1785926"/>
          <a:ext cx="4143403" cy="2476500"/>
        </p:xfrm>
        <a:graphic>
          <a:graphicData uri="http://schemas.openxmlformats.org/drawingml/2006/table">
            <a:tbl>
              <a:tblPr/>
              <a:tblGrid>
                <a:gridCol w="1285884"/>
                <a:gridCol w="1428760"/>
                <a:gridCol w="1428759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Номер студента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Предмет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Физика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Петров</a:t>
                      </a:r>
                      <a:endParaRPr lang="ru-RU" sz="20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Физика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Физика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Математика</a:t>
                      </a:r>
                      <a:endParaRPr lang="ru-RU" sz="20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Математика</a:t>
                      </a:r>
                      <a:endParaRPr lang="ru-RU" sz="20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деления</a:t>
            </a:r>
            <a:endParaRPr lang="ru-RU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5715008" y="3214686"/>
          <a:ext cx="2500330" cy="1390650"/>
        </p:xfrm>
        <a:graphic>
          <a:graphicData uri="http://schemas.openxmlformats.org/drawingml/2006/table">
            <a:tbl>
              <a:tblPr/>
              <a:tblGrid>
                <a:gridCol w="1281210"/>
                <a:gridCol w="1219120"/>
              </a:tblGrid>
              <a:tr h="9524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i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Номер студента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1857356" y="4643446"/>
          <a:ext cx="1500198" cy="1188000"/>
        </p:xfrm>
        <a:graphic>
          <a:graphicData uri="http://schemas.openxmlformats.org/drawingml/2006/table">
            <a:tbl>
              <a:tblPr/>
              <a:tblGrid>
                <a:gridCol w="1500198"/>
              </a:tblGrid>
              <a:tr h="396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Предмет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Физика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Математика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571472" y="1785926"/>
          <a:ext cx="4143403" cy="2476500"/>
        </p:xfrm>
        <a:graphic>
          <a:graphicData uri="http://schemas.openxmlformats.org/drawingml/2006/table">
            <a:tbl>
              <a:tblPr/>
              <a:tblGrid>
                <a:gridCol w="1285884"/>
                <a:gridCol w="1428760"/>
                <a:gridCol w="1428759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Номер студента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Предмет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Физика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Петров</a:t>
                      </a:r>
                      <a:endParaRPr lang="ru-RU" sz="20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Физика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Физика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Математика</a:t>
                      </a:r>
                      <a:endParaRPr lang="ru-RU" sz="20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Математика</a:t>
                      </a:r>
                      <a:endParaRPr lang="ru-RU" sz="20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Выборка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i="1" dirty="0" smtClean="0"/>
              <a:t>Выборкой (ограничением, селекцией) </a:t>
            </a:r>
            <a:r>
              <a:rPr lang="ru-RU" dirty="0" smtClean="0"/>
              <a:t>на отношении </a:t>
            </a:r>
            <a:r>
              <a:rPr lang="en-US" dirty="0" smtClean="0"/>
              <a:t>A </a:t>
            </a:r>
            <a:r>
              <a:rPr lang="ru-RU" dirty="0" smtClean="0"/>
              <a:t>с условием </a:t>
            </a:r>
            <a:r>
              <a:rPr lang="en-US" i="1" dirty="0" smtClean="0"/>
              <a:t>c</a:t>
            </a:r>
            <a:r>
              <a:rPr lang="en-US" dirty="0" smtClean="0"/>
              <a:t> </a:t>
            </a:r>
            <a:r>
              <a:rPr lang="ru-RU" dirty="0" smtClean="0"/>
              <a:t>называется отношение с тем же заголовком, что и у отношения </a:t>
            </a:r>
            <a:r>
              <a:rPr lang="en-US" dirty="0" smtClean="0"/>
              <a:t>A</a:t>
            </a:r>
            <a:r>
              <a:rPr lang="ru-RU" dirty="0" smtClean="0"/>
              <a:t>, и телом, состоящим из кортежей, значения атрибутов которых при подстановке в условие </a:t>
            </a:r>
            <a:r>
              <a:rPr lang="en-US" i="1" dirty="0" smtClean="0"/>
              <a:t>c</a:t>
            </a:r>
            <a:r>
              <a:rPr lang="en-US" dirty="0" smtClean="0"/>
              <a:t> </a:t>
            </a:r>
            <a:r>
              <a:rPr lang="ru-RU" dirty="0" smtClean="0"/>
              <a:t>дают значение ИСТИНА</a:t>
            </a:r>
            <a:endParaRPr lang="en-US" dirty="0" smtClean="0"/>
          </a:p>
          <a:p>
            <a:r>
              <a:rPr lang="en-US" i="1" dirty="0" smtClean="0"/>
              <a:t>c</a:t>
            </a:r>
            <a:r>
              <a:rPr lang="ru-RU" dirty="0" smtClean="0"/>
              <a:t> представляет собой логическое выражение, в которое могут входить атрибуты отношения</a:t>
            </a:r>
            <a:r>
              <a:rPr lang="en-US" dirty="0" smtClean="0"/>
              <a:t> A</a:t>
            </a:r>
            <a:r>
              <a:rPr lang="ru-RU" dirty="0" smtClean="0"/>
              <a:t> и (или) скалярные выражения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 smtClean="0"/>
              <a:t>Θ</a:t>
            </a:r>
            <a:r>
              <a:rPr lang="ru-RU" dirty="0" smtClean="0"/>
              <a:t>-выборка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В простейшем случае условие </a:t>
            </a:r>
            <a:r>
              <a:rPr lang="en-US" i="1" dirty="0" smtClean="0"/>
              <a:t>c</a:t>
            </a:r>
            <a:r>
              <a:rPr lang="en-US" dirty="0" smtClean="0"/>
              <a:t> </a:t>
            </a:r>
            <a:r>
              <a:rPr lang="ru-RU" dirty="0" smtClean="0"/>
              <a:t>имеет вид</a:t>
            </a:r>
            <a:endParaRPr lang="en-US" dirty="0" smtClean="0"/>
          </a:p>
          <a:p>
            <a:pPr algn="ctr">
              <a:buNone/>
            </a:pPr>
            <a:r>
              <a:rPr lang="en-US" dirty="0" smtClean="0"/>
              <a:t>X </a:t>
            </a:r>
            <a:r>
              <a:rPr lang="el-GR" dirty="0" smtClean="0"/>
              <a:t>Θ</a:t>
            </a:r>
            <a:r>
              <a:rPr lang="en-US" dirty="0" smtClean="0"/>
              <a:t> Y</a:t>
            </a:r>
            <a:r>
              <a:rPr lang="ru-RU" dirty="0" smtClean="0"/>
              <a:t>,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ru-RU" dirty="0" smtClean="0"/>
              <a:t>где </a:t>
            </a:r>
            <a:r>
              <a:rPr lang="el-GR" dirty="0" smtClean="0"/>
              <a:t>Θ </a:t>
            </a:r>
            <a:r>
              <a:rPr lang="ru-RU" dirty="0" smtClean="0"/>
              <a:t>- один из операторов сравнения (</a:t>
            </a:r>
            <a:r>
              <a:rPr lang="en-US" dirty="0" smtClean="0"/>
              <a:t>=,≠,&lt;,&gt;</a:t>
            </a:r>
            <a:r>
              <a:rPr lang="ru-RU" dirty="0" smtClean="0"/>
              <a:t> и т.д.),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X</a:t>
            </a:r>
            <a:r>
              <a:rPr lang="ru-RU" dirty="0" smtClean="0"/>
              <a:t> и</a:t>
            </a:r>
            <a:r>
              <a:rPr lang="en-US" dirty="0" smtClean="0"/>
              <a:t> Y</a:t>
            </a:r>
            <a:r>
              <a:rPr lang="ru-RU" dirty="0" smtClean="0"/>
              <a:t> - атрибуты отношения </a:t>
            </a:r>
            <a:r>
              <a:rPr lang="en-US" dirty="0" smtClean="0"/>
              <a:t>A </a:t>
            </a:r>
            <a:r>
              <a:rPr lang="ru-RU" dirty="0" smtClean="0"/>
              <a:t>или скалярные значения</a:t>
            </a:r>
            <a:endParaRPr lang="en-US" dirty="0" smtClean="0"/>
          </a:p>
          <a:p>
            <a:r>
              <a:rPr lang="ru-RU" dirty="0" smtClean="0"/>
              <a:t>Такие выборки называются </a:t>
            </a:r>
            <a:r>
              <a:rPr lang="el-GR" b="1" i="1" dirty="0" smtClean="0"/>
              <a:t>Θ</a:t>
            </a:r>
            <a:r>
              <a:rPr lang="ru-RU" b="1" i="1" dirty="0" smtClean="0"/>
              <a:t>-выборки </a:t>
            </a:r>
            <a:r>
              <a:rPr lang="ru-RU" dirty="0" smtClean="0"/>
              <a:t>или </a:t>
            </a:r>
            <a:r>
              <a:rPr lang="el-GR" b="1" i="1" dirty="0" smtClean="0"/>
              <a:t>Θ</a:t>
            </a:r>
            <a:r>
              <a:rPr lang="ru-RU" b="1" i="1" dirty="0" smtClean="0"/>
              <a:t>-ограничения</a:t>
            </a:r>
            <a:r>
              <a:rPr lang="ru-RU" dirty="0" smtClean="0"/>
              <a:t>, </a:t>
            </a:r>
            <a:r>
              <a:rPr lang="el-GR" b="1" i="1" dirty="0" smtClean="0"/>
              <a:t>Θ</a:t>
            </a:r>
            <a:r>
              <a:rPr lang="ru-RU" b="1" i="1" dirty="0" smtClean="0"/>
              <a:t>-селекции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Замечания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Синтаксис:</a:t>
            </a:r>
          </a:p>
          <a:p>
            <a:pPr lvl="1"/>
            <a:r>
              <a:rPr lang="en-US" dirty="0" smtClean="0"/>
              <a:t>A WHERE </a:t>
            </a:r>
            <a:r>
              <a:rPr lang="en-US" i="1" dirty="0" smtClean="0"/>
              <a:t>c</a:t>
            </a:r>
          </a:p>
          <a:p>
            <a:pPr lvl="1"/>
            <a:r>
              <a:rPr lang="en-US" dirty="0" smtClean="0"/>
              <a:t>A WHERE X </a:t>
            </a:r>
            <a:r>
              <a:rPr lang="el-GR" dirty="0" smtClean="0"/>
              <a:t>Θ</a:t>
            </a:r>
            <a:r>
              <a:rPr lang="en-US" dirty="0" smtClean="0"/>
              <a:t> Y</a:t>
            </a:r>
            <a:endParaRPr lang="ru-RU" dirty="0" smtClean="0"/>
          </a:p>
          <a:p>
            <a:r>
              <a:rPr lang="ru-RU" dirty="0" smtClean="0"/>
              <a:t>Смысл операции выборки - выбрать кортежи отношения, удовлетворяющие некоторому условию. Таким образом, операция выборки дает "</a:t>
            </a:r>
            <a:r>
              <a:rPr lang="ru-RU" i="1" dirty="0" smtClean="0"/>
              <a:t>горизонтальный срез</a:t>
            </a:r>
            <a:r>
              <a:rPr lang="ru-RU" dirty="0" smtClean="0"/>
              <a:t>" отношения по </a:t>
            </a:r>
            <a:r>
              <a:rPr lang="ru-RU" smtClean="0"/>
              <a:t>некоторому условию</a:t>
            </a:r>
            <a:endParaRPr lang="ru-RU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выборки</a:t>
            </a:r>
            <a:endParaRPr lang="ru-RU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428596" y="1928802"/>
          <a:ext cx="3857652" cy="1752600"/>
        </p:xfrm>
        <a:graphic>
          <a:graphicData uri="http://schemas.openxmlformats.org/drawingml/2006/table">
            <a:tbl>
              <a:tblPr/>
              <a:tblGrid>
                <a:gridCol w="1354814"/>
                <a:gridCol w="1289157"/>
                <a:gridCol w="1213681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Табельный номер 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Зарплата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1000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Петров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2000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выборки</a:t>
            </a:r>
            <a:endParaRPr lang="ru-RU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428596" y="1928802"/>
          <a:ext cx="3857652" cy="1752600"/>
        </p:xfrm>
        <a:graphic>
          <a:graphicData uri="http://schemas.openxmlformats.org/drawingml/2006/table">
            <a:tbl>
              <a:tblPr/>
              <a:tblGrid>
                <a:gridCol w="1354814"/>
                <a:gridCol w="1289157"/>
                <a:gridCol w="1213681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Табельный номер 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Зарплата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1000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Петров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2000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84994" name="Picture 2" descr="C:\Мои документы\Учебная работа\Дисциплины\БД\old\Материалы\Реляционная модель\dblearn04_files\image162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57818" y="2285992"/>
            <a:ext cx="2558161" cy="28575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выборки</a:t>
            </a:r>
            <a:endParaRPr lang="ru-RU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428596" y="1928802"/>
          <a:ext cx="3857652" cy="1752600"/>
        </p:xfrm>
        <a:graphic>
          <a:graphicData uri="http://schemas.openxmlformats.org/drawingml/2006/table">
            <a:tbl>
              <a:tblPr/>
              <a:tblGrid>
                <a:gridCol w="1354814"/>
                <a:gridCol w="1289157"/>
                <a:gridCol w="1213681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Табельный номер 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Зарплата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1000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Петров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2000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4857752" y="3000372"/>
          <a:ext cx="3786214" cy="1401247"/>
        </p:xfrm>
        <a:graphic>
          <a:graphicData uri="http://schemas.openxmlformats.org/drawingml/2006/table">
            <a:tbl>
              <a:tblPr/>
              <a:tblGrid>
                <a:gridCol w="1357321"/>
                <a:gridCol w="1255388"/>
                <a:gridCol w="1173505"/>
              </a:tblGrid>
              <a:tr h="65729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Табельный </a:t>
                      </a:r>
                      <a:r>
                        <a:rPr lang="ru-RU" sz="2000" b="1" i="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номер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Зарплата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4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i="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5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 i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Петров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2000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84994" name="Picture 2" descr="C:\Мои документы\Учебная работа\Дисциплины\БД\old\Материалы\Реляционная модель\dblearn04_files\image162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57818" y="2285992"/>
            <a:ext cx="2558161" cy="28575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Проекция</a:t>
            </a:r>
            <a:r>
              <a:rPr lang="en-US" dirty="0" smtClean="0"/>
              <a:t> (1/2)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i="1" dirty="0" smtClean="0"/>
              <a:t>	</a:t>
            </a:r>
            <a:r>
              <a:rPr lang="ru-RU" b="1" i="1" dirty="0" smtClean="0"/>
              <a:t>Проекцией </a:t>
            </a:r>
            <a:r>
              <a:rPr lang="ru-RU" dirty="0" smtClean="0"/>
              <a:t>отношения </a:t>
            </a:r>
            <a:r>
              <a:rPr lang="en-US" dirty="0" smtClean="0"/>
              <a:t>A </a:t>
            </a:r>
            <a:r>
              <a:rPr lang="ru-RU" dirty="0" smtClean="0"/>
              <a:t>по атрибутам </a:t>
            </a:r>
            <a:r>
              <a:rPr lang="en-US" dirty="0" smtClean="0"/>
              <a:t>(X,Y,…,Z)</a:t>
            </a:r>
            <a:r>
              <a:rPr lang="ru-RU" dirty="0" smtClean="0"/>
              <a:t>, где каждый из атрибутов принадлежит отношению </a:t>
            </a:r>
            <a:r>
              <a:rPr lang="en-US" dirty="0" smtClean="0"/>
              <a:t>A</a:t>
            </a:r>
            <a:r>
              <a:rPr lang="ru-RU" dirty="0" smtClean="0"/>
              <a:t>, называется отношение с заголовком </a:t>
            </a:r>
            <a:r>
              <a:rPr lang="en-US" dirty="0" smtClean="0"/>
              <a:t>(X,Y,…,Z) </a:t>
            </a:r>
            <a:r>
              <a:rPr lang="ru-RU" dirty="0" smtClean="0"/>
              <a:t>и телом, содержащим множество кортежей вида </a:t>
            </a:r>
            <a:r>
              <a:rPr lang="en-US" dirty="0" smtClean="0"/>
              <a:t>(</a:t>
            </a:r>
            <a:r>
              <a:rPr lang="en-US" dirty="0" err="1" smtClean="0"/>
              <a:t>x,y</a:t>
            </a:r>
            <a:r>
              <a:rPr lang="en-US" dirty="0" smtClean="0"/>
              <a:t>,…,z)</a:t>
            </a:r>
            <a:r>
              <a:rPr lang="ru-RU" dirty="0" smtClean="0"/>
              <a:t>, таких, для которых в отношении</a:t>
            </a:r>
            <a:r>
              <a:rPr lang="en-US" dirty="0" smtClean="0"/>
              <a:t> A</a:t>
            </a:r>
            <a:r>
              <a:rPr lang="ru-RU" dirty="0" smtClean="0"/>
              <a:t> найдутся кортежи со значением атрибута </a:t>
            </a:r>
            <a:r>
              <a:rPr lang="en-US" dirty="0" smtClean="0"/>
              <a:t>X </a:t>
            </a:r>
            <a:r>
              <a:rPr lang="ru-RU" dirty="0" smtClean="0"/>
              <a:t>равным </a:t>
            </a:r>
            <a:r>
              <a:rPr lang="en-US" dirty="0" smtClean="0"/>
              <a:t>x</a:t>
            </a:r>
            <a:r>
              <a:rPr lang="ru-RU" dirty="0" smtClean="0"/>
              <a:t>, значением атрибута </a:t>
            </a:r>
            <a:r>
              <a:rPr lang="en-US" dirty="0" smtClean="0"/>
              <a:t>Y </a:t>
            </a:r>
            <a:r>
              <a:rPr lang="ru-RU" dirty="0" smtClean="0"/>
              <a:t>равным </a:t>
            </a:r>
            <a:r>
              <a:rPr lang="en-US" dirty="0" smtClean="0"/>
              <a:t>y</a:t>
            </a:r>
            <a:r>
              <a:rPr lang="ru-RU" dirty="0" smtClean="0"/>
              <a:t>, …, значением атрибута </a:t>
            </a:r>
            <a:r>
              <a:rPr lang="en-US" dirty="0" smtClean="0"/>
              <a:t>Z </a:t>
            </a:r>
            <a:r>
              <a:rPr lang="ru-RU" dirty="0" smtClean="0"/>
              <a:t>равным </a:t>
            </a:r>
            <a:r>
              <a:rPr lang="en-US" dirty="0" smtClean="0"/>
              <a:t>z</a:t>
            </a:r>
            <a:r>
              <a:rPr lang="ru-RU" dirty="0" smtClean="0"/>
              <a:t> 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Проекция</a:t>
            </a:r>
            <a:r>
              <a:rPr lang="en-US" dirty="0" smtClean="0"/>
              <a:t> (2/2)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Синтаксис: </a:t>
            </a:r>
            <a:r>
              <a:rPr lang="en-US" dirty="0" smtClean="0"/>
              <a:t>A[X,Y,…,Z]</a:t>
            </a:r>
            <a:endParaRPr lang="ru-RU" dirty="0" smtClean="0"/>
          </a:p>
          <a:p>
            <a:r>
              <a:rPr lang="ru-RU" dirty="0" smtClean="0"/>
              <a:t>Операция проекции дает "</a:t>
            </a:r>
            <a:r>
              <a:rPr lang="ru-RU" i="1" dirty="0" smtClean="0"/>
              <a:t>вертикальный срез</a:t>
            </a:r>
            <a:r>
              <a:rPr lang="ru-RU" dirty="0" smtClean="0"/>
              <a:t>" отношения, в котором удалены все возникшие при таком срезе дубликаты кортеже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проекции</a:t>
            </a:r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928662" y="1785926"/>
          <a:ext cx="4357718" cy="2114550"/>
        </p:xfrm>
        <a:graphic>
          <a:graphicData uri="http://schemas.openxmlformats.org/drawingml/2006/table">
            <a:tbl>
              <a:tblPr/>
              <a:tblGrid>
                <a:gridCol w="1245062"/>
                <a:gridCol w="1612458"/>
                <a:gridCol w="1500198"/>
              </a:tblGrid>
              <a:tr h="6667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Номер студента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Город 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Уфа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Петров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Москва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Москва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Челябинск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проекции</a:t>
            </a:r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928662" y="1785926"/>
          <a:ext cx="4357718" cy="2114550"/>
        </p:xfrm>
        <a:graphic>
          <a:graphicData uri="http://schemas.openxmlformats.org/drawingml/2006/table">
            <a:tbl>
              <a:tblPr/>
              <a:tblGrid>
                <a:gridCol w="1245062"/>
                <a:gridCol w="1612458"/>
                <a:gridCol w="1500198"/>
              </a:tblGrid>
              <a:tr h="6667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Номер студента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Город 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Уфа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Петров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Москва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Москва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Челябинск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6143636" y="1785926"/>
          <a:ext cx="1500198" cy="1447800"/>
        </p:xfrm>
        <a:graphic>
          <a:graphicData uri="http://schemas.openxmlformats.org/drawingml/2006/table">
            <a:tbl>
              <a:tblPr/>
              <a:tblGrid>
                <a:gridCol w="1500198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Город 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Уфа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Москва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Челябинск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Соединение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Общая операция соединения</a:t>
            </a:r>
          </a:p>
          <a:p>
            <a:r>
              <a:rPr lang="el-GR" dirty="0" smtClean="0"/>
              <a:t>θ</a:t>
            </a:r>
            <a:r>
              <a:rPr lang="ru-RU" dirty="0" smtClean="0"/>
              <a:t>-соединение (</a:t>
            </a:r>
            <a:r>
              <a:rPr lang="ru-RU" dirty="0" err="1" smtClean="0"/>
              <a:t>тэта-соединение</a:t>
            </a:r>
            <a:r>
              <a:rPr lang="ru-RU" dirty="0" smtClean="0"/>
              <a:t>) </a:t>
            </a:r>
          </a:p>
          <a:p>
            <a:r>
              <a:rPr lang="ru-RU" dirty="0" err="1" smtClean="0"/>
              <a:t>Экви-соединение</a:t>
            </a:r>
            <a:r>
              <a:rPr lang="ru-RU" dirty="0" smtClean="0"/>
              <a:t> </a:t>
            </a:r>
          </a:p>
          <a:p>
            <a:r>
              <a:rPr lang="ru-RU" dirty="0" smtClean="0"/>
              <a:t>Естественное соединение 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Общая операция соединения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1" dirty="0" smtClean="0"/>
              <a:t>Соединением </a:t>
            </a:r>
            <a:r>
              <a:rPr lang="ru-RU" dirty="0" smtClean="0"/>
              <a:t>отношений</a:t>
            </a:r>
            <a:r>
              <a:rPr lang="en-US" dirty="0" smtClean="0"/>
              <a:t> A</a:t>
            </a:r>
            <a:r>
              <a:rPr lang="ru-RU" dirty="0" smtClean="0"/>
              <a:t> и</a:t>
            </a:r>
            <a:r>
              <a:rPr lang="en-US" dirty="0" smtClean="0"/>
              <a:t> B</a:t>
            </a:r>
            <a:r>
              <a:rPr lang="ru-RU" dirty="0" smtClean="0"/>
              <a:t> по условию</a:t>
            </a:r>
            <a:r>
              <a:rPr lang="en-US" dirty="0" smtClean="0"/>
              <a:t> </a:t>
            </a:r>
            <a:r>
              <a:rPr lang="en-US" i="1" dirty="0" smtClean="0"/>
              <a:t>c</a:t>
            </a:r>
            <a:r>
              <a:rPr lang="ru-RU" dirty="0" smtClean="0"/>
              <a:t> называется отношение</a:t>
            </a:r>
            <a:endParaRPr lang="en-US" dirty="0" smtClean="0"/>
          </a:p>
          <a:p>
            <a:pPr algn="ctr">
              <a:buNone/>
            </a:pPr>
            <a:r>
              <a:rPr lang="en-US" dirty="0" smtClean="0"/>
              <a:t>(A TIMES B) WHERE </a:t>
            </a:r>
            <a:r>
              <a:rPr lang="en-US" i="1" dirty="0" smtClean="0"/>
              <a:t>c</a:t>
            </a:r>
          </a:p>
          <a:p>
            <a:r>
              <a:rPr lang="en-US" i="1" dirty="0" smtClean="0"/>
              <a:t>c</a:t>
            </a:r>
            <a:r>
              <a:rPr lang="en-US" dirty="0" smtClean="0"/>
              <a:t> </a:t>
            </a:r>
            <a:r>
              <a:rPr lang="ru-RU" dirty="0" smtClean="0"/>
              <a:t>представляет собой логическое выражение, в которое могут входить атрибуты отношений </a:t>
            </a:r>
            <a:r>
              <a:rPr lang="en-US" dirty="0" smtClean="0"/>
              <a:t>A </a:t>
            </a:r>
            <a:r>
              <a:rPr lang="ru-RU" dirty="0" smtClean="0"/>
              <a:t>и </a:t>
            </a:r>
            <a:r>
              <a:rPr lang="en-US" dirty="0" smtClean="0"/>
              <a:t>B </a:t>
            </a:r>
            <a:r>
              <a:rPr lang="ru-RU" dirty="0" smtClean="0"/>
              <a:t>и (или) скалярные выражения</a:t>
            </a:r>
            <a:endParaRPr lang="ru-RU" i="1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 smtClean="0"/>
              <a:t>Θ</a:t>
            </a:r>
            <a:r>
              <a:rPr lang="ru-RU" dirty="0" smtClean="0"/>
              <a:t>-соединение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Пусть отношение </a:t>
            </a:r>
            <a:r>
              <a:rPr lang="en-US" dirty="0" smtClean="0"/>
              <a:t>A </a:t>
            </a:r>
            <a:r>
              <a:rPr lang="ru-RU" dirty="0" smtClean="0"/>
              <a:t>содержит атрибут </a:t>
            </a:r>
            <a:r>
              <a:rPr lang="en-US" dirty="0" smtClean="0"/>
              <a:t>X</a:t>
            </a:r>
            <a:r>
              <a:rPr lang="ru-RU" dirty="0" smtClean="0"/>
              <a:t>, отношение </a:t>
            </a:r>
            <a:r>
              <a:rPr lang="en-US" dirty="0" smtClean="0"/>
              <a:t>B </a:t>
            </a:r>
            <a:r>
              <a:rPr lang="ru-RU" dirty="0" smtClean="0"/>
              <a:t>содержит атрибут</a:t>
            </a:r>
            <a:r>
              <a:rPr lang="en-US" dirty="0" smtClean="0"/>
              <a:t> Y</a:t>
            </a:r>
            <a:r>
              <a:rPr lang="ru-RU" dirty="0" smtClean="0"/>
              <a:t>, а</a:t>
            </a:r>
            <a:r>
              <a:rPr lang="en-US" dirty="0" smtClean="0"/>
              <a:t> </a:t>
            </a:r>
            <a:r>
              <a:rPr lang="el-GR" dirty="0" smtClean="0"/>
              <a:t>Θ</a:t>
            </a:r>
            <a:r>
              <a:rPr lang="en-US" dirty="0" smtClean="0"/>
              <a:t> – </a:t>
            </a:r>
            <a:r>
              <a:rPr lang="ru-RU" dirty="0" smtClean="0"/>
              <a:t> один из операторов сравнения (</a:t>
            </a:r>
            <a:r>
              <a:rPr lang="en-US" dirty="0" smtClean="0"/>
              <a:t>=,≠,&lt;,&gt;</a:t>
            </a:r>
            <a:r>
              <a:rPr lang="ru-RU" dirty="0" smtClean="0"/>
              <a:t> и т.д.)</a:t>
            </a:r>
            <a:r>
              <a:rPr lang="en-US" dirty="0" smtClean="0"/>
              <a:t>. </a:t>
            </a:r>
            <a:r>
              <a:rPr lang="ru-RU" dirty="0" smtClean="0"/>
              <a:t>Тогда </a:t>
            </a:r>
            <a:r>
              <a:rPr lang="el-GR" b="1" i="1" dirty="0" smtClean="0"/>
              <a:t>Θ</a:t>
            </a:r>
            <a:r>
              <a:rPr lang="ru-RU" b="1" dirty="0" smtClean="0"/>
              <a:t>-</a:t>
            </a:r>
            <a:r>
              <a:rPr lang="ru-RU" b="1" i="1" dirty="0" smtClean="0"/>
              <a:t>соединением </a:t>
            </a:r>
            <a:r>
              <a:rPr lang="ru-RU" dirty="0" smtClean="0"/>
              <a:t>отношения </a:t>
            </a:r>
            <a:r>
              <a:rPr lang="en-US" dirty="0" smtClean="0"/>
              <a:t>A </a:t>
            </a:r>
            <a:r>
              <a:rPr lang="ru-RU" dirty="0" smtClean="0"/>
              <a:t>по атрибуту </a:t>
            </a:r>
            <a:r>
              <a:rPr lang="en-US" dirty="0" smtClean="0"/>
              <a:t>X </a:t>
            </a:r>
            <a:r>
              <a:rPr lang="ru-RU" dirty="0" smtClean="0"/>
              <a:t>с отношением </a:t>
            </a:r>
            <a:r>
              <a:rPr lang="en-US" dirty="0" smtClean="0"/>
              <a:t>B </a:t>
            </a:r>
            <a:r>
              <a:rPr lang="ru-RU" dirty="0" smtClean="0"/>
              <a:t>по атрибуту</a:t>
            </a:r>
            <a:r>
              <a:rPr lang="en-US" dirty="0" smtClean="0"/>
              <a:t> Y</a:t>
            </a:r>
            <a:r>
              <a:rPr lang="ru-RU" dirty="0" smtClean="0"/>
              <a:t> называют отношение </a:t>
            </a:r>
            <a:endParaRPr lang="en-US" dirty="0" smtClean="0"/>
          </a:p>
          <a:p>
            <a:pPr algn="ctr">
              <a:buNone/>
            </a:pPr>
            <a:r>
              <a:rPr lang="en-US" dirty="0" smtClean="0"/>
              <a:t>(A TIMES B) WHERE X </a:t>
            </a:r>
            <a:r>
              <a:rPr lang="el-GR" dirty="0" smtClean="0"/>
              <a:t>Θ </a:t>
            </a:r>
            <a:r>
              <a:rPr lang="en-US" dirty="0" smtClean="0"/>
              <a:t>Y</a:t>
            </a:r>
          </a:p>
          <a:p>
            <a:r>
              <a:rPr lang="ru-RU" dirty="0" smtClean="0"/>
              <a:t>Короткий синтаксис </a:t>
            </a:r>
            <a:r>
              <a:rPr lang="en-US" dirty="0" smtClean="0"/>
              <a:t>A [X </a:t>
            </a:r>
            <a:r>
              <a:rPr lang="el-GR" dirty="0" smtClean="0"/>
              <a:t>Θ</a:t>
            </a:r>
            <a:r>
              <a:rPr lang="en-US" dirty="0" smtClean="0"/>
              <a:t> Y] B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</a:t>
            </a:r>
            <a:r>
              <a:rPr lang="el-GR" dirty="0" smtClean="0"/>
              <a:t>Θ</a:t>
            </a:r>
            <a:r>
              <a:rPr lang="ru-RU" dirty="0" smtClean="0"/>
              <a:t>-соединения</a:t>
            </a:r>
            <a:r>
              <a:rPr lang="en-US" dirty="0" smtClean="0"/>
              <a:t> (1/3)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643042" y="1857364"/>
          <a:ext cx="6000792" cy="2057400"/>
        </p:xfrm>
        <a:graphic>
          <a:graphicData uri="http://schemas.openxmlformats.org/drawingml/2006/table">
            <a:tbl>
              <a:tblPr/>
              <a:tblGrid>
                <a:gridCol w="2000264"/>
                <a:gridCol w="2000264"/>
                <a:gridCol w="2000264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Номер поставщика</a:t>
                      </a:r>
                      <a:endParaRPr lang="ru-RU" sz="2000" b="1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Наименование поставщика </a:t>
                      </a:r>
                      <a:endParaRPr lang="ru-RU" sz="2000" b="1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X </a:t>
                      </a:r>
                      <a:endParaRPr lang="ru-RU" sz="2000" b="1" dirty="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(Статус поставщика)</a:t>
                      </a:r>
                      <a:endParaRPr lang="ru-RU" sz="2000" b="1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Петров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Сидоров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1643042" y="4357694"/>
          <a:ext cx="5929353" cy="1752600"/>
        </p:xfrm>
        <a:graphic>
          <a:graphicData uri="http://schemas.openxmlformats.org/drawingml/2006/table">
            <a:tbl>
              <a:tblPr/>
              <a:tblGrid>
                <a:gridCol w="1976451"/>
                <a:gridCol w="1976451"/>
                <a:gridCol w="1976451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Номер детали 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Наименование детали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Y 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(Статус детали)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Болт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Гайка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Винт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</a:t>
            </a:r>
            <a:r>
              <a:rPr lang="el-GR" dirty="0" smtClean="0"/>
              <a:t>Θ</a:t>
            </a:r>
            <a:r>
              <a:rPr lang="ru-RU" dirty="0" smtClean="0"/>
              <a:t>-соединения</a:t>
            </a:r>
            <a:r>
              <a:rPr lang="en-US" dirty="0" smtClean="0"/>
              <a:t> (2/3)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Какие поставщики имеют право поставлять какие детали?</a:t>
            </a:r>
          </a:p>
          <a:p>
            <a:r>
              <a:rPr lang="en-US" dirty="0" smtClean="0"/>
              <a:t>A [X ≥ Y] B</a:t>
            </a:r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</a:t>
            </a:r>
            <a:r>
              <a:rPr lang="el-GR" dirty="0" smtClean="0"/>
              <a:t>Θ</a:t>
            </a:r>
            <a:r>
              <a:rPr lang="ru-RU" dirty="0" smtClean="0"/>
              <a:t>-соединения</a:t>
            </a:r>
            <a:r>
              <a:rPr lang="en-US" dirty="0" smtClean="0"/>
              <a:t> (3/3)</a:t>
            </a:r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428596" y="1714488"/>
          <a:ext cx="8215368" cy="3143250"/>
        </p:xfrm>
        <a:graphic>
          <a:graphicData uri="http://schemas.openxmlformats.org/drawingml/2006/table">
            <a:tbl>
              <a:tblPr/>
              <a:tblGrid>
                <a:gridCol w="1214446"/>
                <a:gridCol w="1643074"/>
                <a:gridCol w="1571636"/>
                <a:gridCol w="1047756"/>
                <a:gridCol w="1666888"/>
                <a:gridCol w="1071568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Номер </a:t>
                      </a: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постав</a:t>
                      </a:r>
                      <a:r>
                        <a:rPr lang="en-US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-</a:t>
                      </a:r>
                      <a:r>
                        <a:rPr lang="ru-RU" sz="2000" b="1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щика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Наименова</a:t>
                      </a:r>
                      <a:r>
                        <a:rPr lang="en-US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-</a:t>
                      </a:r>
                      <a:r>
                        <a:rPr lang="ru-RU" sz="2000" b="1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ние</a:t>
                      </a: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поставщика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X 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(Статус поставщика)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Номер детали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Наименова</a:t>
                      </a:r>
                      <a:r>
                        <a:rPr lang="en-US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-</a:t>
                      </a:r>
                      <a:r>
                        <a:rPr lang="ru-RU" sz="2000" b="1" dirty="0" err="1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ние</a:t>
                      </a: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детали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Y 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(Статус детали)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Болт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Гайка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Винт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Петров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Винт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Сидоров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Гайка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Сидоров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Винт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Экви-соединение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Является наиболее важным частным случаем </a:t>
            </a:r>
            <a:r>
              <a:rPr lang="el-GR" dirty="0" smtClean="0"/>
              <a:t>Θ</a:t>
            </a:r>
            <a:r>
              <a:rPr lang="ru-RU" dirty="0" smtClean="0"/>
              <a:t>-соединения, когда </a:t>
            </a:r>
            <a:r>
              <a:rPr lang="el-GR" dirty="0" smtClean="0"/>
              <a:t>Θ</a:t>
            </a:r>
            <a:r>
              <a:rPr lang="ru-RU" dirty="0" smtClean="0"/>
              <a:t> есть просто равенство</a:t>
            </a:r>
          </a:p>
          <a:p>
            <a:r>
              <a:rPr lang="ru-RU" dirty="0" smtClean="0"/>
              <a:t>Синтаксис </a:t>
            </a:r>
            <a:r>
              <a:rPr lang="ru-RU" b="1" i="1" dirty="0" err="1" smtClean="0"/>
              <a:t>экви-соединения</a:t>
            </a:r>
            <a:r>
              <a:rPr lang="ru-RU" dirty="0" smtClean="0"/>
              <a:t>: </a:t>
            </a:r>
            <a:r>
              <a:rPr lang="en-US" dirty="0" smtClean="0"/>
              <a:t>A [X </a:t>
            </a:r>
            <a:r>
              <a:rPr lang="ru-RU" dirty="0" smtClean="0"/>
              <a:t>=</a:t>
            </a:r>
            <a:r>
              <a:rPr lang="en-US" dirty="0" smtClean="0"/>
              <a:t> Y] B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</a:t>
            </a:r>
            <a:r>
              <a:rPr lang="ru-RU" dirty="0" err="1" smtClean="0"/>
              <a:t>экви-соединения</a:t>
            </a:r>
            <a:r>
              <a:rPr lang="ru-RU" dirty="0" smtClean="0"/>
              <a:t> (1/2)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500034" y="1357298"/>
          <a:ext cx="3690942" cy="2057400"/>
        </p:xfrm>
        <a:graphic>
          <a:graphicData uri="http://schemas.openxmlformats.org/drawingml/2006/table">
            <a:tbl>
              <a:tblPr/>
              <a:tblGrid>
                <a:gridCol w="1845471"/>
                <a:gridCol w="1845471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Номер поставщика </a:t>
                      </a:r>
                      <a:endParaRPr lang="ru-RU" sz="2000" i="0" dirty="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PNUM </a:t>
                      </a:r>
                      <a:endParaRPr lang="ru-RU" sz="2000" i="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Наименование поставщика 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PNAME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 i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Иванов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ru-RU" sz="2000" i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Петров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lang="ru-RU" sz="2000" i="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Сидоров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786314" y="1357298"/>
          <a:ext cx="3714776" cy="2057400"/>
        </p:xfrm>
        <a:graphic>
          <a:graphicData uri="http://schemas.openxmlformats.org/drawingml/2006/table">
            <a:tbl>
              <a:tblPr/>
              <a:tblGrid>
                <a:gridCol w="1857388"/>
                <a:gridCol w="1857388"/>
              </a:tblGrid>
              <a:tr h="11429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Номер детали </a:t>
                      </a:r>
                      <a:endParaRPr lang="ru-RU" sz="2000" i="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DNUM </a:t>
                      </a:r>
                      <a:endParaRPr lang="ru-RU" sz="2000" i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Наименование детали 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DNAME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 i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Болт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ru-RU" sz="2000" i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Гайка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lang="ru-RU" sz="2000" i="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Винт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785786" y="3714752"/>
          <a:ext cx="7572428" cy="2848740"/>
        </p:xfrm>
        <a:graphic>
          <a:graphicData uri="http://schemas.openxmlformats.org/drawingml/2006/table">
            <a:tbl>
              <a:tblPr/>
              <a:tblGrid>
                <a:gridCol w="2524142"/>
                <a:gridCol w="1910163"/>
                <a:gridCol w="3138123"/>
              </a:tblGrid>
              <a:tr h="6770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Номер поставщика </a:t>
                      </a:r>
                      <a:endParaRPr lang="ru-RU" sz="2000" i="0" dirty="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PNUM </a:t>
                      </a:r>
                      <a:endParaRPr lang="ru-RU" sz="2000" i="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Номер детали </a:t>
                      </a:r>
                      <a:endParaRPr lang="ru-RU" sz="2000" i="0" dirty="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DNUM </a:t>
                      </a:r>
                      <a:endParaRPr lang="ru-RU" sz="2000" i="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Поставляемое количество </a:t>
                      </a:r>
                      <a:endParaRPr lang="ru-RU" sz="2000" i="0" dirty="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VOLUME</a:t>
                      </a:r>
                      <a:endParaRPr lang="ru-RU" sz="2000" i="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0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 i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 i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100</a:t>
                      </a:r>
                      <a:endParaRPr lang="ru-RU" sz="2000" i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0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 i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ru-RU" sz="2000" i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200</a:t>
                      </a:r>
                      <a:endParaRPr lang="ru-RU" sz="2000" i="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0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 i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lang="ru-RU" sz="2000" i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300</a:t>
                      </a:r>
                      <a:endParaRPr lang="ru-RU" sz="2000" i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0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ru-RU" sz="2000" i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 i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150</a:t>
                      </a:r>
                      <a:endParaRPr lang="ru-RU" sz="2000" i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0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ru-RU" sz="2000" i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ru-RU" sz="2000" i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250</a:t>
                      </a:r>
                      <a:endParaRPr lang="ru-RU" sz="2000" i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0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lang="ru-RU" sz="2000" i="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 i="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i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1000</a:t>
                      </a:r>
                      <a:endParaRPr lang="ru-RU" sz="2000" i="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</a:t>
            </a:r>
            <a:r>
              <a:rPr lang="ru-RU" dirty="0" err="1" smtClean="0"/>
              <a:t>экви-соединения</a:t>
            </a:r>
            <a:r>
              <a:rPr lang="ru-RU" dirty="0" smtClean="0"/>
              <a:t> (2/2)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500034" y="1571612"/>
          <a:ext cx="8143931" cy="3143250"/>
        </p:xfrm>
        <a:graphic>
          <a:graphicData uri="http://schemas.openxmlformats.org/drawingml/2006/table">
            <a:tbl>
              <a:tblPr/>
              <a:tblGrid>
                <a:gridCol w="1544539"/>
                <a:gridCol w="2035983"/>
                <a:gridCol w="1474332"/>
                <a:gridCol w="1263714"/>
                <a:gridCol w="1825363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Номер поставщика 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PNUM1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Наименование поставщика 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PNAME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Номер поставщика 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PNUM2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Номер детали 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DNUM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Поставляемое количество 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VOLUME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100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200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300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Петров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150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Петров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250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Сидоров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1000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Естественное соединение</a:t>
            </a:r>
            <a:r>
              <a:rPr lang="en-US" dirty="0" smtClean="0"/>
              <a:t> (1/3)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5536" y="1412776"/>
            <a:ext cx="8568952" cy="496855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 smtClean="0"/>
              <a:t>Пусть даны отношения</a:t>
            </a:r>
            <a:endParaRPr lang="en-US" dirty="0" smtClean="0"/>
          </a:p>
          <a:p>
            <a:pPr marL="0" indent="0" algn="ctr">
              <a:buNone/>
            </a:pPr>
            <a:r>
              <a:rPr lang="ru-RU" dirty="0" smtClean="0"/>
              <a:t> </a:t>
            </a:r>
            <a:r>
              <a:rPr lang="en-US" dirty="0" smtClean="0"/>
              <a:t>A(A</a:t>
            </a:r>
            <a:r>
              <a:rPr lang="en-US" baseline="-25000" dirty="0" smtClean="0"/>
              <a:t>1</a:t>
            </a:r>
            <a:r>
              <a:rPr lang="en-US" dirty="0" smtClean="0"/>
              <a:t>,…,A</a:t>
            </a:r>
            <a:r>
              <a:rPr lang="en-US" baseline="-25000" dirty="0" smtClean="0"/>
              <a:t>n</a:t>
            </a:r>
            <a:r>
              <a:rPr lang="ru-RU" dirty="0" smtClean="0"/>
              <a:t>,</a:t>
            </a:r>
            <a:r>
              <a:rPr lang="en-US" dirty="0" smtClean="0"/>
              <a:t>X</a:t>
            </a:r>
            <a:r>
              <a:rPr lang="en-US" baseline="-25000" dirty="0" smtClean="0"/>
              <a:t>1</a:t>
            </a:r>
            <a:r>
              <a:rPr lang="en-US" dirty="0" smtClean="0"/>
              <a:t>,…,</a:t>
            </a:r>
            <a:r>
              <a:rPr lang="en-US" dirty="0" err="1" smtClean="0"/>
              <a:t>X</a:t>
            </a:r>
            <a:r>
              <a:rPr lang="en-US" baseline="-25000" dirty="0" err="1" smtClean="0"/>
              <a:t>p</a:t>
            </a:r>
            <a:r>
              <a:rPr lang="en-US" dirty="0" smtClean="0"/>
              <a:t>)</a:t>
            </a:r>
            <a:r>
              <a:rPr lang="ru-RU" dirty="0" smtClean="0"/>
              <a:t> и </a:t>
            </a:r>
            <a:r>
              <a:rPr lang="en-US" dirty="0" smtClean="0"/>
              <a:t>B(X</a:t>
            </a:r>
            <a:r>
              <a:rPr lang="en-US" baseline="-25000" dirty="0" smtClean="0"/>
              <a:t>1</a:t>
            </a:r>
            <a:r>
              <a:rPr lang="en-US" dirty="0" smtClean="0"/>
              <a:t>,…,</a:t>
            </a:r>
            <a:r>
              <a:rPr lang="en-US" dirty="0" err="1" smtClean="0"/>
              <a:t>X</a:t>
            </a:r>
            <a:r>
              <a:rPr lang="en-US" baseline="-25000" dirty="0" err="1" smtClean="0"/>
              <a:t>p</a:t>
            </a:r>
            <a:r>
              <a:rPr lang="ru-RU" dirty="0" smtClean="0"/>
              <a:t>,</a:t>
            </a:r>
            <a:r>
              <a:rPr lang="en-US" dirty="0" smtClean="0"/>
              <a:t>B</a:t>
            </a:r>
            <a:r>
              <a:rPr lang="en-US" baseline="-25000" dirty="0" smtClean="0"/>
              <a:t>1</a:t>
            </a:r>
            <a:r>
              <a:rPr lang="en-US" dirty="0" smtClean="0"/>
              <a:t>,…,</a:t>
            </a:r>
            <a:r>
              <a:rPr lang="en-US" dirty="0" err="1" smtClean="0"/>
              <a:t>B</a:t>
            </a:r>
            <a:r>
              <a:rPr lang="en-US" baseline="-25000" dirty="0" err="1" smtClean="0"/>
              <a:t>m</a:t>
            </a:r>
            <a:r>
              <a:rPr lang="en-US" dirty="0" smtClean="0"/>
              <a:t>)</a:t>
            </a:r>
            <a:r>
              <a:rPr lang="ru-RU" dirty="0" smtClean="0"/>
              <a:t>,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имеющие одинаковые атрибуты </a:t>
            </a:r>
            <a:r>
              <a:rPr lang="en-US" dirty="0" smtClean="0"/>
              <a:t>(X</a:t>
            </a:r>
            <a:r>
              <a:rPr lang="en-US" baseline="-25000" dirty="0" smtClean="0"/>
              <a:t>1</a:t>
            </a:r>
            <a:r>
              <a:rPr lang="en-US" dirty="0" smtClean="0"/>
              <a:t>,…,</a:t>
            </a:r>
            <a:r>
              <a:rPr lang="en-US" dirty="0" err="1" smtClean="0"/>
              <a:t>X</a:t>
            </a:r>
            <a:r>
              <a:rPr lang="en-US" baseline="-25000" dirty="0" err="1" smtClean="0"/>
              <a:t>p</a:t>
            </a:r>
            <a:r>
              <a:rPr lang="en-US" dirty="0" smtClean="0"/>
              <a:t>).</a:t>
            </a:r>
          </a:p>
          <a:p>
            <a:pPr marL="0" indent="0">
              <a:buNone/>
            </a:pPr>
            <a:r>
              <a:rPr lang="ru-RU" dirty="0" smtClean="0"/>
              <a:t>Тогда </a:t>
            </a:r>
            <a:r>
              <a:rPr lang="ru-RU" b="1" i="1" dirty="0" smtClean="0"/>
              <a:t>естественным соединением </a:t>
            </a:r>
            <a:r>
              <a:rPr lang="ru-RU" dirty="0" smtClean="0"/>
              <a:t>отношений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 </a:t>
            </a:r>
            <a:r>
              <a:rPr lang="ru-RU" dirty="0" smtClean="0"/>
              <a:t>и </a:t>
            </a:r>
            <a:r>
              <a:rPr lang="en-US" dirty="0" smtClean="0"/>
              <a:t>B </a:t>
            </a:r>
            <a:r>
              <a:rPr lang="ru-RU" dirty="0" smtClean="0"/>
              <a:t>называется отношение с заголовком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(A</a:t>
            </a:r>
            <a:r>
              <a:rPr lang="en-US" baseline="-25000" dirty="0" smtClean="0"/>
              <a:t>1</a:t>
            </a:r>
            <a:r>
              <a:rPr lang="en-US" dirty="0" smtClean="0"/>
              <a:t>,…,A</a:t>
            </a:r>
            <a:r>
              <a:rPr lang="en-US" baseline="-25000" dirty="0" smtClean="0"/>
              <a:t>n</a:t>
            </a:r>
            <a:r>
              <a:rPr lang="ru-RU" dirty="0" smtClean="0"/>
              <a:t>,</a:t>
            </a:r>
            <a:r>
              <a:rPr lang="en-US" dirty="0" smtClean="0"/>
              <a:t>X</a:t>
            </a:r>
            <a:r>
              <a:rPr lang="en-US" baseline="-25000" dirty="0" smtClean="0"/>
              <a:t>1</a:t>
            </a:r>
            <a:r>
              <a:rPr lang="en-US" dirty="0" smtClean="0"/>
              <a:t>,…,</a:t>
            </a:r>
            <a:r>
              <a:rPr lang="en-US" dirty="0" err="1" smtClean="0"/>
              <a:t>X</a:t>
            </a:r>
            <a:r>
              <a:rPr lang="en-US" baseline="-25000" dirty="0" err="1" smtClean="0"/>
              <a:t>p</a:t>
            </a:r>
            <a:r>
              <a:rPr lang="ru-RU" dirty="0" smtClean="0"/>
              <a:t>,</a:t>
            </a:r>
            <a:r>
              <a:rPr lang="en-US" dirty="0" smtClean="0"/>
              <a:t>B</a:t>
            </a:r>
            <a:r>
              <a:rPr lang="en-US" baseline="-25000" dirty="0" smtClean="0"/>
              <a:t>1</a:t>
            </a:r>
            <a:r>
              <a:rPr lang="en-US" dirty="0" smtClean="0"/>
              <a:t>,…,</a:t>
            </a:r>
            <a:r>
              <a:rPr lang="en-US" dirty="0" err="1" smtClean="0"/>
              <a:t>B</a:t>
            </a:r>
            <a:r>
              <a:rPr lang="en-US" baseline="-25000" dirty="0" err="1" smtClean="0"/>
              <a:t>m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ru-RU" dirty="0" smtClean="0"/>
              <a:t>и телом, содержащим множество кортежей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(a</a:t>
            </a:r>
            <a:r>
              <a:rPr lang="en-US" baseline="-25000" dirty="0" smtClean="0"/>
              <a:t>1</a:t>
            </a:r>
            <a:r>
              <a:rPr lang="en-US" dirty="0" smtClean="0"/>
              <a:t>,…,a</a:t>
            </a:r>
            <a:r>
              <a:rPr lang="en-US" baseline="-25000" dirty="0" smtClean="0"/>
              <a:t>n</a:t>
            </a:r>
            <a:r>
              <a:rPr lang="ru-RU" dirty="0" smtClean="0"/>
              <a:t>,</a:t>
            </a:r>
            <a:r>
              <a:rPr lang="en-US" dirty="0" smtClean="0"/>
              <a:t>x</a:t>
            </a:r>
            <a:r>
              <a:rPr lang="en-US" baseline="-25000" dirty="0" smtClean="0"/>
              <a:t>1</a:t>
            </a:r>
            <a:r>
              <a:rPr lang="en-US" dirty="0" smtClean="0"/>
              <a:t>,…,</a:t>
            </a:r>
            <a:r>
              <a:rPr lang="en-US" dirty="0" err="1" smtClean="0"/>
              <a:t>x</a:t>
            </a:r>
            <a:r>
              <a:rPr lang="en-US" baseline="-25000" dirty="0" err="1" smtClean="0"/>
              <a:t>p</a:t>
            </a:r>
            <a:r>
              <a:rPr lang="ru-RU" dirty="0" smtClean="0"/>
              <a:t>,</a:t>
            </a:r>
            <a:r>
              <a:rPr lang="en-US" dirty="0" smtClean="0"/>
              <a:t>b</a:t>
            </a:r>
            <a:r>
              <a:rPr lang="en-US" baseline="-25000" dirty="0" smtClean="0"/>
              <a:t>1</a:t>
            </a:r>
            <a:r>
              <a:rPr lang="en-US" dirty="0" smtClean="0"/>
              <a:t>,…,</a:t>
            </a:r>
            <a:r>
              <a:rPr lang="en-US" dirty="0" err="1" smtClean="0"/>
              <a:t>b</a:t>
            </a:r>
            <a:r>
              <a:rPr lang="en-US" baseline="-25000" dirty="0" err="1" smtClean="0"/>
              <a:t>m</a:t>
            </a:r>
            <a:r>
              <a:rPr lang="en-US" dirty="0" smtClean="0"/>
              <a:t>)</a:t>
            </a:r>
            <a:r>
              <a:rPr lang="ru-RU" dirty="0" smtClean="0"/>
              <a:t>,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таких, что</a:t>
            </a:r>
            <a:r>
              <a:rPr lang="en-US" dirty="0" smtClean="0"/>
              <a:t> (a</a:t>
            </a:r>
            <a:r>
              <a:rPr lang="en-US" baseline="-25000" dirty="0" smtClean="0"/>
              <a:t>1</a:t>
            </a:r>
            <a:r>
              <a:rPr lang="en-US" dirty="0" smtClean="0"/>
              <a:t>,…,a</a:t>
            </a:r>
            <a:r>
              <a:rPr lang="en-US" baseline="-25000" dirty="0" smtClean="0"/>
              <a:t>n</a:t>
            </a:r>
            <a:r>
              <a:rPr lang="ru-RU" dirty="0" smtClean="0"/>
              <a:t>,</a:t>
            </a:r>
            <a:r>
              <a:rPr lang="en-US" dirty="0" smtClean="0"/>
              <a:t>x</a:t>
            </a:r>
            <a:r>
              <a:rPr lang="en-US" baseline="-25000" dirty="0" smtClean="0"/>
              <a:t>1</a:t>
            </a:r>
            <a:r>
              <a:rPr lang="en-US" dirty="0" smtClean="0"/>
              <a:t>,…,</a:t>
            </a:r>
            <a:r>
              <a:rPr lang="en-US" dirty="0" err="1" smtClean="0"/>
              <a:t>x</a:t>
            </a:r>
            <a:r>
              <a:rPr lang="en-US" baseline="-25000" dirty="0" err="1" smtClean="0"/>
              <a:t>p</a:t>
            </a:r>
            <a:r>
              <a:rPr lang="en-US" dirty="0" smtClean="0"/>
              <a:t>)</a:t>
            </a:r>
            <a:r>
              <a:rPr lang="ru-RU" dirty="0" smtClean="0"/>
              <a:t> </a:t>
            </a:r>
            <a:r>
              <a:rPr lang="ru-RU" dirty="0" err="1" smtClean="0"/>
              <a:t>є</a:t>
            </a:r>
            <a:r>
              <a:rPr lang="en-US" dirty="0" smtClean="0"/>
              <a:t> A </a:t>
            </a:r>
            <a:r>
              <a:rPr lang="ru-RU" dirty="0" smtClean="0"/>
              <a:t>и </a:t>
            </a:r>
            <a:r>
              <a:rPr lang="en-US" dirty="0" smtClean="0"/>
              <a:t>(x</a:t>
            </a:r>
            <a:r>
              <a:rPr lang="en-US" baseline="-25000" dirty="0" smtClean="0"/>
              <a:t>1</a:t>
            </a:r>
            <a:r>
              <a:rPr lang="en-US" dirty="0" smtClean="0"/>
              <a:t>,…,</a:t>
            </a:r>
            <a:r>
              <a:rPr lang="en-US" dirty="0" err="1" smtClean="0"/>
              <a:t>x</a:t>
            </a:r>
            <a:r>
              <a:rPr lang="en-US" baseline="-25000" dirty="0" err="1" smtClean="0"/>
              <a:t>p</a:t>
            </a:r>
            <a:r>
              <a:rPr lang="ru-RU" dirty="0" smtClean="0"/>
              <a:t> ,</a:t>
            </a:r>
            <a:r>
              <a:rPr lang="en-US" dirty="0" smtClean="0"/>
              <a:t>b</a:t>
            </a:r>
            <a:r>
              <a:rPr lang="en-US" baseline="-25000" dirty="0" smtClean="0"/>
              <a:t>1</a:t>
            </a:r>
            <a:r>
              <a:rPr lang="en-US" dirty="0" smtClean="0"/>
              <a:t>,…,</a:t>
            </a:r>
            <a:r>
              <a:rPr lang="en-US" dirty="0" err="1" smtClean="0"/>
              <a:t>b</a:t>
            </a:r>
            <a:r>
              <a:rPr lang="en-US" baseline="-25000" dirty="0" err="1" smtClean="0"/>
              <a:t>m</a:t>
            </a:r>
            <a:r>
              <a:rPr lang="en-US" dirty="0" smtClean="0"/>
              <a:t>) </a:t>
            </a:r>
            <a:r>
              <a:rPr lang="ru-RU" dirty="0" err="1" smtClean="0"/>
              <a:t>є</a:t>
            </a:r>
            <a:r>
              <a:rPr lang="en-US" dirty="0" smtClean="0"/>
              <a:t> B</a:t>
            </a:r>
            <a:r>
              <a:rPr lang="ru-RU" dirty="0" smtClean="0"/>
              <a:t> 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Естественное соединение</a:t>
            </a:r>
            <a:r>
              <a:rPr lang="en-US" dirty="0" smtClean="0"/>
              <a:t> (2/3)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Синтаксис: </a:t>
            </a:r>
            <a:r>
              <a:rPr lang="en-US" dirty="0" smtClean="0"/>
              <a:t>A JOIN B</a:t>
            </a:r>
          </a:p>
          <a:p>
            <a:r>
              <a:rPr lang="ru-RU" dirty="0" smtClean="0"/>
              <a:t>В синтаксисе не указываются, по каким атрибутам производится соединение – оно производится </a:t>
            </a:r>
            <a:r>
              <a:rPr lang="ru-RU" i="1" dirty="0" smtClean="0"/>
              <a:t>по всем </a:t>
            </a:r>
            <a:r>
              <a:rPr lang="ru-RU" dirty="0" smtClean="0"/>
              <a:t>одинаковым атрибутам</a:t>
            </a:r>
            <a:endParaRPr lang="en-US" dirty="0" smtClean="0"/>
          </a:p>
          <a:p>
            <a:r>
              <a:rPr lang="ru-RU" dirty="0" smtClean="0"/>
              <a:t>Можно выполнять последовательное естественное соединение нескольких отношений –  естественное соединение обладает свойством </a:t>
            </a:r>
            <a:r>
              <a:rPr lang="ru-RU" b="1" i="1" dirty="0" smtClean="0"/>
              <a:t>ассоциативности</a:t>
            </a:r>
            <a:endParaRPr lang="ru-RU" dirty="0" smtClean="0"/>
          </a:p>
          <a:p>
            <a:pPr algn="ctr">
              <a:buNone/>
            </a:pPr>
            <a:r>
              <a:rPr lang="ru-RU" dirty="0" smtClean="0"/>
              <a:t>(</a:t>
            </a:r>
            <a:r>
              <a:rPr lang="en-US" dirty="0" smtClean="0"/>
              <a:t>A JOIN B</a:t>
            </a:r>
            <a:r>
              <a:rPr lang="ru-RU" dirty="0" smtClean="0"/>
              <a:t>) </a:t>
            </a:r>
            <a:r>
              <a:rPr lang="en-US" dirty="0" smtClean="0"/>
              <a:t>JOIN </a:t>
            </a:r>
            <a:r>
              <a:rPr lang="ru-RU" dirty="0" smtClean="0"/>
              <a:t>С = </a:t>
            </a:r>
            <a:r>
              <a:rPr lang="en-US" dirty="0" smtClean="0"/>
              <a:t>A JOIN </a:t>
            </a:r>
            <a:r>
              <a:rPr lang="ru-RU" dirty="0" smtClean="0"/>
              <a:t>(</a:t>
            </a:r>
            <a:r>
              <a:rPr lang="en-US" dirty="0" smtClean="0"/>
              <a:t>B</a:t>
            </a:r>
            <a:r>
              <a:rPr lang="ru-RU" dirty="0" smtClean="0"/>
              <a:t> </a:t>
            </a:r>
            <a:r>
              <a:rPr lang="en-US" dirty="0" smtClean="0"/>
              <a:t>JOIN </a:t>
            </a:r>
            <a:r>
              <a:rPr lang="ru-RU" dirty="0" smtClean="0"/>
              <a:t>С) =</a:t>
            </a:r>
          </a:p>
          <a:p>
            <a:pPr algn="ctr">
              <a:buNone/>
            </a:pPr>
            <a:r>
              <a:rPr lang="ru-RU" dirty="0" smtClean="0"/>
              <a:t> </a:t>
            </a:r>
            <a:r>
              <a:rPr lang="en-US" dirty="0" smtClean="0"/>
              <a:t>A JOIN B</a:t>
            </a:r>
            <a:r>
              <a:rPr lang="ru-RU" dirty="0" smtClean="0"/>
              <a:t> </a:t>
            </a:r>
            <a:r>
              <a:rPr lang="en-US" dirty="0" smtClean="0"/>
              <a:t>JOIN </a:t>
            </a:r>
            <a:r>
              <a:rPr lang="ru-RU" dirty="0" smtClean="0"/>
              <a:t>С</a:t>
            </a:r>
          </a:p>
          <a:p>
            <a:pPr>
              <a:buNone/>
            </a:pPr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Естественное соединение</a:t>
            </a:r>
            <a:r>
              <a:rPr lang="en-US" dirty="0" smtClean="0"/>
              <a:t> (3/3)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84784"/>
            <a:ext cx="8219256" cy="5112568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ru-RU" sz="3300" dirty="0" smtClean="0"/>
              <a:t>Естественное соединение эквивалентно следующей</a:t>
            </a:r>
          </a:p>
          <a:p>
            <a:pPr>
              <a:buNone/>
            </a:pPr>
            <a:r>
              <a:rPr lang="ru-RU" sz="3300" dirty="0" smtClean="0"/>
              <a:t>последовательности реляционных операций: </a:t>
            </a:r>
          </a:p>
          <a:p>
            <a:r>
              <a:rPr lang="ru-RU" sz="3300" dirty="0" smtClean="0"/>
              <a:t>Переименовать одинаковые атрибуты в отношениях </a:t>
            </a:r>
          </a:p>
          <a:p>
            <a:r>
              <a:rPr lang="ru-RU" sz="3300" dirty="0" smtClean="0"/>
              <a:t>Выполнить декартово произведение отношений </a:t>
            </a:r>
          </a:p>
          <a:p>
            <a:r>
              <a:rPr lang="ru-RU" sz="3300" dirty="0" smtClean="0"/>
              <a:t>Выполнить выборку по совпадающим значениям атрибутов, имевших одинаковые имена </a:t>
            </a:r>
          </a:p>
          <a:p>
            <a:r>
              <a:rPr lang="ru-RU" sz="3300" dirty="0" smtClean="0"/>
              <a:t>Выполнить проекцию, удалив повторяющиеся атрибуты </a:t>
            </a:r>
          </a:p>
          <a:p>
            <a:r>
              <a:rPr lang="ru-RU" sz="3300" dirty="0" smtClean="0"/>
              <a:t>Переименовать атрибуты, вернув им первоначальные имена 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Пример естественного соединения</a:t>
            </a:r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285720" y="1857364"/>
          <a:ext cx="8572527" cy="3143250"/>
        </p:xfrm>
        <a:graphic>
          <a:graphicData uri="http://schemas.openxmlformats.org/drawingml/2006/table">
            <a:tbl>
              <a:tblPr/>
              <a:tblGrid>
                <a:gridCol w="1571636"/>
                <a:gridCol w="1928826"/>
                <a:gridCol w="1285884"/>
                <a:gridCol w="1928826"/>
                <a:gridCol w="1857355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Номер поставщика 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PNUM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Наименование поставщика 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PNAME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Номер детали 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DNUM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Наименование детали 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DNAME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Поставляемое количество 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VOLUME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Болт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100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Гайка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200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Винт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300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Петров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Болт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150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Петров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Гайка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250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Сидоров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Болт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1000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4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 smtClean="0"/>
              <a:t>Нормализация отношений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Требования к схеме БД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Отображение объектов предметной области в структуры модели данных не должно противоречить семантике предметной области</a:t>
            </a:r>
          </a:p>
          <a:p>
            <a:r>
              <a:rPr lang="ru-RU" dirty="0" smtClean="0"/>
              <a:t>Отображение должно быть эффективным, то есть должно обеспечивать минимальное дублирование данных, удобство их обработки и обновления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Процесс нормализации (1/2)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i="1" dirty="0" smtClean="0"/>
              <a:t>Нормализация отношений</a:t>
            </a:r>
            <a:r>
              <a:rPr lang="ru-RU" b="1" dirty="0" smtClean="0"/>
              <a:t> </a:t>
            </a:r>
            <a:r>
              <a:rPr lang="ru-RU" dirty="0" smtClean="0"/>
              <a:t>– пошаговый процесс разложения (декомпозиции) исходных отношений БД на более простые</a:t>
            </a:r>
          </a:p>
          <a:p>
            <a:r>
              <a:rPr lang="ru-RU" dirty="0" smtClean="0"/>
              <a:t>Каждая ступень этого процесса приводит схему отношений БД в последовательные </a:t>
            </a:r>
            <a:r>
              <a:rPr lang="ru-RU" b="1" i="1" dirty="0" smtClean="0"/>
              <a:t>нормальные формы</a:t>
            </a:r>
            <a:endParaRPr lang="ru-RU" b="1" dirty="0" smtClean="0"/>
          </a:p>
          <a:p>
            <a:r>
              <a:rPr lang="ru-RU" dirty="0" smtClean="0"/>
              <a:t>Каждая следующая нормальная форма обладает «лучшими» свойствами, чем предыдущая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Процесс нормализации (2/2)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 smtClean="0"/>
              <a:t>Каждой нормальной форме соответствует некоторый набор ограничений </a:t>
            </a:r>
          </a:p>
          <a:p>
            <a:r>
              <a:rPr lang="ru-RU" dirty="0" smtClean="0"/>
              <a:t>Отношение находится в определенной нормальной форме, если оно удовлетворяет набору ограничений этой формы</a:t>
            </a:r>
          </a:p>
          <a:p>
            <a:r>
              <a:rPr lang="ru-RU" dirty="0" smtClean="0"/>
              <a:t>Переводя структуру отношений БД в формы более высокого порядка, мы добиваемся удаления из таблиц избыточной </a:t>
            </a:r>
            <a:r>
              <a:rPr lang="ru-RU" dirty="0" err="1" smtClean="0"/>
              <a:t>неключевой</a:t>
            </a:r>
            <a:r>
              <a:rPr lang="ru-RU" dirty="0" smtClean="0"/>
              <a:t> информации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Последовательность нормальных форм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 smtClean="0"/>
              <a:t>Первая нормальная форма (1NF)</a:t>
            </a:r>
          </a:p>
          <a:p>
            <a:pPr lvl="0"/>
            <a:r>
              <a:rPr lang="ru-RU" dirty="0" smtClean="0"/>
              <a:t>Вторая нормальная форма (2NF)</a:t>
            </a:r>
          </a:p>
          <a:p>
            <a:pPr lvl="0"/>
            <a:r>
              <a:rPr lang="ru-RU" dirty="0" smtClean="0"/>
              <a:t>Третья нормальная форма (3NF)</a:t>
            </a:r>
          </a:p>
          <a:p>
            <a:pPr lvl="0"/>
            <a:r>
              <a:rPr lang="ru-RU" dirty="0" smtClean="0"/>
              <a:t>Нормальная форма </a:t>
            </a:r>
            <a:r>
              <a:rPr lang="ru-RU" dirty="0" err="1" smtClean="0"/>
              <a:t>Бойса-Кодда</a:t>
            </a:r>
            <a:r>
              <a:rPr lang="ru-RU" dirty="0" smtClean="0"/>
              <a:t> (BCNF)</a:t>
            </a:r>
          </a:p>
          <a:p>
            <a:pPr lvl="0"/>
            <a:r>
              <a:rPr lang="ru-RU" dirty="0" smtClean="0"/>
              <a:t>Четвертая нормальная форма (4NF)</a:t>
            </a:r>
          </a:p>
          <a:p>
            <a:pPr lvl="0"/>
            <a:r>
              <a:rPr lang="ru-RU" dirty="0" smtClean="0"/>
              <a:t>Пятая нормальная форма (5NF)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Функциональная зависимость атрибутов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997152"/>
          </a:xfrm>
        </p:spPr>
        <p:txBody>
          <a:bodyPr>
            <a:normAutofit fontScale="85000" lnSpcReduction="10000"/>
          </a:bodyPr>
          <a:lstStyle/>
          <a:p>
            <a:r>
              <a:rPr lang="ru-RU" sz="3300" dirty="0" smtClean="0"/>
              <a:t>Говорят, что атрибут B </a:t>
            </a:r>
            <a:r>
              <a:rPr lang="ru-RU" sz="3300" b="1" i="1" dirty="0" smtClean="0"/>
              <a:t>функционально зависит </a:t>
            </a:r>
            <a:r>
              <a:rPr lang="ru-RU" sz="3300" dirty="0" smtClean="0"/>
              <a:t>от атрибута A (обозначается A-&gt;B), если в любой момент времени каждому значению атрибута A соответствует не более одного значения атрибута B</a:t>
            </a:r>
          </a:p>
          <a:p>
            <a:r>
              <a:rPr lang="ru-RU" sz="3300" dirty="0" smtClean="0"/>
              <a:t>Если </a:t>
            </a:r>
            <a:r>
              <a:rPr lang="ru-RU" sz="3300" dirty="0" err="1" smtClean="0"/>
              <a:t>неключевой</a:t>
            </a:r>
            <a:r>
              <a:rPr lang="ru-RU" sz="3300" dirty="0" smtClean="0"/>
              <a:t> атрибут зависит от всего составного ключа и не зависит от его частей, то говорят о </a:t>
            </a:r>
            <a:r>
              <a:rPr lang="ru-RU" sz="3300" b="1" i="1" dirty="0" smtClean="0"/>
              <a:t>полной функциональной зависимости </a:t>
            </a:r>
            <a:r>
              <a:rPr lang="ru-RU" sz="3300" dirty="0" smtClean="0"/>
              <a:t>атрибута от составного ключа</a:t>
            </a:r>
          </a:p>
          <a:p>
            <a:r>
              <a:rPr lang="ru-RU" sz="3300" dirty="0" smtClean="0"/>
              <a:t>Если атрибут A зависит от атрибута B, а B зависит от атрибута C, но обратная зависимость отсутствует, то говорят, что атрибут C зависит от A </a:t>
            </a:r>
            <a:r>
              <a:rPr lang="ru-RU" sz="3300" b="1" i="1" dirty="0" smtClean="0"/>
              <a:t>транзитивно</a:t>
            </a:r>
            <a:r>
              <a:rPr lang="ru-RU" sz="3300" dirty="0" smtClean="0"/>
              <a:t> 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Первая нормальная форма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	Отношение находится в первой нормальной форме (1NF), если значения атрибутов </a:t>
            </a:r>
            <a:r>
              <a:rPr lang="ru-RU" dirty="0" err="1" smtClean="0"/>
              <a:t>атомарны</a:t>
            </a:r>
            <a:r>
              <a:rPr lang="ru-RU" dirty="0" smtClean="0"/>
              <a:t>, то есть в каждом столбце находится только одно значение, и все </a:t>
            </a:r>
            <a:r>
              <a:rPr lang="ru-RU" dirty="0" err="1" smtClean="0"/>
              <a:t>неключевые</a:t>
            </a:r>
            <a:r>
              <a:rPr lang="ru-RU" dirty="0" smtClean="0"/>
              <a:t> атрибуты функционально зависят от ключа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Вторая нормальная форма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	Отношение находится во второй (2NF) нормальной форме, если выполняются ограничения первой нормальной (1NF) формы и каждый </a:t>
            </a:r>
            <a:r>
              <a:rPr lang="ru-RU" dirty="0" err="1" smtClean="0"/>
              <a:t>неключевой</a:t>
            </a:r>
            <a:r>
              <a:rPr lang="ru-RU" dirty="0" smtClean="0"/>
              <a:t> атрибут функционально полно зависит от первичного ключа (первичный ключ может быть составным)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Третья нормальная форма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Отношение находится в третьей нормальной форме (3NF), если выполняются ограничения второй нормальной формы (2NF) и если все </a:t>
            </a:r>
            <a:r>
              <a:rPr lang="ru-RU" dirty="0" err="1" smtClean="0"/>
              <a:t>неключевые</a:t>
            </a:r>
            <a:r>
              <a:rPr lang="ru-RU" dirty="0" smtClean="0"/>
              <a:t> атрибуты отношения взаимно независимы и полностью зависят от первичного ключа</a:t>
            </a:r>
          </a:p>
          <a:p>
            <a:r>
              <a:rPr lang="ru-RU" dirty="0" smtClean="0"/>
              <a:t>Отношение находится в третьей нормальной форме (3NF), если выполняются ограничения второй нормальной формы (2NF) и в нем отсутствуют транзитивные зависимости </a:t>
            </a:r>
            <a:r>
              <a:rPr lang="ru-RU" dirty="0" err="1" smtClean="0"/>
              <a:t>неключевых</a:t>
            </a:r>
            <a:r>
              <a:rPr lang="ru-RU" dirty="0" smtClean="0"/>
              <a:t> атрибутов от ключа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нормализации (1/3)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2000232" y="1714488"/>
          <a:ext cx="5214974" cy="2667000"/>
        </p:xfrm>
        <a:graphic>
          <a:graphicData uri="http://schemas.openxmlformats.org/drawingml/2006/table">
            <a:tbl>
              <a:tblPr/>
              <a:tblGrid>
                <a:gridCol w="1489992"/>
                <a:gridCol w="1929663"/>
                <a:gridCol w="1795319"/>
              </a:tblGrid>
              <a:tr h="6667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Номер студента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Номер телефона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8(495)4381011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8(903)7235367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Петров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8(925)1323972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8(499)1535577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8(925)9348524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нормализации (2/3)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085952"/>
              </p:ext>
            </p:extLst>
          </p:nvPr>
        </p:nvGraphicFramePr>
        <p:xfrm>
          <a:off x="1907704" y="1772816"/>
          <a:ext cx="5884137" cy="2476500"/>
        </p:xfrm>
        <a:graphic>
          <a:graphicData uri="http://schemas.openxmlformats.org/drawingml/2006/table">
            <a:tbl>
              <a:tblPr/>
              <a:tblGrid>
                <a:gridCol w="1267458"/>
                <a:gridCol w="1267458"/>
                <a:gridCol w="1641463"/>
                <a:gridCol w="1707758"/>
              </a:tblGrid>
              <a:tr h="6667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Номер записи</a:t>
                      </a:r>
                      <a:endParaRPr lang="ru-RU" sz="20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Номер студента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Номер телефона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8(495)4381011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8(903)7235367</a:t>
                      </a:r>
                      <a:endParaRPr lang="ru-RU" sz="20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Петров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8(925)1323972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8(499)1535577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8(925)9348524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нормализации (3/3)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519094"/>
              </p:ext>
            </p:extLst>
          </p:nvPr>
        </p:nvGraphicFramePr>
        <p:xfrm>
          <a:off x="4644008" y="1700808"/>
          <a:ext cx="4104455" cy="2476500"/>
        </p:xfrm>
        <a:graphic>
          <a:graphicData uri="http://schemas.openxmlformats.org/drawingml/2006/table">
            <a:tbl>
              <a:tblPr/>
              <a:tblGrid>
                <a:gridCol w="1194024"/>
                <a:gridCol w="1268650"/>
                <a:gridCol w="1641781"/>
              </a:tblGrid>
              <a:tr h="6667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Номер записи</a:t>
                      </a:r>
                      <a:endParaRPr lang="ru-RU" sz="20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Номер студента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Номер телефона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8(495)4381011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8(903)7235367</a:t>
                      </a:r>
                      <a:endParaRPr lang="ru-RU" sz="20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8(925)1323972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8(499)1535577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8(925)9348524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785786" y="1714488"/>
          <a:ext cx="3419655" cy="1752600"/>
        </p:xfrm>
        <a:graphic>
          <a:graphicData uri="http://schemas.openxmlformats.org/drawingml/2006/table">
            <a:tbl>
              <a:tblPr/>
              <a:tblGrid>
                <a:gridCol w="1489992"/>
                <a:gridCol w="1929663"/>
              </a:tblGrid>
              <a:tr h="6667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Номер студента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Фамилия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Иванов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Петров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Сидоров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Применение на практике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В большинстве случаев третья нормальная форма служит компромиссом между полной нормализацией и функциональностью в совокупности с легкостью реализации</a:t>
            </a:r>
          </a:p>
          <a:p>
            <a:r>
              <a:rPr lang="ru-RU" dirty="0" smtClean="0"/>
              <a:t>Существуют нормальные формы, выше третьей (3NF), но на практике они затрудняют разработку структур данных и снижают их функциональность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Преимущества нормализации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Уменьшение объема хранимых данных</a:t>
            </a:r>
          </a:p>
          <a:p>
            <a:r>
              <a:rPr lang="ru-RU" dirty="0" smtClean="0"/>
              <a:t>Минимизация дублирования данных</a:t>
            </a:r>
          </a:p>
          <a:p>
            <a:r>
              <a:rPr lang="ru-RU" dirty="0" smtClean="0"/>
              <a:t>Устранение возможной противоречивости данных</a:t>
            </a:r>
          </a:p>
          <a:p>
            <a:r>
              <a:rPr lang="ru-RU" dirty="0" smtClean="0"/>
              <a:t>Упрощение операций обновления и удаления данных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Недостатки нормализации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85786" y="1600200"/>
            <a:ext cx="7901014" cy="4525963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Возможное усложнение операций вставки и выборки данных:</a:t>
            </a:r>
          </a:p>
          <a:p>
            <a:r>
              <a:rPr lang="ru-RU" dirty="0" smtClean="0"/>
              <a:t>Структурное (более сложные запросы, хранимые процедуры)</a:t>
            </a:r>
          </a:p>
          <a:p>
            <a:r>
              <a:rPr lang="ru-RU" dirty="0" smtClean="0"/>
              <a:t>Временное (большее количество операций, блокировки)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2523</TotalTime>
  <Words>3479</Words>
  <Application>Microsoft Office PowerPoint</Application>
  <PresentationFormat>Экран (4:3)</PresentationFormat>
  <Paragraphs>1068</Paragraphs>
  <Slides>93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93</vt:i4>
      </vt:variant>
    </vt:vector>
  </HeadingPairs>
  <TitlesOfParts>
    <vt:vector size="97" baseType="lpstr">
      <vt:lpstr>Arial</vt:lpstr>
      <vt:lpstr>Calibri</vt:lpstr>
      <vt:lpstr>Times New Roman</vt:lpstr>
      <vt:lpstr>Тема Office</vt:lpstr>
      <vt:lpstr>План лекции</vt:lpstr>
      <vt:lpstr>Вопрос 1</vt:lpstr>
      <vt:lpstr>Атрибут </vt:lpstr>
      <vt:lpstr>Домен</vt:lpstr>
      <vt:lpstr>Отношение (1/2) </vt:lpstr>
      <vt:lpstr>Отношение (2/2) </vt:lpstr>
      <vt:lpstr>Замечания</vt:lpstr>
      <vt:lpstr>Пример отношения</vt:lpstr>
      <vt:lpstr>Реляционная БД</vt:lpstr>
      <vt:lpstr>Отношения vs таблицы</vt:lpstr>
      <vt:lpstr>Отношения vs таблицы</vt:lpstr>
      <vt:lpstr>Вопрос 2</vt:lpstr>
      <vt:lpstr>Виды целостности</vt:lpstr>
      <vt:lpstr>Null-значения</vt:lpstr>
      <vt:lpstr>Трехзначная логика (1/2)</vt:lpstr>
      <vt:lpstr>Трехзначная логика (2/2)</vt:lpstr>
      <vt:lpstr>Потенциальные ключи</vt:lpstr>
      <vt:lpstr>Пример</vt:lpstr>
      <vt:lpstr>Еще пример</vt:lpstr>
      <vt:lpstr>Еще пример</vt:lpstr>
      <vt:lpstr>Виды потенциальных колючей</vt:lpstr>
      <vt:lpstr>Замечания</vt:lpstr>
      <vt:lpstr>Правило целостности сущностей</vt:lpstr>
      <vt:lpstr>Внешние ключи</vt:lpstr>
      <vt:lpstr>Пример</vt:lpstr>
      <vt:lpstr>Еще пример</vt:lpstr>
      <vt:lpstr>Замечания (1/2)</vt:lpstr>
      <vt:lpstr>Замечания (2/2)</vt:lpstr>
      <vt:lpstr>Правило целостности внешних ключей</vt:lpstr>
      <vt:lpstr>Операции, которые могут нарушить ссылочную целостность</vt:lpstr>
      <vt:lpstr>Операции, которые могут нарушить ссылочную целостность</vt:lpstr>
      <vt:lpstr>Основные стратегии поддержания ссылочной целостности</vt:lpstr>
      <vt:lpstr>Дополнительные стратегии поддержания ссылочной целостности</vt:lpstr>
      <vt:lpstr>Тривиальная стратегия поддержания ссылочной целостности</vt:lpstr>
      <vt:lpstr>Применение стратегий поддержания ссылочной целостности</vt:lpstr>
      <vt:lpstr>Вопрос 3</vt:lpstr>
      <vt:lpstr>Совместимость по типу</vt:lpstr>
      <vt:lpstr>Поддерживаемые операции</vt:lpstr>
      <vt:lpstr>Объединение</vt:lpstr>
      <vt:lpstr>Пример объединения</vt:lpstr>
      <vt:lpstr>Пример объединения</vt:lpstr>
      <vt:lpstr>Пересечение</vt:lpstr>
      <vt:lpstr>Пример пересечения</vt:lpstr>
      <vt:lpstr>Пример пересечения</vt:lpstr>
      <vt:lpstr>Разность</vt:lpstr>
      <vt:lpstr>Пример разности</vt:lpstr>
      <vt:lpstr>Пример разности</vt:lpstr>
      <vt:lpstr>Декартово произведение (1/2)</vt:lpstr>
      <vt:lpstr>Декартово произведение (2/2)</vt:lpstr>
      <vt:lpstr>Пример декартова произведения</vt:lpstr>
      <vt:lpstr>Пример декартова произведения</vt:lpstr>
      <vt:lpstr>Деление (1/2)</vt:lpstr>
      <vt:lpstr>Деление (2/2)</vt:lpstr>
      <vt:lpstr>Пример деления</vt:lpstr>
      <vt:lpstr>Пример деления</vt:lpstr>
      <vt:lpstr>Выборка</vt:lpstr>
      <vt:lpstr>Θ-выборка</vt:lpstr>
      <vt:lpstr>Замечания</vt:lpstr>
      <vt:lpstr>Пример выборки</vt:lpstr>
      <vt:lpstr>Пример выборки</vt:lpstr>
      <vt:lpstr>Пример выборки</vt:lpstr>
      <vt:lpstr>Проекция (1/2)</vt:lpstr>
      <vt:lpstr>Проекция (2/2)</vt:lpstr>
      <vt:lpstr>Пример проекции</vt:lpstr>
      <vt:lpstr>Пример проекции</vt:lpstr>
      <vt:lpstr>Соединение</vt:lpstr>
      <vt:lpstr>Общая операция соединения </vt:lpstr>
      <vt:lpstr>Θ-соединение</vt:lpstr>
      <vt:lpstr>Пример Θ-соединения (1/3)</vt:lpstr>
      <vt:lpstr>Пример Θ-соединения (2/3)</vt:lpstr>
      <vt:lpstr>Пример Θ-соединения (3/3)</vt:lpstr>
      <vt:lpstr>Экви-соединение</vt:lpstr>
      <vt:lpstr>Пример экви-соединения (1/2)</vt:lpstr>
      <vt:lpstr>Пример экви-соединения (2/2)</vt:lpstr>
      <vt:lpstr>Естественное соединение (1/3) </vt:lpstr>
      <vt:lpstr>Естественное соединение (2/3)</vt:lpstr>
      <vt:lpstr>Естественное соединение (3/3)</vt:lpstr>
      <vt:lpstr>Пример естественного соединения</vt:lpstr>
      <vt:lpstr>Вопрос 4</vt:lpstr>
      <vt:lpstr>Требования к схеме БД</vt:lpstr>
      <vt:lpstr>Процесс нормализации (1/2)</vt:lpstr>
      <vt:lpstr>Процесс нормализации (2/2)</vt:lpstr>
      <vt:lpstr>Последовательность нормальных форм</vt:lpstr>
      <vt:lpstr>Функциональная зависимость атрибутов</vt:lpstr>
      <vt:lpstr>Первая нормальная форма</vt:lpstr>
      <vt:lpstr>Вторая нормальная форма</vt:lpstr>
      <vt:lpstr>Третья нормальная форма</vt:lpstr>
      <vt:lpstr>Пример нормализации (1/3)</vt:lpstr>
      <vt:lpstr>Пример нормализации (2/3)</vt:lpstr>
      <vt:lpstr>Пример нормализации (3/3)</vt:lpstr>
      <vt:lpstr>Применение на практике</vt:lpstr>
      <vt:lpstr>Преимущества нормализации</vt:lpstr>
      <vt:lpstr>Недостатки нормализации</vt:lpstr>
    </vt:vector>
  </TitlesOfParts>
  <Company>TOSHIBA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art</dc:creator>
  <cp:lastModifiedBy>Николай Волков</cp:lastModifiedBy>
  <cp:revision>286</cp:revision>
  <dcterms:created xsi:type="dcterms:W3CDTF">2012-04-10T15:36:07Z</dcterms:created>
  <dcterms:modified xsi:type="dcterms:W3CDTF">2021-12-27T07:32:14Z</dcterms:modified>
</cp:coreProperties>
</file>