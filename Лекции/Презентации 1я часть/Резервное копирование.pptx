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46"/>
  </p:notesMasterIdLst>
  <p:sldIdLst>
    <p:sldId id="257" r:id="rId2"/>
    <p:sldId id="321" r:id="rId3"/>
    <p:sldId id="352" r:id="rId4"/>
    <p:sldId id="330" r:id="rId5"/>
    <p:sldId id="329" r:id="rId6"/>
    <p:sldId id="332" r:id="rId7"/>
    <p:sldId id="331" r:id="rId8"/>
    <p:sldId id="333" r:id="rId9"/>
    <p:sldId id="322" r:id="rId10"/>
    <p:sldId id="335" r:id="rId11"/>
    <p:sldId id="334" r:id="rId12"/>
    <p:sldId id="336" r:id="rId13"/>
    <p:sldId id="323" r:id="rId14"/>
    <p:sldId id="337" r:id="rId15"/>
    <p:sldId id="338" r:id="rId16"/>
    <p:sldId id="339" r:id="rId17"/>
    <p:sldId id="340" r:id="rId18"/>
    <p:sldId id="341" r:id="rId19"/>
    <p:sldId id="324" r:id="rId20"/>
    <p:sldId id="342" r:id="rId21"/>
    <p:sldId id="343" r:id="rId22"/>
    <p:sldId id="344" r:id="rId23"/>
    <p:sldId id="345" r:id="rId24"/>
    <p:sldId id="353" r:id="rId25"/>
    <p:sldId id="325" r:id="rId26"/>
    <p:sldId id="350" r:id="rId27"/>
    <p:sldId id="346" r:id="rId28"/>
    <p:sldId id="347" r:id="rId29"/>
    <p:sldId id="348" r:id="rId30"/>
    <p:sldId id="349" r:id="rId31"/>
    <p:sldId id="351" r:id="rId32"/>
    <p:sldId id="354" r:id="rId33"/>
    <p:sldId id="355" r:id="rId34"/>
    <p:sldId id="326" r:id="rId35"/>
    <p:sldId id="357" r:id="rId36"/>
    <p:sldId id="356" r:id="rId37"/>
    <p:sldId id="359" r:id="rId38"/>
    <p:sldId id="358" r:id="rId39"/>
    <p:sldId id="327" r:id="rId40"/>
    <p:sldId id="360" r:id="rId41"/>
    <p:sldId id="361" r:id="rId42"/>
    <p:sldId id="328" r:id="rId43"/>
    <p:sldId id="362" r:id="rId44"/>
    <p:sldId id="363" r:id="rId4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5696" autoAdjust="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50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20.01.2022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704856" cy="4781128"/>
          </a:xfrm>
        </p:spPr>
        <p:txBody>
          <a:bodyPr>
            <a:normAutofit fontScale="92500" lnSpcReduction="20000"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Цели резервного копирования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Типы резервного копирования в СУБД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Полная копия базы данных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Разностная копия базы данных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Копия журнала транзакций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Резервное копирование файлов и групп файлов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Планирование стратегии резервного копирования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Порядок восстановления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Цели резервного копирования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администратора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</a:t>
            </a:r>
            <a:r>
              <a:rPr lang="ru-RU" dirty="0" smtClean="0"/>
              <a:t>оддержание </a:t>
            </a:r>
            <a:r>
              <a:rPr lang="ru-RU" dirty="0"/>
              <a:t>системы </a:t>
            </a:r>
            <a:r>
              <a:rPr lang="ru-RU" dirty="0" smtClean="0"/>
              <a:t>БД в </a:t>
            </a:r>
            <a:r>
              <a:rPr lang="ru-RU" dirty="0"/>
              <a:t>работоспособном </a:t>
            </a:r>
            <a:r>
              <a:rPr lang="ru-RU" dirty="0" smtClean="0"/>
              <a:t>состоянии</a:t>
            </a:r>
          </a:p>
          <a:p>
            <a:r>
              <a:rPr lang="ru-RU" dirty="0" smtClean="0"/>
              <a:t>Оперативное восстановление </a:t>
            </a:r>
            <a:r>
              <a:rPr lang="ru-RU" dirty="0"/>
              <a:t>в случае повреждения всей системы или одной из ее частей</a:t>
            </a:r>
          </a:p>
        </p:txBody>
      </p:sp>
    </p:spTree>
    <p:extLst>
      <p:ext uri="{BB962C8B-B14F-4D97-AF65-F5344CB8AC3E}">
        <p14:creationId xmlns:p14="http://schemas.microsoft.com/office/powerpoint/2010/main" val="254889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Причины сбоев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Скачки напряжения или полное отключение электропитания</a:t>
            </a:r>
          </a:p>
          <a:p>
            <a:r>
              <a:rPr lang="ru-RU" dirty="0" smtClean="0"/>
              <a:t>Чрезвычайные ситуации: пожар, подтопление</a:t>
            </a:r>
          </a:p>
          <a:p>
            <a:r>
              <a:rPr lang="ru-RU" dirty="0" smtClean="0"/>
              <a:t>Стихийные бедствия: землетрясения, ураганы, наводнения</a:t>
            </a:r>
          </a:p>
          <a:p>
            <a:r>
              <a:rPr lang="ru-RU" dirty="0"/>
              <a:t>Отказ аппаратной части компьютера: </a:t>
            </a:r>
            <a:r>
              <a:rPr lang="ru-RU" dirty="0" smtClean="0"/>
              <a:t>выход </a:t>
            </a:r>
            <a:r>
              <a:rPr lang="ru-RU" dirty="0"/>
              <a:t>из строя жесткого </a:t>
            </a:r>
            <a:r>
              <a:rPr lang="ru-RU" dirty="0" smtClean="0"/>
              <a:t>диска, контроллера диска и пр.</a:t>
            </a:r>
          </a:p>
          <a:p>
            <a:r>
              <a:rPr lang="ru-RU" dirty="0" smtClean="0"/>
              <a:t>Действия пользователей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Повреждение системы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Физическое повреждение компьютера или комплектующих, а также злонамеренное или неумышленное удаление или изменение данных пользователями, приведшее к искажению информации или нарушению целостности информационных структур организации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</p:spPr>
        <p:txBody>
          <a:bodyPr>
            <a:normAutofit/>
          </a:bodyPr>
          <a:lstStyle/>
          <a:p>
            <a:r>
              <a:rPr lang="ru-RU" dirty="0" smtClean="0"/>
              <a:t>Способы обеспечения надежности системы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/>
          <a:lstStyle/>
          <a:p>
            <a:r>
              <a:rPr lang="ru-RU" dirty="0" smtClean="0"/>
              <a:t>Использование технологии </a:t>
            </a:r>
            <a:r>
              <a:rPr lang="en-US" dirty="0" smtClean="0"/>
              <a:t>RAID</a:t>
            </a:r>
            <a:endParaRPr lang="ru-RU" dirty="0" smtClean="0"/>
          </a:p>
          <a:p>
            <a:r>
              <a:rPr lang="ru-RU" dirty="0"/>
              <a:t>Использование резервного сервера</a:t>
            </a:r>
          </a:p>
          <a:p>
            <a:r>
              <a:rPr lang="ru-RU" dirty="0" smtClean="0"/>
              <a:t>Создание кластеров</a:t>
            </a:r>
          </a:p>
          <a:p>
            <a:r>
              <a:rPr lang="ru-RU" dirty="0" smtClean="0"/>
              <a:t>Резервное копирование данных и журнала транзакций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Самый надежный способ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Упомянутые средства обеспечения надежности системы не исключают друг друга – наоборот, желательно применять их совместно друг с другом</a:t>
            </a:r>
          </a:p>
          <a:p>
            <a:r>
              <a:rPr lang="ru-RU" dirty="0" smtClean="0"/>
              <a:t>Однако, </a:t>
            </a:r>
            <a:r>
              <a:rPr lang="ru-RU" b="1" i="1" dirty="0" smtClean="0"/>
              <a:t>единственным надежным способом </a:t>
            </a:r>
            <a:r>
              <a:rPr lang="ru-RU" dirty="0" smtClean="0"/>
              <a:t>гарантированного сохранения информации является создание </a:t>
            </a:r>
            <a:r>
              <a:rPr lang="ru-RU" b="1" i="1" dirty="0" smtClean="0"/>
              <a:t>полных копий </a:t>
            </a:r>
            <a:r>
              <a:rPr lang="ru-RU" dirty="0" smtClean="0"/>
              <a:t>данных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Еще одна цель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Часто резервное копирование используется для переноса баз данных между серверами </a:t>
            </a:r>
          </a:p>
          <a:p>
            <a:r>
              <a:rPr lang="ru-RU" dirty="0" smtClean="0"/>
              <a:t>При выполнении подобного переноса следует учесть, что база данных может быть восстановлена только на </a:t>
            </a:r>
            <a:r>
              <a:rPr lang="en-US" dirty="0" smtClean="0"/>
              <a:t>Oracle</a:t>
            </a:r>
            <a:r>
              <a:rPr lang="ru-RU" dirty="0" smtClean="0"/>
              <a:t>, </a:t>
            </a:r>
            <a:r>
              <a:rPr lang="ru-RU" dirty="0" smtClean="0"/>
              <a:t>имеющем те же параметры кодовой страницы, порядка сортировки и сопоставления </a:t>
            </a:r>
            <a:r>
              <a:rPr lang="en-US" dirty="0" smtClean="0"/>
              <a:t>Unicode</a:t>
            </a:r>
            <a:r>
              <a:rPr lang="ru-RU" dirty="0" smtClean="0"/>
              <a:t>, что и переносимая база данных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Типы резервного копирования в СУБД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Различные условия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12568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Если данные обновляются интенсивно, то резервное копирование следует выполнять достаточно часто</a:t>
            </a:r>
          </a:p>
          <a:p>
            <a:r>
              <a:rPr lang="ru-RU" dirty="0" smtClean="0"/>
              <a:t>Если БД имеет большой размер и интенсивно обновляется, то процесс создания резервной копии всех данных может занять очень много времени</a:t>
            </a:r>
          </a:p>
          <a:p>
            <a:r>
              <a:rPr lang="ru-RU" dirty="0" smtClean="0"/>
              <a:t>Если резервное копирование длится слишком долго, то пользователи не смогут полноценно работать с данными</a:t>
            </a:r>
          </a:p>
          <a:p>
            <a:r>
              <a:rPr lang="ru-RU" dirty="0" smtClean="0"/>
              <a:t>Необходимо каким-либо образом сократить время архивирования, гарантируя при этом полноту резервной копии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копий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Полная копия</a:t>
            </a:r>
          </a:p>
          <a:p>
            <a:r>
              <a:rPr lang="ru-RU" dirty="0" smtClean="0"/>
              <a:t>Разностная копия</a:t>
            </a:r>
          </a:p>
          <a:p>
            <a:r>
              <a:rPr lang="ru-RU" dirty="0" smtClean="0"/>
              <a:t>Копия журнала транзакций</a:t>
            </a:r>
          </a:p>
          <a:p>
            <a:r>
              <a:rPr lang="ru-RU" dirty="0" smtClean="0"/>
              <a:t>Копии файлов и групп файлов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Архивирование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Часто процесс создания резервной копии также называют </a:t>
            </a:r>
            <a:r>
              <a:rPr lang="ru-RU" b="1" i="1" dirty="0" smtClean="0"/>
              <a:t>архивированием</a:t>
            </a:r>
          </a:p>
          <a:p>
            <a:r>
              <a:rPr lang="ru-RU" dirty="0" smtClean="0"/>
              <a:t>Резервная копия имеет значительно меньший размер по сравнению с исходной базой данных</a:t>
            </a:r>
          </a:p>
          <a:p>
            <a:r>
              <a:rPr lang="ru-RU" dirty="0" smtClean="0"/>
              <a:t>Однако, создаваемые средствами </a:t>
            </a:r>
            <a:r>
              <a:rPr lang="en-US" dirty="0" smtClean="0"/>
              <a:t>SQL</a:t>
            </a:r>
            <a:r>
              <a:rPr lang="ru-RU" dirty="0" smtClean="0"/>
              <a:t> резервные копии </a:t>
            </a:r>
            <a:r>
              <a:rPr lang="ru-RU" b="1" i="1" dirty="0" smtClean="0"/>
              <a:t>не упаковываются </a:t>
            </a:r>
            <a:r>
              <a:rPr lang="ru-RU" dirty="0" smtClean="0"/>
              <a:t>в полной мере. Файл резервной копии можно дополнительно уплотнить архиватором (</a:t>
            </a:r>
            <a:r>
              <a:rPr lang="en-US" dirty="0" smtClean="0"/>
              <a:t>RAR</a:t>
            </a:r>
            <a:r>
              <a:rPr lang="ru-RU" dirty="0" smtClean="0"/>
              <a:t>, </a:t>
            </a:r>
            <a:r>
              <a:rPr lang="en-US" dirty="0" smtClean="0"/>
              <a:t>ZIP</a:t>
            </a:r>
            <a:r>
              <a:rPr lang="ru-RU" dirty="0" smtClean="0"/>
              <a:t>,…). С помощью подобных утилит архивы могут быть сжаты еще примерно в 10 раз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Полная копия 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Особенности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Полная копия базы данных (</a:t>
            </a:r>
            <a:r>
              <a:rPr lang="en-US" dirty="0" smtClean="0"/>
              <a:t>database backup</a:t>
            </a:r>
            <a:r>
              <a:rPr lang="ru-RU" dirty="0" smtClean="0"/>
              <a:t>) является стандартным типом резервного копирования</a:t>
            </a:r>
          </a:p>
          <a:p>
            <a:r>
              <a:rPr lang="ru-RU" dirty="0" smtClean="0"/>
              <a:t>Этот тип резервирования предполагает полное копирование всей информации, имеющейся в БД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Достоинства и недостатки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Достоинством является то, что для приведения системы в рабочее состояние достаточно </a:t>
            </a:r>
            <a:r>
              <a:rPr lang="ru-RU" b="1" i="1" dirty="0" smtClean="0"/>
              <a:t>восстановить лишь один архив</a:t>
            </a:r>
            <a:r>
              <a:rPr lang="ru-RU" dirty="0" smtClean="0"/>
              <a:t>, т. к. вся необходимая информация содержится в единственной резервной копии</a:t>
            </a:r>
          </a:p>
          <a:p>
            <a:r>
              <a:rPr lang="ru-RU" dirty="0" smtClean="0"/>
              <a:t>К недостаткам же относится </a:t>
            </a:r>
            <a:r>
              <a:rPr lang="ru-RU" b="1" i="1" dirty="0" smtClean="0"/>
              <a:t>длительное время создания архива </a:t>
            </a:r>
            <a:r>
              <a:rPr lang="ru-RU" dirty="0" smtClean="0"/>
              <a:t>даже в случае внесения незначительных изменений в базу данных. Независимо от того, какая часть информации была изменена(или не изменена вовсе), создание архива будет занимать всегда одинаковое время</a:t>
            </a:r>
          </a:p>
          <a:p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Большие БД с малыми изменениями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При работе с большими БД резервное копирование приходится выполнять довольно редко (раз в сутки, обычно ночью, или даже раз в неделю на выходных) вследствие значительного времени создания архива</a:t>
            </a:r>
          </a:p>
          <a:p>
            <a:r>
              <a:rPr lang="ru-RU" dirty="0" smtClean="0"/>
              <a:t>Актуальность таких архивов низка. Поэтому полное копирование данных необходимо комбинировать с дифференциальным копированием и копированием журнала транзакций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Интенсивные изменения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В промежуток времени между операциями резервного копирования большая часть строк таблиц изменяется по несколько раз</a:t>
            </a:r>
          </a:p>
          <a:p>
            <a:r>
              <a:rPr lang="ru-RU" dirty="0" smtClean="0"/>
              <a:t>Использование дифференциальных копий и копий журнала транзакций бессмысленно, т.к. объем информации об изменениях в БД будет заметно превышать объем самих данных</a:t>
            </a:r>
          </a:p>
          <a:p>
            <a:r>
              <a:rPr lang="ru-RU" dirty="0" smtClean="0"/>
              <a:t>Поэтому в подобных ситуациях лучше будет использовать полное копирование данных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2617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Запрещенные в момент резервного копирования операции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r>
              <a:rPr lang="ru-RU" dirty="0" smtClean="0"/>
              <a:t>Создание и удаление файлов базы данных</a:t>
            </a:r>
          </a:p>
          <a:p>
            <a:r>
              <a:rPr lang="ru-RU" dirty="0" smtClean="0"/>
              <a:t>Создание индексов</a:t>
            </a:r>
          </a:p>
          <a:p>
            <a:r>
              <a:rPr lang="ru-RU" dirty="0" smtClean="0"/>
              <a:t>Выполнение операций, нерегистрируемых в журнале транзакций</a:t>
            </a:r>
          </a:p>
          <a:p>
            <a:r>
              <a:rPr lang="ru-RU" dirty="0" smtClean="0"/>
              <a:t>Автоматическое или ручное уменьшение (</a:t>
            </a:r>
            <a:r>
              <a:rPr lang="en-US" dirty="0" smtClean="0"/>
              <a:t>shrinking</a:t>
            </a:r>
            <a:r>
              <a:rPr lang="ru-RU" dirty="0" smtClean="0"/>
              <a:t>) базы данных или ее файлов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Разностная копия 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Особенности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Разностное, или дифференциальное резервное копирование (</a:t>
            </a:r>
            <a:r>
              <a:rPr lang="en-US" dirty="0" smtClean="0"/>
              <a:t>differential database backup</a:t>
            </a:r>
            <a:r>
              <a:rPr lang="ru-RU" dirty="0" smtClean="0"/>
              <a:t>) было разработано с целью уменьшения времени, необходимого для получения копии базы данных</a:t>
            </a:r>
          </a:p>
          <a:p>
            <a:r>
              <a:rPr lang="ru-RU" dirty="0" smtClean="0"/>
              <a:t>В основе дифференциальной копии лежит отслеживание изменений, вносимых пользователями в базу данных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Отслеживание изменений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Каждая страница имеет </a:t>
            </a:r>
            <a:r>
              <a:rPr lang="ru-RU" b="1" i="1" dirty="0" smtClean="0"/>
              <a:t>флаг архивирования</a:t>
            </a:r>
            <a:r>
              <a:rPr lang="ru-RU" dirty="0" smtClean="0"/>
              <a:t>, который сбрасывается при создании </a:t>
            </a:r>
            <a:r>
              <a:rPr lang="ru-RU" b="1" i="1" dirty="0" smtClean="0"/>
              <a:t>полной копии </a:t>
            </a:r>
            <a:r>
              <a:rPr lang="ru-RU" dirty="0" smtClean="0"/>
              <a:t>и устанавливается, если данные на странице были изменены</a:t>
            </a:r>
          </a:p>
          <a:p>
            <a:r>
              <a:rPr lang="ru-RU" dirty="0" smtClean="0"/>
              <a:t>В дифференциальную копию включаются только страницы с </a:t>
            </a:r>
            <a:r>
              <a:rPr lang="ru-RU" b="1" i="1" dirty="0" smtClean="0"/>
              <a:t>установленным флагом архивирования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Следствие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При последовательном создании нескольких дифференциальных копий каждая следующая будет полностью включать страницы, которые были включены в предыдущую копию плюс все страницы, измененные со времени создания предыдущей копии</a:t>
            </a:r>
          </a:p>
          <a:p>
            <a:r>
              <a:rPr lang="ru-RU" dirty="0" smtClean="0"/>
              <a:t>Т.о., </a:t>
            </a:r>
            <a:r>
              <a:rPr lang="ru-RU" b="1" i="1" dirty="0" smtClean="0"/>
              <a:t>актуальна только самая последняя дифференциальная копия</a:t>
            </a:r>
            <a:r>
              <a:rPr lang="ru-RU" dirty="0" smtClean="0"/>
              <a:t>. Чтобы целиком восстановить систему после восстановления полной резервной копии достаточно применить только ее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Применение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В больших БД с относительно небольшим количеством изменений дифференциальное копирование является наиболее оптимальным методом резервирования данных</a:t>
            </a:r>
          </a:p>
          <a:p>
            <a:r>
              <a:rPr lang="ru-RU" dirty="0" smtClean="0"/>
              <a:t>Администратор может раз в неделю (обычно в выходные) создавать полную копию данных, а каждой ночью (или дополнительно еще и днем) создавать дифференциальную копию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Достоинства и недостатки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Достоинства:</a:t>
            </a:r>
          </a:p>
          <a:p>
            <a:pPr lvl="1"/>
            <a:r>
              <a:rPr lang="ru-RU" dirty="0" smtClean="0"/>
              <a:t>Меньшее время создания копии</a:t>
            </a:r>
          </a:p>
          <a:p>
            <a:pPr lvl="1"/>
            <a:r>
              <a:rPr lang="ru-RU" dirty="0" smtClean="0"/>
              <a:t>Меньший размер копии</a:t>
            </a:r>
          </a:p>
          <a:p>
            <a:r>
              <a:rPr lang="ru-RU" dirty="0" smtClean="0"/>
              <a:t>Недостатки:</a:t>
            </a:r>
          </a:p>
          <a:p>
            <a:pPr lvl="1"/>
            <a:r>
              <a:rPr lang="ru-RU" dirty="0" smtClean="0"/>
              <a:t>Зависимость от полной резервной копии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549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Копия журнала транзакций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Особенности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Резервного копирование журнала транзакций (</a:t>
            </a:r>
            <a:r>
              <a:rPr lang="en-US" dirty="0" smtClean="0"/>
              <a:t>transaction log backup</a:t>
            </a:r>
            <a:r>
              <a:rPr lang="ru-RU" dirty="0" smtClean="0"/>
              <a:t>) позволяет сохранять информацию обо всех транзакциях, выполненных в базе данных</a:t>
            </a:r>
          </a:p>
          <a:p>
            <a:r>
              <a:rPr lang="ru-RU" dirty="0" smtClean="0"/>
              <a:t>В итоге резервная копия содержит непрерывную цепочку изменений, которые претерпели данные со времени последнего архивирования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Предпосылки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Восстановив полную копию базы данных или дополнительно еще и разностную копию, можно восстановить систему в том состоянии, в котором она была на момент создания архива</a:t>
            </a:r>
          </a:p>
          <a:p>
            <a:r>
              <a:rPr lang="ru-RU" dirty="0" smtClean="0"/>
              <a:t>Однако нельзя восстановить систему в промежуточном состоянии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Ситуация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Предположим, что полная резервная копия создается раз в неделю, а каждую ночь формируется разностная резервная копия базы данных</a:t>
            </a:r>
          </a:p>
          <a:p>
            <a:r>
              <a:rPr lang="ru-RU" dirty="0" smtClean="0"/>
              <a:t>В 8 часов утра Вы обнаруживаете, что один из пользователей вчера по ошибке удалил большое количество информации из 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Вынужденное решение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Хотя у вас и имеется резервная копия, созданная в прошлую ночь, Вы не сможете воспользоваться ею, т.к. она содержит уже поврежденные данные</a:t>
            </a:r>
          </a:p>
          <a:p>
            <a:r>
              <a:rPr lang="ru-RU" dirty="0" smtClean="0"/>
              <a:t>Для восстановления данных придется использовать еще более раннюю резервную копию, при этом будут потеряны все изменения, внесенные пользователями в базу данных за прошлый день</a:t>
            </a:r>
          </a:p>
          <a:p>
            <a:r>
              <a:rPr lang="ru-RU" dirty="0" smtClean="0"/>
              <a:t>Эти изменения необходимо будет восстанавливать вручную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>
            <a:normAutofit/>
          </a:bodyPr>
          <a:lstStyle/>
          <a:p>
            <a:r>
              <a:rPr lang="ru-RU" dirty="0" smtClean="0"/>
              <a:t>Правильное решение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Использование копии журнала транзакций позволяет восстановить систему в состоянии, в котором она была в любой момент времени, и этот момент отображен в резервной копии</a:t>
            </a:r>
          </a:p>
          <a:p>
            <a:r>
              <a:rPr lang="ru-RU" dirty="0" smtClean="0"/>
              <a:t>Необходимо восстановить полную копию базы данных и последнюю разностную копию</a:t>
            </a:r>
          </a:p>
          <a:p>
            <a:r>
              <a:rPr lang="ru-RU" dirty="0" smtClean="0"/>
              <a:t>При восстановлении резервной копии журнала транзакций </a:t>
            </a:r>
            <a:r>
              <a:rPr lang="ru-RU" dirty="0" smtClean="0"/>
              <a:t>последовательно </a:t>
            </a:r>
            <a:r>
              <a:rPr lang="ru-RU" dirty="0" smtClean="0"/>
              <a:t>выполняет все изменения, выполненные пользователями в базе данных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Усечение журнала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При использовании данного типа резервного копирования нельзя применять усечение журнала (</a:t>
            </a:r>
            <a:r>
              <a:rPr lang="en-US" dirty="0"/>
              <a:t>shrinking</a:t>
            </a:r>
            <a:r>
              <a:rPr lang="ru-RU" dirty="0" smtClean="0"/>
              <a:t>)	</a:t>
            </a:r>
          </a:p>
          <a:p>
            <a:r>
              <a:rPr lang="ru-RU" dirty="0" smtClean="0"/>
              <a:t>Сервер автоматически выполняет усечение каждый раз после создания копии журнала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Если создаются несколько последовательных копий журнала, при восстановлении необходимо </a:t>
            </a:r>
            <a:r>
              <a:rPr lang="ru-RU" b="1" i="1" dirty="0" smtClean="0"/>
              <a:t>последовательно применить каждую из </a:t>
            </a:r>
            <a:r>
              <a:rPr lang="ru-RU" dirty="0" smtClean="0"/>
              <a:t>них</a:t>
            </a:r>
          </a:p>
          <a:p>
            <a:r>
              <a:rPr lang="ru-RU" dirty="0" smtClean="0"/>
              <a:t>При создании копии сервер включает в нее только сведения о </a:t>
            </a:r>
            <a:r>
              <a:rPr lang="ru-RU" b="1" i="1" dirty="0" smtClean="0"/>
              <a:t>зафиксированных транзакциях</a:t>
            </a:r>
          </a:p>
          <a:p>
            <a:r>
              <a:rPr lang="ru-RU" dirty="0" smtClean="0"/>
              <a:t>Можно восстанавливать не все изменения, а изменения </a:t>
            </a:r>
            <a:r>
              <a:rPr lang="ru-RU" b="1" i="1" dirty="0" smtClean="0"/>
              <a:t>до конкретного момента времени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4262185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Достоинства и недостатки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Достоинства:</a:t>
            </a:r>
          </a:p>
          <a:p>
            <a:pPr lvl="1"/>
            <a:r>
              <a:rPr lang="ru-RU" dirty="0" smtClean="0"/>
              <a:t>Меньшее время создания копии</a:t>
            </a:r>
          </a:p>
          <a:p>
            <a:pPr lvl="1"/>
            <a:r>
              <a:rPr lang="ru-RU" dirty="0" smtClean="0"/>
              <a:t>Автоматическое усечение журнала</a:t>
            </a:r>
          </a:p>
          <a:p>
            <a:pPr lvl="1"/>
            <a:r>
              <a:rPr lang="ru-RU" dirty="0" smtClean="0"/>
              <a:t>Возможность восстановления до конкретного момента времени</a:t>
            </a:r>
          </a:p>
          <a:p>
            <a:r>
              <a:rPr lang="ru-RU" dirty="0" smtClean="0"/>
              <a:t>Недостатки:</a:t>
            </a:r>
          </a:p>
          <a:p>
            <a:pPr lvl="1"/>
            <a:r>
              <a:rPr lang="ru-RU" dirty="0" smtClean="0"/>
              <a:t>Блокировка журнала транзакций на </a:t>
            </a:r>
            <a:r>
              <a:rPr lang="ru-RU" dirty="0"/>
              <a:t>время создания копии </a:t>
            </a:r>
            <a:endParaRPr lang="ru-RU" dirty="0" smtClean="0"/>
          </a:p>
          <a:p>
            <a:pPr lvl="1"/>
            <a:r>
              <a:rPr lang="ru-RU" dirty="0" smtClean="0"/>
              <a:t>Необходимость наличия «стартовой точки»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222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Резервное копирование файлов и групп файлов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Особенности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ru-RU" dirty="0" smtClean="0"/>
              <a:t>уществует возможность хранения данных таблиц или даже отдельных столбцов таблиц в отдельных файлах</a:t>
            </a:r>
          </a:p>
          <a:p>
            <a:r>
              <a:rPr lang="ru-RU" dirty="0" smtClean="0"/>
              <a:t>Администратор может выбрать для создания резервной копии часть файлов БД и тем самым сэкономить время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517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Предпосылки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Ни полное, ни резервное копирование не позволяют архивировать только часть </a:t>
            </a:r>
            <a:r>
              <a:rPr lang="ru-RU" dirty="0" smtClean="0"/>
              <a:t>данных (например без индексов)</a:t>
            </a:r>
          </a:p>
          <a:p>
            <a:r>
              <a:rPr lang="ru-RU" dirty="0" smtClean="0"/>
              <a:t>Если </a:t>
            </a:r>
            <a:r>
              <a:rPr lang="ru-RU" dirty="0"/>
              <a:t>большую часть базы данных составляет справочная информация, которая не </a:t>
            </a:r>
            <a:r>
              <a:rPr lang="ru-RU" dirty="0" smtClean="0"/>
              <a:t>изменяется, прочие типы резервного копирования неэффективны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303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Для гарантии неизменности справочных данных все содержащие их таблицы можно прикрепить к группе файлов и установить ее в режим только для чтения (</a:t>
            </a:r>
            <a:r>
              <a:rPr lang="en-US" dirty="0"/>
              <a:t>read only</a:t>
            </a:r>
            <a:r>
              <a:rPr lang="ru-RU" dirty="0" smtClean="0"/>
              <a:t>)</a:t>
            </a:r>
          </a:p>
          <a:p>
            <a:r>
              <a:rPr lang="ru-RU" dirty="0" smtClean="0"/>
              <a:t>Для предотвращения нарушения целостности данных рекомендуется </a:t>
            </a:r>
            <a:r>
              <a:rPr lang="ru-RU" dirty="0"/>
              <a:t>хранить все связанные данные в одной группе файлов и выполнять ее архивирование за одну операцию</a:t>
            </a:r>
          </a:p>
        </p:txBody>
      </p:sp>
    </p:spTree>
    <p:extLst>
      <p:ext uri="{BB962C8B-B14F-4D97-AF65-F5344CB8AC3E}">
        <p14:creationId xmlns:p14="http://schemas.microsoft.com/office/powerpoint/2010/main" val="272105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Достоинства и недостатки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Достоинства:</a:t>
            </a:r>
          </a:p>
          <a:p>
            <a:pPr lvl="1"/>
            <a:r>
              <a:rPr lang="ru-RU" dirty="0" smtClean="0"/>
              <a:t>Возможность избежать копирования неизменяемой части данных или вторичных данных</a:t>
            </a:r>
          </a:p>
          <a:p>
            <a:pPr lvl="1"/>
            <a:r>
              <a:rPr lang="ru-RU" dirty="0" smtClean="0"/>
              <a:t>Возможность разбиения «тяжелой» операции создания резервной копии на несколько более «легких»</a:t>
            </a:r>
          </a:p>
          <a:p>
            <a:r>
              <a:rPr lang="ru-RU" dirty="0" smtClean="0"/>
              <a:t>Недостатки:</a:t>
            </a:r>
          </a:p>
          <a:p>
            <a:pPr lvl="1"/>
            <a:r>
              <a:rPr lang="ru-RU" dirty="0" smtClean="0"/>
              <a:t>Возможное рассогласование данных из разных файлов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903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Планирование стратегии резервного копирования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Типичная стратегия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Создание полной резервной копии раз в неделю (на выходных)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Создание разностной копии раз в день (ночью)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Создание </a:t>
            </a:r>
            <a:r>
              <a:rPr lang="ru-RU" dirty="0"/>
              <a:t>копия журнала </a:t>
            </a:r>
            <a:r>
              <a:rPr lang="ru-RU" dirty="0" smtClean="0"/>
              <a:t>транзакций несколько раз в день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01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первые дни недели разностная копия будет иметь небольшой объем, т. к. количество изменений невелико. Однако к концу недели размер разностной копии может существенно </a:t>
            </a:r>
            <a:r>
              <a:rPr lang="ru-RU" dirty="0" smtClean="0"/>
              <a:t>увеличиться</a:t>
            </a:r>
          </a:p>
          <a:p>
            <a:r>
              <a:rPr lang="ru-RU" dirty="0"/>
              <a:t>При выборе частоты архивирования следует учесть, что в сумме объем копируемой информации будет один и тот же, независимо от того, один раз выполняется архивирование, или десять. Чем чаще создается резервная копия, тем меньше потерь понесет ваша организация в случае сбоя </a:t>
            </a:r>
            <a:r>
              <a:rPr lang="ru-RU" dirty="0" smtClean="0"/>
              <a:t>системы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553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Порядок восстановления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Полное восстановление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Восстановить </a:t>
            </a:r>
            <a:r>
              <a:rPr lang="ru-RU" dirty="0"/>
              <a:t>последнюю </a:t>
            </a:r>
            <a:r>
              <a:rPr lang="ru-RU" dirty="0" smtClean="0"/>
              <a:t>полную копию данных</a:t>
            </a:r>
          </a:p>
          <a:p>
            <a:r>
              <a:rPr lang="ru-RU" dirty="0" smtClean="0"/>
              <a:t>Восстановить последнюю дифференциальную копию</a:t>
            </a:r>
          </a:p>
          <a:p>
            <a:r>
              <a:rPr lang="ru-RU" dirty="0" smtClean="0"/>
              <a:t>Восстановить последовательно все копии журнала транзакции, созданные с момента последней дифференциальной копии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927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</p:spPr>
        <p:txBody>
          <a:bodyPr>
            <a:normAutofit/>
          </a:bodyPr>
          <a:lstStyle/>
          <a:p>
            <a:r>
              <a:rPr lang="ru-RU" dirty="0" smtClean="0"/>
              <a:t>Восстановление до конкретного момента времени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Восстановить </a:t>
            </a:r>
            <a:r>
              <a:rPr lang="ru-RU" dirty="0"/>
              <a:t>последнюю </a:t>
            </a:r>
            <a:r>
              <a:rPr lang="ru-RU" dirty="0" smtClean="0"/>
              <a:t>полную копию данных, созданную до нужного момента времени</a:t>
            </a:r>
          </a:p>
          <a:p>
            <a:r>
              <a:rPr lang="ru-RU" dirty="0" smtClean="0"/>
              <a:t>Восстановить последнюю дифференциальную копию, </a:t>
            </a:r>
            <a:r>
              <a:rPr lang="ru-RU" dirty="0"/>
              <a:t>созданную до нужного момента времени</a:t>
            </a:r>
            <a:endParaRPr lang="ru-RU" dirty="0" smtClean="0"/>
          </a:p>
          <a:p>
            <a:r>
              <a:rPr lang="ru-RU" dirty="0" smtClean="0"/>
              <a:t>Восстановить последовательно копии журнала транзакции, созданные с момента создания восстановленной дифференциальной копии, </a:t>
            </a:r>
            <a:r>
              <a:rPr lang="ru-RU" dirty="0"/>
              <a:t>до нужного момента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325183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5877</TotalTime>
  <Words>1443</Words>
  <Application>Microsoft Office PowerPoint</Application>
  <PresentationFormat>Экран (4:3)</PresentationFormat>
  <Paragraphs>159</Paragraphs>
  <Slides>44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47" baseType="lpstr">
      <vt:lpstr>Arial</vt:lpstr>
      <vt:lpstr>Calibri</vt:lpstr>
      <vt:lpstr>Тема Office</vt:lpstr>
      <vt:lpstr>План лекции</vt:lpstr>
      <vt:lpstr>Вопрос 1</vt:lpstr>
      <vt:lpstr>Задачи администратора</vt:lpstr>
      <vt:lpstr>Причины сбоев</vt:lpstr>
      <vt:lpstr>Повреждение системы</vt:lpstr>
      <vt:lpstr>Способы обеспечения надежности системы</vt:lpstr>
      <vt:lpstr>Самый надежный способ</vt:lpstr>
      <vt:lpstr>Еще одна цель</vt:lpstr>
      <vt:lpstr>Вопрос 2</vt:lpstr>
      <vt:lpstr>Различные условия</vt:lpstr>
      <vt:lpstr>Типы копий</vt:lpstr>
      <vt:lpstr>Архивирование</vt:lpstr>
      <vt:lpstr>Вопрос 3</vt:lpstr>
      <vt:lpstr>Особенности</vt:lpstr>
      <vt:lpstr>Достоинства и недостатки</vt:lpstr>
      <vt:lpstr>Большие БД с малыми изменениями</vt:lpstr>
      <vt:lpstr>Интенсивные изменения</vt:lpstr>
      <vt:lpstr>Запрещенные в момент резервного копирования операции</vt:lpstr>
      <vt:lpstr>Вопрос 4</vt:lpstr>
      <vt:lpstr>Особенности</vt:lpstr>
      <vt:lpstr>Отслеживание изменений</vt:lpstr>
      <vt:lpstr>Следствие</vt:lpstr>
      <vt:lpstr>Применение</vt:lpstr>
      <vt:lpstr>Достоинства и недостатки</vt:lpstr>
      <vt:lpstr>Вопрос 5</vt:lpstr>
      <vt:lpstr>Особенности</vt:lpstr>
      <vt:lpstr>Предпосылки</vt:lpstr>
      <vt:lpstr>Ситуация</vt:lpstr>
      <vt:lpstr>Вынужденное решение</vt:lpstr>
      <vt:lpstr>Правильное решение</vt:lpstr>
      <vt:lpstr>Усечение журнала</vt:lpstr>
      <vt:lpstr>Замечания</vt:lpstr>
      <vt:lpstr>Достоинства и недостатки</vt:lpstr>
      <vt:lpstr>Вопрос 6</vt:lpstr>
      <vt:lpstr>Особенности</vt:lpstr>
      <vt:lpstr>Предпосылки</vt:lpstr>
      <vt:lpstr>Замечания</vt:lpstr>
      <vt:lpstr>Достоинства и недостатки</vt:lpstr>
      <vt:lpstr>Вопрос 7</vt:lpstr>
      <vt:lpstr>Типичная стратегия</vt:lpstr>
      <vt:lpstr>Замечания</vt:lpstr>
      <vt:lpstr>Вопрос 8</vt:lpstr>
      <vt:lpstr>Полное восстановление</vt:lpstr>
      <vt:lpstr>Восстановление до конкретного момента времени 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652</cp:revision>
  <dcterms:created xsi:type="dcterms:W3CDTF">2012-04-10T15:36:07Z</dcterms:created>
  <dcterms:modified xsi:type="dcterms:W3CDTF">2022-01-20T16:58:46Z</dcterms:modified>
</cp:coreProperties>
</file>