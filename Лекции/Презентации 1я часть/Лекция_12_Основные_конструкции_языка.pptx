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26"/>
  </p:notesMasterIdLst>
  <p:sldIdLst>
    <p:sldId id="257" r:id="rId2"/>
    <p:sldId id="321" r:id="rId3"/>
    <p:sldId id="326" r:id="rId4"/>
    <p:sldId id="327" r:id="rId5"/>
    <p:sldId id="412" r:id="rId6"/>
    <p:sldId id="407" r:id="rId7"/>
    <p:sldId id="414" r:id="rId8"/>
    <p:sldId id="415" r:id="rId9"/>
    <p:sldId id="416" r:id="rId10"/>
    <p:sldId id="418" r:id="rId11"/>
    <p:sldId id="420" r:id="rId12"/>
    <p:sldId id="408" r:id="rId13"/>
    <p:sldId id="422" r:id="rId14"/>
    <p:sldId id="423" r:id="rId15"/>
    <p:sldId id="421" r:id="rId16"/>
    <p:sldId id="424" r:id="rId17"/>
    <p:sldId id="411" r:id="rId18"/>
    <p:sldId id="425" r:id="rId19"/>
    <p:sldId id="427" r:id="rId20"/>
    <p:sldId id="428" r:id="rId21"/>
    <p:sldId id="426" r:id="rId22"/>
    <p:sldId id="429" r:id="rId23"/>
    <p:sldId id="430" r:id="rId24"/>
    <p:sldId id="431" r:id="rId2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5696" autoAdjust="0"/>
  </p:normalViewPr>
  <p:slideViewPr>
    <p:cSldViewPr>
      <p:cViewPr varScale="1">
        <p:scale>
          <a:sx n="110" d="100"/>
          <a:sy n="110" d="100"/>
        </p:scale>
        <p:origin x="164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50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EBBD4-DF2A-466B-9C02-819997BF5FCB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924E2-C814-4D75-AACF-890EFECD781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81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лекции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600200"/>
            <a:ext cx="7704856" cy="4781128"/>
          </a:xfrm>
        </p:spPr>
        <p:txBody>
          <a:bodyPr>
            <a:normAutofit/>
          </a:bodyPr>
          <a:lstStyle/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Команда создания таблицы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Использование ограничений целостности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Команды изменения структуры и удаления таблицы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Команда создания представления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Команда создания индекса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Команда создания таблицы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12968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Синтаксис команды CREATE TABLE</a:t>
            </a:r>
            <a:r>
              <a:rPr lang="en-US" dirty="0" smtClean="0"/>
              <a:t> </a:t>
            </a:r>
            <a:r>
              <a:rPr lang="ru-RU" dirty="0" smtClean="0"/>
              <a:t>(1/2)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628800"/>
            <a:ext cx="8352928" cy="4248472"/>
          </a:xfrm>
        </p:spPr>
        <p:txBody>
          <a:bodyPr>
            <a:normAutofit/>
          </a:bodyPr>
          <a:lstStyle/>
          <a:p>
            <a:pPr marL="0" indent="0" hangingPunct="0">
              <a:buNone/>
            </a:pPr>
            <a:r>
              <a:rPr lang="ru-RU" sz="3400" dirty="0" smtClean="0"/>
              <a:t>CREATE TABLE &lt;</a:t>
            </a:r>
            <a:r>
              <a:rPr lang="ru-RU" sz="3400" dirty="0" err="1" smtClean="0"/>
              <a:t>table</a:t>
            </a:r>
            <a:r>
              <a:rPr lang="ru-RU" sz="3400" dirty="0" smtClean="0"/>
              <a:t> </a:t>
            </a:r>
            <a:r>
              <a:rPr lang="ru-RU" sz="3400" dirty="0" err="1" smtClean="0"/>
              <a:t>name</a:t>
            </a:r>
            <a:r>
              <a:rPr lang="ru-RU" sz="3400" dirty="0" smtClean="0"/>
              <a:t>&gt;</a:t>
            </a:r>
            <a:br>
              <a:rPr lang="ru-RU" sz="3400" dirty="0" smtClean="0"/>
            </a:br>
            <a:r>
              <a:rPr lang="ru-RU" sz="3400" dirty="0" smtClean="0"/>
              <a:t> </a:t>
            </a:r>
            <a:r>
              <a:rPr lang="en-US" sz="3400" dirty="0" smtClean="0"/>
              <a:t>	</a:t>
            </a:r>
            <a:r>
              <a:rPr lang="ru-RU" sz="3400" dirty="0" smtClean="0"/>
              <a:t>( { &lt;</a:t>
            </a:r>
            <a:r>
              <a:rPr lang="ru-RU" sz="3400" dirty="0" err="1" smtClean="0"/>
              <a:t>column</a:t>
            </a:r>
            <a:r>
              <a:rPr lang="ru-RU" sz="3400" dirty="0" smtClean="0"/>
              <a:t> </a:t>
            </a:r>
            <a:r>
              <a:rPr lang="ru-RU" sz="3400" dirty="0" err="1" smtClean="0"/>
              <a:t>name</a:t>
            </a:r>
            <a:r>
              <a:rPr lang="ru-RU" sz="3400" dirty="0" smtClean="0"/>
              <a:t>&gt; &lt;</a:t>
            </a:r>
            <a:r>
              <a:rPr lang="ru-RU" sz="3400" dirty="0" err="1" smtClean="0"/>
              <a:t>data</a:t>
            </a:r>
            <a:r>
              <a:rPr lang="ru-RU" sz="3400" dirty="0" smtClean="0"/>
              <a:t> </a:t>
            </a:r>
            <a:r>
              <a:rPr lang="ru-RU" sz="3400" dirty="0" err="1" smtClean="0"/>
              <a:t>type</a:t>
            </a:r>
            <a:r>
              <a:rPr lang="ru-RU" sz="3400" dirty="0" smtClean="0"/>
              <a:t>&gt; </a:t>
            </a:r>
            <a:r>
              <a:rPr lang="en-US" sz="3400" dirty="0" smtClean="0"/>
              <a:t>[</a:t>
            </a:r>
            <a:r>
              <a:rPr lang="ru-RU" sz="3400" dirty="0" smtClean="0"/>
              <a:t>(&lt;</a:t>
            </a:r>
            <a:r>
              <a:rPr lang="ru-RU" sz="3400" dirty="0" err="1" smtClean="0"/>
              <a:t>size</a:t>
            </a:r>
            <a:r>
              <a:rPr lang="ru-RU" sz="3400" dirty="0" smtClean="0"/>
              <a:t>&gt;)]</a:t>
            </a:r>
            <a:r>
              <a:rPr lang="en-US" sz="3400" dirty="0" smtClean="0"/>
              <a:t> 		</a:t>
            </a:r>
            <a:r>
              <a:rPr lang="ru-RU" sz="3400" dirty="0" smtClean="0"/>
              <a:t>[&lt;</a:t>
            </a:r>
            <a:r>
              <a:rPr lang="ru-RU" sz="3400" dirty="0" err="1" smtClean="0"/>
              <a:t>col</a:t>
            </a:r>
            <a:r>
              <a:rPr lang="en-US" sz="3400" dirty="0" err="1" smtClean="0"/>
              <a:t>umn</a:t>
            </a:r>
            <a:r>
              <a:rPr lang="en-US" sz="3400" dirty="0" smtClean="0"/>
              <a:t> </a:t>
            </a:r>
            <a:r>
              <a:rPr lang="ru-RU" sz="3400" dirty="0" err="1" smtClean="0"/>
              <a:t>c</a:t>
            </a:r>
            <a:r>
              <a:rPr lang="en-US" sz="3400" dirty="0" smtClean="0"/>
              <a:t>o</a:t>
            </a:r>
            <a:r>
              <a:rPr lang="ru-RU" sz="3400" dirty="0" err="1" smtClean="0"/>
              <a:t>nstr</a:t>
            </a:r>
            <a:r>
              <a:rPr lang="en-US" sz="3400" dirty="0" err="1" smtClean="0"/>
              <a:t>ai</a:t>
            </a:r>
            <a:r>
              <a:rPr lang="ru-RU" sz="3400" dirty="0" err="1" smtClean="0"/>
              <a:t>nt</a:t>
            </a:r>
            <a:r>
              <a:rPr lang="ru-RU" sz="3400" dirty="0" smtClean="0"/>
              <a:t>&gt; ...]</a:t>
            </a:r>
            <a:r>
              <a:rPr lang="en-US" sz="3400" dirty="0" smtClean="0"/>
              <a:t> </a:t>
            </a:r>
            <a:r>
              <a:rPr lang="ru-RU" sz="3400" dirty="0" smtClean="0"/>
              <a:t>} .,.. </a:t>
            </a:r>
            <a:br>
              <a:rPr lang="ru-RU" sz="3400" dirty="0" smtClean="0"/>
            </a:br>
            <a:r>
              <a:rPr lang="ru-RU" sz="3400" dirty="0" smtClean="0"/>
              <a:t>  </a:t>
            </a:r>
            <a:r>
              <a:rPr lang="en-US" sz="3400" dirty="0" smtClean="0"/>
              <a:t>  	  </a:t>
            </a:r>
            <a:r>
              <a:rPr lang="ru-RU" sz="3400" dirty="0" smtClean="0"/>
              <a:t>[&lt;</a:t>
            </a:r>
            <a:r>
              <a:rPr lang="ru-RU" sz="3400" dirty="0" err="1" smtClean="0"/>
              <a:t>tab</a:t>
            </a:r>
            <a:r>
              <a:rPr lang="en-US" sz="3400" dirty="0" smtClean="0"/>
              <a:t>le </a:t>
            </a:r>
            <a:r>
              <a:rPr lang="ru-RU" sz="3400" dirty="0" err="1" smtClean="0"/>
              <a:t>c</a:t>
            </a:r>
            <a:r>
              <a:rPr lang="en-US" sz="3400" dirty="0" smtClean="0"/>
              <a:t>o</a:t>
            </a:r>
            <a:r>
              <a:rPr lang="ru-RU" sz="3400" dirty="0" err="1" smtClean="0"/>
              <a:t>nstr</a:t>
            </a:r>
            <a:r>
              <a:rPr lang="en-US" sz="3400" dirty="0" err="1" smtClean="0"/>
              <a:t>ai</a:t>
            </a:r>
            <a:r>
              <a:rPr lang="ru-RU" sz="3400" dirty="0" err="1" smtClean="0"/>
              <a:t>nt</a:t>
            </a:r>
            <a:r>
              <a:rPr lang="ru-RU" sz="3400" dirty="0" smtClean="0"/>
              <a:t> &gt;] .,..</a:t>
            </a:r>
            <a:endParaRPr lang="en-US" sz="3400" dirty="0" smtClean="0"/>
          </a:p>
          <a:p>
            <a:pPr marL="0" indent="0" hangingPunct="0">
              <a:buNone/>
            </a:pPr>
            <a:r>
              <a:rPr lang="en-US" sz="3400" dirty="0" smtClean="0"/>
              <a:t>	</a:t>
            </a:r>
            <a:r>
              <a:rPr lang="ru-RU" sz="3400" dirty="0" smtClean="0"/>
              <a:t>)</a:t>
            </a:r>
          </a:p>
          <a:p>
            <a:pPr marL="0" indent="0" hangingPunct="0">
              <a:buNone/>
            </a:pPr>
            <a:r>
              <a:rPr lang="ru-RU" sz="3400" dirty="0" smtClean="0"/>
              <a:t/>
            </a:r>
            <a:br>
              <a:rPr lang="ru-RU" sz="3400" dirty="0" smtClean="0"/>
            </a:br>
            <a:endParaRPr lang="ru-RU" sz="3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12968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Синтаксис команды CREATE TABLE</a:t>
            </a:r>
            <a:r>
              <a:rPr lang="en-US" dirty="0" smtClean="0"/>
              <a:t> </a:t>
            </a:r>
            <a:r>
              <a:rPr lang="ru-RU" dirty="0" smtClean="0"/>
              <a:t>(2/2)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50704"/>
                <a:gridCol w="4978896"/>
              </a:tblGrid>
              <a:tr h="37084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ru-RU" sz="2800" kern="1200" dirty="0" err="1" smtClean="0"/>
                        <a:t>table</a:t>
                      </a:r>
                      <a:r>
                        <a:rPr lang="ru-RU" sz="2800" kern="1200" dirty="0" smtClean="0"/>
                        <a:t> </a:t>
                      </a:r>
                      <a:r>
                        <a:rPr lang="ru-RU" sz="2800" kern="1200" dirty="0" err="1" smtClean="0"/>
                        <a:t>name</a:t>
                      </a:r>
                      <a:r>
                        <a:rPr lang="ru-RU" sz="2800" kern="12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Имя создаваемой таблицы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ru-RU" sz="2800" kern="1200" dirty="0" err="1" smtClean="0"/>
                        <a:t>column</a:t>
                      </a:r>
                      <a:r>
                        <a:rPr lang="ru-RU" sz="2800" kern="1200" dirty="0" smtClean="0"/>
                        <a:t> </a:t>
                      </a:r>
                      <a:r>
                        <a:rPr lang="ru-RU" sz="2800" kern="1200" dirty="0" err="1" smtClean="0"/>
                        <a:t>name</a:t>
                      </a:r>
                      <a:r>
                        <a:rPr lang="ru-RU" sz="2800" kern="12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Имя столбца в таблице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&lt;data type&gt;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Тип данных для значений столбца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&lt;</a:t>
                      </a:r>
                      <a:r>
                        <a:rPr lang="ru-RU" sz="2800" dirty="0" err="1" smtClean="0"/>
                        <a:t>size</a:t>
                      </a:r>
                      <a:r>
                        <a:rPr lang="ru-RU" sz="28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Размер</a:t>
                      </a:r>
                      <a:r>
                        <a:rPr lang="ru-RU" sz="2800" baseline="0" dirty="0" smtClean="0"/>
                        <a:t> (зависит от </a:t>
                      </a:r>
                      <a:r>
                        <a:rPr lang="en-US" sz="2800" dirty="0" smtClean="0"/>
                        <a:t>&lt;data type&gt;</a:t>
                      </a:r>
                      <a:r>
                        <a:rPr lang="ru-RU" sz="2800" baseline="0" dirty="0" smtClean="0"/>
                        <a:t>)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&lt;</a:t>
                      </a:r>
                      <a:r>
                        <a:rPr lang="ru-RU" sz="2800" dirty="0" err="1" smtClean="0"/>
                        <a:t>col</a:t>
                      </a:r>
                      <a:r>
                        <a:rPr lang="en-US" sz="2800" dirty="0" err="1" smtClean="0"/>
                        <a:t>umn</a:t>
                      </a:r>
                      <a:r>
                        <a:rPr lang="en-US" sz="2800" dirty="0" smtClean="0"/>
                        <a:t> </a:t>
                      </a:r>
                      <a:r>
                        <a:rPr lang="ru-RU" sz="2800" dirty="0" err="1" smtClean="0"/>
                        <a:t>c</a:t>
                      </a:r>
                      <a:r>
                        <a:rPr lang="en-US" sz="2800" dirty="0" smtClean="0"/>
                        <a:t>o</a:t>
                      </a:r>
                      <a:r>
                        <a:rPr lang="ru-RU" sz="2800" dirty="0" err="1" smtClean="0"/>
                        <a:t>nstr</a:t>
                      </a:r>
                      <a:r>
                        <a:rPr lang="en-US" sz="2800" dirty="0" err="1" smtClean="0"/>
                        <a:t>ai</a:t>
                      </a:r>
                      <a:r>
                        <a:rPr lang="ru-RU" sz="2800" dirty="0" err="1" smtClean="0"/>
                        <a:t>nt</a:t>
                      </a:r>
                      <a:r>
                        <a:rPr lang="ru-RU" sz="2800" dirty="0" smtClean="0"/>
                        <a:t>&gt; 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Ограничение</a:t>
                      </a:r>
                      <a:r>
                        <a:rPr lang="ru-RU" sz="2800" baseline="0" dirty="0" smtClean="0"/>
                        <a:t> целостности на уровне столбца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&lt;</a:t>
                      </a:r>
                      <a:r>
                        <a:rPr lang="ru-RU" sz="2800" dirty="0" err="1" smtClean="0"/>
                        <a:t>tab</a:t>
                      </a:r>
                      <a:r>
                        <a:rPr lang="en-US" sz="2800" dirty="0" smtClean="0"/>
                        <a:t>le </a:t>
                      </a:r>
                      <a:r>
                        <a:rPr lang="ru-RU" sz="2800" dirty="0" err="1" smtClean="0"/>
                        <a:t>c</a:t>
                      </a:r>
                      <a:r>
                        <a:rPr lang="en-US" sz="2800" dirty="0" smtClean="0"/>
                        <a:t>o</a:t>
                      </a:r>
                      <a:r>
                        <a:rPr lang="ru-RU" sz="2800" dirty="0" err="1" smtClean="0"/>
                        <a:t>nstr</a:t>
                      </a:r>
                      <a:r>
                        <a:rPr lang="en-US" sz="2800" dirty="0" err="1" smtClean="0"/>
                        <a:t>ai</a:t>
                      </a:r>
                      <a:r>
                        <a:rPr lang="ru-RU" sz="2800" dirty="0" err="1" smtClean="0"/>
                        <a:t>nt</a:t>
                      </a:r>
                      <a:r>
                        <a:rPr lang="ru-RU" sz="28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Ограничение целостности на уровне таблицы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CREATE TABLE Student </a:t>
            </a:r>
          </a:p>
          <a:p>
            <a:pPr>
              <a:buNone/>
            </a:pPr>
            <a:r>
              <a:rPr lang="en-US" dirty="0" smtClean="0"/>
              <a:t>		(ID </a:t>
            </a:r>
            <a:r>
              <a:rPr lang="en-US" dirty="0" err="1" smtClean="0"/>
              <a:t>int</a:t>
            </a:r>
            <a:r>
              <a:rPr lang="en-US" dirty="0" smtClean="0"/>
              <a:t>, </a:t>
            </a:r>
            <a:r>
              <a:rPr lang="en-US" dirty="0" err="1" smtClean="0"/>
              <a:t>Fio</a:t>
            </a:r>
            <a:r>
              <a:rPr lang="en-US" dirty="0" smtClean="0"/>
              <a:t> </a:t>
            </a:r>
            <a:r>
              <a:rPr lang="en-US" dirty="0" err="1" smtClean="0"/>
              <a:t>varchar</a:t>
            </a:r>
            <a:r>
              <a:rPr lang="en-US" dirty="0" smtClean="0"/>
              <a:t>(50), Gender char(1))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Использование ограничений целостности</a:t>
            </a:r>
          </a:p>
          <a:p>
            <a:pPr marL="0" lvl="0" indent="0" algn="ctr">
              <a:buNone/>
            </a:pPr>
            <a:endParaRPr lang="ru-RU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Ограничения целостности столбца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67544" y="1340768"/>
          <a:ext cx="8363272" cy="51125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92488"/>
                <a:gridCol w="3970784"/>
              </a:tblGrid>
              <a:tr h="853726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NULL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Допустимость </a:t>
                      </a:r>
                      <a:r>
                        <a:rPr lang="en-US" sz="2400" dirty="0" smtClean="0"/>
                        <a:t>NULL-</a:t>
                      </a:r>
                      <a:r>
                        <a:rPr lang="ru-RU" sz="2400" dirty="0" smtClean="0"/>
                        <a:t>значений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928668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NOT</a:t>
                      </a:r>
                      <a:r>
                        <a:rPr lang="en-US" sz="2400" baseline="0" dirty="0" smtClean="0"/>
                        <a:t> NULL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Недопустимость </a:t>
                      </a:r>
                      <a:r>
                        <a:rPr lang="en-US" sz="2400" dirty="0" smtClean="0"/>
                        <a:t>NULL-</a:t>
                      </a:r>
                      <a:r>
                        <a:rPr lang="ru-RU" sz="2400" dirty="0" smtClean="0"/>
                        <a:t>значений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5927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DEFAULT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Значение по умолчанию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928668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UNIQUE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Требование уникальности значений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5927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CHECK</a:t>
                      </a:r>
                      <a:r>
                        <a:rPr lang="ru-RU" sz="2400" dirty="0" smtClean="0"/>
                        <a:t>(</a:t>
                      </a:r>
                      <a:r>
                        <a:rPr lang="en-US" sz="2400" dirty="0" smtClean="0"/>
                        <a:t>&lt;predicate&gt;</a:t>
                      </a:r>
                      <a:r>
                        <a:rPr lang="ru-RU" sz="2400" dirty="0" smtClean="0"/>
                        <a:t>)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Проверка</a:t>
                      </a:r>
                      <a:r>
                        <a:rPr lang="ru-RU" sz="2400" baseline="0" dirty="0" smtClean="0"/>
                        <a:t> условия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5927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PRIMARY KEY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Первичный ключ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537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[FOREIGN KEY] REFERENCES </a:t>
                      </a:r>
                      <a:r>
                        <a:rPr lang="ru-RU" sz="2400" kern="1200" dirty="0" smtClean="0"/>
                        <a:t>&lt;</a:t>
                      </a:r>
                      <a:r>
                        <a:rPr lang="ru-RU" sz="2400" kern="1200" dirty="0" err="1" smtClean="0"/>
                        <a:t>table</a:t>
                      </a:r>
                      <a:r>
                        <a:rPr lang="ru-RU" sz="2400" kern="1200" dirty="0" smtClean="0"/>
                        <a:t> </a:t>
                      </a:r>
                      <a:r>
                        <a:rPr lang="ru-RU" sz="2400" kern="1200" dirty="0" err="1" smtClean="0"/>
                        <a:t>name</a:t>
                      </a:r>
                      <a:r>
                        <a:rPr lang="ru-RU" sz="2400" kern="1200" dirty="0" smtClean="0"/>
                        <a:t>&gt;</a:t>
                      </a:r>
                      <a:r>
                        <a:rPr lang="en-US" sz="2400" kern="1200" dirty="0" smtClean="0"/>
                        <a:t> [(</a:t>
                      </a:r>
                      <a:r>
                        <a:rPr lang="ru-RU" sz="2400" kern="1200" dirty="0" smtClean="0"/>
                        <a:t>&lt;</a:t>
                      </a:r>
                      <a:r>
                        <a:rPr lang="ru-RU" sz="2400" kern="1200" dirty="0" err="1" smtClean="0"/>
                        <a:t>column</a:t>
                      </a:r>
                      <a:r>
                        <a:rPr lang="ru-RU" sz="2400" kern="1200" dirty="0" smtClean="0"/>
                        <a:t> </a:t>
                      </a:r>
                      <a:r>
                        <a:rPr lang="ru-RU" sz="2400" kern="1200" dirty="0" err="1" smtClean="0"/>
                        <a:t>name</a:t>
                      </a:r>
                      <a:r>
                        <a:rPr lang="ru-RU" sz="2400" kern="1200" dirty="0" smtClean="0"/>
                        <a:t>&gt;</a:t>
                      </a:r>
                      <a:r>
                        <a:rPr lang="en-US" sz="2400" kern="1200" dirty="0" smtClean="0"/>
                        <a:t>)]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Внешний</a:t>
                      </a:r>
                      <a:r>
                        <a:rPr lang="ru-RU" sz="2400" baseline="0" dirty="0" smtClean="0"/>
                        <a:t> ключ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Счетчик в </a:t>
            </a:r>
            <a:r>
              <a:rPr lang="en-US" dirty="0" smtClean="0"/>
              <a:t>MS SQL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9552" y="1700808"/>
            <a:ext cx="8229600" cy="892696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IDENTITY [(&lt;initial value&gt;, &lt;step&gt;)]</a:t>
            </a:r>
          </a:p>
          <a:p>
            <a:pPr algn="ctr">
              <a:buNone/>
            </a:pP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763688" y="2852936"/>
          <a:ext cx="6408712" cy="1889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8438"/>
                <a:gridCol w="4040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&lt;initial value&gt;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Начальное</a:t>
                      </a:r>
                      <a:r>
                        <a:rPr lang="ru-RU" sz="2800" baseline="0" dirty="0" smtClean="0"/>
                        <a:t> значение</a:t>
                      </a:r>
                    </a:p>
                    <a:p>
                      <a:r>
                        <a:rPr lang="ru-RU" sz="2800" baseline="0" dirty="0" smtClean="0"/>
                        <a:t>(по умолчанию  = 1)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&lt;step&gt;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Приращение</a:t>
                      </a:r>
                    </a:p>
                    <a:p>
                      <a:r>
                        <a:rPr lang="ru-RU" sz="2800" baseline="0" dirty="0" smtClean="0"/>
                        <a:t>(по умолчанию  = 1)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CREATE TABLE Student </a:t>
            </a:r>
          </a:p>
          <a:p>
            <a:pPr>
              <a:buNone/>
            </a:pPr>
            <a:r>
              <a:rPr lang="en-US" dirty="0" smtClean="0"/>
              <a:t>		(ID </a:t>
            </a:r>
            <a:r>
              <a:rPr lang="en-US" dirty="0" err="1" smtClean="0"/>
              <a:t>int</a:t>
            </a:r>
            <a:r>
              <a:rPr lang="en-US" dirty="0" smtClean="0"/>
              <a:t> PRIMARY KEY</a:t>
            </a:r>
            <a:r>
              <a:rPr lang="ru-RU" dirty="0" smtClean="0"/>
              <a:t> </a:t>
            </a:r>
            <a:r>
              <a:rPr lang="en-US" dirty="0" smtClean="0"/>
              <a:t>IDENTITY,</a:t>
            </a:r>
          </a:p>
          <a:p>
            <a:pPr>
              <a:buNone/>
            </a:pPr>
            <a:r>
              <a:rPr lang="en-US" dirty="0" smtClean="0"/>
              <a:t>		 </a:t>
            </a:r>
            <a:r>
              <a:rPr lang="en-US" dirty="0" err="1" smtClean="0"/>
              <a:t>Fio</a:t>
            </a:r>
            <a:r>
              <a:rPr lang="en-US" dirty="0" smtClean="0"/>
              <a:t> </a:t>
            </a:r>
            <a:r>
              <a:rPr lang="en-US" dirty="0" err="1" smtClean="0"/>
              <a:t>varchar</a:t>
            </a:r>
            <a:r>
              <a:rPr lang="en-US" dirty="0" smtClean="0"/>
              <a:t>(50) NOT NULL,</a:t>
            </a:r>
          </a:p>
          <a:p>
            <a:pPr>
              <a:buNone/>
            </a:pPr>
            <a:r>
              <a:rPr lang="en-US" dirty="0" smtClean="0"/>
              <a:t>		 </a:t>
            </a:r>
            <a:r>
              <a:rPr lang="en-US" dirty="0" err="1" smtClean="0"/>
              <a:t>GroupID</a:t>
            </a:r>
            <a:r>
              <a:rPr lang="en-US" dirty="0" smtClean="0"/>
              <a:t> </a:t>
            </a:r>
            <a:r>
              <a:rPr lang="en-US" dirty="0" err="1" smtClean="0"/>
              <a:t>smallint</a:t>
            </a:r>
            <a:r>
              <a:rPr lang="en-US" dirty="0" smtClean="0"/>
              <a:t> REFERENCES Group(ID),</a:t>
            </a:r>
          </a:p>
          <a:p>
            <a:pPr>
              <a:buNone/>
            </a:pPr>
            <a:r>
              <a:rPr lang="en-US" dirty="0" smtClean="0"/>
              <a:t>		 Gender char(1) DEFAULT ‘</a:t>
            </a:r>
            <a:r>
              <a:rPr lang="ru-RU" dirty="0" smtClean="0"/>
              <a:t>м</a:t>
            </a:r>
            <a:r>
              <a:rPr lang="en-US" dirty="0" smtClean="0"/>
              <a:t>’ </a:t>
            </a:r>
          </a:p>
          <a:p>
            <a:pPr>
              <a:buNone/>
            </a:pPr>
            <a:r>
              <a:rPr lang="en-US" dirty="0" smtClean="0"/>
              <a:t>			CHECK (Gender IN (‘</a:t>
            </a:r>
            <a:r>
              <a:rPr lang="ru-RU" dirty="0" smtClean="0"/>
              <a:t>м</a:t>
            </a:r>
            <a:r>
              <a:rPr lang="en-US" dirty="0" smtClean="0"/>
              <a:t>’, ‘</a:t>
            </a:r>
            <a:r>
              <a:rPr lang="ru-RU" dirty="0" smtClean="0"/>
              <a:t>ж</a:t>
            </a:r>
            <a:r>
              <a:rPr lang="en-US" dirty="0" smtClean="0"/>
              <a:t>’))</a:t>
            </a:r>
            <a:r>
              <a:rPr lang="ru-RU" dirty="0" smtClean="0"/>
              <a:t> </a:t>
            </a:r>
            <a:r>
              <a:rPr lang="en-US" dirty="0" smtClean="0"/>
              <a:t>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Ограничения целостности таблицы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67544" y="1340768"/>
          <a:ext cx="8363272" cy="2814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92488"/>
                <a:gridCol w="3970784"/>
              </a:tblGrid>
              <a:tr h="928668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UNIQUE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Требование уникальности значений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5927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CHECK</a:t>
                      </a:r>
                      <a:r>
                        <a:rPr lang="ru-RU" sz="2400" dirty="0" smtClean="0"/>
                        <a:t>(</a:t>
                      </a:r>
                      <a:r>
                        <a:rPr lang="en-US" sz="2400" dirty="0" smtClean="0"/>
                        <a:t>&lt;predicate&gt;</a:t>
                      </a:r>
                      <a:r>
                        <a:rPr lang="ru-RU" sz="2400" dirty="0" smtClean="0"/>
                        <a:t>)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Проверка</a:t>
                      </a:r>
                      <a:r>
                        <a:rPr lang="ru-RU" sz="2400" baseline="0" dirty="0" smtClean="0"/>
                        <a:t> условия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5927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PRIMARY KEY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Первичный ключ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537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[FOREIGN KEY] REFERENCES </a:t>
                      </a:r>
                      <a:r>
                        <a:rPr lang="ru-RU" sz="2400" kern="1200" dirty="0" smtClean="0"/>
                        <a:t>&lt;</a:t>
                      </a:r>
                      <a:r>
                        <a:rPr lang="ru-RU" sz="2400" kern="1200" dirty="0" err="1" smtClean="0"/>
                        <a:t>table</a:t>
                      </a:r>
                      <a:r>
                        <a:rPr lang="ru-RU" sz="2400" kern="1200" dirty="0" smtClean="0"/>
                        <a:t> </a:t>
                      </a:r>
                      <a:r>
                        <a:rPr lang="ru-RU" sz="2400" kern="1200" dirty="0" err="1" smtClean="0"/>
                        <a:t>name</a:t>
                      </a:r>
                      <a:r>
                        <a:rPr lang="ru-RU" sz="2400" kern="1200" dirty="0" smtClean="0"/>
                        <a:t>&gt;</a:t>
                      </a:r>
                      <a:r>
                        <a:rPr lang="en-US" sz="2400" kern="1200" dirty="0" smtClean="0"/>
                        <a:t> [(</a:t>
                      </a:r>
                      <a:r>
                        <a:rPr lang="ru-RU" sz="2400" kern="1200" dirty="0" smtClean="0"/>
                        <a:t>&lt;</a:t>
                      </a:r>
                      <a:r>
                        <a:rPr lang="ru-RU" sz="2400" kern="1200" dirty="0" err="1" smtClean="0"/>
                        <a:t>column</a:t>
                      </a:r>
                      <a:r>
                        <a:rPr lang="ru-RU" sz="2400" kern="1200" dirty="0" smtClean="0"/>
                        <a:t> </a:t>
                      </a:r>
                      <a:r>
                        <a:rPr lang="ru-RU" sz="2400" kern="1200" dirty="0" err="1" smtClean="0"/>
                        <a:t>name</a:t>
                      </a:r>
                      <a:r>
                        <a:rPr lang="ru-RU" sz="2400" kern="1200" dirty="0" smtClean="0"/>
                        <a:t>&gt;</a:t>
                      </a:r>
                      <a:r>
                        <a:rPr lang="en-US" sz="2400" kern="1200" dirty="0" smtClean="0"/>
                        <a:t>)]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Внешний</a:t>
                      </a:r>
                      <a:r>
                        <a:rPr lang="ru-RU" sz="2400" baseline="0" dirty="0" smtClean="0"/>
                        <a:t> ключ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dirty="0" smtClean="0"/>
              <a:t>CREATE TABLE Student </a:t>
            </a:r>
          </a:p>
          <a:p>
            <a:pPr>
              <a:buNone/>
            </a:pPr>
            <a:r>
              <a:rPr lang="en-US" dirty="0" smtClean="0"/>
              <a:t>		(</a:t>
            </a:r>
            <a:r>
              <a:rPr lang="en-US" dirty="0" err="1" smtClean="0"/>
              <a:t>GroupID</a:t>
            </a:r>
            <a:r>
              <a:rPr lang="en-US" dirty="0" smtClean="0"/>
              <a:t> </a:t>
            </a:r>
            <a:r>
              <a:rPr lang="en-US" dirty="0" err="1" smtClean="0"/>
              <a:t>smallint</a:t>
            </a:r>
            <a:r>
              <a:rPr lang="en-US" dirty="0" smtClean="0"/>
              <a:t> REFERENCES Group(ID),</a:t>
            </a:r>
          </a:p>
          <a:p>
            <a:pPr>
              <a:buNone/>
            </a:pPr>
            <a:r>
              <a:rPr lang="en-US" dirty="0" smtClean="0"/>
              <a:t>		 ID </a:t>
            </a:r>
            <a:r>
              <a:rPr lang="en-US" dirty="0" err="1" smtClean="0"/>
              <a:t>int</a:t>
            </a:r>
            <a:r>
              <a:rPr lang="en-US" dirty="0" smtClean="0"/>
              <a:t>, -- </a:t>
            </a:r>
            <a:r>
              <a:rPr lang="ru-RU" dirty="0" smtClean="0"/>
              <a:t>номер в журнале группы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 </a:t>
            </a:r>
            <a:r>
              <a:rPr lang="en-US" dirty="0" err="1" smtClean="0"/>
              <a:t>Fio</a:t>
            </a:r>
            <a:r>
              <a:rPr lang="en-US" dirty="0" smtClean="0"/>
              <a:t> </a:t>
            </a:r>
            <a:r>
              <a:rPr lang="en-US" dirty="0" err="1" smtClean="0"/>
              <a:t>varchar</a:t>
            </a:r>
            <a:r>
              <a:rPr lang="en-US" dirty="0" smtClean="0"/>
              <a:t>(50),</a:t>
            </a:r>
          </a:p>
          <a:p>
            <a:pPr>
              <a:buNone/>
            </a:pPr>
            <a:r>
              <a:rPr lang="en-US" dirty="0" smtClean="0"/>
              <a:t>		 Gender char(1) DEFAULT ‘</a:t>
            </a:r>
            <a:r>
              <a:rPr lang="ru-RU" dirty="0" smtClean="0"/>
              <a:t>м</a:t>
            </a:r>
            <a:r>
              <a:rPr lang="en-US" dirty="0" smtClean="0"/>
              <a:t>’ </a:t>
            </a:r>
          </a:p>
          <a:p>
            <a:pPr>
              <a:buNone/>
            </a:pPr>
            <a:r>
              <a:rPr lang="en-US" dirty="0" smtClean="0"/>
              <a:t>			CHECK (Gender IN (‘</a:t>
            </a:r>
            <a:r>
              <a:rPr lang="ru-RU" dirty="0" smtClean="0"/>
              <a:t>м</a:t>
            </a:r>
            <a:r>
              <a:rPr lang="en-US" dirty="0" smtClean="0"/>
              <a:t>’, ‘</a:t>
            </a:r>
            <a:r>
              <a:rPr lang="ru-RU" dirty="0" smtClean="0"/>
              <a:t>ж</a:t>
            </a:r>
            <a:r>
              <a:rPr lang="en-US" dirty="0" smtClean="0"/>
              <a:t>’))</a:t>
            </a:r>
            <a:r>
              <a:rPr lang="ru-RU" dirty="0" smtClean="0"/>
              <a:t>,</a:t>
            </a:r>
          </a:p>
          <a:p>
            <a:pPr>
              <a:buNone/>
            </a:pPr>
            <a:r>
              <a:rPr lang="ru-RU" dirty="0" smtClean="0"/>
              <a:t>		</a:t>
            </a:r>
            <a:r>
              <a:rPr lang="en-US" dirty="0" smtClean="0"/>
              <a:t> PRIMARY KEY</a:t>
            </a:r>
            <a:r>
              <a:rPr lang="ru-RU" dirty="0" smtClean="0"/>
              <a:t> (</a:t>
            </a:r>
            <a:r>
              <a:rPr lang="en-US" dirty="0" err="1" smtClean="0"/>
              <a:t>GroupID</a:t>
            </a:r>
            <a:r>
              <a:rPr lang="ru-RU" dirty="0" smtClean="0"/>
              <a:t>, </a:t>
            </a:r>
            <a:r>
              <a:rPr lang="en-US" dirty="0" smtClean="0"/>
              <a:t>ID</a:t>
            </a:r>
            <a:r>
              <a:rPr lang="ru-RU" dirty="0" smtClean="0"/>
              <a:t>)</a:t>
            </a:r>
            <a:r>
              <a:rPr lang="en-US" dirty="0" smtClean="0"/>
              <a:t>,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	</a:t>
            </a:r>
            <a:r>
              <a:rPr lang="en-US" dirty="0" smtClean="0"/>
              <a:t> CONSTRAINT </a:t>
            </a:r>
            <a:r>
              <a:rPr lang="en-US" dirty="0" err="1" smtClean="0"/>
              <a:t>FioUnq</a:t>
            </a:r>
            <a:r>
              <a:rPr lang="en-US" dirty="0" smtClean="0"/>
              <a:t> UNIQUE</a:t>
            </a:r>
            <a:r>
              <a:rPr lang="ru-RU" dirty="0" smtClean="0"/>
              <a:t> (</a:t>
            </a:r>
            <a:r>
              <a:rPr lang="en-US" dirty="0" err="1" smtClean="0"/>
              <a:t>GroupID</a:t>
            </a:r>
            <a:r>
              <a:rPr lang="ru-RU" dirty="0" smtClean="0"/>
              <a:t>, </a:t>
            </a:r>
            <a:r>
              <a:rPr lang="en-US" dirty="0" err="1" smtClean="0"/>
              <a:t>Fio</a:t>
            </a:r>
            <a:r>
              <a:rPr lang="ru-RU" dirty="0" smtClean="0"/>
              <a:t>) </a:t>
            </a:r>
            <a:r>
              <a:rPr lang="en-US" dirty="0" smtClean="0"/>
              <a:t>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3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Команды изменения структуры и удаления таблицы</a:t>
            </a:r>
          </a:p>
          <a:p>
            <a:pPr marL="0" lvl="0" indent="0" algn="ctr">
              <a:buNone/>
            </a:pPr>
            <a:endParaRPr lang="ru-RU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12968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Синтаксис команды </a:t>
            </a:r>
            <a:r>
              <a:rPr lang="en-US" dirty="0" smtClean="0"/>
              <a:t>ALTER</a:t>
            </a:r>
            <a:r>
              <a:rPr lang="ru-RU" dirty="0" smtClean="0"/>
              <a:t> TABLE</a:t>
            </a:r>
            <a:r>
              <a:rPr lang="en-US" dirty="0" smtClean="0"/>
              <a:t> </a:t>
            </a:r>
            <a:r>
              <a:rPr lang="ru-RU" dirty="0" smtClean="0"/>
              <a:t>(1/2)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31032" y="1628800"/>
            <a:ext cx="8712968" cy="4968552"/>
          </a:xfrm>
        </p:spPr>
        <p:txBody>
          <a:bodyPr>
            <a:normAutofit fontScale="85000" lnSpcReduction="10000"/>
          </a:bodyPr>
          <a:lstStyle/>
          <a:p>
            <a:pPr marL="0" indent="0" hangingPunct="0">
              <a:buNone/>
            </a:pPr>
            <a:r>
              <a:rPr lang="en-US" sz="4100" dirty="0" smtClean="0"/>
              <a:t>ALTER</a:t>
            </a:r>
            <a:r>
              <a:rPr lang="ru-RU" sz="4100" dirty="0" smtClean="0"/>
              <a:t> TABLE &lt;</a:t>
            </a:r>
            <a:r>
              <a:rPr lang="ru-RU" sz="4100" dirty="0" err="1" smtClean="0"/>
              <a:t>table</a:t>
            </a:r>
            <a:r>
              <a:rPr lang="ru-RU" sz="4100" dirty="0" smtClean="0"/>
              <a:t> </a:t>
            </a:r>
            <a:r>
              <a:rPr lang="ru-RU" sz="4100" dirty="0" err="1" smtClean="0"/>
              <a:t>name</a:t>
            </a:r>
            <a:r>
              <a:rPr lang="ru-RU" sz="4100" dirty="0" smtClean="0"/>
              <a:t>&gt;</a:t>
            </a:r>
            <a:br>
              <a:rPr lang="ru-RU" sz="4100" dirty="0" smtClean="0"/>
            </a:br>
            <a:r>
              <a:rPr lang="ru-RU" sz="4100" dirty="0" smtClean="0"/>
              <a:t> </a:t>
            </a:r>
            <a:r>
              <a:rPr lang="en-US" sz="4100" dirty="0" smtClean="0"/>
              <a:t>	</a:t>
            </a:r>
            <a:r>
              <a:rPr lang="ru-RU" sz="4100" dirty="0" smtClean="0"/>
              <a:t>(</a:t>
            </a:r>
            <a:r>
              <a:rPr lang="en-US" sz="4100" dirty="0" smtClean="0"/>
              <a:t> [ADD</a:t>
            </a:r>
            <a:r>
              <a:rPr lang="ru-RU" sz="4100" dirty="0" smtClean="0"/>
              <a:t> &lt;</a:t>
            </a:r>
            <a:r>
              <a:rPr lang="ru-RU" sz="4100" dirty="0" err="1" smtClean="0"/>
              <a:t>column</a:t>
            </a:r>
            <a:r>
              <a:rPr lang="ru-RU" sz="4100" dirty="0" smtClean="0"/>
              <a:t>&gt;.,..</a:t>
            </a:r>
            <a:r>
              <a:rPr lang="en-US" sz="4100" dirty="0" smtClean="0"/>
              <a:t>] </a:t>
            </a:r>
            <a:r>
              <a:rPr lang="ru-RU" sz="4100" dirty="0" smtClean="0"/>
              <a:t>.,.. </a:t>
            </a:r>
            <a:br>
              <a:rPr lang="ru-RU" sz="4100" dirty="0" smtClean="0"/>
            </a:br>
            <a:r>
              <a:rPr lang="ru-RU" sz="4100" dirty="0" smtClean="0"/>
              <a:t>  </a:t>
            </a:r>
            <a:r>
              <a:rPr lang="en-US" sz="4100" dirty="0" smtClean="0"/>
              <a:t>  	  </a:t>
            </a:r>
            <a:r>
              <a:rPr lang="ru-RU" sz="4100" dirty="0" smtClean="0"/>
              <a:t>[</a:t>
            </a:r>
            <a:r>
              <a:rPr lang="en-US" sz="4100" dirty="0" smtClean="0"/>
              <a:t>ADD </a:t>
            </a:r>
            <a:r>
              <a:rPr lang="ru-RU" sz="4100" dirty="0" smtClean="0"/>
              <a:t>&lt;</a:t>
            </a:r>
            <a:r>
              <a:rPr lang="ru-RU" sz="4100" dirty="0" err="1" smtClean="0"/>
              <a:t>tab</a:t>
            </a:r>
            <a:r>
              <a:rPr lang="en-US" sz="4100" dirty="0" smtClean="0"/>
              <a:t>le </a:t>
            </a:r>
            <a:r>
              <a:rPr lang="ru-RU" sz="4100" dirty="0" err="1" smtClean="0"/>
              <a:t>c</a:t>
            </a:r>
            <a:r>
              <a:rPr lang="en-US" sz="4100" dirty="0" smtClean="0"/>
              <a:t>o</a:t>
            </a:r>
            <a:r>
              <a:rPr lang="ru-RU" sz="4100" dirty="0" err="1" smtClean="0"/>
              <a:t>nstr</a:t>
            </a:r>
            <a:r>
              <a:rPr lang="en-US" sz="4100" dirty="0" err="1" smtClean="0"/>
              <a:t>ai</a:t>
            </a:r>
            <a:r>
              <a:rPr lang="ru-RU" sz="4100" dirty="0" err="1" smtClean="0"/>
              <a:t>nt</a:t>
            </a:r>
            <a:r>
              <a:rPr lang="ru-RU" sz="4100" dirty="0" smtClean="0"/>
              <a:t>&gt;.,..</a:t>
            </a:r>
            <a:r>
              <a:rPr lang="en-US" sz="4100" dirty="0" smtClean="0"/>
              <a:t>] </a:t>
            </a:r>
            <a:r>
              <a:rPr lang="ru-RU" sz="4100" dirty="0" smtClean="0"/>
              <a:t>.,..</a:t>
            </a:r>
            <a:endParaRPr lang="en-US" sz="4100" dirty="0" smtClean="0"/>
          </a:p>
          <a:p>
            <a:pPr marL="0" indent="0" hangingPunct="0">
              <a:buNone/>
            </a:pPr>
            <a:r>
              <a:rPr lang="en-US" sz="4100" dirty="0" smtClean="0"/>
              <a:t>	  </a:t>
            </a:r>
            <a:r>
              <a:rPr lang="ru-RU" sz="4100" dirty="0" smtClean="0"/>
              <a:t>[</a:t>
            </a:r>
            <a:r>
              <a:rPr lang="en-US" sz="4100" dirty="0" smtClean="0"/>
              <a:t>ALTER COLUMN </a:t>
            </a:r>
            <a:r>
              <a:rPr lang="ru-RU" sz="4100" dirty="0" smtClean="0"/>
              <a:t>&lt;</a:t>
            </a:r>
            <a:r>
              <a:rPr lang="ru-RU" sz="4100" dirty="0" err="1" smtClean="0"/>
              <a:t>column</a:t>
            </a:r>
            <a:r>
              <a:rPr lang="en-US" sz="4100" dirty="0" smtClean="0"/>
              <a:t> name</a:t>
            </a:r>
            <a:r>
              <a:rPr lang="ru-RU" sz="4100" dirty="0" smtClean="0"/>
              <a:t>&gt;</a:t>
            </a:r>
            <a:endParaRPr lang="en-US" sz="4100" dirty="0" smtClean="0"/>
          </a:p>
          <a:p>
            <a:pPr marL="0" indent="0" hangingPunct="0">
              <a:buNone/>
            </a:pPr>
            <a:r>
              <a:rPr lang="en-US" sz="4100" dirty="0" smtClean="0"/>
              <a:t>		&lt;data type&gt; [NULL | NOT NULL] ] </a:t>
            </a:r>
            <a:r>
              <a:rPr lang="ru-RU" sz="4100" dirty="0" smtClean="0"/>
              <a:t>.,..</a:t>
            </a:r>
            <a:endParaRPr lang="en-US" sz="4100" dirty="0" smtClean="0"/>
          </a:p>
          <a:p>
            <a:pPr marL="0" indent="0" hangingPunct="0">
              <a:buNone/>
            </a:pPr>
            <a:r>
              <a:rPr lang="en-US" sz="4100" dirty="0" smtClean="0"/>
              <a:t>	  [DROP [CONSTRAINT] &lt;</a:t>
            </a:r>
            <a:r>
              <a:rPr lang="ru-RU" sz="4100" dirty="0" err="1" smtClean="0"/>
              <a:t>c</a:t>
            </a:r>
            <a:r>
              <a:rPr lang="en-US" sz="4100" dirty="0" smtClean="0"/>
              <a:t>o</a:t>
            </a:r>
            <a:r>
              <a:rPr lang="ru-RU" sz="4100" dirty="0" err="1" smtClean="0"/>
              <a:t>nstr</a:t>
            </a:r>
            <a:r>
              <a:rPr lang="en-US" sz="4100" dirty="0" err="1" smtClean="0"/>
              <a:t>ai</a:t>
            </a:r>
            <a:r>
              <a:rPr lang="ru-RU" sz="4100" dirty="0" err="1" smtClean="0"/>
              <a:t>nt</a:t>
            </a:r>
            <a:r>
              <a:rPr lang="en-US" sz="4100" dirty="0" smtClean="0"/>
              <a:t>&gt;]</a:t>
            </a:r>
            <a:r>
              <a:rPr lang="ru-RU" sz="4100" dirty="0" smtClean="0"/>
              <a:t> .,..</a:t>
            </a:r>
            <a:endParaRPr lang="en-US" sz="4100" dirty="0" smtClean="0"/>
          </a:p>
          <a:p>
            <a:pPr marL="0" indent="0" hangingPunct="0">
              <a:buNone/>
            </a:pPr>
            <a:r>
              <a:rPr lang="en-US" sz="4100" dirty="0" smtClean="0"/>
              <a:t>	  [DROP COLUMN </a:t>
            </a:r>
            <a:r>
              <a:rPr lang="ru-RU" sz="4100" dirty="0" smtClean="0"/>
              <a:t>&lt;</a:t>
            </a:r>
            <a:r>
              <a:rPr lang="ru-RU" sz="4100" dirty="0" err="1" smtClean="0"/>
              <a:t>column</a:t>
            </a:r>
            <a:r>
              <a:rPr lang="ru-RU" sz="4100" dirty="0" smtClean="0"/>
              <a:t>&gt;</a:t>
            </a:r>
            <a:r>
              <a:rPr lang="en-US" sz="4100" dirty="0" smtClean="0"/>
              <a:t>]</a:t>
            </a:r>
            <a:r>
              <a:rPr lang="ru-RU" sz="4100" dirty="0" smtClean="0"/>
              <a:t> .,..</a:t>
            </a:r>
            <a:endParaRPr lang="en-US" sz="4100" dirty="0" smtClean="0"/>
          </a:p>
          <a:p>
            <a:pPr marL="0" indent="0" hangingPunct="0">
              <a:buNone/>
            </a:pPr>
            <a:r>
              <a:rPr lang="en-US" sz="4100" dirty="0" smtClean="0"/>
              <a:t>	</a:t>
            </a:r>
            <a:r>
              <a:rPr lang="ru-RU" sz="4100" dirty="0" smtClean="0"/>
              <a:t>)</a:t>
            </a:r>
            <a:r>
              <a:rPr lang="ru-RU" sz="3400" dirty="0" smtClean="0"/>
              <a:t/>
            </a:r>
            <a:br>
              <a:rPr lang="ru-RU" sz="3400" dirty="0" smtClean="0"/>
            </a:br>
            <a:endParaRPr lang="ru-RU" sz="3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12968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Синтаксис команды </a:t>
            </a:r>
            <a:r>
              <a:rPr lang="en-US" dirty="0" smtClean="0"/>
              <a:t>ALTER </a:t>
            </a:r>
            <a:r>
              <a:rPr lang="ru-RU" dirty="0" smtClean="0"/>
              <a:t>TABLE</a:t>
            </a:r>
            <a:r>
              <a:rPr lang="en-US" dirty="0" smtClean="0"/>
              <a:t> </a:t>
            </a:r>
            <a:r>
              <a:rPr lang="ru-RU" dirty="0" smtClean="0"/>
              <a:t>(2/2)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1384133"/>
              </p:ext>
            </p:extLst>
          </p:nvPr>
        </p:nvGraphicFramePr>
        <p:xfrm>
          <a:off x="457200" y="1600200"/>
          <a:ext cx="8229600" cy="481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50704"/>
                <a:gridCol w="4978896"/>
              </a:tblGrid>
              <a:tr h="37084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ru-RU" sz="2800" kern="1200" dirty="0" err="1" smtClean="0"/>
                        <a:t>table</a:t>
                      </a:r>
                      <a:r>
                        <a:rPr lang="ru-RU" sz="2800" kern="1200" dirty="0" smtClean="0"/>
                        <a:t> </a:t>
                      </a:r>
                      <a:r>
                        <a:rPr lang="ru-RU" sz="2800" kern="1200" dirty="0" err="1" smtClean="0"/>
                        <a:t>name</a:t>
                      </a:r>
                      <a:r>
                        <a:rPr lang="ru-RU" sz="2800" kern="12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Имя изменяемой</a:t>
                      </a:r>
                      <a:r>
                        <a:rPr lang="ru-RU" sz="2800" kern="1200" baseline="0" dirty="0" smtClean="0"/>
                        <a:t> </a:t>
                      </a:r>
                      <a:r>
                        <a:rPr lang="ru-RU" sz="2800" kern="1200" dirty="0" smtClean="0"/>
                        <a:t>таблицы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ru-RU" sz="2800" kern="1200" dirty="0" err="1" smtClean="0"/>
                        <a:t>column</a:t>
                      </a:r>
                      <a:r>
                        <a:rPr lang="ru-RU" sz="2800" kern="1200" dirty="0" smtClean="0"/>
                        <a:t> </a:t>
                      </a:r>
                      <a:r>
                        <a:rPr lang="ru-RU" sz="2800" kern="1200" dirty="0" err="1" smtClean="0"/>
                        <a:t>name</a:t>
                      </a:r>
                      <a:r>
                        <a:rPr lang="ru-RU" sz="2800" kern="12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Имя столбца в таблице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ru-RU" sz="2800" kern="1200" dirty="0" err="1" smtClean="0"/>
                        <a:t>column</a:t>
                      </a:r>
                      <a:r>
                        <a:rPr lang="ru-RU" sz="2800" kern="12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Определение столбца в таблице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&lt;data type&gt;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Тип данных для значений столбца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&lt;</a:t>
                      </a:r>
                      <a:r>
                        <a:rPr lang="ru-RU" sz="2800" dirty="0" err="1" smtClean="0"/>
                        <a:t>c</a:t>
                      </a:r>
                      <a:r>
                        <a:rPr lang="en-US" sz="2800" dirty="0" smtClean="0"/>
                        <a:t>o</a:t>
                      </a:r>
                      <a:r>
                        <a:rPr lang="ru-RU" sz="2800" dirty="0" err="1" smtClean="0"/>
                        <a:t>nstr</a:t>
                      </a:r>
                      <a:r>
                        <a:rPr lang="en-US" sz="2800" dirty="0" err="1" smtClean="0"/>
                        <a:t>ai</a:t>
                      </a:r>
                      <a:r>
                        <a:rPr lang="ru-RU" sz="2800" dirty="0" err="1" smtClean="0"/>
                        <a:t>nt</a:t>
                      </a:r>
                      <a:r>
                        <a:rPr lang="ru-RU" sz="2800" dirty="0" smtClean="0"/>
                        <a:t>&gt; 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Любое ограничение</a:t>
                      </a:r>
                      <a:r>
                        <a:rPr lang="ru-RU" sz="2800" baseline="0" dirty="0" smtClean="0"/>
                        <a:t> целостности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&lt;</a:t>
                      </a:r>
                      <a:r>
                        <a:rPr lang="ru-RU" sz="2800" dirty="0" err="1" smtClean="0"/>
                        <a:t>tab</a:t>
                      </a:r>
                      <a:r>
                        <a:rPr lang="en-US" sz="2800" dirty="0" smtClean="0"/>
                        <a:t>le </a:t>
                      </a:r>
                      <a:r>
                        <a:rPr lang="ru-RU" sz="2800" dirty="0" err="1" smtClean="0"/>
                        <a:t>c</a:t>
                      </a:r>
                      <a:r>
                        <a:rPr lang="en-US" sz="2800" dirty="0" smtClean="0"/>
                        <a:t>o</a:t>
                      </a:r>
                      <a:r>
                        <a:rPr lang="ru-RU" sz="2800" dirty="0" err="1" smtClean="0"/>
                        <a:t>nstr</a:t>
                      </a:r>
                      <a:r>
                        <a:rPr lang="en-US" sz="2800" dirty="0" err="1" smtClean="0"/>
                        <a:t>ai</a:t>
                      </a:r>
                      <a:r>
                        <a:rPr lang="ru-RU" sz="2800" dirty="0" err="1" smtClean="0"/>
                        <a:t>nt</a:t>
                      </a:r>
                      <a:r>
                        <a:rPr lang="ru-RU" sz="28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Ограничение целостности на уровне таблицы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ALTER TABLE Student</a:t>
            </a:r>
          </a:p>
          <a:p>
            <a:pPr>
              <a:buNone/>
            </a:pPr>
            <a:r>
              <a:rPr lang="en-US" dirty="0" smtClean="0"/>
              <a:t>		ADD </a:t>
            </a:r>
            <a:r>
              <a:rPr lang="en-US" dirty="0" err="1" smtClean="0"/>
              <a:t>Birthdate</a:t>
            </a:r>
            <a:r>
              <a:rPr lang="en-US" dirty="0" smtClean="0"/>
              <a:t> </a:t>
            </a:r>
            <a:r>
              <a:rPr lang="en-US" dirty="0" err="1" smtClean="0"/>
              <a:t>smalldatetime</a:t>
            </a:r>
            <a:r>
              <a:rPr lang="en-US" dirty="0" smtClean="0"/>
              <a:t> NULL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ALTER TABLE Student</a:t>
            </a:r>
          </a:p>
          <a:p>
            <a:pPr>
              <a:buNone/>
            </a:pPr>
            <a:r>
              <a:rPr lang="en-US" dirty="0" smtClean="0"/>
              <a:t>		DROP CONSTRAINT </a:t>
            </a:r>
            <a:r>
              <a:rPr lang="en-US" dirty="0" err="1" smtClean="0"/>
              <a:t>FioUnq</a:t>
            </a:r>
            <a:r>
              <a:rPr lang="en-US" dirty="0" smtClean="0"/>
              <a:t> 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Команда удаления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DROP TABLE </a:t>
            </a:r>
            <a:r>
              <a:rPr lang="ru-RU" dirty="0" smtClean="0"/>
              <a:t>&lt;</a:t>
            </a:r>
            <a:r>
              <a:rPr lang="ru-RU" dirty="0" err="1" smtClean="0"/>
              <a:t>table</a:t>
            </a:r>
            <a:r>
              <a:rPr lang="ru-RU" dirty="0" smtClean="0"/>
              <a:t> </a:t>
            </a:r>
            <a:r>
              <a:rPr lang="ru-RU" dirty="0" err="1" smtClean="0"/>
              <a:t>name</a:t>
            </a:r>
            <a:r>
              <a:rPr lang="ru-RU" dirty="0" smtClean="0"/>
              <a:t>&gt;</a:t>
            </a: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DROP TABLE Student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4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Команда создания представления</a:t>
            </a:r>
          </a:p>
          <a:p>
            <a:pPr marL="0" lvl="0" indent="0" algn="ctr">
              <a:buNone/>
            </a:pPr>
            <a:endParaRPr lang="ru-RU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Цели создания представлений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Удобство использования при выборке данных</a:t>
            </a:r>
          </a:p>
          <a:p>
            <a:r>
              <a:rPr lang="ru-RU" dirty="0" smtClean="0"/>
              <a:t>Разграничение доступа (пользователям выдаются права на работу с представлением, а не с базовыми таблицами)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Синтаксис команды </a:t>
            </a:r>
            <a:r>
              <a:rPr lang="en-US" dirty="0" smtClean="0"/>
              <a:t>CREATE VIEW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907704" y="1600200"/>
            <a:ext cx="6779096" cy="45259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CREATE VIEW &lt;view name&gt;</a:t>
            </a:r>
          </a:p>
          <a:p>
            <a:pPr>
              <a:buNone/>
            </a:pPr>
            <a:r>
              <a:rPr lang="en-US" dirty="0" smtClean="0"/>
              <a:t>		[(&lt;column name&gt;.,..)] </a:t>
            </a:r>
          </a:p>
          <a:p>
            <a:pPr>
              <a:buNone/>
            </a:pPr>
            <a:r>
              <a:rPr lang="en-US" dirty="0" smtClean="0"/>
              <a:t>		AS &lt;select&gt;</a:t>
            </a:r>
          </a:p>
          <a:p>
            <a:pPr>
              <a:buNone/>
            </a:pPr>
            <a:r>
              <a:rPr lang="en-US" dirty="0" smtClean="0"/>
              <a:t>		[WITH CHECK OPTION]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dirty="0" smtClean="0"/>
              <a:t>CREATE VIEW</a:t>
            </a:r>
            <a:r>
              <a:rPr lang="ru-RU" dirty="0" smtClean="0"/>
              <a:t> </a:t>
            </a:r>
            <a:r>
              <a:rPr lang="en-US" dirty="0" err="1" smtClean="0"/>
              <a:t>BadStudent</a:t>
            </a:r>
            <a:r>
              <a:rPr lang="en-US" dirty="0" smtClean="0"/>
              <a:t> AS</a:t>
            </a:r>
          </a:p>
          <a:p>
            <a:pPr>
              <a:buNone/>
            </a:pPr>
            <a:r>
              <a:rPr lang="en-US" dirty="0" smtClean="0"/>
              <a:t>		SELECT * FROM Exam</a:t>
            </a:r>
          </a:p>
          <a:p>
            <a:pPr>
              <a:buNone/>
            </a:pPr>
            <a:r>
              <a:rPr lang="en-US" dirty="0" smtClean="0"/>
              <a:t>			WHERE Mark = 2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CREATE VIEW</a:t>
            </a:r>
            <a:r>
              <a:rPr lang="ru-RU" dirty="0" smtClean="0"/>
              <a:t> </a:t>
            </a:r>
            <a:r>
              <a:rPr lang="en-US" dirty="0" err="1" smtClean="0"/>
              <a:t>AvgMark</a:t>
            </a:r>
            <a:r>
              <a:rPr lang="ru-RU" dirty="0" smtClean="0"/>
              <a:t> (</a:t>
            </a:r>
            <a:r>
              <a:rPr lang="en-US" dirty="0" smtClean="0"/>
              <a:t>Subject</a:t>
            </a:r>
            <a:r>
              <a:rPr lang="ru-RU" dirty="0" smtClean="0"/>
              <a:t>,</a:t>
            </a:r>
            <a:r>
              <a:rPr lang="en-US" dirty="0" smtClean="0"/>
              <a:t> </a:t>
            </a:r>
            <a:r>
              <a:rPr lang="en-US" dirty="0" err="1" smtClean="0"/>
              <a:t>GroupNo</a:t>
            </a:r>
            <a:r>
              <a:rPr lang="en-US" dirty="0" smtClean="0"/>
              <a:t>, Mark</a:t>
            </a:r>
            <a:r>
              <a:rPr lang="ru-RU" dirty="0" smtClean="0"/>
              <a:t>)</a:t>
            </a:r>
            <a:r>
              <a:rPr lang="en-US" dirty="0" smtClean="0"/>
              <a:t> AS</a:t>
            </a:r>
          </a:p>
          <a:p>
            <a:pPr>
              <a:buNone/>
            </a:pPr>
            <a:r>
              <a:rPr lang="en-US" dirty="0" smtClean="0"/>
              <a:t>		SELECT Subject</a:t>
            </a:r>
            <a:r>
              <a:rPr lang="ru-RU" dirty="0" smtClean="0"/>
              <a:t>,</a:t>
            </a:r>
            <a:r>
              <a:rPr lang="en-US" dirty="0" smtClean="0"/>
              <a:t> </a:t>
            </a:r>
            <a:r>
              <a:rPr lang="en-US" dirty="0" err="1" smtClean="0"/>
              <a:t>GroupNo</a:t>
            </a:r>
            <a:r>
              <a:rPr lang="en-US" dirty="0" smtClean="0"/>
              <a:t>, AVG(Mark) </a:t>
            </a:r>
          </a:p>
          <a:p>
            <a:pPr>
              <a:buNone/>
            </a:pPr>
            <a:r>
              <a:rPr lang="en-US" dirty="0" smtClean="0"/>
              <a:t>			FROM Exam</a:t>
            </a:r>
          </a:p>
          <a:p>
            <a:pPr>
              <a:buNone/>
            </a:pPr>
            <a:r>
              <a:rPr lang="en-US" dirty="0" smtClean="0"/>
              <a:t>			GROUP BY Subject, </a:t>
            </a:r>
            <a:r>
              <a:rPr lang="en-US" dirty="0" err="1" smtClean="0"/>
              <a:t>GroupNo</a:t>
            </a:r>
            <a:endParaRPr lang="en-US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Виды представлений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Горизонтальные</a:t>
            </a:r>
          </a:p>
          <a:p>
            <a:r>
              <a:rPr lang="ru-RU" dirty="0" smtClean="0"/>
              <a:t>Вертикальные</a:t>
            </a:r>
          </a:p>
          <a:p>
            <a:r>
              <a:rPr lang="ru-RU" dirty="0" smtClean="0"/>
              <a:t>Агрегированные</a:t>
            </a:r>
          </a:p>
          <a:p>
            <a:r>
              <a:rPr lang="ru-RU" dirty="0" smtClean="0"/>
              <a:t>Основанные на множестве таблиц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5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Команда создания индекса</a:t>
            </a:r>
          </a:p>
          <a:p>
            <a:pPr marL="0" lvl="0" indent="0" algn="ctr">
              <a:buNone/>
            </a:pPr>
            <a:endParaRPr lang="ru-RU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Синтаксис команды </a:t>
            </a:r>
            <a:r>
              <a:rPr lang="en-US" dirty="0" smtClean="0"/>
              <a:t>CREATE INDEX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CREATE [UNIQUE] [CLUSTERED|NONCLUSTERED]</a:t>
            </a:r>
          </a:p>
          <a:p>
            <a:pPr>
              <a:buNone/>
            </a:pPr>
            <a:r>
              <a:rPr lang="en-US" dirty="0" smtClean="0"/>
              <a:t>		INDEX &lt;index name&gt; ON &lt;table name&gt;</a:t>
            </a:r>
          </a:p>
          <a:p>
            <a:pPr>
              <a:buNone/>
            </a:pPr>
            <a:r>
              <a:rPr lang="en-US" dirty="0" smtClean="0"/>
              <a:t>		(&lt;column name&gt; [ASC|DESC] .,..)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CREATE INDEX </a:t>
            </a:r>
            <a:r>
              <a:rPr lang="en-US" dirty="0" err="1" smtClean="0"/>
              <a:t>IX_Fio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smtClean="0"/>
              <a:t>		ON </a:t>
            </a:r>
            <a:r>
              <a:rPr lang="en-US" dirty="0" smtClean="0"/>
              <a:t>Student (Surname, Name</a:t>
            </a:r>
            <a:r>
              <a:rPr lang="en-US" smtClean="0"/>
              <a:t>, Patronymic)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4742</TotalTime>
  <Words>417</Words>
  <Application>Microsoft Office PowerPoint</Application>
  <PresentationFormat>Экран (4:3)</PresentationFormat>
  <Paragraphs>144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7" baseType="lpstr">
      <vt:lpstr>Arial</vt:lpstr>
      <vt:lpstr>Calibri</vt:lpstr>
      <vt:lpstr>Тема Office</vt:lpstr>
      <vt:lpstr>План лекции</vt:lpstr>
      <vt:lpstr>Вопрос 1</vt:lpstr>
      <vt:lpstr>Синтаксис команды CREATE TABLE (1/2)</vt:lpstr>
      <vt:lpstr>Синтаксис команды CREATE TABLE (2/2)</vt:lpstr>
      <vt:lpstr>Пример</vt:lpstr>
      <vt:lpstr>Вопрос 2</vt:lpstr>
      <vt:lpstr>Ограничения целостности столбца</vt:lpstr>
      <vt:lpstr>Счетчик в MS SQL</vt:lpstr>
      <vt:lpstr>Пример</vt:lpstr>
      <vt:lpstr>Ограничения целостности таблицы</vt:lpstr>
      <vt:lpstr>Пример</vt:lpstr>
      <vt:lpstr>Вопрос 3</vt:lpstr>
      <vt:lpstr>Синтаксис команды ALTER TABLE (1/2)</vt:lpstr>
      <vt:lpstr>Синтаксис команды ALTER TABLE (2/2)</vt:lpstr>
      <vt:lpstr>Примеры</vt:lpstr>
      <vt:lpstr>Команда удаления</vt:lpstr>
      <vt:lpstr>Вопрос 4</vt:lpstr>
      <vt:lpstr>Цели создания представлений</vt:lpstr>
      <vt:lpstr>Синтаксис команды CREATE VIEW</vt:lpstr>
      <vt:lpstr>Примеры</vt:lpstr>
      <vt:lpstr>Виды представлений</vt:lpstr>
      <vt:lpstr>Вопрос 5</vt:lpstr>
      <vt:lpstr>Синтаксис команды CREATE INDEX</vt:lpstr>
      <vt:lpstr>Пример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art</dc:creator>
  <cp:lastModifiedBy>Николай Волков</cp:lastModifiedBy>
  <cp:revision>527</cp:revision>
  <dcterms:created xsi:type="dcterms:W3CDTF">2012-04-10T15:36:07Z</dcterms:created>
  <dcterms:modified xsi:type="dcterms:W3CDTF">2021-12-22T10:21:41Z</dcterms:modified>
</cp:coreProperties>
</file>