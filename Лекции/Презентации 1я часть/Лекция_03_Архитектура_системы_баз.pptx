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4"/>
  </p:notesMasterIdLst>
  <p:sldIdLst>
    <p:sldId id="257" r:id="rId2"/>
    <p:sldId id="321" r:id="rId3"/>
    <p:sldId id="355" r:id="rId4"/>
    <p:sldId id="356" r:id="rId5"/>
    <p:sldId id="323" r:id="rId6"/>
    <p:sldId id="322" r:id="rId7"/>
    <p:sldId id="324" r:id="rId8"/>
    <p:sldId id="328" r:id="rId9"/>
    <p:sldId id="331" r:id="rId10"/>
    <p:sldId id="329" r:id="rId11"/>
    <p:sldId id="330" r:id="rId12"/>
    <p:sldId id="332" r:id="rId13"/>
    <p:sldId id="334" r:id="rId14"/>
    <p:sldId id="333" r:id="rId15"/>
    <p:sldId id="335" r:id="rId16"/>
    <p:sldId id="336" r:id="rId17"/>
    <p:sldId id="338" r:id="rId18"/>
    <p:sldId id="339" r:id="rId19"/>
    <p:sldId id="340" r:id="rId20"/>
    <p:sldId id="342" r:id="rId21"/>
    <p:sldId id="343" r:id="rId22"/>
    <p:sldId id="345" r:id="rId23"/>
    <p:sldId id="344" r:id="rId24"/>
    <p:sldId id="348" r:id="rId25"/>
    <p:sldId id="346" r:id="rId26"/>
    <p:sldId id="347" r:id="rId27"/>
    <p:sldId id="349" r:id="rId28"/>
    <p:sldId id="350" r:id="rId29"/>
    <p:sldId id="351" r:id="rId30"/>
    <p:sldId id="352" r:id="rId31"/>
    <p:sldId id="353" r:id="rId32"/>
    <p:sldId id="354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416824" cy="4525963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Архитектура системы баз данных ANSI/SPARC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Назначение и основные функции СУБД. Типовая организация СУБД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Архитектура системы баз данных ANSI/SPARC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Историческая справка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786346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200"/>
              </a:spcBef>
            </a:pPr>
            <a:r>
              <a:rPr lang="ru-RU" sz="4000" dirty="0" smtClean="0"/>
              <a:t>В</a:t>
            </a:r>
            <a:r>
              <a:rPr lang="en-US" sz="4000" dirty="0" smtClean="0"/>
              <a:t> 1972 </a:t>
            </a:r>
            <a:r>
              <a:rPr lang="ru-RU" sz="4000" dirty="0" smtClean="0"/>
              <a:t>г</a:t>
            </a:r>
            <a:r>
              <a:rPr lang="en-US" sz="4000" dirty="0" smtClean="0"/>
              <a:t>. </a:t>
            </a:r>
            <a:r>
              <a:rPr lang="ru-RU" sz="4000" dirty="0" smtClean="0"/>
              <a:t>комитетом</a:t>
            </a:r>
            <a:r>
              <a:rPr lang="en-US" sz="4000" dirty="0" smtClean="0"/>
              <a:t> Standards Planning and Requirements Committee (SPARC) </a:t>
            </a:r>
            <a:r>
              <a:rPr lang="ru-RU" sz="4000" dirty="0" smtClean="0"/>
              <a:t>института</a:t>
            </a:r>
            <a:r>
              <a:rPr lang="en-US" sz="4000" dirty="0" smtClean="0"/>
              <a:t> American National Standards Institute </a:t>
            </a:r>
            <a:r>
              <a:rPr lang="ru-RU" sz="4000" dirty="0" smtClean="0"/>
              <a:t>была организована группа</a:t>
            </a:r>
            <a:r>
              <a:rPr lang="en-US" sz="4000" dirty="0" smtClean="0"/>
              <a:t> Study Group on Data Management Systems</a:t>
            </a:r>
            <a:endParaRPr lang="ru-RU" sz="4000" dirty="0" smtClean="0"/>
          </a:p>
          <a:p>
            <a:pPr>
              <a:spcBef>
                <a:spcPts val="1200"/>
              </a:spcBef>
            </a:pPr>
            <a:r>
              <a:rPr lang="ru-RU" sz="4000" dirty="0" smtClean="0"/>
              <a:t>В задачи группы входило определение того, нуждаются ли какие-либо области технологии баз данных в стандартизации, и выработка набора рекомендаций по действиям в каждой из этих областей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Историческая справка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В результате проведенных исследований, группа пришла к выводу (отчеты 1975 и 1978 г.г.), что единственных подходящий способ стандартизации – это стандартизация интерфейсов, и в соответствии с этим определила общую архитектуру систем баз данных (так называемую </a:t>
            </a:r>
            <a:r>
              <a:rPr lang="ru-RU" b="1" dirty="0" smtClean="0"/>
              <a:t>архитектуру </a:t>
            </a:r>
            <a:r>
              <a:rPr lang="en-US" b="1" dirty="0" smtClean="0"/>
              <a:t>ANSI</a:t>
            </a:r>
            <a:r>
              <a:rPr lang="ru-RU" b="1" dirty="0" smtClean="0"/>
              <a:t>/</a:t>
            </a:r>
            <a:r>
              <a:rPr lang="en-US" b="1" dirty="0" smtClean="0"/>
              <a:t>SPARC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Уровни архитектуры (1/2)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14810" y="2071678"/>
            <a:ext cx="1428760" cy="857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5720" y="1928802"/>
            <a:ext cx="3714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Внешний уровень</a:t>
            </a:r>
          </a:p>
          <a:p>
            <a:pPr algn="ctr"/>
            <a:r>
              <a:rPr lang="ru-RU" sz="2400" dirty="0" smtClean="0"/>
              <a:t>(индивид. представления пользователей)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85720" y="3643314"/>
            <a:ext cx="4214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Концептуальный уровень</a:t>
            </a:r>
          </a:p>
          <a:p>
            <a:pPr algn="ctr"/>
            <a:r>
              <a:rPr lang="ru-RU" sz="2400" dirty="0" smtClean="0"/>
              <a:t>(обобщенное представление пользователей)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71472" y="5357826"/>
            <a:ext cx="371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Внутренний уровень</a:t>
            </a:r>
          </a:p>
          <a:p>
            <a:pPr algn="ctr"/>
            <a:r>
              <a:rPr lang="ru-RU" sz="2400" dirty="0" smtClean="0"/>
              <a:t>(представление в памяти)</a:t>
            </a: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143768" y="2071678"/>
            <a:ext cx="1428760" cy="857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429256" y="5429264"/>
            <a:ext cx="2000264" cy="857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429256" y="3786190"/>
            <a:ext cx="2000264" cy="857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>
            <a:stCxn id="4" idx="2"/>
          </p:cNvCxnSpPr>
          <p:nvPr/>
        </p:nvCxnSpPr>
        <p:spPr>
          <a:xfrm rot="16200000" flipH="1">
            <a:off x="5036347" y="2821777"/>
            <a:ext cx="857256" cy="10715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8" idx="2"/>
          </p:cNvCxnSpPr>
          <p:nvPr/>
        </p:nvCxnSpPr>
        <p:spPr>
          <a:xfrm rot="5400000">
            <a:off x="6965173" y="2893215"/>
            <a:ext cx="857256" cy="9286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10" idx="2"/>
            <a:endCxn id="9" idx="0"/>
          </p:cNvCxnSpPr>
          <p:nvPr/>
        </p:nvCxnSpPr>
        <p:spPr>
          <a:xfrm rot="5400000">
            <a:off x="6036479" y="5036355"/>
            <a:ext cx="785818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7884" y="2000240"/>
            <a:ext cx="1071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…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Уровни архитектуры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00660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</a:pPr>
            <a:r>
              <a:rPr lang="ru-RU" dirty="0" smtClean="0"/>
              <a:t>Внутренний - наиболее близкий к физическому хранению, связанный со способами хранения информации (на физических устройствах хранения)</a:t>
            </a:r>
          </a:p>
          <a:p>
            <a:pPr>
              <a:spcBef>
                <a:spcPts val="1200"/>
              </a:spcBef>
            </a:pPr>
            <a:r>
              <a:rPr lang="ru-RU" dirty="0" smtClean="0"/>
              <a:t>Внешний - наиболее близкий к пользователям, связанный со способами представления данных для отдельных пользователей</a:t>
            </a:r>
          </a:p>
          <a:p>
            <a:pPr>
              <a:spcBef>
                <a:spcPts val="1200"/>
              </a:spcBef>
            </a:pPr>
            <a:r>
              <a:rPr lang="ru-RU" dirty="0" smtClean="0"/>
              <a:t>Концептуальный -  "промежуточный" уровень между двумя первыми, связанный с обобщенным представлением пользователей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Детализованная архитектура</a:t>
            </a:r>
            <a:endParaRPr lang="ru-RU" dirty="0"/>
          </a:p>
        </p:txBody>
      </p:sp>
      <p:pic>
        <p:nvPicPr>
          <p:cNvPr id="19458" name="Picture 2" descr="Architecture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Язык пользователя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5778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sz="3300" dirty="0" smtClean="0"/>
              <a:t>Для прикладного программиста </a:t>
            </a:r>
            <a:r>
              <a:rPr lang="ru-RU" sz="3600" dirty="0" smtClean="0"/>
              <a:t>–</a:t>
            </a:r>
            <a:r>
              <a:rPr lang="ru-RU" sz="3300" dirty="0" smtClean="0"/>
              <a:t> либо один из распространенных языков программирования, либо специальный язык рассматриваемой системы</a:t>
            </a:r>
          </a:p>
          <a:p>
            <a:pPr lvl="0"/>
            <a:r>
              <a:rPr lang="ru-RU" sz="3300" dirty="0" smtClean="0"/>
              <a:t>Для конечного пользователя </a:t>
            </a:r>
            <a:r>
              <a:rPr lang="ru-RU" sz="3600" dirty="0" smtClean="0"/>
              <a:t>–</a:t>
            </a:r>
            <a:r>
              <a:rPr lang="ru-RU" sz="3300" dirty="0" smtClean="0"/>
              <a:t> или специальный язык запросов, или язык, основанный на формах и меню, созданный специально с учетом требований пользователя и поддерживаемый неким интерактивным приложением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Подъязык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Любой язык пользователя включает </a:t>
            </a:r>
            <a:r>
              <a:rPr lang="ru-RU" b="1" dirty="0" smtClean="0"/>
              <a:t>подъязык данных</a:t>
            </a:r>
            <a:r>
              <a:rPr lang="ru-RU" dirty="0" smtClean="0"/>
              <a:t>, т.е. множество операторов, связанное только с объектами и операциями базы данных</a:t>
            </a:r>
          </a:p>
          <a:p>
            <a:r>
              <a:rPr lang="ru-RU" dirty="0" smtClean="0"/>
              <a:t>Находящийся в распоряжении пользователя подъязык данных определен в терминах внешних записей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Внешнее представление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Внешнее представление </a:t>
            </a:r>
            <a:r>
              <a:rPr lang="ru-RU" dirty="0" smtClean="0"/>
              <a:t>– это содержимое базы данных, каким его видит определенный пользователь (т.е., для этого пользователя внешнее представление и есть база данных). </a:t>
            </a:r>
          </a:p>
          <a:p>
            <a:r>
              <a:rPr lang="ru-RU" dirty="0" smtClean="0"/>
              <a:t>В общем, оно состоит из множества </a:t>
            </a:r>
            <a:r>
              <a:rPr lang="ru-RU" i="1" dirty="0" smtClean="0"/>
              <a:t>экземпляров</a:t>
            </a:r>
            <a:r>
              <a:rPr lang="ru-RU" dirty="0" smtClean="0"/>
              <a:t> каждого типа </a:t>
            </a:r>
            <a:r>
              <a:rPr lang="ru-RU" b="1" dirty="0" smtClean="0"/>
              <a:t>внешней записи</a:t>
            </a:r>
            <a:r>
              <a:rPr lang="ru-RU" dirty="0" smtClean="0"/>
              <a:t>, которые, в свою очередь, могут не совпадать с хранимыми записями.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Внешняя схема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Каждое внешнее представление определяется средствами </a:t>
            </a:r>
            <a:r>
              <a:rPr lang="ru-RU" b="1" dirty="0" smtClean="0"/>
              <a:t>внешней схемы</a:t>
            </a:r>
            <a:r>
              <a:rPr lang="ru-RU" dirty="0" smtClean="0"/>
              <a:t>, которая в основном состоит из определений каждого типа записей во внешнем представлении</a:t>
            </a:r>
          </a:p>
          <a:p>
            <a:r>
              <a:rPr lang="ru-RU" dirty="0" smtClean="0"/>
              <a:t>Внешняя схема задается при помощи языка определения данных из пользовательского подъязыка 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Концептуальное представление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Концептуальное представление</a:t>
            </a:r>
            <a:r>
              <a:rPr lang="ru-RU" dirty="0" smtClean="0"/>
              <a:t> – это абстрактное представление всей информации базы данных.</a:t>
            </a:r>
          </a:p>
          <a:p>
            <a:r>
              <a:rPr lang="ru-RU" dirty="0" smtClean="0"/>
              <a:t>Оно состоит из множества экземпляров каждого типа </a:t>
            </a:r>
            <a:r>
              <a:rPr lang="ru-RU" b="1" dirty="0" smtClean="0"/>
              <a:t>концептуальной записи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Концептуальная схема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Концептуальное представление определяется при помощи </a:t>
            </a:r>
            <a:r>
              <a:rPr lang="ru-RU" b="1" dirty="0" smtClean="0"/>
              <a:t>концептуальной схемы</a:t>
            </a:r>
            <a:r>
              <a:rPr lang="ru-RU" dirty="0" smtClean="0"/>
              <a:t>, которая включает определение каждого типа концептуальной записи</a:t>
            </a:r>
          </a:p>
          <a:p>
            <a:r>
              <a:rPr lang="ru-RU" dirty="0" smtClean="0"/>
              <a:t>Кроме того, концептуальная схема может содержать определения многих дополнительных средств, таких как средства безопасности или правила для обеспечения целостности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Концептуальный язык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Концептуальная схема использует другой язык определения данных – </a:t>
            </a:r>
            <a:r>
              <a:rPr lang="ru-RU" i="1" dirty="0" smtClean="0"/>
              <a:t>концептуальный</a:t>
            </a:r>
            <a:endParaRPr lang="ru-RU" dirty="0" smtClean="0"/>
          </a:p>
          <a:p>
            <a:r>
              <a:rPr lang="ru-RU" dirty="0" smtClean="0"/>
              <a:t>Определения концептуального языка должны относиться </a:t>
            </a:r>
            <a:r>
              <a:rPr lang="ru-RU" i="1" dirty="0" smtClean="0"/>
              <a:t>только</a:t>
            </a:r>
            <a:r>
              <a:rPr lang="ru-RU" dirty="0" smtClean="0"/>
              <a:t> к содержанию информации и не должны рассматривать структуры хранения или методы доступа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Внутреннее представление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286412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Внутреннее представление </a:t>
            </a:r>
            <a:r>
              <a:rPr lang="ru-RU" sz="2800" dirty="0" smtClean="0"/>
              <a:t>– это представление нижнего уровня всей базы данных, состоящее из многих экземпляров каждого типа </a:t>
            </a:r>
            <a:r>
              <a:rPr lang="ru-RU" sz="2800" b="1" dirty="0" smtClean="0"/>
              <a:t>внутренней записи</a:t>
            </a:r>
            <a:endParaRPr lang="ru-RU" sz="2800" dirty="0" smtClean="0"/>
          </a:p>
          <a:p>
            <a:r>
              <a:rPr lang="ru-RU" sz="2800" dirty="0" smtClean="0"/>
              <a:t>Оно не связано с физическим уровнем. В нем  не рассматриваются физические записи, физические области устройства хранения информации и т.п.</a:t>
            </a:r>
          </a:p>
          <a:p>
            <a:r>
              <a:rPr lang="ru-RU" sz="2800" dirty="0" smtClean="0"/>
              <a:t>Оно предполагает бесконечное линейное адресное пространство, подробности того, как это пространство отображено на физическое устройство хранения, умышленно не включены в общую архитектуру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Внутренняя схема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Внутреннее представление описывается с помощью </a:t>
            </a:r>
            <a:r>
              <a:rPr lang="ru-RU" b="1" dirty="0" smtClean="0"/>
              <a:t>внутренней схемы, </a:t>
            </a:r>
            <a:r>
              <a:rPr lang="ru-RU" dirty="0" smtClean="0"/>
              <a:t>которая определяет не только различные типы хранимых(внутренних) записей, но и индексы, способы представления хранимых полей, физическую последовательность хранимых данных и т.д.</a:t>
            </a:r>
          </a:p>
          <a:p>
            <a:r>
              <a:rPr lang="ru-RU" dirty="0" smtClean="0"/>
              <a:t>Внутренняя схема пишется с использованием еще одного языка определения данных – </a:t>
            </a:r>
            <a:r>
              <a:rPr lang="ru-RU" i="1" dirty="0" smtClean="0"/>
              <a:t>внутреннего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Рассматриваемые отображения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Выделяют 2 уровня отображений:</a:t>
            </a:r>
          </a:p>
          <a:p>
            <a:pPr lvl="1"/>
            <a:r>
              <a:rPr lang="ru-RU" dirty="0" err="1" smtClean="0"/>
              <a:t>концептуальный-внутренний</a:t>
            </a:r>
            <a:endParaRPr lang="ru-RU" dirty="0" smtClean="0"/>
          </a:p>
          <a:p>
            <a:pPr lvl="1"/>
            <a:r>
              <a:rPr lang="ru-RU" dirty="0" err="1" smtClean="0"/>
              <a:t>внешний-концептуальный</a:t>
            </a:r>
            <a:endParaRPr lang="ru-RU" dirty="0" smtClean="0"/>
          </a:p>
          <a:p>
            <a:r>
              <a:rPr lang="ru-RU" dirty="0" smtClean="0"/>
              <a:t>При внесении изменений в схемы, необходимо вносить соответствующие изменения в отображения, чтобы сохранить независимость уровней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Различия, которые могут существовать между уровнями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1785926"/>
            <a:ext cx="8229600" cy="4525963"/>
          </a:xfrm>
        </p:spPr>
        <p:txBody>
          <a:bodyPr/>
          <a:lstStyle/>
          <a:p>
            <a:pPr lvl="0"/>
            <a:r>
              <a:rPr lang="ru-RU" dirty="0" smtClean="0"/>
              <a:t>Данные полей могут быть разных типов</a:t>
            </a:r>
          </a:p>
          <a:p>
            <a:pPr lvl="0"/>
            <a:r>
              <a:rPr lang="ru-RU" dirty="0" smtClean="0"/>
              <a:t>Названия полей и записей могут быть изменены</a:t>
            </a:r>
          </a:p>
          <a:p>
            <a:pPr lvl="0"/>
            <a:r>
              <a:rPr lang="ru-RU" dirty="0" smtClean="0"/>
              <a:t>Несколько концептуальных полей могут быть объединены в одно внешнее (виртуальное) поле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Администраторы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Администратор данных</a:t>
            </a:r>
            <a:r>
              <a:rPr lang="ru-RU" dirty="0" smtClean="0"/>
              <a:t> – человек, отвечающий за стратегию и политику принятия решений связанных с данными организации</a:t>
            </a:r>
          </a:p>
          <a:p>
            <a:r>
              <a:rPr lang="ru-RU" b="1" dirty="0" smtClean="0"/>
              <a:t>Администратор базы данных</a:t>
            </a:r>
            <a:r>
              <a:rPr lang="ru-RU" dirty="0" smtClean="0"/>
              <a:t> – человек, обеспечивающий необходимую техническую поддержку выполнения этих решений 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Функции администратора БД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 fontScale="92500" lnSpcReduction="10000"/>
          </a:bodyPr>
          <a:lstStyle/>
          <a:p>
            <a:pPr lvl="0">
              <a:spcBef>
                <a:spcPts val="1200"/>
              </a:spcBef>
            </a:pPr>
            <a:r>
              <a:rPr lang="ru-RU" dirty="0" smtClean="0"/>
              <a:t>Определение концептуальной схемы. Администратор данных должен производить логическое (концептуальное) проектирование, а администратор БД реализует ее технически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Определение внутренней схемы. Этот процесс называют физическим проектированием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Взаимодействие с пользователями. Оказание помощи в написании внешних схем и определение их отображения на концептуальную схему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Функции администратора БД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smtClean="0"/>
              <a:t>Определение правил безопасности и целостности</a:t>
            </a:r>
          </a:p>
          <a:p>
            <a:pPr lvl="0"/>
            <a:r>
              <a:rPr lang="ru-RU" dirty="0" smtClean="0"/>
              <a:t>Определение процедур резервного копирования и восстановления</a:t>
            </a:r>
          </a:p>
          <a:p>
            <a:pPr lvl="0"/>
            <a:r>
              <a:rPr lang="ru-RU" dirty="0" smtClean="0"/>
              <a:t>Управление производительностью и реагирование на изменяющиеся требования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 fontScale="92500" lnSpcReduction="10000"/>
          </a:bodyPr>
          <a:lstStyle/>
          <a:p>
            <a:pPr marL="0" lvl="0" indent="0" algn="ctr" hangingPunct="0">
              <a:spcBef>
                <a:spcPts val="0"/>
              </a:spcBef>
              <a:buNone/>
            </a:pPr>
            <a:r>
              <a:rPr lang="ru-RU" sz="4400" dirty="0" smtClean="0"/>
              <a:t>Назначение и основные</a:t>
            </a:r>
          </a:p>
          <a:p>
            <a:pPr marL="0" lvl="0" indent="0" algn="ctr" hangingPunct="0">
              <a:spcBef>
                <a:spcPts val="0"/>
              </a:spcBef>
              <a:buNone/>
            </a:pPr>
            <a:r>
              <a:rPr lang="ru-RU" sz="4400" dirty="0" smtClean="0"/>
              <a:t>функции СУБД.</a:t>
            </a:r>
          </a:p>
          <a:p>
            <a:pPr marL="0" lvl="0" indent="0" algn="ctr" hangingPunct="0">
              <a:spcBef>
                <a:spcPts val="0"/>
              </a:spcBef>
              <a:buNone/>
            </a:pPr>
            <a:r>
              <a:rPr lang="ru-RU" sz="4400" dirty="0" smtClean="0"/>
              <a:t>Типовая организация СУБД</a:t>
            </a:r>
          </a:p>
          <a:p>
            <a:pPr marL="514350" lvl="0" indent="-514350" hangingPunct="0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Назначение СУБД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Система управления базами данных (СУБД)</a:t>
            </a:r>
            <a:r>
              <a:rPr lang="ru-RU" dirty="0" smtClean="0"/>
              <a:t> – программное обеспечение, которое управляет доступом к базе данных</a:t>
            </a:r>
          </a:p>
          <a:p>
            <a:r>
              <a:rPr lang="ru-RU" b="1" dirty="0" smtClean="0"/>
              <a:t>Основная функция СУБД </a:t>
            </a:r>
            <a:r>
              <a:rPr lang="ru-RU" dirty="0" smtClean="0"/>
              <a:t>– предоставление пользователю БД возможности работать с ней, не вникая в детали на уровне АО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Сценарий работы СУБД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>
              <a:spcBef>
                <a:spcPts val="1200"/>
              </a:spcBef>
            </a:pPr>
            <a:r>
              <a:rPr lang="ru-RU" dirty="0" smtClean="0"/>
              <a:t>Пользователь выдает запрос на доступ, применяя определенный подъязык данных (обычно </a:t>
            </a:r>
            <a:r>
              <a:rPr lang="en-US" dirty="0" smtClean="0"/>
              <a:t>SQL</a:t>
            </a:r>
            <a:r>
              <a:rPr lang="ru-RU" dirty="0" smtClean="0"/>
              <a:t>)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СУБД перехватывает этот запрос и анализирует его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Далее, СУБД просматривает внешнюю схему для этого пользователя, соответствующее отображение (</a:t>
            </a:r>
            <a:r>
              <a:rPr lang="ru-RU" dirty="0" err="1" smtClean="0"/>
              <a:t>внешний-концептуальный</a:t>
            </a:r>
            <a:r>
              <a:rPr lang="ru-RU" dirty="0" smtClean="0"/>
              <a:t>), концептуальную схему, отображение </a:t>
            </a:r>
            <a:r>
              <a:rPr lang="ru-RU" dirty="0" err="1" smtClean="0"/>
              <a:t>концептуальный-внутренний</a:t>
            </a:r>
            <a:r>
              <a:rPr lang="ru-RU" dirty="0" smtClean="0"/>
              <a:t> и определение структуры хранения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Наконец, СУБД выполняет необходимые операции над хранимой базой 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 СУБД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5786478"/>
          </a:xfrm>
        </p:spPr>
        <p:txBody>
          <a:bodyPr>
            <a:normAutofit fontScale="85000" lnSpcReduction="10000"/>
          </a:bodyPr>
          <a:lstStyle/>
          <a:p>
            <a:pPr lvl="0">
              <a:spcBef>
                <a:spcPts val="1200"/>
              </a:spcBef>
            </a:pPr>
            <a:r>
              <a:rPr lang="ru-RU" dirty="0" smtClean="0"/>
              <a:t>Допускать </a:t>
            </a:r>
            <a:r>
              <a:rPr lang="ru-RU" b="1" dirty="0" smtClean="0"/>
              <a:t>определение данных </a:t>
            </a:r>
            <a:r>
              <a:rPr lang="ru-RU" dirty="0" smtClean="0"/>
              <a:t>(внешних схем, концептуальной схемы, внутренней схемы, а также всех связанных отображений). Для этого в ее состав должен входить </a:t>
            </a:r>
            <a:r>
              <a:rPr lang="ru-RU" i="1" dirty="0" smtClean="0"/>
              <a:t>языковый процессор</a:t>
            </a:r>
            <a:r>
              <a:rPr lang="ru-RU" dirty="0" smtClean="0"/>
              <a:t> различных языков определения данных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Уметь </a:t>
            </a:r>
            <a:r>
              <a:rPr lang="ru-RU" b="1" dirty="0" smtClean="0"/>
              <a:t>обрабатывать запросы</a:t>
            </a:r>
            <a:r>
              <a:rPr lang="ru-RU" dirty="0" smtClean="0"/>
              <a:t> пользователя на выборку, изменение, удаление существующих данных или на добавление новых (выделяют </a:t>
            </a:r>
            <a:r>
              <a:rPr lang="ru-RU" i="1" dirty="0" smtClean="0"/>
              <a:t>планируемые</a:t>
            </a:r>
            <a:r>
              <a:rPr lang="ru-RU" dirty="0" smtClean="0"/>
              <a:t> и </a:t>
            </a:r>
            <a:r>
              <a:rPr lang="ru-RU" i="1" dirty="0" err="1" smtClean="0"/>
              <a:t>непланируемые</a:t>
            </a:r>
            <a:r>
              <a:rPr lang="ru-RU" i="1" dirty="0" smtClean="0"/>
              <a:t> </a:t>
            </a:r>
            <a:r>
              <a:rPr lang="ru-RU" dirty="0" smtClean="0"/>
              <a:t>запросы)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Поддерживать </a:t>
            </a:r>
            <a:r>
              <a:rPr lang="ru-RU" b="1" dirty="0" smtClean="0"/>
              <a:t>безопасность и целостность данных</a:t>
            </a:r>
            <a:r>
              <a:rPr lang="ru-RU" dirty="0" smtClean="0"/>
              <a:t>, т.е. контролировать пользовательские запросы и пресекать попытки нарушения правил безопасности и целостности, определенные АБД 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 СУБД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5000660"/>
          </a:xfrm>
        </p:spPr>
        <p:txBody>
          <a:bodyPr>
            <a:normAutofit fontScale="92500" lnSpcReduction="20000"/>
          </a:bodyPr>
          <a:lstStyle/>
          <a:p>
            <a:pPr lvl="0">
              <a:spcBef>
                <a:spcPts val="1200"/>
              </a:spcBef>
            </a:pPr>
            <a:r>
              <a:rPr lang="ru-RU" dirty="0" smtClean="0"/>
              <a:t>Поддерживать </a:t>
            </a:r>
            <a:r>
              <a:rPr lang="ru-RU" b="1" dirty="0" smtClean="0"/>
              <a:t>восстановление и дублирование данных</a:t>
            </a:r>
            <a:r>
              <a:rPr lang="ru-RU" dirty="0" smtClean="0"/>
              <a:t>. Решение этой задачи обычно занимается специальный компонент – менеджер транзакций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Обеспечивать ведение </a:t>
            </a:r>
            <a:r>
              <a:rPr lang="ru-RU" b="1" dirty="0" smtClean="0"/>
              <a:t>словаря данных</a:t>
            </a:r>
            <a:r>
              <a:rPr lang="ru-RU" dirty="0" smtClean="0"/>
              <a:t>. Словарь можно считать </a:t>
            </a:r>
            <a:r>
              <a:rPr lang="ru-RU" i="1" dirty="0" smtClean="0"/>
              <a:t>системной базой данных</a:t>
            </a:r>
            <a:r>
              <a:rPr lang="ru-RU" dirty="0" smtClean="0"/>
              <a:t>, </a:t>
            </a:r>
            <a:r>
              <a:rPr lang="ru-RU" i="1" dirty="0" smtClean="0"/>
              <a:t>содержащей данные о данных –метаданны</a:t>
            </a:r>
            <a:r>
              <a:rPr lang="ru-RU" dirty="0" smtClean="0"/>
              <a:t>е, т.е. определения других объектов системы</a:t>
            </a:r>
          </a:p>
          <a:p>
            <a:pPr lvl="0">
              <a:spcBef>
                <a:spcPts val="1200"/>
              </a:spcBef>
            </a:pPr>
            <a:r>
              <a:rPr lang="ru-RU" dirty="0" smtClean="0"/>
              <a:t>Обеспечивать выполнение всех указанных функций с максимально возможной </a:t>
            </a:r>
            <a:r>
              <a:rPr lang="ru-RU" b="1" dirty="0" smtClean="0"/>
              <a:t>производительностью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эффективностью</a:t>
            </a:r>
            <a:r>
              <a:rPr lang="en-US" dirty="0" smtClean="0"/>
              <a:t>)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Состав СУБД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 smtClean="0"/>
              <a:t>Ядро СУБД (часто его называют </a:t>
            </a:r>
            <a:r>
              <a:rPr lang="ru-RU" dirty="0" err="1" smtClean="0"/>
              <a:t>DataBase</a:t>
            </a:r>
            <a:r>
              <a:rPr lang="ru-RU" dirty="0" smtClean="0"/>
              <a:t> </a:t>
            </a:r>
            <a:r>
              <a:rPr lang="ru-RU" dirty="0" err="1" smtClean="0"/>
              <a:t>Engine</a:t>
            </a:r>
            <a:r>
              <a:rPr lang="ru-RU" dirty="0" smtClean="0"/>
              <a:t>)</a:t>
            </a:r>
          </a:p>
          <a:p>
            <a:pPr lvl="0"/>
            <a:r>
              <a:rPr lang="ru-RU" dirty="0" smtClean="0"/>
              <a:t>Языковый процессор – как правило, компилятор языка SQL</a:t>
            </a:r>
          </a:p>
          <a:p>
            <a:pPr lvl="0"/>
            <a:r>
              <a:rPr lang="ru-RU" dirty="0" smtClean="0"/>
              <a:t>Процессор обработки данных – подсистема поддержки времени выполнения (</a:t>
            </a:r>
            <a:r>
              <a:rPr lang="en-US" dirty="0" smtClean="0"/>
              <a:t>runtime</a:t>
            </a:r>
            <a:r>
              <a:rPr lang="ru-RU" dirty="0" smtClean="0"/>
              <a:t>)</a:t>
            </a:r>
          </a:p>
          <a:p>
            <a:pPr lvl="0"/>
            <a:r>
              <a:rPr lang="ru-RU" i="1" dirty="0" smtClean="0"/>
              <a:t>Набор утилит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Ядро СУБД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Является основной резидентной частью СУБД</a:t>
            </a:r>
            <a:endParaRPr lang="ru-RU" b="1" dirty="0" smtClean="0"/>
          </a:p>
          <a:p>
            <a:r>
              <a:rPr lang="ru-RU" dirty="0" smtClean="0"/>
              <a:t>Отвечает за управление данными во внешней памяти, управление буферами оперативной памяти, управление транзакциями и журнализацию. </a:t>
            </a:r>
          </a:p>
          <a:p>
            <a:pPr lvl="0"/>
            <a:r>
              <a:rPr lang="ru-RU" dirty="0" smtClean="0"/>
              <a:t>В составе ядра выделяют:</a:t>
            </a:r>
          </a:p>
          <a:p>
            <a:pPr lvl="1"/>
            <a:r>
              <a:rPr lang="ru-RU" dirty="0" smtClean="0"/>
              <a:t>менеджер данных</a:t>
            </a:r>
          </a:p>
          <a:p>
            <a:pPr lvl="1"/>
            <a:r>
              <a:rPr lang="ru-RU" dirty="0" smtClean="0"/>
              <a:t>менеджер буферов</a:t>
            </a:r>
          </a:p>
          <a:p>
            <a:pPr lvl="1"/>
            <a:r>
              <a:rPr lang="ru-RU" dirty="0" smtClean="0"/>
              <a:t>менеджер транзакций </a:t>
            </a:r>
          </a:p>
          <a:p>
            <a:pPr lvl="1"/>
            <a:r>
              <a:rPr lang="ru-RU" dirty="0" smtClean="0"/>
              <a:t>менеджер журнала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Интерфейс ядра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Ядро СУБД обладает собственным интерфейсом, не доступным пользователям напрямую и используемым в программах, производимых компилятором SQL (или в подсистеме поддержки выполнения таких программ) и утилитах БД</a:t>
            </a:r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Компилятор языка 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ru-RU" dirty="0" smtClean="0"/>
              <a:t>Основной функцией </a:t>
            </a:r>
            <a:r>
              <a:rPr lang="ru-RU" b="1" dirty="0" smtClean="0"/>
              <a:t>компилятора языка БД</a:t>
            </a:r>
            <a:r>
              <a:rPr lang="ru-RU" dirty="0" smtClean="0"/>
              <a:t> является компиляция операторов языка БД в некоторую выполняемую программу</a:t>
            </a:r>
          </a:p>
          <a:p>
            <a:pPr>
              <a:spcBef>
                <a:spcPts val="1200"/>
              </a:spcBef>
            </a:pPr>
            <a:r>
              <a:rPr lang="ru-RU" dirty="0" smtClean="0"/>
              <a:t>Результатом компиляции является выполняемая программа, представляемая в некоторых системах в машинных кодах, но, более часто, в выполняемом внутреннем машинно-независимом коде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6841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Подсистема поддержки времени выполнения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	Реальное выполнение оператора языка БД производится с привлечением </a:t>
            </a:r>
            <a:r>
              <a:rPr lang="ru-RU" b="1" dirty="0" smtClean="0"/>
              <a:t>подсистемы поддержки времени выполнения</a:t>
            </a:r>
            <a:r>
              <a:rPr lang="ru-RU" dirty="0" smtClean="0"/>
              <a:t>, представляющей собой, по сути дела, интерпретатор внутреннего языка</a:t>
            </a: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Утилиты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 smtClean="0"/>
              <a:t>Утилиты БД</a:t>
            </a:r>
            <a:r>
              <a:rPr lang="ru-RU" dirty="0" smtClean="0"/>
              <a:t> обычно выделяют такие процедуры, которые слишком накладно выполнять с использованием языка БД, например, загрузка и выгрузка БД, сбор статистики, глобальная проверка целостности БД и т.д.</a:t>
            </a:r>
          </a:p>
          <a:p>
            <a:r>
              <a:rPr lang="ru-RU" dirty="0" smtClean="0"/>
              <a:t>Утилиты программируются с использованием интерфейса ядра СУБД, а иногда даже с проникновением внутрь ядра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1643</TotalTime>
  <Words>1124</Words>
  <Application>Microsoft Office PowerPoint</Application>
  <PresentationFormat>Экран (4:3)</PresentationFormat>
  <Paragraphs>114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5" baseType="lpstr">
      <vt:lpstr>Arial</vt:lpstr>
      <vt:lpstr>Calibri</vt:lpstr>
      <vt:lpstr>Тема Office</vt:lpstr>
      <vt:lpstr>План лекции</vt:lpstr>
      <vt:lpstr>Вопрос 1</vt:lpstr>
      <vt:lpstr>Историческая справка (1/2)</vt:lpstr>
      <vt:lpstr>Историческая справка (2/2)</vt:lpstr>
      <vt:lpstr>Уровни архитектуры (1/2)</vt:lpstr>
      <vt:lpstr>Уровни архитектуры (2/2)</vt:lpstr>
      <vt:lpstr>Детализованная архитектура</vt:lpstr>
      <vt:lpstr>Язык пользователя</vt:lpstr>
      <vt:lpstr>Подъязык данных</vt:lpstr>
      <vt:lpstr>Внешнее представление</vt:lpstr>
      <vt:lpstr>Внешняя схема</vt:lpstr>
      <vt:lpstr>Концептуальное представление</vt:lpstr>
      <vt:lpstr>Концептуальная схема</vt:lpstr>
      <vt:lpstr>Концептуальный язык</vt:lpstr>
      <vt:lpstr>Внутреннее представление</vt:lpstr>
      <vt:lpstr>Внутренняя схема</vt:lpstr>
      <vt:lpstr>Рассматриваемые отображения</vt:lpstr>
      <vt:lpstr>Различия, которые могут существовать между уровнями</vt:lpstr>
      <vt:lpstr>Администраторы</vt:lpstr>
      <vt:lpstr>Функции администратора БД (1/2)</vt:lpstr>
      <vt:lpstr>Функции администратора БД (2/2)</vt:lpstr>
      <vt:lpstr>Вопрос 2</vt:lpstr>
      <vt:lpstr>Назначение СУБД</vt:lpstr>
      <vt:lpstr>Сценарий работы СУБД</vt:lpstr>
      <vt:lpstr>Функции СУБД (1/2)</vt:lpstr>
      <vt:lpstr>Функции СУБД (2/2)</vt:lpstr>
      <vt:lpstr>Состав СУБД</vt:lpstr>
      <vt:lpstr>Ядро СУБД</vt:lpstr>
      <vt:lpstr>Интерфейс ядра</vt:lpstr>
      <vt:lpstr>Компилятор языка БД</vt:lpstr>
      <vt:lpstr>Подсистема поддержки времени выполнения</vt:lpstr>
      <vt:lpstr>Утилиты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171</cp:revision>
  <dcterms:created xsi:type="dcterms:W3CDTF">2012-04-10T15:36:07Z</dcterms:created>
  <dcterms:modified xsi:type="dcterms:W3CDTF">2021-12-21T13:39:10Z</dcterms:modified>
</cp:coreProperties>
</file>