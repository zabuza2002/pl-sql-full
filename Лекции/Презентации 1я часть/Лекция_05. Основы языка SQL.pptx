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5"/>
  </p:notesMasterIdLst>
  <p:sldIdLst>
    <p:sldId id="257" r:id="rId2"/>
    <p:sldId id="321" r:id="rId3"/>
    <p:sldId id="326" r:id="rId4"/>
    <p:sldId id="327" r:id="rId5"/>
    <p:sldId id="345" r:id="rId6"/>
    <p:sldId id="328" r:id="rId7"/>
    <p:sldId id="322" r:id="rId8"/>
    <p:sldId id="330" r:id="rId9"/>
    <p:sldId id="331" r:id="rId10"/>
    <p:sldId id="323" r:id="rId11"/>
    <p:sldId id="332" r:id="rId12"/>
    <p:sldId id="351" r:id="rId13"/>
    <p:sldId id="333" r:id="rId14"/>
    <p:sldId id="334" r:id="rId15"/>
    <p:sldId id="335" r:id="rId16"/>
    <p:sldId id="336" r:id="rId17"/>
    <p:sldId id="337" r:id="rId18"/>
    <p:sldId id="352" r:id="rId19"/>
    <p:sldId id="338" r:id="rId20"/>
    <p:sldId id="339" r:id="rId21"/>
    <p:sldId id="340" r:id="rId22"/>
    <p:sldId id="341" r:id="rId23"/>
    <p:sldId id="353" r:id="rId24"/>
    <p:sldId id="324" r:id="rId25"/>
    <p:sldId id="342" r:id="rId26"/>
    <p:sldId id="343" r:id="rId27"/>
    <p:sldId id="349" r:id="rId28"/>
    <p:sldId id="350" r:id="rId29"/>
    <p:sldId id="344" r:id="rId30"/>
    <p:sldId id="325" r:id="rId31"/>
    <p:sldId id="346" r:id="rId32"/>
    <p:sldId id="347" r:id="rId33"/>
    <p:sldId id="348" r:id="rId3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67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704856" cy="4781128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История возникновения и развития языка SQL. Стандарты и расширения 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Структура языка SQL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Структура команд SQL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Основные типы данных SQL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Основные компоненты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 fontScale="92500" lnSpcReduction="10000"/>
          </a:bodyPr>
          <a:lstStyle/>
          <a:p>
            <a:pPr marL="0" lvl="0" indent="0" algn="ctr">
              <a:buNone/>
            </a:pPr>
            <a:r>
              <a:rPr lang="ru-RU" sz="4400" dirty="0" smtClean="0"/>
              <a:t>История возникновения и развития языка SQL. Стандарты и расширения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en-US" dirty="0" smtClean="0"/>
              <a:t>SQL</a:t>
            </a:r>
            <a:r>
              <a:rPr lang="en-US" i="1" dirty="0" smtClean="0"/>
              <a:t> </a:t>
            </a:r>
            <a:r>
              <a:rPr lang="ru-RU" dirty="0" smtClean="0"/>
              <a:t>(</a:t>
            </a:r>
            <a:r>
              <a:rPr lang="en-US" dirty="0" smtClean="0"/>
              <a:t>Structured Query Language</a:t>
            </a:r>
            <a:r>
              <a:rPr lang="ru-RU" dirty="0" smtClean="0"/>
              <a:t>) – стандартный язык запросов для работы с реляционными базами данных </a:t>
            </a:r>
          </a:p>
          <a:p>
            <a:pPr hangingPunct="0"/>
            <a:r>
              <a:rPr lang="ru-RU" i="1" dirty="0" smtClean="0"/>
              <a:t>Прототипом </a:t>
            </a:r>
            <a:r>
              <a:rPr lang="en-US" dirty="0" smtClean="0"/>
              <a:t>SQL</a:t>
            </a:r>
            <a:r>
              <a:rPr lang="ru-RU" dirty="0" smtClean="0"/>
              <a:t> является язык </a:t>
            </a:r>
            <a:r>
              <a:rPr lang="en-US" dirty="0" smtClean="0"/>
              <a:t>SEQUEL</a:t>
            </a:r>
            <a:r>
              <a:rPr lang="ru-RU" dirty="0" smtClean="0"/>
              <a:t> (</a:t>
            </a:r>
            <a:r>
              <a:rPr lang="en-US" dirty="0" smtClean="0"/>
              <a:t>Structured English Query Language</a:t>
            </a:r>
            <a:r>
              <a:rPr lang="ru-RU" dirty="0" smtClean="0"/>
              <a:t>), разработанный компанией </a:t>
            </a:r>
            <a:r>
              <a:rPr lang="en-US" dirty="0" smtClean="0"/>
              <a:t>IBM</a:t>
            </a:r>
            <a:r>
              <a:rPr lang="ru-RU" dirty="0" smtClean="0"/>
              <a:t> в середине 70-х в рамках проекта </a:t>
            </a:r>
            <a:r>
              <a:rPr lang="en-US" dirty="0" smtClean="0"/>
              <a:t>System R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Стандартизация</a:t>
            </a:r>
            <a:r>
              <a:rPr lang="en-US" dirty="0" smtClean="0"/>
              <a:t>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rmAutofit lnSpcReduction="10000"/>
          </a:bodyPr>
          <a:lstStyle/>
          <a:p>
            <a:pPr lvl="0" hangingPunct="0"/>
            <a:r>
              <a:rPr lang="en-US" dirty="0" smtClean="0"/>
              <a:t>SQL</a:t>
            </a:r>
            <a:r>
              <a:rPr lang="ru-RU" dirty="0" smtClean="0"/>
              <a:t>/89 – первый стандарт. Поддерживается чистая реляционная модель. Из-за столкновения интересов производителей оставлен незавершенным, многие аспекты отнесены к разряду "определяемых при реализации"</a:t>
            </a:r>
          </a:p>
          <a:p>
            <a:pPr lvl="0" hangingPunct="0"/>
            <a:r>
              <a:rPr lang="en-US" dirty="0" smtClean="0"/>
              <a:t>SQL</a:t>
            </a:r>
            <a:r>
              <a:rPr lang="ru-RU" dirty="0" smtClean="0"/>
              <a:t>/92 – устранены основные недостатки </a:t>
            </a:r>
            <a:r>
              <a:rPr lang="en-US" dirty="0" smtClean="0"/>
              <a:t>SQL</a:t>
            </a:r>
            <a:r>
              <a:rPr lang="ru-RU" dirty="0" smtClean="0"/>
              <a:t>/89. Существенно более полный и точный. Изменения в основном количественные (размер порядка 600 стр., в 6 раз длиннее предшественника)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Стандартизация</a:t>
            </a:r>
            <a:r>
              <a:rPr lang="en-US" dirty="0" smtClean="0"/>
              <a:t>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rmAutofit lnSpcReduction="10000"/>
          </a:bodyPr>
          <a:lstStyle/>
          <a:p>
            <a:pPr hangingPunct="0"/>
            <a:r>
              <a:rPr lang="en-US" dirty="0" smtClean="0"/>
              <a:t>SQL</a:t>
            </a:r>
            <a:r>
              <a:rPr lang="ru-RU" dirty="0" smtClean="0"/>
              <a:t>/99 – качественные изменения. Добавлены объектные возможности,  введены спецификации событий и триггеров</a:t>
            </a:r>
          </a:p>
          <a:p>
            <a:pPr lvl="0" hangingPunct="0"/>
            <a:r>
              <a:rPr lang="en-US" dirty="0" smtClean="0"/>
              <a:t>SQL</a:t>
            </a:r>
            <a:r>
              <a:rPr lang="ru-RU" dirty="0" smtClean="0"/>
              <a:t>/2003 –</a:t>
            </a:r>
            <a:r>
              <a:rPr lang="en-US" dirty="0" smtClean="0"/>
              <a:t> </a:t>
            </a:r>
            <a:r>
              <a:rPr lang="ru-RU" dirty="0" smtClean="0"/>
              <a:t>качественные изменения. Более тесная интеграция с </a:t>
            </a:r>
            <a:r>
              <a:rPr lang="ru-RU" dirty="0" err="1" smtClean="0"/>
              <a:t>Java</a:t>
            </a:r>
            <a:r>
              <a:rPr lang="ru-RU" dirty="0" smtClean="0"/>
              <a:t>, интеграция </a:t>
            </a:r>
            <a:r>
              <a:rPr lang="en-US" dirty="0" smtClean="0"/>
              <a:t>SQL</a:t>
            </a:r>
            <a:r>
              <a:rPr lang="ru-RU" dirty="0" smtClean="0"/>
              <a:t> и </a:t>
            </a:r>
            <a:r>
              <a:rPr lang="en-US" dirty="0" smtClean="0"/>
              <a:t>XML</a:t>
            </a:r>
          </a:p>
          <a:p>
            <a:pPr hangingPunct="0"/>
            <a:r>
              <a:rPr lang="en-US" dirty="0" smtClean="0"/>
              <a:t>SQL</a:t>
            </a:r>
            <a:r>
              <a:rPr lang="ru-RU" dirty="0" smtClean="0"/>
              <a:t>/2008 –</a:t>
            </a:r>
            <a:r>
              <a:rPr lang="en-US" dirty="0" smtClean="0"/>
              <a:t> </a:t>
            </a:r>
            <a:r>
              <a:rPr lang="ru-RU" dirty="0" smtClean="0"/>
              <a:t>функциональность работы с XML-данными значительно расширена. Появилась возможность совместно использовать в запросах SQL и </a:t>
            </a:r>
            <a:r>
              <a:rPr lang="ru-RU" dirty="0" err="1" smtClean="0"/>
              <a:t>XQuery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Диалекты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Производители, как правило, поддерживают собственные </a:t>
            </a:r>
            <a:r>
              <a:rPr lang="ru-RU" i="1" dirty="0" smtClean="0"/>
              <a:t>диалекты </a:t>
            </a:r>
            <a:r>
              <a:rPr lang="en-US" dirty="0" smtClean="0"/>
              <a:t>SQL</a:t>
            </a:r>
            <a:r>
              <a:rPr lang="ru-RU" dirty="0" smtClean="0"/>
              <a:t> ("надмножество подмножества стандарта </a:t>
            </a:r>
            <a:r>
              <a:rPr lang="en-US" dirty="0" smtClean="0"/>
              <a:t>SQL</a:t>
            </a:r>
            <a:r>
              <a:rPr lang="ru-RU" dirty="0" smtClean="0"/>
              <a:t>")</a:t>
            </a:r>
          </a:p>
          <a:p>
            <a:r>
              <a:rPr lang="ru-RU" dirty="0" smtClean="0"/>
              <a:t>Среди известных процедурных расширений можно упомянуть  </a:t>
            </a:r>
            <a:r>
              <a:rPr lang="en-US" dirty="0" smtClean="0"/>
              <a:t>PL</a:t>
            </a:r>
            <a:r>
              <a:rPr lang="ru-RU" dirty="0" smtClean="0"/>
              <a:t>/</a:t>
            </a:r>
            <a:r>
              <a:rPr lang="en-US" dirty="0" smtClean="0"/>
              <a:t>SQL</a:t>
            </a:r>
            <a:r>
              <a:rPr lang="ru-RU" dirty="0" smtClean="0"/>
              <a:t>(</a:t>
            </a:r>
            <a:r>
              <a:rPr lang="en-US" dirty="0" smtClean="0"/>
              <a:t>Oracle</a:t>
            </a:r>
            <a:r>
              <a:rPr lang="ru-RU" dirty="0" smtClean="0"/>
              <a:t>), </a:t>
            </a:r>
            <a:r>
              <a:rPr lang="en-US" dirty="0" smtClean="0"/>
              <a:t>Transact</a:t>
            </a:r>
            <a:r>
              <a:rPr lang="ru-RU" dirty="0" smtClean="0"/>
              <a:t>-</a:t>
            </a:r>
            <a:r>
              <a:rPr lang="en-US" dirty="0" smtClean="0"/>
              <a:t>SQL</a:t>
            </a:r>
            <a:r>
              <a:rPr lang="ru-RU" dirty="0" smtClean="0"/>
              <a:t>(</a:t>
            </a:r>
            <a:r>
              <a:rPr lang="en-US" dirty="0" smtClean="0"/>
              <a:t>Microsoft SQL Server</a:t>
            </a:r>
            <a:r>
              <a:rPr lang="ru-RU" dirty="0" smtClean="0"/>
              <a:t>), </a:t>
            </a:r>
            <a:r>
              <a:rPr lang="en-US" dirty="0" smtClean="0"/>
              <a:t>ESQL</a:t>
            </a:r>
            <a:r>
              <a:rPr lang="ru-RU" dirty="0" smtClean="0"/>
              <a:t>/</a:t>
            </a:r>
            <a:r>
              <a:rPr lang="en-US" dirty="0" smtClean="0"/>
              <a:t>C</a:t>
            </a:r>
            <a:r>
              <a:rPr lang="ru-RU" dirty="0" smtClean="0"/>
              <a:t> (</a:t>
            </a:r>
            <a:r>
              <a:rPr lang="en-US" dirty="0" smtClean="0"/>
              <a:t>Informix</a:t>
            </a:r>
            <a:r>
              <a:rPr lang="ru-RU" dirty="0" smtClean="0"/>
              <a:t>, </a:t>
            </a:r>
            <a:r>
              <a:rPr lang="en-US" dirty="0" err="1" smtClean="0"/>
              <a:t>PostgreSQL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Структура языка </a:t>
            </a:r>
            <a:r>
              <a:rPr lang="en-US" sz="4400" dirty="0" smtClean="0"/>
              <a:t>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подмножества </a:t>
            </a:r>
            <a:r>
              <a:rPr lang="en-US" dirty="0" smtClean="0"/>
              <a:t>SQL</a:t>
            </a:r>
            <a:r>
              <a:rPr lang="ru-RU" dirty="0" smtClean="0"/>
              <a:t> (1/2)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2552"/>
                <a:gridCol w="2160240"/>
                <a:gridCol w="2129408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Аббревиатура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Описание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Действия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Основные команды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DDL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 dirty="0"/>
                        <a:t>(Data Definition Language) </a:t>
                      </a:r>
                      <a:r>
                        <a:rPr lang="ru-RU" sz="2000" dirty="0"/>
                        <a:t>язык определения данных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Создание, изменение и удаление объектов БД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CREATE, ALTER, DROP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DML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(Data Manipulation Language) </a:t>
                      </a:r>
                      <a:r>
                        <a:rPr lang="ru-RU" sz="2000"/>
                        <a:t>язык манипулирования данными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Вставка, изменение и удаление строк таблицы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INSERT, UPDATE, DELETE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dirty="0"/>
                        <a:t>DQL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(Data Query Language) </a:t>
                      </a:r>
                      <a:r>
                        <a:rPr lang="ru-RU" sz="2000"/>
                        <a:t>язык запросов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Выборка строк таблицы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 dirty="0"/>
                        <a:t>SELECT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подмножества </a:t>
            </a:r>
            <a:r>
              <a:rPr lang="en-US" dirty="0" smtClean="0"/>
              <a:t>SQL</a:t>
            </a:r>
            <a:r>
              <a:rPr lang="ru-RU" dirty="0" smtClean="0"/>
              <a:t> (2/2)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7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0544"/>
                <a:gridCol w="2232248"/>
                <a:gridCol w="2129408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Аббревиатура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Описание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Действия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Основные команды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DCL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Data Control Language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 язык управления данными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Управление доступом</a:t>
                      </a:r>
                      <a:endParaRPr lang="ru-RU" sz="18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GRANT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,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REVOKE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TPL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(Transaction Processing Language) 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язык обработки транзакций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Фиксация или откат транзакции, сохранение промежуточной точки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COMMIT, ROLLBACK, SAVEPOINT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CCL</a:t>
                      </a:r>
                      <a:endParaRPr lang="ru-RU" sz="18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(Cursor Control Language) 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язык управления курсорами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Выборка данных при помощи курсора, его открытие и закрытие 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OPEN, CLOSE, FETCH</a:t>
                      </a:r>
                      <a:endParaRPr lang="ru-RU" sz="18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Структура команд </a:t>
            </a:r>
            <a:r>
              <a:rPr lang="en-US" sz="4400" dirty="0" smtClean="0"/>
              <a:t>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Анатомия команд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0"/>
            <a:r>
              <a:rPr lang="ru-RU" dirty="0" smtClean="0"/>
              <a:t>Команда </a:t>
            </a:r>
            <a:r>
              <a:rPr lang="en-US" dirty="0" smtClean="0"/>
              <a:t>SQL</a:t>
            </a:r>
            <a:r>
              <a:rPr lang="ru-RU" dirty="0" smtClean="0"/>
              <a:t> всегда начинается с </a:t>
            </a:r>
            <a:r>
              <a:rPr lang="ru-RU" i="1" dirty="0" smtClean="0"/>
              <a:t>действия</a:t>
            </a:r>
            <a:r>
              <a:rPr lang="ru-RU" dirty="0" smtClean="0"/>
              <a:t> – слова или группы слов, описывающих выполняемую операцию</a:t>
            </a:r>
          </a:p>
          <a:p>
            <a:pPr hangingPunct="0"/>
            <a:r>
              <a:rPr lang="ru-RU" dirty="0" smtClean="0"/>
              <a:t>Кроме того, команда обычно содержит одну или несколько </a:t>
            </a:r>
            <a:r>
              <a:rPr lang="ru-RU" i="1" dirty="0" smtClean="0"/>
              <a:t>секций (разделов)</a:t>
            </a:r>
            <a:r>
              <a:rPr lang="ru-RU" dirty="0" smtClean="0"/>
              <a:t>, уточняющих ее смысл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команд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SELECT Name FROM Student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INSERT INTO Student</a:t>
            </a:r>
          </a:p>
          <a:p>
            <a:pPr>
              <a:buNone/>
            </a:pPr>
            <a:r>
              <a:rPr lang="en-US" dirty="0" smtClean="0"/>
              <a:t>		VALUES (1, ‘</a:t>
            </a:r>
            <a:r>
              <a:rPr lang="ru-RU" dirty="0" smtClean="0"/>
              <a:t>Иванов</a:t>
            </a:r>
            <a:r>
              <a:rPr lang="en-US" dirty="0" smtClean="0"/>
              <a:t>’</a:t>
            </a:r>
            <a:r>
              <a:rPr lang="ru-RU" dirty="0" smtClean="0"/>
              <a:t>, 7333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DELETE FROM Student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Отличие от процедурных языков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ru-RU" dirty="0" smtClean="0"/>
              <a:t>В отличие от команд обычных  языков программирования, команды </a:t>
            </a:r>
            <a:r>
              <a:rPr lang="en-US" dirty="0" smtClean="0"/>
              <a:t>SQL</a:t>
            </a:r>
            <a:r>
              <a:rPr lang="ru-RU" dirty="0" smtClean="0"/>
              <a:t> указывают СУБД </a:t>
            </a:r>
            <a:r>
              <a:rPr lang="ru-RU" i="1" dirty="0" smtClean="0"/>
              <a:t>какие</a:t>
            </a:r>
            <a:r>
              <a:rPr lang="ru-RU" dirty="0" smtClean="0"/>
              <a:t> данные необходимо найти, но не сообщают, </a:t>
            </a:r>
            <a:r>
              <a:rPr lang="ru-RU" i="1" dirty="0" smtClean="0"/>
              <a:t>как </a:t>
            </a:r>
            <a:r>
              <a:rPr lang="ru-RU" dirty="0" smtClean="0"/>
              <a:t>это должно происходить</a:t>
            </a:r>
          </a:p>
          <a:p>
            <a:pPr hangingPunct="0"/>
            <a:r>
              <a:rPr lang="ru-RU" dirty="0" smtClean="0"/>
              <a:t>Хорошо написанный запрос </a:t>
            </a:r>
            <a:r>
              <a:rPr lang="en-US" dirty="0" smtClean="0"/>
              <a:t>SQL</a:t>
            </a:r>
            <a:r>
              <a:rPr lang="ru-RU" dirty="0" smtClean="0"/>
              <a:t> читается почти также легко, как и обычное предложение (на английском языке)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лексем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hangingPunct="0"/>
            <a:r>
              <a:rPr lang="ru-RU" dirty="0" smtClean="0"/>
              <a:t>Ключевое слово (зарезервированные слова: названия команд, функций и т.п.)</a:t>
            </a:r>
          </a:p>
          <a:p>
            <a:pPr lvl="0" hangingPunct="0"/>
            <a:r>
              <a:rPr lang="ru-RU" dirty="0" smtClean="0"/>
              <a:t>Идентификатор (имена таблиц, столбцов и др. объектов БД)</a:t>
            </a:r>
          </a:p>
          <a:p>
            <a:pPr lvl="0" hangingPunct="0"/>
            <a:r>
              <a:rPr lang="ru-RU" dirty="0" smtClean="0"/>
              <a:t>Константа (данные, интерпретируемые буквально)</a:t>
            </a:r>
          </a:p>
          <a:p>
            <a:pPr lvl="0" hangingPunct="0"/>
            <a:r>
              <a:rPr lang="ru-RU" dirty="0" smtClean="0"/>
              <a:t>Специальный символ (скобки и т.п.)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Символы-разделители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hangingPunct="0"/>
            <a:r>
              <a:rPr lang="ru-RU" dirty="0" smtClean="0"/>
              <a:t>Пробел</a:t>
            </a:r>
          </a:p>
          <a:p>
            <a:pPr lvl="0" hangingPunct="0"/>
            <a:r>
              <a:rPr lang="ru-RU" dirty="0" smtClean="0"/>
              <a:t>Символ табуляции</a:t>
            </a:r>
          </a:p>
          <a:p>
            <a:pPr lvl="0" hangingPunct="0"/>
            <a:r>
              <a:rPr lang="ru-RU" dirty="0" smtClean="0"/>
              <a:t>Разрыв строки</a:t>
            </a:r>
          </a:p>
          <a:p>
            <a:pPr lvl="0" hangingPunct="0"/>
            <a:endParaRPr lang="ru-RU" dirty="0" smtClean="0"/>
          </a:p>
          <a:p>
            <a:pPr marL="0" indent="0" hangingPunct="0">
              <a:buNone/>
            </a:pPr>
            <a:r>
              <a:rPr lang="ru-RU" dirty="0" smtClean="0"/>
              <a:t>Из последнего следует, что команда не обязательно должна располагаться на одной строке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Комментарии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Однострочные комментарии начинаются с двух дефисов --</a:t>
            </a:r>
          </a:p>
          <a:p>
            <a:r>
              <a:rPr lang="ru-RU" dirty="0" smtClean="0"/>
              <a:t>Многострочные – начинаются с последовательности /* и завершаются последовательностью */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Идентификаторы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hangingPunct="0"/>
            <a:r>
              <a:rPr lang="ru-RU" dirty="0" smtClean="0"/>
              <a:t>Идентификаторы могут начинаться с любой буквы английского алфавита или с символа подчеркивания, далее следует любое сочетание букв, цифр и символов подчеркивания</a:t>
            </a:r>
          </a:p>
          <a:p>
            <a:pPr hangingPunct="0"/>
            <a:r>
              <a:rPr lang="ru-RU" i="1" dirty="0" smtClean="0"/>
              <a:t>Регистр </a:t>
            </a:r>
            <a:r>
              <a:rPr lang="ru-RU" dirty="0" smtClean="0"/>
              <a:t>ввода незащищенных идентификаторов не играет роли – в соответствии со стандартом </a:t>
            </a:r>
            <a:r>
              <a:rPr lang="en-US" dirty="0" smtClean="0"/>
              <a:t>SQL</a:t>
            </a:r>
            <a:r>
              <a:rPr lang="ru-RU" dirty="0" smtClean="0"/>
              <a:t>/92 при выполнении команды они должны преобразовываться к верхнему регистру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Ограничения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ru-RU" dirty="0" smtClean="0"/>
              <a:t>Идентификаторы </a:t>
            </a:r>
            <a:r>
              <a:rPr lang="ru-RU" i="1" dirty="0" smtClean="0"/>
              <a:t>не могут</a:t>
            </a:r>
            <a:r>
              <a:rPr lang="ru-RU" dirty="0" smtClean="0"/>
              <a:t> содержать символов-разделителей</a:t>
            </a:r>
          </a:p>
          <a:p>
            <a:pPr hangingPunct="0"/>
            <a:r>
              <a:rPr lang="ru-RU" dirty="0" smtClean="0"/>
              <a:t>Идентификаторы </a:t>
            </a:r>
            <a:r>
              <a:rPr lang="ru-RU" i="1" dirty="0" smtClean="0"/>
              <a:t>не могут</a:t>
            </a:r>
            <a:r>
              <a:rPr lang="ru-RU" dirty="0" smtClean="0"/>
              <a:t> начинаться с цифры</a:t>
            </a:r>
          </a:p>
          <a:p>
            <a:pPr hangingPunct="0"/>
            <a:r>
              <a:rPr lang="ru-RU" dirty="0" smtClean="0"/>
              <a:t>Идентификаторы </a:t>
            </a:r>
            <a:r>
              <a:rPr lang="ru-RU" i="1" dirty="0" smtClean="0"/>
              <a:t>не должны</a:t>
            </a:r>
            <a:r>
              <a:rPr lang="ru-RU" dirty="0" smtClean="0"/>
              <a:t> совпадать с ключевыми словами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hangingPunct="0"/>
            <a:r>
              <a:rPr lang="ru-RU" dirty="0" smtClean="0"/>
              <a:t>Правильные:</a:t>
            </a:r>
          </a:p>
          <a:p>
            <a:pPr lvl="1" hangingPunct="0">
              <a:buNone/>
            </a:pPr>
            <a:r>
              <a:rPr lang="en-US" sz="3200" dirty="0" smtClean="0"/>
              <a:t>Group7333</a:t>
            </a:r>
            <a:endParaRPr lang="ru-RU" sz="3200" dirty="0" smtClean="0"/>
          </a:p>
          <a:p>
            <a:pPr lvl="1" hangingPunct="0">
              <a:buNone/>
            </a:pPr>
            <a:r>
              <a:rPr lang="en-US" sz="3200" dirty="0" smtClean="0"/>
              <a:t>g7334</a:t>
            </a:r>
            <a:endParaRPr lang="ru-RU" sz="3200" dirty="0" smtClean="0"/>
          </a:p>
          <a:p>
            <a:pPr lvl="1" hangingPunct="0">
              <a:buNone/>
            </a:pPr>
            <a:r>
              <a:rPr lang="en-US" sz="3200" dirty="0" smtClean="0"/>
              <a:t>group</a:t>
            </a:r>
            <a:r>
              <a:rPr lang="ru-RU" sz="3200" dirty="0" smtClean="0"/>
              <a:t>_7334</a:t>
            </a:r>
          </a:p>
          <a:p>
            <a:pPr hangingPunct="0">
              <a:buNone/>
            </a:pPr>
            <a:endParaRPr lang="ru-RU" dirty="0" smtClean="0"/>
          </a:p>
          <a:p>
            <a:pPr hangingPunct="0">
              <a:buNone/>
            </a:pPr>
            <a:endParaRPr lang="ru-RU" dirty="0" smtClean="0"/>
          </a:p>
          <a:p>
            <a:pPr hangingPunct="0">
              <a:buNone/>
            </a:pPr>
            <a:endParaRPr lang="ru-RU" dirty="0" smtClean="0"/>
          </a:p>
          <a:p>
            <a:pPr hangingPunct="0"/>
            <a:r>
              <a:rPr lang="ru-RU" dirty="0" smtClean="0"/>
              <a:t>Неправильные:</a:t>
            </a:r>
          </a:p>
          <a:p>
            <a:pPr lvl="1" hangingPunct="0">
              <a:buNone/>
            </a:pPr>
            <a:r>
              <a:rPr lang="ru-RU" sz="3200" dirty="0" smtClean="0"/>
              <a:t>7333</a:t>
            </a:r>
          </a:p>
          <a:p>
            <a:pPr lvl="1" hangingPunct="0">
              <a:buNone/>
            </a:pPr>
            <a:r>
              <a:rPr lang="en-US" sz="3200" dirty="0" smtClean="0"/>
              <a:t>Table</a:t>
            </a:r>
            <a:endParaRPr lang="ru-RU" sz="3200" dirty="0" smtClean="0"/>
          </a:p>
          <a:p>
            <a:pPr lvl="1" hangingPunct="0">
              <a:buNone/>
            </a:pPr>
            <a:r>
              <a:rPr lang="ru-RU" sz="3200" dirty="0" smtClean="0"/>
              <a:t>Группа  7334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Защищенные идентификаторы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92500" lnSpcReduction="10000"/>
          </a:bodyPr>
          <a:lstStyle/>
          <a:p>
            <a:pPr hangingPunct="0"/>
            <a:r>
              <a:rPr lang="ru-RU" dirty="0" smtClean="0"/>
              <a:t>Идентификаторы, заключенные в двойные кавычки, называют </a:t>
            </a:r>
            <a:r>
              <a:rPr lang="ru-RU" i="1" dirty="0" smtClean="0"/>
              <a:t>защищенные идентификаторами</a:t>
            </a:r>
            <a:r>
              <a:rPr lang="ru-RU" dirty="0" smtClean="0"/>
              <a:t>. Например:</a:t>
            </a:r>
          </a:p>
          <a:p>
            <a:pPr algn="ctr" hangingPunct="0">
              <a:buNone/>
            </a:pPr>
            <a:r>
              <a:rPr lang="ru-RU" dirty="0" smtClean="0"/>
              <a:t>"Группа 7334" </a:t>
            </a:r>
          </a:p>
          <a:p>
            <a:pPr hangingPunct="0"/>
            <a:r>
              <a:rPr lang="ru-RU" dirty="0" smtClean="0"/>
              <a:t>Использование  защищенных идентификаторов позволяет преодолеть рассмотренные ограничения</a:t>
            </a:r>
            <a:endParaRPr lang="ru-RU" i="1" dirty="0" smtClean="0"/>
          </a:p>
          <a:p>
            <a:pPr hangingPunct="0"/>
            <a:r>
              <a:rPr lang="ru-RU" dirty="0" smtClean="0"/>
              <a:t>Защищенные идентификаторы интерпретируются буквально – т.е. являются </a:t>
            </a:r>
            <a:r>
              <a:rPr lang="ru-RU" dirty="0" err="1" smtClean="0"/>
              <a:t>регистрозависимыми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Числовые константы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0">
              <a:buNone/>
            </a:pPr>
            <a:r>
              <a:rPr lang="ru-RU" i="1" dirty="0" smtClean="0"/>
              <a:t>	Числовые константы </a:t>
            </a:r>
            <a:r>
              <a:rPr lang="ru-RU" dirty="0" smtClean="0"/>
              <a:t>(целочисленные и вещественные) задаются в </a:t>
            </a:r>
            <a:r>
              <a:rPr lang="en-US" dirty="0" smtClean="0"/>
              <a:t>SQL</a:t>
            </a:r>
            <a:r>
              <a:rPr lang="ru-RU" dirty="0" smtClean="0"/>
              <a:t> так же,  как и большинстве обычных языков программирования:</a:t>
            </a:r>
          </a:p>
          <a:p>
            <a:pPr lvl="1" hangingPunct="0">
              <a:buNone/>
            </a:pPr>
            <a:r>
              <a:rPr lang="ru-RU" dirty="0" smtClean="0"/>
              <a:t>12</a:t>
            </a:r>
          </a:p>
          <a:p>
            <a:pPr lvl="1" hangingPunct="0">
              <a:buNone/>
            </a:pPr>
            <a:r>
              <a:rPr lang="ru-RU" dirty="0" smtClean="0"/>
              <a:t>–134</a:t>
            </a:r>
          </a:p>
          <a:p>
            <a:pPr lvl="1" hangingPunct="0">
              <a:buNone/>
            </a:pPr>
            <a:r>
              <a:rPr lang="ru-RU" dirty="0" smtClean="0"/>
              <a:t>1.5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Строковые константы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20000"/>
          </a:bodyPr>
          <a:lstStyle/>
          <a:p>
            <a:pPr hangingPunct="0"/>
            <a:r>
              <a:rPr lang="ru-RU" i="1" dirty="0" smtClean="0"/>
              <a:t>Строковые константы</a:t>
            </a:r>
            <a:r>
              <a:rPr lang="ru-RU" dirty="0" smtClean="0"/>
              <a:t> представляют собой произвольную совокупность символов, заключенную апострофы (в одинарные кавычки)</a:t>
            </a:r>
          </a:p>
          <a:p>
            <a:pPr hangingPunct="0"/>
            <a:r>
              <a:rPr lang="ru-RU" dirty="0" smtClean="0"/>
              <a:t>Если в самой константе встречается апостроф, при ее определении следует его удвоить</a:t>
            </a:r>
          </a:p>
          <a:p>
            <a:pPr hangingPunct="0"/>
            <a:r>
              <a:rPr lang="ru-RU" dirty="0" smtClean="0"/>
              <a:t>В </a:t>
            </a:r>
            <a:r>
              <a:rPr lang="en-US" dirty="0" smtClean="0"/>
              <a:t>MS SQL Server</a:t>
            </a:r>
            <a:r>
              <a:rPr lang="ru-RU" dirty="0" smtClean="0"/>
              <a:t> при задании строковых констант допустимо использование двойных кавычек</a:t>
            </a:r>
          </a:p>
          <a:p>
            <a:pPr hangingPunct="0"/>
            <a:r>
              <a:rPr lang="ru-RU" dirty="0" smtClean="0"/>
              <a:t>Если строковая константа представлена в кодировке </a:t>
            </a:r>
            <a:r>
              <a:rPr lang="en-US" dirty="0" smtClean="0"/>
              <a:t>Unicode</a:t>
            </a:r>
            <a:r>
              <a:rPr lang="ru-RU" dirty="0" smtClean="0"/>
              <a:t>, то ей должна предшествовать буква </a:t>
            </a:r>
            <a:r>
              <a:rPr lang="en-US" dirty="0" smtClean="0"/>
              <a:t>N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>
              <a:buNone/>
            </a:pPr>
            <a:r>
              <a:rPr lang="ru-RU" dirty="0" smtClean="0"/>
              <a:t>	</a:t>
            </a:r>
            <a:r>
              <a:rPr lang="en-US" dirty="0" smtClean="0"/>
              <a:t>'SQL/92'</a:t>
            </a:r>
            <a:endParaRPr lang="ru-RU" dirty="0" smtClean="0"/>
          </a:p>
          <a:p>
            <a:pPr hangingPunct="0">
              <a:buNone/>
            </a:pPr>
            <a:r>
              <a:rPr lang="en-US" dirty="0" smtClean="0"/>
              <a:t>	'</a:t>
            </a:r>
            <a:r>
              <a:rPr lang="en-US" dirty="0" err="1" smtClean="0"/>
              <a:t>O''Reilly</a:t>
            </a:r>
            <a:r>
              <a:rPr lang="en-US" dirty="0" smtClean="0"/>
              <a:t>'</a:t>
            </a:r>
            <a:endParaRPr lang="ru-RU" dirty="0" smtClean="0"/>
          </a:p>
          <a:p>
            <a:pPr hangingPunct="0">
              <a:buNone/>
            </a:pPr>
            <a:r>
              <a:rPr lang="en-US" dirty="0" smtClean="0"/>
              <a:t>	N</a:t>
            </a:r>
            <a:r>
              <a:rPr lang="ru-RU" dirty="0" smtClean="0"/>
              <a:t>'Иванов'</a:t>
            </a:r>
          </a:p>
          <a:p>
            <a:pPr hangingPunct="0">
              <a:buNone/>
            </a:pPr>
            <a:r>
              <a:rPr lang="ru-RU" dirty="0" smtClean="0"/>
              <a:t>	 "</a:t>
            </a:r>
            <a:r>
              <a:rPr lang="en-US" dirty="0" smtClean="0"/>
              <a:t>SQL Server</a:t>
            </a:r>
            <a:r>
              <a:rPr lang="ru-RU" dirty="0" smtClean="0"/>
              <a:t>"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Основные типы данных </a:t>
            </a:r>
            <a:r>
              <a:rPr lang="en-US" sz="4400" dirty="0" smtClean="0"/>
              <a:t>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Числовые типы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412776"/>
          <a:ext cx="8229600" cy="5069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8616"/>
                <a:gridCol w="4392488"/>
                <a:gridCol w="1378496"/>
              </a:tblGrid>
              <a:tr h="370840">
                <a:tc gridSpan="3"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</a:pPr>
                      <a:r>
                        <a:rPr lang="ru-RU" sz="2600" i="1" dirty="0" smtClean="0">
                          <a:latin typeface="+mn-lt"/>
                        </a:rPr>
                        <a:t>точные </a:t>
                      </a:r>
                      <a:r>
                        <a:rPr lang="ru-RU" sz="2600" i="1" dirty="0">
                          <a:latin typeface="+mn-lt"/>
                        </a:rPr>
                        <a:t>целочисленные</a:t>
                      </a:r>
                      <a:endParaRPr lang="ru-RU" sz="2600" i="1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>
                          <a:latin typeface="+mn-lt"/>
                        </a:rPr>
                        <a:t>tinyint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dirty="0" smtClean="0">
                          <a:latin typeface="+mn-lt"/>
                        </a:rPr>
                        <a:t>1-байтовое целое без знака</a:t>
                      </a:r>
                      <a:endParaRPr lang="ru-RU" sz="2600" dirty="0" smtClean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latin typeface="+mn-lt"/>
                        </a:rPr>
                        <a:t>MS SQL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>
                          <a:latin typeface="+mn-lt"/>
                        </a:rPr>
                        <a:t>smallint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latin typeface="+mn-lt"/>
                        </a:rPr>
                        <a:t>2-байтовое целое со знаком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>
                          <a:latin typeface="+mn-lt"/>
                        </a:rPr>
                        <a:t>SQL/</a:t>
                      </a:r>
                      <a:r>
                        <a:rPr lang="ru-RU" sz="2600">
                          <a:latin typeface="+mn-lt"/>
                        </a:rPr>
                        <a:t>89</a:t>
                      </a:r>
                      <a:endParaRPr lang="ru-RU" sz="26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latin typeface="+mn-lt"/>
                        </a:rPr>
                        <a:t>integer</a:t>
                      </a:r>
                      <a:r>
                        <a:rPr lang="ru-RU" sz="2600" dirty="0">
                          <a:latin typeface="+mn-lt"/>
                        </a:rPr>
                        <a:t>, </a:t>
                      </a:r>
                      <a:r>
                        <a:rPr lang="en-US" sz="2600" dirty="0" err="1">
                          <a:latin typeface="+mn-lt"/>
                        </a:rPr>
                        <a:t>int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latin typeface="+mn-lt"/>
                        </a:rPr>
                        <a:t>4-байтовое целое со знаком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latin typeface="+mn-lt"/>
                        </a:rPr>
                        <a:t>SQL/</a:t>
                      </a:r>
                      <a:r>
                        <a:rPr lang="ru-RU" sz="2600" dirty="0">
                          <a:latin typeface="+mn-lt"/>
                        </a:rPr>
                        <a:t>92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 smtClean="0">
                          <a:latin typeface="+mn-lt"/>
                          <a:ea typeface="Times New Roman"/>
                        </a:rPr>
                        <a:t>bigint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latin typeface="+mn-lt"/>
                        </a:rPr>
                        <a:t>8</a:t>
                      </a:r>
                      <a:r>
                        <a:rPr lang="ru-RU" sz="2600" dirty="0" smtClean="0">
                          <a:latin typeface="+mn-lt"/>
                        </a:rPr>
                        <a:t>-байтовое целое со знаком</a:t>
                      </a:r>
                      <a:endParaRPr lang="ru-RU" sz="2600" dirty="0" smtClean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latin typeface="+mn-lt"/>
                        </a:rPr>
                        <a:t>MS SQL</a:t>
                      </a:r>
                      <a:endParaRPr lang="ru-RU" sz="2600" dirty="0" smtClean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872">
                <a:tc gridSpan="3"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</a:pPr>
                      <a:r>
                        <a:rPr lang="ru-RU" sz="2600" i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точные </a:t>
                      </a:r>
                      <a:r>
                        <a:rPr lang="ru-RU" sz="2600" i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вещественные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endParaRPr lang="ru-RU" sz="24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numeric(p,s), decimal(p,s)</a:t>
                      </a:r>
                      <a:endParaRPr lang="ru-RU" sz="26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Число из 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 цифр, содержащее 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 цифр в дробной части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SQL/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99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72">
                <a:tc gridSpan="3">
                  <a:txBody>
                    <a:bodyPr/>
                    <a:lstStyle/>
                    <a:p>
                      <a:pPr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600" i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вещественные </a:t>
                      </a:r>
                      <a:r>
                        <a:rPr lang="ru-RU" sz="2600" i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с плавающей точкой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endParaRPr lang="ru-RU" sz="24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real</a:t>
                      </a:r>
                      <a:endParaRPr lang="ru-RU" sz="26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4-байтовое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SQL/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89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double precision, float</a:t>
                      </a:r>
                      <a:endParaRPr lang="ru-RU" sz="26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8-байтовое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SQL/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89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Символьные (однобайтовые)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4680"/>
                <a:gridCol w="3816424"/>
                <a:gridCol w="1378496"/>
              </a:tblGrid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character(n), char(n)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Строка однобайтовых символов фиксированной длины </a:t>
                      </a:r>
                      <a:r>
                        <a:rPr lang="en-US" sz="2600" dirty="0" smtClean="0"/>
                        <a:t>n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SQL/89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character varying(n),</a:t>
                      </a:r>
                      <a:endParaRPr lang="ru-RU" sz="2600" dirty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/>
                        <a:t>varchar</a:t>
                      </a:r>
                      <a:r>
                        <a:rPr lang="ru-RU" sz="2600" dirty="0"/>
                        <a:t>(</a:t>
                      </a:r>
                      <a:r>
                        <a:rPr lang="en-US" sz="2600" dirty="0"/>
                        <a:t>n</a:t>
                      </a:r>
                      <a:r>
                        <a:rPr lang="ru-RU" sz="2600" dirty="0"/>
                        <a:t>)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Строка однобайтовых символов переменной длины максимальным размером </a:t>
                      </a:r>
                      <a:r>
                        <a:rPr lang="en-US" sz="2600" dirty="0" smtClean="0"/>
                        <a:t>n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SQL/92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text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Строка однобайтовых символов </a:t>
                      </a:r>
                      <a:r>
                        <a:rPr lang="ru-RU" sz="2600" baseline="0" dirty="0" smtClean="0"/>
                        <a:t>до 2 Гб (данные хранятся на отдельных страницах по 8 Кб)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Символьные (</a:t>
            </a:r>
            <a:r>
              <a:rPr lang="en-US" dirty="0" smtClean="0"/>
              <a:t>Unicode</a:t>
            </a:r>
            <a:r>
              <a:rPr lang="ru-RU" dirty="0" smtClean="0"/>
              <a:t>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6688"/>
                <a:gridCol w="3816424"/>
                <a:gridCol w="1306488"/>
              </a:tblGrid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national character(n), national char(n),</a:t>
                      </a:r>
                      <a:endParaRPr lang="ru-RU" sz="2600" dirty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/>
                        <a:t>nchar</a:t>
                      </a:r>
                      <a:r>
                        <a:rPr lang="ru-RU" sz="2600" dirty="0"/>
                        <a:t>(</a:t>
                      </a:r>
                      <a:r>
                        <a:rPr lang="en-US" sz="2600" dirty="0"/>
                        <a:t>n</a:t>
                      </a:r>
                      <a:r>
                        <a:rPr lang="ru-RU" sz="2600" dirty="0"/>
                        <a:t>)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Строка </a:t>
                      </a:r>
                      <a:r>
                        <a:rPr lang="en-US" sz="2600" dirty="0"/>
                        <a:t>Unicode</a:t>
                      </a:r>
                      <a:r>
                        <a:rPr lang="ru-RU" sz="2600" dirty="0"/>
                        <a:t> символов фиксированной длины </a:t>
                      </a:r>
                      <a:r>
                        <a:rPr lang="en-US" sz="2600" dirty="0" smtClean="0"/>
                        <a:t>n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SQL/92</a:t>
                      </a:r>
                      <a:endParaRPr lang="ru-RU" sz="26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national character varying(n),</a:t>
                      </a:r>
                      <a:endParaRPr lang="ru-RU" sz="2600" dirty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national char varying(n),</a:t>
                      </a:r>
                      <a:endParaRPr lang="ru-RU" sz="2600" dirty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/>
                        <a:t>nvarchar</a:t>
                      </a:r>
                      <a:r>
                        <a:rPr lang="ru-RU" sz="2600" dirty="0"/>
                        <a:t>(</a:t>
                      </a:r>
                      <a:r>
                        <a:rPr lang="en-US" sz="2600" dirty="0"/>
                        <a:t>n</a:t>
                      </a:r>
                      <a:r>
                        <a:rPr lang="ru-RU" sz="2600" dirty="0"/>
                        <a:t>)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Строка </a:t>
                      </a:r>
                      <a:r>
                        <a:rPr lang="en-US" sz="2600" dirty="0"/>
                        <a:t>Unicode</a:t>
                      </a:r>
                      <a:r>
                        <a:rPr lang="ru-RU" sz="2600" dirty="0"/>
                        <a:t> символов переменной длины максимальным размером </a:t>
                      </a:r>
                      <a:r>
                        <a:rPr lang="en-US" sz="2600" dirty="0" smtClean="0"/>
                        <a:t>n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SQL/92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err="1" smtClean="0"/>
                        <a:t>ntext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Строка </a:t>
                      </a:r>
                      <a:r>
                        <a:rPr lang="en-US" sz="2600" dirty="0" smtClean="0"/>
                        <a:t>Unicode</a:t>
                      </a:r>
                      <a:r>
                        <a:rPr lang="ru-RU" sz="2600" dirty="0" smtClean="0"/>
                        <a:t> символов </a:t>
                      </a:r>
                      <a:r>
                        <a:rPr lang="ru-RU" sz="2600" baseline="0" dirty="0" smtClean="0"/>
                        <a:t>до 2 Гб (данные хранятся на отдельных страницах по 8 Кб)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Двоичные типы данных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23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8576"/>
                <a:gridCol w="4536504"/>
                <a:gridCol w="1594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binary(n)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Блок</a:t>
                      </a:r>
                      <a:r>
                        <a:rPr lang="ru-RU" sz="2600" baseline="0" dirty="0" smtClean="0"/>
                        <a:t> двоичных данных фиксированной длины </a:t>
                      </a:r>
                      <a:r>
                        <a:rPr lang="en-US" sz="2600" baseline="0" dirty="0" smtClean="0"/>
                        <a:t>n</a:t>
                      </a:r>
                      <a:endParaRPr lang="ru-RU" sz="2600" baseline="0" dirty="0" smtClean="0"/>
                    </a:p>
                    <a:p>
                      <a:r>
                        <a:rPr lang="ru-RU" sz="2600" baseline="0" dirty="0" smtClean="0"/>
                        <a:t>от 1 до 8000 байт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err="1" smtClean="0"/>
                        <a:t>varbinary</a:t>
                      </a:r>
                      <a:r>
                        <a:rPr lang="en-US" sz="2600" dirty="0" smtClean="0"/>
                        <a:t>(n)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dirty="0" smtClean="0"/>
                        <a:t>Блок</a:t>
                      </a:r>
                      <a:r>
                        <a:rPr lang="ru-RU" sz="2600" baseline="0" dirty="0" smtClean="0"/>
                        <a:t> двоичных данных переменной длины максимальным размером </a:t>
                      </a:r>
                      <a:r>
                        <a:rPr lang="en-US" sz="2600" baseline="0" dirty="0" smtClean="0"/>
                        <a:t>n</a:t>
                      </a:r>
                      <a:endParaRPr lang="ru-RU" sz="2600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baseline="0" dirty="0" smtClean="0"/>
                        <a:t>от 1 до 8000 байт</a:t>
                      </a:r>
                      <a:endParaRPr lang="ru-RU" sz="2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image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Блок</a:t>
                      </a:r>
                      <a:r>
                        <a:rPr lang="ru-RU" sz="2600" baseline="0" dirty="0" smtClean="0"/>
                        <a:t> двоичных данных</a:t>
                      </a:r>
                    </a:p>
                    <a:p>
                      <a:r>
                        <a:rPr lang="ru-RU" sz="2600" baseline="0" dirty="0" smtClean="0"/>
                        <a:t>до 2 Гб (данные хранятся на отдельных страницах по 8 Кб)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Дата и время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412776"/>
          <a:ext cx="8229600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8576"/>
                <a:gridCol w="4464496"/>
                <a:gridCol w="1666528"/>
              </a:tblGrid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date</a:t>
                      </a:r>
                      <a:endParaRPr lang="ru-RU" sz="2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календарная дата </a:t>
                      </a:r>
                      <a:endParaRPr lang="en-US" sz="2600" dirty="0" smtClean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 smtClean="0"/>
                        <a:t>(</a:t>
                      </a:r>
                      <a:r>
                        <a:rPr lang="ru-RU" sz="2600" dirty="0"/>
                        <a:t>день, месяц и год)</a:t>
                      </a:r>
                      <a:endParaRPr lang="ru-RU" sz="2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SQL/</a:t>
                      </a:r>
                      <a:r>
                        <a:rPr lang="ru-RU" sz="2600"/>
                        <a:t>92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time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Время в течение суток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SQL/</a:t>
                      </a:r>
                      <a:r>
                        <a:rPr lang="ru-RU" sz="2600"/>
                        <a:t>92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timestamp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Дата и время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SQL/</a:t>
                      </a:r>
                      <a:r>
                        <a:rPr lang="ru-RU" sz="2600"/>
                        <a:t>92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datetime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Дата и время </a:t>
                      </a: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с 1 янв. 1753 г. по 31 дек. 9999 г.  точность 3.33 мс</a:t>
                      </a: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8 байт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MS SQL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smalldatetime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Дата и время</a:t>
                      </a: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с 1 янв. 1900 г. до 6 июня 2079 г.  точность 1 мин.</a:t>
                      </a: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4 байта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MS SQL</a:t>
                      </a:r>
                      <a:endParaRPr lang="ru-RU" sz="2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Основные компоненты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Данные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hangingPunct="0"/>
            <a:r>
              <a:rPr lang="ru-RU" b="1" dirty="0" smtClean="0"/>
              <a:t>Таблица</a:t>
            </a:r>
            <a:r>
              <a:rPr lang="ru-RU" dirty="0" smtClean="0"/>
              <a:t> (TABLE) является базовой структурой реляционной модели</a:t>
            </a:r>
          </a:p>
          <a:p>
            <a:pPr hangingPunct="0"/>
            <a:r>
              <a:rPr lang="ru-RU" b="1" dirty="0" smtClean="0"/>
              <a:t>Индекс</a:t>
            </a:r>
            <a:r>
              <a:rPr lang="ru-RU" dirty="0" smtClean="0"/>
              <a:t> (INDEX)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это объект базы данных, создаваемый для повышения производительности выборки данных</a:t>
            </a:r>
          </a:p>
          <a:p>
            <a:r>
              <a:rPr lang="ru-RU" b="1" dirty="0" smtClean="0"/>
              <a:t>Представление</a:t>
            </a:r>
            <a:r>
              <a:rPr lang="ru-RU" dirty="0" smtClean="0"/>
              <a:t> (VIEW)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это поименованная, динамически поддерживаемая сервером выборка из одной или нескольких таблиц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Действия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20000"/>
          </a:bodyPr>
          <a:lstStyle/>
          <a:p>
            <a:pPr hangingPunct="0"/>
            <a:r>
              <a:rPr lang="ru-RU" b="1" dirty="0" smtClean="0"/>
              <a:t>Процедура</a:t>
            </a:r>
            <a:r>
              <a:rPr lang="ru-RU" dirty="0" smtClean="0"/>
              <a:t> (PROCEDURE)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это поименованный, структурированный </a:t>
            </a:r>
            <a:r>
              <a:rPr lang="ru-RU" smtClean="0"/>
              <a:t>набор переменных, </a:t>
            </a:r>
            <a:r>
              <a:rPr lang="ru-RU" dirty="0" smtClean="0"/>
              <a:t>операторов SQL и языка процедурных расширений, предназначенный для решения конкретной задачи</a:t>
            </a:r>
          </a:p>
          <a:p>
            <a:pPr hangingPunct="0"/>
            <a:r>
              <a:rPr lang="ru-RU" b="1" dirty="0" smtClean="0"/>
              <a:t>Триггер</a:t>
            </a:r>
            <a:r>
              <a:rPr lang="ru-RU" i="1" dirty="0" smtClean="0"/>
              <a:t> </a:t>
            </a:r>
            <a:r>
              <a:rPr lang="ru-RU" dirty="0" smtClean="0"/>
              <a:t>(TRIGGER) </a:t>
            </a:r>
            <a:r>
              <a:rPr lang="ru-RU" b="1" dirty="0" smtClean="0">
                <a:sym typeface="Symbol"/>
              </a:rPr>
              <a:t></a:t>
            </a:r>
            <a:r>
              <a:rPr lang="ru-RU" b="1" dirty="0" smtClean="0"/>
              <a:t> </a:t>
            </a:r>
            <a:r>
              <a:rPr lang="ru-RU" dirty="0" smtClean="0"/>
              <a:t>это хранимая процедура, которая запускается (автоматически выполняется) тогда, когда происходит связанное с триггером событие. Обычно события связаны с выполнением операторов INSERT, UPDATE или DELETE в некоторой таблице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Доступ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0"/>
            <a:r>
              <a:rPr lang="ru-RU" b="1" dirty="0" smtClean="0"/>
              <a:t>Пользователь</a:t>
            </a:r>
            <a:r>
              <a:rPr lang="ru-RU" dirty="0" smtClean="0"/>
              <a:t> (USER)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объект, обладающий возможностью создавать и использовать другие объекты, а также запрашивать выполнение функций сервера</a:t>
            </a:r>
          </a:p>
          <a:p>
            <a:pPr hangingPunct="0"/>
            <a:r>
              <a:rPr lang="ru-RU" b="1" dirty="0" smtClean="0"/>
              <a:t>Роль</a:t>
            </a:r>
            <a:r>
              <a:rPr lang="ru-RU" dirty="0" smtClean="0"/>
              <a:t> (ROLE)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именованная совокупность привилегий, которые могут быть предоставлены пользователям или другим ролям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4169</TotalTime>
  <Words>1155</Words>
  <Application>Microsoft Office PowerPoint</Application>
  <PresentationFormat>Экран (4:3)</PresentationFormat>
  <Paragraphs>222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Symbol</vt:lpstr>
      <vt:lpstr>Times New Roman</vt:lpstr>
      <vt:lpstr>Тема Office</vt:lpstr>
      <vt:lpstr>План лекции</vt:lpstr>
      <vt:lpstr>Вопрос 1</vt:lpstr>
      <vt:lpstr>Название</vt:lpstr>
      <vt:lpstr>Стандартизация (1/2)</vt:lpstr>
      <vt:lpstr>Стандартизация (2/2)</vt:lpstr>
      <vt:lpstr>Диалекты</vt:lpstr>
      <vt:lpstr>Вопрос 2</vt:lpstr>
      <vt:lpstr>Основные подмножества SQL (1/2)</vt:lpstr>
      <vt:lpstr>Основные подмножества SQL (2/2)</vt:lpstr>
      <vt:lpstr>Вопрос 3</vt:lpstr>
      <vt:lpstr>Анатомия команд</vt:lpstr>
      <vt:lpstr>Примеры команд</vt:lpstr>
      <vt:lpstr>Отличие от процедурных языков</vt:lpstr>
      <vt:lpstr>Типы лексем</vt:lpstr>
      <vt:lpstr>Символы-разделители</vt:lpstr>
      <vt:lpstr>Комментарии</vt:lpstr>
      <vt:lpstr>Идентификаторы</vt:lpstr>
      <vt:lpstr>Ограничения</vt:lpstr>
      <vt:lpstr>Примеры</vt:lpstr>
      <vt:lpstr>Защищенные идентификаторы</vt:lpstr>
      <vt:lpstr>Числовые константы</vt:lpstr>
      <vt:lpstr>Строковые константы</vt:lpstr>
      <vt:lpstr>Примеры</vt:lpstr>
      <vt:lpstr>Вопрос 4</vt:lpstr>
      <vt:lpstr>Числовые типы</vt:lpstr>
      <vt:lpstr>Символьные (однобайтовые)</vt:lpstr>
      <vt:lpstr>Символьные (Unicode)</vt:lpstr>
      <vt:lpstr>Двоичные типы данных</vt:lpstr>
      <vt:lpstr>Дата и время</vt:lpstr>
      <vt:lpstr>Вопрос 5</vt:lpstr>
      <vt:lpstr>Данные</vt:lpstr>
      <vt:lpstr>Действия</vt:lpstr>
      <vt:lpstr>Доступ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415</cp:revision>
  <dcterms:created xsi:type="dcterms:W3CDTF">2012-04-10T15:36:07Z</dcterms:created>
  <dcterms:modified xsi:type="dcterms:W3CDTF">2021-12-21T13:40:48Z</dcterms:modified>
</cp:coreProperties>
</file>