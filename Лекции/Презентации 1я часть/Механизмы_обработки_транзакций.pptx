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61"/>
  </p:notesMasterIdLst>
  <p:sldIdLst>
    <p:sldId id="257" r:id="rId2"/>
    <p:sldId id="321" r:id="rId3"/>
    <p:sldId id="344" r:id="rId4"/>
    <p:sldId id="322" r:id="rId5"/>
    <p:sldId id="345" r:id="rId6"/>
    <p:sldId id="323" r:id="rId7"/>
    <p:sldId id="330" r:id="rId8"/>
    <p:sldId id="331" r:id="rId9"/>
    <p:sldId id="332" r:id="rId10"/>
    <p:sldId id="333" r:id="rId11"/>
    <p:sldId id="334" r:id="rId12"/>
    <p:sldId id="324" r:id="rId13"/>
    <p:sldId id="335" r:id="rId14"/>
    <p:sldId id="336" r:id="rId15"/>
    <p:sldId id="337" r:id="rId16"/>
    <p:sldId id="339" r:id="rId17"/>
    <p:sldId id="338" r:id="rId18"/>
    <p:sldId id="325" r:id="rId19"/>
    <p:sldId id="340" r:id="rId20"/>
    <p:sldId id="341" r:id="rId21"/>
    <p:sldId id="346" r:id="rId22"/>
    <p:sldId id="348" r:id="rId23"/>
    <p:sldId id="349" r:id="rId24"/>
    <p:sldId id="347" r:id="rId25"/>
    <p:sldId id="343" r:id="rId26"/>
    <p:sldId id="326" r:id="rId27"/>
    <p:sldId id="363" r:id="rId28"/>
    <p:sldId id="362" r:id="rId29"/>
    <p:sldId id="364" r:id="rId30"/>
    <p:sldId id="368" r:id="rId31"/>
    <p:sldId id="361" r:id="rId32"/>
    <p:sldId id="365" r:id="rId33"/>
    <p:sldId id="367" r:id="rId34"/>
    <p:sldId id="366" r:id="rId35"/>
    <p:sldId id="327" r:id="rId36"/>
    <p:sldId id="353" r:id="rId37"/>
    <p:sldId id="350" r:id="rId38"/>
    <p:sldId id="369" r:id="rId39"/>
    <p:sldId id="377" r:id="rId40"/>
    <p:sldId id="378" r:id="rId41"/>
    <p:sldId id="379" r:id="rId42"/>
    <p:sldId id="380" r:id="rId43"/>
    <p:sldId id="370" r:id="rId44"/>
    <p:sldId id="371" r:id="rId45"/>
    <p:sldId id="372" r:id="rId46"/>
    <p:sldId id="373" r:id="rId47"/>
    <p:sldId id="374" r:id="rId48"/>
    <p:sldId id="375" r:id="rId49"/>
    <p:sldId id="328" r:id="rId50"/>
    <p:sldId id="354" r:id="rId51"/>
    <p:sldId id="351" r:id="rId52"/>
    <p:sldId id="352" r:id="rId53"/>
    <p:sldId id="355" r:id="rId54"/>
    <p:sldId id="356" r:id="rId55"/>
    <p:sldId id="329" r:id="rId56"/>
    <p:sldId id="357" r:id="rId57"/>
    <p:sldId id="358" r:id="rId58"/>
    <p:sldId id="359" r:id="rId59"/>
    <p:sldId id="360" r:id="rId60"/>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Стиль из темы 1 - акцент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5696" autoAdjust="0"/>
  </p:normalViewPr>
  <p:slideViewPr>
    <p:cSldViewPr>
      <p:cViewPr varScale="1">
        <p:scale>
          <a:sx n="110" d="100"/>
          <a:sy n="110" d="100"/>
        </p:scale>
        <p:origin x="1644" y="108"/>
      </p:cViewPr>
      <p:guideLst>
        <p:guide orient="horz" pos="2160"/>
        <p:guide pos="2880"/>
      </p:guideLst>
    </p:cSldViewPr>
  </p:slideViewPr>
  <p:outlineViewPr>
    <p:cViewPr>
      <p:scale>
        <a:sx n="33" d="100"/>
        <a:sy n="33" d="100"/>
      </p:scale>
      <p:origin x="0" y="1050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1EBBD4-DF2A-466B-9C02-819997BF5FCB}" type="datetimeFigureOut">
              <a:rPr lang="ru-RU" smtClean="0"/>
              <a:pPr/>
              <a:t>14.01.2022</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B924E2-C814-4D75-AACF-890EFECD7813}" type="slidenum">
              <a:rPr lang="ru-RU" smtClean="0"/>
              <a:pPr/>
              <a:t>‹#›</a:t>
            </a:fld>
            <a:endParaRPr lang="ru-RU"/>
          </a:p>
        </p:txBody>
      </p:sp>
    </p:spTree>
    <p:extLst>
      <p:ext uri="{BB962C8B-B14F-4D97-AF65-F5344CB8AC3E}">
        <p14:creationId xmlns:p14="http://schemas.microsoft.com/office/powerpoint/2010/main" val="988814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14.01.2022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0437A7-3297-49EF-A824-ADB59F7B1FB0}" type="datetimeFigureOut">
              <a:rPr lang="ru-RU" smtClean="0"/>
              <a:pPr/>
              <a:t>14.01.2022</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C0405F-7A8E-4392-8689-8912801FE43B}"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План лекции</a:t>
            </a:r>
            <a:endParaRPr lang="ru-RU" dirty="0"/>
          </a:p>
        </p:txBody>
      </p:sp>
      <p:sp>
        <p:nvSpPr>
          <p:cNvPr id="3" name="Содержимое 2"/>
          <p:cNvSpPr>
            <a:spLocks noGrp="1"/>
          </p:cNvSpPr>
          <p:nvPr>
            <p:ph idx="1"/>
          </p:nvPr>
        </p:nvSpPr>
        <p:spPr>
          <a:xfrm>
            <a:off x="827584" y="1600200"/>
            <a:ext cx="7704856" cy="4781128"/>
          </a:xfrm>
        </p:spPr>
        <p:txBody>
          <a:bodyPr>
            <a:normAutofit lnSpcReduction="10000"/>
          </a:bodyPr>
          <a:lstStyle/>
          <a:p>
            <a:pPr marL="514350" lvl="0" indent="-514350" hangingPunct="0">
              <a:buFont typeface="+mj-lt"/>
              <a:buAutoNum type="arabicPeriod"/>
            </a:pPr>
            <a:r>
              <a:rPr lang="ru-RU" dirty="0" smtClean="0"/>
              <a:t>Определение понятия транзакции</a:t>
            </a:r>
          </a:p>
          <a:p>
            <a:pPr marL="514350" lvl="0" indent="-514350" hangingPunct="0">
              <a:buFont typeface="+mj-lt"/>
              <a:buAutoNum type="arabicPeriod"/>
            </a:pPr>
            <a:r>
              <a:rPr lang="ru-RU" dirty="0" smtClean="0"/>
              <a:t>Основные свойства транзакции</a:t>
            </a:r>
          </a:p>
          <a:p>
            <a:pPr marL="514350" lvl="0" indent="-514350" hangingPunct="0">
              <a:buFont typeface="+mj-lt"/>
              <a:buAutoNum type="arabicPeriod"/>
            </a:pPr>
            <a:r>
              <a:rPr lang="ru-RU" dirty="0" smtClean="0"/>
              <a:t>Завершение транзакции</a:t>
            </a:r>
          </a:p>
          <a:p>
            <a:pPr marL="514350" lvl="0" indent="-514350" hangingPunct="0">
              <a:buFont typeface="+mj-lt"/>
              <a:buAutoNum type="arabicPeriod"/>
            </a:pPr>
            <a:r>
              <a:rPr lang="ru-RU" dirty="0" smtClean="0"/>
              <a:t>Средства поддержки транзакций в языке SQL</a:t>
            </a:r>
          </a:p>
          <a:p>
            <a:pPr marL="514350" lvl="0" indent="-514350" hangingPunct="0">
              <a:buFont typeface="+mj-lt"/>
              <a:buAutoNum type="arabicPeriod"/>
            </a:pPr>
            <a:r>
              <a:rPr lang="ru-RU" dirty="0" smtClean="0"/>
              <a:t>Журнал транзакций</a:t>
            </a:r>
          </a:p>
          <a:p>
            <a:pPr marL="514350" lvl="0" indent="-514350" hangingPunct="0">
              <a:buFont typeface="+mj-lt"/>
              <a:buAutoNum type="arabicPeriod"/>
            </a:pPr>
            <a:r>
              <a:rPr lang="ru-RU" dirty="0" smtClean="0"/>
              <a:t>Сериализация транзакций</a:t>
            </a:r>
          </a:p>
          <a:p>
            <a:pPr marL="514350" lvl="0" indent="-514350" hangingPunct="0">
              <a:buFont typeface="+mj-lt"/>
              <a:buAutoNum type="arabicPeriod"/>
            </a:pPr>
            <a:r>
              <a:rPr lang="ru-RU" dirty="0" smtClean="0"/>
              <a:t>Механизм блокировок</a:t>
            </a:r>
          </a:p>
          <a:p>
            <a:pPr marL="514350" lvl="0" indent="-514350" hangingPunct="0">
              <a:buFont typeface="+mj-lt"/>
              <a:buAutoNum type="arabicPeriod"/>
            </a:pPr>
            <a:r>
              <a:rPr lang="ru-RU" dirty="0" smtClean="0"/>
              <a:t>Распределенная транзакция</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1</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Определение понятия транзакции</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Вводный пример</a:t>
            </a:r>
            <a:endParaRPr lang="ru-RU" dirty="0"/>
          </a:p>
        </p:txBody>
      </p:sp>
      <p:pic>
        <p:nvPicPr>
          <p:cNvPr id="36867" name="Picture 3"/>
          <p:cNvPicPr>
            <a:picLocks noChangeAspect="1" noChangeArrowheads="1"/>
          </p:cNvPicPr>
          <p:nvPr/>
        </p:nvPicPr>
        <p:blipFill>
          <a:blip r:embed="rId2" cstate="print"/>
          <a:srcRect/>
          <a:stretch>
            <a:fillRect/>
          </a:stretch>
        </p:blipFill>
        <p:spPr bwMode="auto">
          <a:xfrm>
            <a:off x="899592" y="1484784"/>
            <a:ext cx="7415632" cy="45090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Определение</a:t>
            </a:r>
            <a:endParaRPr lang="ru-RU" dirty="0"/>
          </a:p>
        </p:txBody>
      </p:sp>
      <p:sp>
        <p:nvSpPr>
          <p:cNvPr id="3" name="Содержимое 2"/>
          <p:cNvSpPr>
            <a:spLocks noGrp="1"/>
          </p:cNvSpPr>
          <p:nvPr>
            <p:ph idx="1"/>
          </p:nvPr>
        </p:nvSpPr>
        <p:spPr/>
        <p:txBody>
          <a:bodyPr/>
          <a:lstStyle/>
          <a:p>
            <a:r>
              <a:rPr lang="ru-RU" dirty="0" smtClean="0"/>
              <a:t>Транзакцией называют неделимую с позиции воздействия на БД последовательность операций манипулирования данными</a:t>
            </a:r>
            <a:endParaRPr lang="en-US" dirty="0" smtClean="0"/>
          </a:p>
          <a:p>
            <a:r>
              <a:rPr lang="ru-RU" dirty="0" smtClean="0"/>
              <a:t>Транзакция может состоять из операций чтения, удаления, вставки, модификации данных</a:t>
            </a:r>
            <a:endParaRPr lang="ru-RU"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a:t>
            </a:r>
            <a:endParaRPr lang="ru-RU" dirty="0"/>
          </a:p>
        </p:txBody>
      </p:sp>
      <p:sp>
        <p:nvSpPr>
          <p:cNvPr id="3" name="Содержимое 2"/>
          <p:cNvSpPr>
            <a:spLocks noGrp="1"/>
          </p:cNvSpPr>
          <p:nvPr>
            <p:ph idx="1"/>
          </p:nvPr>
        </p:nvSpPr>
        <p:spPr/>
        <p:txBody>
          <a:bodyPr/>
          <a:lstStyle/>
          <a:p>
            <a:r>
              <a:rPr lang="ru-RU" dirty="0" smtClean="0"/>
              <a:t>Перевод денег со счета на счет в платежной системе банка</a:t>
            </a:r>
          </a:p>
          <a:p>
            <a:r>
              <a:rPr lang="ru-RU" dirty="0" smtClean="0"/>
              <a:t>Резервирование места в поезде системой оформления железнодорожных билетов</a:t>
            </a:r>
          </a:p>
          <a:p>
            <a:r>
              <a:rPr lang="ru-RU" dirty="0" smtClean="0"/>
              <a:t>Регистрация альтернативных сделок с недвижимостью</a:t>
            </a:r>
            <a:endParaRPr lang="en-US" dirty="0" smtClean="0"/>
          </a:p>
          <a:p>
            <a:r>
              <a:rPr lang="ru-RU" smtClean="0"/>
              <a:t>Возврат измененных </a:t>
            </a:r>
            <a:r>
              <a:rPr lang="ru-RU" dirty="0" smtClean="0"/>
              <a:t>исходных текстов программ в систему контроля версий</a:t>
            </a:r>
            <a:endParaRPr lang="ru-RU"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2</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Основные свойства транзакции</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Свойства </a:t>
            </a:r>
            <a:r>
              <a:rPr lang="en-US" dirty="0" smtClean="0"/>
              <a:t>ACID</a:t>
            </a:r>
            <a:endParaRPr lang="ru-RU" dirty="0"/>
          </a:p>
        </p:txBody>
      </p:sp>
      <p:sp>
        <p:nvSpPr>
          <p:cNvPr id="3" name="Содержимое 2"/>
          <p:cNvSpPr>
            <a:spLocks noGrp="1"/>
          </p:cNvSpPr>
          <p:nvPr>
            <p:ph idx="1"/>
          </p:nvPr>
        </p:nvSpPr>
        <p:spPr>
          <a:xfrm>
            <a:off x="1259632" y="1600200"/>
            <a:ext cx="7427168" cy="4525963"/>
          </a:xfrm>
        </p:spPr>
        <p:txBody>
          <a:bodyPr>
            <a:normAutofit/>
          </a:bodyPr>
          <a:lstStyle/>
          <a:p>
            <a:r>
              <a:rPr lang="ru-RU" dirty="0" smtClean="0"/>
              <a:t>Атомарность (</a:t>
            </a:r>
            <a:r>
              <a:rPr lang="ru-RU" dirty="0" err="1" smtClean="0"/>
              <a:t>atomicity</a:t>
            </a:r>
            <a:r>
              <a:rPr lang="ru-RU" dirty="0" smtClean="0"/>
              <a:t>)</a:t>
            </a:r>
            <a:endParaRPr lang="en-US" dirty="0" smtClean="0"/>
          </a:p>
          <a:p>
            <a:r>
              <a:rPr lang="ru-RU" dirty="0" smtClean="0"/>
              <a:t>Согласованность (</a:t>
            </a:r>
            <a:r>
              <a:rPr lang="ru-RU" dirty="0" err="1" smtClean="0"/>
              <a:t>consistency</a:t>
            </a:r>
            <a:r>
              <a:rPr lang="ru-RU" dirty="0" smtClean="0"/>
              <a:t>)</a:t>
            </a:r>
          </a:p>
          <a:p>
            <a:r>
              <a:rPr lang="ru-RU" dirty="0" smtClean="0"/>
              <a:t>Изолированность (</a:t>
            </a:r>
            <a:r>
              <a:rPr lang="ru-RU" dirty="0" err="1" smtClean="0"/>
              <a:t>isolation</a:t>
            </a:r>
            <a:r>
              <a:rPr lang="ru-RU" dirty="0" smtClean="0"/>
              <a:t>)</a:t>
            </a:r>
          </a:p>
          <a:p>
            <a:r>
              <a:rPr lang="ru-RU" dirty="0" smtClean="0"/>
              <a:t>Долговечность (d</a:t>
            </a:r>
            <a:r>
              <a:rPr lang="en-US" dirty="0" smtClean="0"/>
              <a:t>u</a:t>
            </a:r>
            <a:r>
              <a:rPr lang="ru-RU" smtClean="0"/>
              <a:t>rability</a:t>
            </a:r>
            <a:r>
              <a:rPr lang="ru-RU" dirty="0" smtClean="0"/>
              <a:t>)</a:t>
            </a:r>
            <a:endParaRPr lang="ru-RU"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Атомарность</a:t>
            </a:r>
            <a:endParaRPr lang="ru-RU" dirty="0"/>
          </a:p>
        </p:txBody>
      </p:sp>
      <p:sp>
        <p:nvSpPr>
          <p:cNvPr id="3" name="Содержимое 2"/>
          <p:cNvSpPr>
            <a:spLocks noGrp="1"/>
          </p:cNvSpPr>
          <p:nvPr>
            <p:ph idx="1"/>
          </p:nvPr>
        </p:nvSpPr>
        <p:spPr>
          <a:xfrm>
            <a:off x="457200" y="1412776"/>
            <a:ext cx="8363272" cy="5256584"/>
          </a:xfrm>
        </p:spPr>
        <p:txBody>
          <a:bodyPr>
            <a:normAutofit fontScale="92500" lnSpcReduction="10000"/>
          </a:bodyPr>
          <a:lstStyle/>
          <a:p>
            <a:r>
              <a:rPr lang="ru-RU" dirty="0" smtClean="0"/>
              <a:t>Транзакция должна выполняться как единая операция доступа к БД</a:t>
            </a:r>
          </a:p>
          <a:p>
            <a:r>
              <a:rPr lang="ru-RU" dirty="0" smtClean="0"/>
              <a:t>Она должна быть выполнена полностью либо не выполнена совсем, то есть:</a:t>
            </a:r>
          </a:p>
          <a:p>
            <a:pPr lvl="1"/>
            <a:r>
              <a:rPr lang="ru-RU" dirty="0" smtClean="0"/>
              <a:t>либо должны быть выполнены все операции манипулирования данными, которые входят в транзакцию </a:t>
            </a:r>
          </a:p>
          <a:p>
            <a:pPr lvl="1"/>
            <a:r>
              <a:rPr lang="ru-RU" dirty="0" smtClean="0"/>
              <a:t>либо, если по каким-то причинам выполнение части операций невозможно, ни одна из операций не должна выполняться</a:t>
            </a:r>
          </a:p>
          <a:p>
            <a:r>
              <a:rPr lang="ru-RU" dirty="0" smtClean="0"/>
              <a:t>Свойство атомарности обычно коротко выражают фразой: "все или ничего"</a:t>
            </a:r>
          </a:p>
          <a:p>
            <a:endParaRPr lang="ru-RU"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Согласованность</a:t>
            </a:r>
            <a:endParaRPr lang="ru-RU" dirty="0"/>
          </a:p>
        </p:txBody>
      </p:sp>
      <p:sp>
        <p:nvSpPr>
          <p:cNvPr id="3" name="Содержимое 2"/>
          <p:cNvSpPr>
            <a:spLocks noGrp="1"/>
          </p:cNvSpPr>
          <p:nvPr>
            <p:ph idx="1"/>
          </p:nvPr>
        </p:nvSpPr>
        <p:spPr>
          <a:xfrm>
            <a:off x="467544" y="1412776"/>
            <a:ext cx="8229600" cy="4997152"/>
          </a:xfrm>
        </p:spPr>
        <p:txBody>
          <a:bodyPr>
            <a:normAutofit fontScale="92500"/>
          </a:bodyPr>
          <a:lstStyle/>
          <a:p>
            <a:r>
              <a:rPr lang="ru-RU" dirty="0" smtClean="0"/>
              <a:t>Выполнение этого свойства гарантирует взаимную целостность данных, то есть выполнение ограничений целостности БД после окончания обработки транзакции</a:t>
            </a:r>
          </a:p>
          <a:p>
            <a:r>
              <a:rPr lang="ru-RU" dirty="0" smtClean="0"/>
              <a:t>БД может обладать такими ограничениями целостности, которые сложно не нарушить, выполняя только один оператор ее изменения, поэтому такое нарушение внутри транзакции допускается, но к моменту ее БД должна быть в целостном состоянии</a:t>
            </a:r>
          </a:p>
          <a:p>
            <a:endParaRPr lang="ru-RU"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Изолированность</a:t>
            </a:r>
            <a:endParaRPr lang="ru-RU" dirty="0"/>
          </a:p>
        </p:txBody>
      </p:sp>
      <p:sp>
        <p:nvSpPr>
          <p:cNvPr id="3" name="Содержимое 2"/>
          <p:cNvSpPr>
            <a:spLocks noGrp="1"/>
          </p:cNvSpPr>
          <p:nvPr>
            <p:ph idx="1"/>
          </p:nvPr>
        </p:nvSpPr>
        <p:spPr>
          <a:xfrm>
            <a:off x="457200" y="1412776"/>
            <a:ext cx="8229600" cy="5256584"/>
          </a:xfrm>
        </p:spPr>
        <p:txBody>
          <a:bodyPr>
            <a:normAutofit fontScale="92500" lnSpcReduction="10000"/>
          </a:bodyPr>
          <a:lstStyle/>
          <a:p>
            <a:r>
              <a:rPr lang="ru-RU" dirty="0" smtClean="0"/>
              <a:t>В многопользовательских системах с одной БД одновременно могут работать несколько пользователей или прикладных программ</a:t>
            </a:r>
          </a:p>
          <a:p>
            <a:r>
              <a:rPr lang="ru-RU" dirty="0" smtClean="0"/>
              <a:t>Поскольку каждая транзакция может изменять разделяемые данные, данные могут временно находиться в несогласованном состоянии, и, следовательно, доступ к этим данным другим транзакциям должен быть запрещен, пока изменения не будут завершены</a:t>
            </a:r>
          </a:p>
          <a:p>
            <a:r>
              <a:rPr lang="ru-RU" dirty="0" smtClean="0"/>
              <a:t>Выполнение этого свойства гарантирует, что транзакции будут выполняться независимо друг от друга</a:t>
            </a:r>
          </a:p>
          <a:p>
            <a:endParaRPr lang="ru-RU"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Долговечность</a:t>
            </a:r>
            <a:endParaRPr lang="ru-RU" dirty="0"/>
          </a:p>
        </p:txBody>
      </p:sp>
      <p:sp>
        <p:nvSpPr>
          <p:cNvPr id="3" name="Содержимое 2"/>
          <p:cNvSpPr>
            <a:spLocks noGrp="1"/>
          </p:cNvSpPr>
          <p:nvPr>
            <p:ph idx="1"/>
          </p:nvPr>
        </p:nvSpPr>
        <p:spPr>
          <a:xfrm>
            <a:off x="467544" y="1484784"/>
            <a:ext cx="8229600" cy="4525963"/>
          </a:xfrm>
        </p:spPr>
        <p:txBody>
          <a:bodyPr/>
          <a:lstStyle/>
          <a:p>
            <a:r>
              <a:rPr lang="ru-RU" dirty="0" smtClean="0"/>
              <a:t>Свойство долговечности означает, что если транзакция выполнена успешно, то произведенные ею изменения в данных не будут потеряны ни при каких обстоятельствах</a:t>
            </a:r>
          </a:p>
          <a:p>
            <a:r>
              <a:rPr lang="ru-RU" dirty="0" smtClean="0"/>
              <a:t>Отменить изменения, внесенные транзакцией после ее успешного завершения уже нельзя</a:t>
            </a:r>
          </a:p>
          <a:p>
            <a:endParaRPr lang="ru-RU"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3</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Завершение транзакции</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Варианты завершения транзакции</a:t>
            </a:r>
            <a:endParaRPr lang="ru-RU" dirty="0"/>
          </a:p>
        </p:txBody>
      </p:sp>
      <p:sp>
        <p:nvSpPr>
          <p:cNvPr id="3" name="Содержимое 2"/>
          <p:cNvSpPr>
            <a:spLocks noGrp="1"/>
          </p:cNvSpPr>
          <p:nvPr>
            <p:ph idx="1"/>
          </p:nvPr>
        </p:nvSpPr>
        <p:spPr>
          <a:xfrm>
            <a:off x="899592" y="1600200"/>
            <a:ext cx="7787208" cy="4525963"/>
          </a:xfrm>
        </p:spPr>
        <p:txBody>
          <a:bodyPr>
            <a:normAutofit/>
          </a:bodyPr>
          <a:lstStyle/>
          <a:p>
            <a:r>
              <a:rPr lang="ru-RU" dirty="0" smtClean="0"/>
              <a:t>Фиксация (</a:t>
            </a:r>
            <a:r>
              <a:rPr lang="en-US" dirty="0" smtClean="0"/>
              <a:t>commit</a:t>
            </a:r>
            <a:r>
              <a:rPr lang="ru-RU" dirty="0" smtClean="0"/>
              <a:t>) </a:t>
            </a:r>
          </a:p>
          <a:p>
            <a:r>
              <a:rPr lang="ru-RU" dirty="0" smtClean="0"/>
              <a:t>Откат</a:t>
            </a:r>
            <a:r>
              <a:rPr lang="en-US" dirty="0" smtClean="0"/>
              <a:t> (</a:t>
            </a:r>
            <a:r>
              <a:rPr lang="en-US" dirty="0" err="1" smtClean="0"/>
              <a:t>rallback</a:t>
            </a:r>
            <a:r>
              <a:rPr lang="en-US" dirty="0" smtClean="0"/>
              <a:t>)</a:t>
            </a:r>
            <a:endParaRPr lang="ru-RU" dirty="0" smtClean="0"/>
          </a:p>
          <a:p>
            <a:endParaRPr lang="ru-RU"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Фиксация</a:t>
            </a:r>
            <a:endParaRPr lang="ru-RU" dirty="0"/>
          </a:p>
        </p:txBody>
      </p:sp>
      <p:sp>
        <p:nvSpPr>
          <p:cNvPr id="3" name="Содержимое 2"/>
          <p:cNvSpPr>
            <a:spLocks noGrp="1"/>
          </p:cNvSpPr>
          <p:nvPr>
            <p:ph idx="1"/>
          </p:nvPr>
        </p:nvSpPr>
        <p:spPr>
          <a:xfrm>
            <a:off x="457200" y="1412776"/>
            <a:ext cx="8229600" cy="5040560"/>
          </a:xfrm>
        </p:spPr>
        <p:txBody>
          <a:bodyPr>
            <a:normAutofit fontScale="85000" lnSpcReduction="10000"/>
          </a:bodyPr>
          <a:lstStyle/>
          <a:p>
            <a:r>
              <a:rPr lang="ru-RU" dirty="0" smtClean="0"/>
              <a:t>Это действие, обеспечивающее запись в БД всех изменений, которые были произведены в процессе ее выполнения</a:t>
            </a:r>
          </a:p>
          <a:p>
            <a:r>
              <a:rPr lang="ru-RU" dirty="0" smtClean="0"/>
              <a:t>До того, как транзакция зафиксирована, возможна отмена всех сделанных изменений и возврат базы данных в то состояние, в котором она была до начала выполнения транзакции</a:t>
            </a:r>
          </a:p>
          <a:p>
            <a:r>
              <a:rPr lang="ru-RU" dirty="0" smtClean="0"/>
              <a:t>Фиксация транзакции означает, что все результаты ее выполнения становятся видимыми другим транзакциям</a:t>
            </a:r>
          </a:p>
          <a:p>
            <a:r>
              <a:rPr lang="ru-RU" dirty="0" smtClean="0"/>
              <a:t>Для фиксации транзакции необходимо успешное выполнение всех ее операторов</a:t>
            </a:r>
          </a:p>
          <a:p>
            <a:endParaRPr lang="ru-RU"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Откат</a:t>
            </a:r>
            <a:endParaRPr lang="ru-RU" dirty="0"/>
          </a:p>
        </p:txBody>
      </p:sp>
      <p:sp>
        <p:nvSpPr>
          <p:cNvPr id="3" name="Содержимое 2"/>
          <p:cNvSpPr>
            <a:spLocks noGrp="1"/>
          </p:cNvSpPr>
          <p:nvPr>
            <p:ph idx="1"/>
          </p:nvPr>
        </p:nvSpPr>
        <p:spPr>
          <a:xfrm>
            <a:off x="457200" y="1484784"/>
            <a:ext cx="8229600" cy="4641379"/>
          </a:xfrm>
        </p:spPr>
        <p:txBody>
          <a:bodyPr/>
          <a:lstStyle/>
          <a:p>
            <a:r>
              <a:rPr lang="ru-RU" dirty="0" smtClean="0"/>
              <a:t>Если нормальное завершение транзакции невозможно, например, нарушены ограничения целостности БД или пользователь выдал специальную команду, происходит откат транзакции</a:t>
            </a:r>
          </a:p>
          <a:p>
            <a:r>
              <a:rPr lang="ru-RU" dirty="0" smtClean="0"/>
              <a:t>База данных возвращается в исходное состояние, все изменения аннулируются </a:t>
            </a:r>
          </a:p>
          <a:p>
            <a:endParaRPr lang="ru-RU"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Завершение транзакции в нормальных условиях</a:t>
            </a:r>
            <a:endParaRPr lang="ru-RU"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 name="Object 1"/>
          <p:cNvGraphicFramePr>
            <a:graphicFrameLocks noChangeAspect="1"/>
          </p:cNvGraphicFramePr>
          <p:nvPr/>
        </p:nvGraphicFramePr>
        <p:xfrm>
          <a:off x="395536" y="1916832"/>
          <a:ext cx="8392985" cy="4320480"/>
        </p:xfrm>
        <a:graphic>
          <a:graphicData uri="http://schemas.openxmlformats.org/presentationml/2006/ole">
            <mc:AlternateContent xmlns:mc="http://schemas.openxmlformats.org/markup-compatibility/2006">
              <mc:Choice xmlns:v="urn:schemas-microsoft-com:vml" Requires="v">
                <p:oleObj spid="_x0000_s35848" name="Visio" r:id="rId3" imgW="6009415" imgH="2973691" progId="Visio.Drawing.11">
                  <p:embed/>
                </p:oleObj>
              </mc:Choice>
              <mc:Fallback>
                <p:oleObj name="Visio" r:id="rId3" imgW="6009415" imgH="297369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916832"/>
                        <a:ext cx="8392985" cy="4320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Завершение транзакции при завершении программы</a:t>
            </a:r>
            <a:endParaRPr lang="ru-RU"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25" name="Object 1"/>
          <p:cNvGraphicFramePr>
            <a:graphicFrameLocks noChangeAspect="1"/>
          </p:cNvGraphicFramePr>
          <p:nvPr/>
        </p:nvGraphicFramePr>
        <p:xfrm>
          <a:off x="323528" y="1789493"/>
          <a:ext cx="8496944" cy="4489069"/>
        </p:xfrm>
        <a:graphic>
          <a:graphicData uri="http://schemas.openxmlformats.org/presentationml/2006/ole">
            <mc:AlternateContent xmlns:mc="http://schemas.openxmlformats.org/markup-compatibility/2006">
              <mc:Choice xmlns:v="urn:schemas-microsoft-com:vml" Requires="v">
                <p:oleObj spid="_x0000_s1031" name="Visio" r:id="rId3" imgW="6009415" imgH="3100691" progId="Visio.Drawing.11">
                  <p:embed/>
                </p:oleObj>
              </mc:Choice>
              <mc:Fallback>
                <p:oleObj name="Visio" r:id="rId3" imgW="6009415" imgH="3100691"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789493"/>
                        <a:ext cx="8496944" cy="44890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4</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Средства поддержки транзакций в языке SQL</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3528" y="274638"/>
            <a:ext cx="8568952" cy="1143000"/>
          </a:xfrm>
        </p:spPr>
        <p:txBody>
          <a:bodyPr>
            <a:normAutofit fontScale="90000"/>
          </a:bodyPr>
          <a:lstStyle/>
          <a:p>
            <a:r>
              <a:rPr lang="ru-RU" dirty="0" smtClean="0"/>
              <a:t>Команды для работы с транзакциями</a:t>
            </a:r>
            <a:endParaRPr lang="ru-RU" dirty="0"/>
          </a:p>
        </p:txBody>
      </p:sp>
      <p:graphicFrame>
        <p:nvGraphicFramePr>
          <p:cNvPr id="4" name="Содержимое 3"/>
          <p:cNvGraphicFramePr>
            <a:graphicFrameLocks noGrp="1"/>
          </p:cNvGraphicFramePr>
          <p:nvPr>
            <p:ph idx="1"/>
          </p:nvPr>
        </p:nvGraphicFramePr>
        <p:xfrm>
          <a:off x="1403648" y="1412776"/>
          <a:ext cx="6984776" cy="4824000"/>
        </p:xfrm>
        <a:graphic>
          <a:graphicData uri="http://schemas.openxmlformats.org/drawingml/2006/table">
            <a:tbl>
              <a:tblPr firstRow="1" bandRow="1">
                <a:tableStyleId>{5940675A-B579-460E-94D1-54222C63F5DA}</a:tableStyleId>
              </a:tblPr>
              <a:tblGrid>
                <a:gridCol w="3309040"/>
                <a:gridCol w="3675736"/>
              </a:tblGrid>
              <a:tr h="1206000">
                <a:tc>
                  <a:txBody>
                    <a:bodyPr/>
                    <a:lstStyle/>
                    <a:p>
                      <a:r>
                        <a:rPr lang="en-US" sz="3200" dirty="0" smtClean="0"/>
                        <a:t>BEGIN TRANSACTION </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Начало</a:t>
                      </a:r>
                      <a:r>
                        <a:rPr lang="ru-RU" sz="3200" baseline="0" dirty="0" smtClean="0"/>
                        <a:t> явной транзакции</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206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smtClean="0"/>
                        <a:t>SAVE TRANSACTION</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Установка точки сохранения</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206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smtClean="0"/>
                        <a:t>ROLLBACK TRANSACTION</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Откат</a:t>
                      </a:r>
                      <a:r>
                        <a:rPr lang="ru-RU" sz="3200" baseline="0" dirty="0" smtClean="0"/>
                        <a:t> транзакции</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206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dirty="0" smtClean="0"/>
                        <a:t>COMMIT TRANSACTION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ru-RU" sz="3200" dirty="0" smtClean="0"/>
                        <a:t>Фиксация транзакции</a:t>
                      </a:r>
                      <a:endParaRPr lang="ru-RU" sz="3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Синтаксис</a:t>
            </a:r>
            <a:endParaRPr lang="ru-RU" dirty="0"/>
          </a:p>
        </p:txBody>
      </p:sp>
      <p:sp>
        <p:nvSpPr>
          <p:cNvPr id="3" name="Содержимое 2"/>
          <p:cNvSpPr>
            <a:spLocks noGrp="1"/>
          </p:cNvSpPr>
          <p:nvPr>
            <p:ph idx="1"/>
          </p:nvPr>
        </p:nvSpPr>
        <p:spPr>
          <a:xfrm>
            <a:off x="971600" y="1600200"/>
            <a:ext cx="7715200" cy="4781128"/>
          </a:xfrm>
        </p:spPr>
        <p:txBody>
          <a:bodyPr>
            <a:normAutofit fontScale="92500" lnSpcReduction="10000"/>
          </a:bodyPr>
          <a:lstStyle/>
          <a:p>
            <a:pPr>
              <a:buNone/>
            </a:pPr>
            <a:r>
              <a:rPr lang="en-US" dirty="0" smtClean="0"/>
              <a:t>BEGIN { TRAN | TRANSACTION }     </a:t>
            </a:r>
            <a:endParaRPr lang="ru-RU" dirty="0" smtClean="0"/>
          </a:p>
          <a:p>
            <a:pPr>
              <a:buNone/>
            </a:pPr>
            <a:r>
              <a:rPr lang="ru-RU" dirty="0" smtClean="0"/>
              <a:t>		</a:t>
            </a:r>
            <a:r>
              <a:rPr lang="en-US" dirty="0" smtClean="0"/>
              <a:t>[ </a:t>
            </a:r>
            <a:r>
              <a:rPr lang="en-US" dirty="0" err="1" smtClean="0"/>
              <a:t>transaction_name</a:t>
            </a:r>
            <a:r>
              <a:rPr lang="ru-RU" dirty="0" smtClean="0"/>
              <a:t> </a:t>
            </a:r>
            <a:r>
              <a:rPr lang="en-US" dirty="0" smtClean="0"/>
              <a:t>]</a:t>
            </a:r>
            <a:endParaRPr lang="ru-RU" dirty="0" smtClean="0"/>
          </a:p>
          <a:p>
            <a:pPr>
              <a:spcBef>
                <a:spcPts val="1800"/>
              </a:spcBef>
              <a:buNone/>
            </a:pPr>
            <a:r>
              <a:rPr lang="en-US" dirty="0" smtClean="0"/>
              <a:t>SAVE { TRAN | TRANSACTION }</a:t>
            </a:r>
            <a:r>
              <a:rPr lang="ru-RU" dirty="0" smtClean="0"/>
              <a:t> </a:t>
            </a:r>
          </a:p>
          <a:p>
            <a:pPr>
              <a:buNone/>
            </a:pPr>
            <a:r>
              <a:rPr lang="ru-RU" dirty="0" smtClean="0"/>
              <a:t>		</a:t>
            </a:r>
            <a:r>
              <a:rPr lang="en-US" dirty="0" err="1" smtClean="0"/>
              <a:t>savepoint_name</a:t>
            </a:r>
            <a:r>
              <a:rPr lang="en-US" dirty="0" smtClean="0"/>
              <a:t> </a:t>
            </a:r>
            <a:endParaRPr lang="ru-RU" dirty="0" smtClean="0"/>
          </a:p>
          <a:p>
            <a:pPr>
              <a:spcBef>
                <a:spcPts val="1800"/>
              </a:spcBef>
              <a:buNone/>
            </a:pPr>
            <a:r>
              <a:rPr lang="en-US" dirty="0" smtClean="0"/>
              <a:t>ROLLBACK { TRAN | TRANSACTION } </a:t>
            </a:r>
            <a:endParaRPr lang="ru-RU" dirty="0" smtClean="0"/>
          </a:p>
          <a:p>
            <a:pPr>
              <a:buNone/>
            </a:pPr>
            <a:r>
              <a:rPr lang="ru-RU" dirty="0" smtClean="0"/>
              <a:t>		</a:t>
            </a:r>
            <a:r>
              <a:rPr lang="en-US" dirty="0" smtClean="0"/>
              <a:t>[ </a:t>
            </a:r>
            <a:r>
              <a:rPr lang="en-US" dirty="0" err="1" smtClean="0"/>
              <a:t>transaction_name</a:t>
            </a:r>
            <a:r>
              <a:rPr lang="en-US" dirty="0" smtClean="0"/>
              <a:t> | </a:t>
            </a:r>
            <a:r>
              <a:rPr lang="en-US" dirty="0" err="1" smtClean="0"/>
              <a:t>savepoint_name</a:t>
            </a:r>
            <a:r>
              <a:rPr lang="en-US" dirty="0" smtClean="0"/>
              <a:t> ]</a:t>
            </a:r>
            <a:endParaRPr lang="ru-RU" dirty="0" smtClean="0"/>
          </a:p>
          <a:p>
            <a:pPr>
              <a:spcBef>
                <a:spcPts val="1800"/>
              </a:spcBef>
              <a:buNone/>
            </a:pPr>
            <a:r>
              <a:rPr lang="en-US" dirty="0" smtClean="0"/>
              <a:t>COMMIT { TRAN | TRANSACTION }</a:t>
            </a:r>
            <a:endParaRPr lang="ru-RU" dirty="0" smtClean="0"/>
          </a:p>
          <a:p>
            <a:pPr>
              <a:buNone/>
            </a:pPr>
            <a:r>
              <a:rPr lang="ru-RU" dirty="0" smtClean="0"/>
              <a:t>		</a:t>
            </a:r>
            <a:r>
              <a:rPr lang="en-US" dirty="0" smtClean="0"/>
              <a:t>[ </a:t>
            </a:r>
            <a:r>
              <a:rPr lang="en-US" dirty="0" err="1" smtClean="0"/>
              <a:t>transaction_name</a:t>
            </a:r>
            <a:r>
              <a:rPr lang="ru-RU" dirty="0" smtClean="0"/>
              <a:t> </a:t>
            </a:r>
            <a:r>
              <a:rPr lang="en-US" dirty="0" smtClean="0"/>
              <a:t>]</a:t>
            </a:r>
            <a:endParaRPr lang="ru-RU"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Совместимость с </a:t>
            </a:r>
            <a:r>
              <a:rPr lang="en-US" dirty="0" smtClean="0"/>
              <a:t>SQL-92</a:t>
            </a:r>
            <a:endParaRPr lang="ru-RU" dirty="0"/>
          </a:p>
        </p:txBody>
      </p:sp>
      <p:sp>
        <p:nvSpPr>
          <p:cNvPr id="3" name="Содержимое 2"/>
          <p:cNvSpPr>
            <a:spLocks noGrp="1"/>
          </p:cNvSpPr>
          <p:nvPr>
            <p:ph idx="1"/>
          </p:nvPr>
        </p:nvSpPr>
        <p:spPr>
          <a:xfrm>
            <a:off x="971600" y="1600200"/>
            <a:ext cx="7715200" cy="4781128"/>
          </a:xfrm>
        </p:spPr>
        <p:txBody>
          <a:bodyPr>
            <a:normAutofit/>
          </a:bodyPr>
          <a:lstStyle/>
          <a:p>
            <a:pPr>
              <a:spcBef>
                <a:spcPts val="1800"/>
              </a:spcBef>
              <a:buNone/>
            </a:pPr>
            <a:r>
              <a:rPr lang="en-US" dirty="0" smtClean="0"/>
              <a:t>ROLLBACK [ WORK ]</a:t>
            </a:r>
          </a:p>
          <a:p>
            <a:pPr>
              <a:spcBef>
                <a:spcPts val="1800"/>
              </a:spcBef>
              <a:buNone/>
            </a:pPr>
            <a:r>
              <a:rPr lang="en-US" dirty="0" smtClean="0"/>
              <a:t>COMMIT [ WORK ]</a:t>
            </a:r>
            <a:endParaRPr lang="ru-RU"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«Скелет» программы</a:t>
            </a:r>
            <a:endParaRPr lang="ru-RU" dirty="0"/>
          </a:p>
        </p:txBody>
      </p:sp>
      <p:sp>
        <p:nvSpPr>
          <p:cNvPr id="3" name="Содержимое 2"/>
          <p:cNvSpPr>
            <a:spLocks noGrp="1"/>
          </p:cNvSpPr>
          <p:nvPr>
            <p:ph idx="1"/>
          </p:nvPr>
        </p:nvSpPr>
        <p:spPr>
          <a:xfrm>
            <a:off x="899592" y="1600200"/>
            <a:ext cx="7787208" cy="4781128"/>
          </a:xfrm>
        </p:spPr>
        <p:txBody>
          <a:bodyPr>
            <a:normAutofit fontScale="92500" lnSpcReduction="20000"/>
          </a:bodyPr>
          <a:lstStyle/>
          <a:p>
            <a:pPr>
              <a:buNone/>
            </a:pPr>
            <a:r>
              <a:rPr lang="en-US" dirty="0" smtClean="0"/>
              <a:t>BEGIN TRAN</a:t>
            </a:r>
            <a:endParaRPr lang="ru-RU" dirty="0" smtClean="0"/>
          </a:p>
          <a:p>
            <a:pPr>
              <a:buNone/>
            </a:pPr>
            <a:r>
              <a:rPr lang="ru-RU" dirty="0" smtClean="0"/>
              <a:t>	…</a:t>
            </a:r>
            <a:endParaRPr lang="en-US" dirty="0" smtClean="0"/>
          </a:p>
          <a:p>
            <a:pPr>
              <a:buNone/>
            </a:pPr>
            <a:r>
              <a:rPr lang="ru-RU" dirty="0" smtClean="0"/>
              <a:t>	</a:t>
            </a:r>
            <a:r>
              <a:rPr lang="en-US" dirty="0" smtClean="0"/>
              <a:t>SAVE TRAN s1</a:t>
            </a:r>
            <a:endParaRPr lang="ru-RU" dirty="0" smtClean="0"/>
          </a:p>
          <a:p>
            <a:pPr>
              <a:buNone/>
            </a:pPr>
            <a:r>
              <a:rPr lang="ru-RU" dirty="0" smtClean="0"/>
              <a:t>	…</a:t>
            </a:r>
          </a:p>
          <a:p>
            <a:pPr>
              <a:buNone/>
            </a:pPr>
            <a:r>
              <a:rPr lang="ru-RU" dirty="0" smtClean="0"/>
              <a:t>	</a:t>
            </a:r>
            <a:r>
              <a:rPr lang="en-US" dirty="0" smtClean="0"/>
              <a:t>SAVE TRAN s2</a:t>
            </a:r>
            <a:endParaRPr lang="ru-RU" dirty="0" smtClean="0"/>
          </a:p>
          <a:p>
            <a:pPr>
              <a:buNone/>
            </a:pPr>
            <a:r>
              <a:rPr lang="ru-RU" dirty="0" smtClean="0"/>
              <a:t>	…</a:t>
            </a:r>
          </a:p>
          <a:p>
            <a:pPr>
              <a:buNone/>
            </a:pPr>
            <a:r>
              <a:rPr lang="ru-RU" dirty="0" smtClean="0"/>
              <a:t>	</a:t>
            </a:r>
            <a:r>
              <a:rPr lang="en-US" dirty="0" smtClean="0"/>
              <a:t>IF (…)</a:t>
            </a:r>
          </a:p>
          <a:p>
            <a:pPr>
              <a:buNone/>
            </a:pPr>
            <a:r>
              <a:rPr lang="en-US" dirty="0" smtClean="0"/>
              <a:t>	</a:t>
            </a:r>
            <a:r>
              <a:rPr lang="ru-RU" dirty="0" smtClean="0"/>
              <a:t>	</a:t>
            </a:r>
            <a:r>
              <a:rPr lang="en-US" dirty="0" smtClean="0"/>
              <a:t>ROLLBACK s2</a:t>
            </a:r>
          </a:p>
          <a:p>
            <a:pPr>
              <a:buNone/>
            </a:pPr>
            <a:r>
              <a:rPr lang="en-US" dirty="0" smtClean="0"/>
              <a:t>	…</a:t>
            </a:r>
          </a:p>
          <a:p>
            <a:pPr>
              <a:buNone/>
            </a:pPr>
            <a:r>
              <a:rPr lang="en-US" dirty="0" smtClean="0"/>
              <a:t>COMMIT TRAN</a:t>
            </a:r>
            <a:endParaRPr lang="ru-RU"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a:t>
            </a:r>
            <a:endParaRPr lang="ru-RU" dirty="0"/>
          </a:p>
        </p:txBody>
      </p:sp>
      <p:sp>
        <p:nvSpPr>
          <p:cNvPr id="3" name="Содержимое 2"/>
          <p:cNvSpPr>
            <a:spLocks noGrp="1"/>
          </p:cNvSpPr>
          <p:nvPr>
            <p:ph idx="1"/>
          </p:nvPr>
        </p:nvSpPr>
        <p:spPr>
          <a:xfrm>
            <a:off x="971600" y="1412776"/>
            <a:ext cx="7200800" cy="4997152"/>
          </a:xfrm>
        </p:spPr>
        <p:txBody>
          <a:bodyPr>
            <a:normAutofit lnSpcReduction="10000"/>
          </a:bodyPr>
          <a:lstStyle/>
          <a:p>
            <a:pPr>
              <a:buNone/>
            </a:pPr>
            <a:r>
              <a:rPr lang="en-US" dirty="0" smtClean="0"/>
              <a:t>BEGIN TRAN</a:t>
            </a:r>
          </a:p>
          <a:p>
            <a:pPr>
              <a:buNone/>
            </a:pPr>
            <a:r>
              <a:rPr lang="en-US" dirty="0" smtClean="0"/>
              <a:t>UPDATE Exam</a:t>
            </a:r>
          </a:p>
          <a:p>
            <a:pPr>
              <a:buNone/>
            </a:pPr>
            <a:r>
              <a:rPr lang="en-US" dirty="0" smtClean="0"/>
              <a:t>	SET Mark = 3 </a:t>
            </a:r>
          </a:p>
          <a:p>
            <a:pPr>
              <a:buNone/>
            </a:pPr>
            <a:r>
              <a:rPr lang="en-US" dirty="0" smtClean="0"/>
              <a:t>	WHERE Mark = 2 AND Subject = ‘</a:t>
            </a:r>
            <a:r>
              <a:rPr lang="ru-RU" dirty="0" smtClean="0"/>
              <a:t>БД</a:t>
            </a:r>
            <a:r>
              <a:rPr lang="en-US" dirty="0" smtClean="0"/>
              <a:t>’</a:t>
            </a:r>
            <a:endParaRPr lang="ru-RU" dirty="0" smtClean="0"/>
          </a:p>
          <a:p>
            <a:pPr>
              <a:buNone/>
            </a:pPr>
            <a:r>
              <a:rPr lang="en-US" dirty="0" smtClean="0"/>
              <a:t>UPDATE </a:t>
            </a:r>
            <a:r>
              <a:rPr lang="en-US" dirty="0" err="1" smtClean="0"/>
              <a:t>ExamStats</a:t>
            </a:r>
            <a:r>
              <a:rPr lang="en-US" dirty="0" smtClean="0"/>
              <a:t> </a:t>
            </a:r>
          </a:p>
          <a:p>
            <a:pPr>
              <a:buNone/>
            </a:pPr>
            <a:r>
              <a:rPr lang="en-US" dirty="0" smtClean="0"/>
              <a:t>	SET </a:t>
            </a:r>
            <a:r>
              <a:rPr lang="en-US" dirty="0" err="1" smtClean="0"/>
              <a:t>AvgMark</a:t>
            </a:r>
            <a:r>
              <a:rPr lang="en-US" dirty="0" smtClean="0"/>
              <a:t> = (SELECT AVG(Mark) </a:t>
            </a:r>
          </a:p>
          <a:p>
            <a:pPr>
              <a:buNone/>
            </a:pPr>
            <a:r>
              <a:rPr lang="en-US" dirty="0" smtClean="0"/>
              <a:t>		FROM Exam WHERE Subject = ‘</a:t>
            </a:r>
            <a:r>
              <a:rPr lang="ru-RU" dirty="0" smtClean="0"/>
              <a:t>БД</a:t>
            </a:r>
            <a:r>
              <a:rPr lang="en-US" dirty="0" smtClean="0"/>
              <a:t>’)</a:t>
            </a:r>
          </a:p>
          <a:p>
            <a:pPr>
              <a:buNone/>
            </a:pPr>
            <a:r>
              <a:rPr lang="en-US" dirty="0" smtClean="0"/>
              <a:t>	WHERE Subject = ‘</a:t>
            </a:r>
            <a:r>
              <a:rPr lang="ru-RU" dirty="0" smtClean="0"/>
              <a:t>БД</a:t>
            </a:r>
            <a:r>
              <a:rPr lang="en-US" dirty="0" smtClean="0"/>
              <a:t>’</a:t>
            </a:r>
          </a:p>
          <a:p>
            <a:pPr>
              <a:buNone/>
            </a:pPr>
            <a:r>
              <a:rPr lang="en-US" dirty="0" smtClean="0"/>
              <a:t>COMMIT TRAN</a:t>
            </a:r>
            <a:endParaRPr lang="ru-RU"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@@TRANCOUNT</a:t>
            </a:r>
            <a:endParaRPr lang="ru-RU" dirty="0"/>
          </a:p>
        </p:txBody>
      </p:sp>
      <p:sp>
        <p:nvSpPr>
          <p:cNvPr id="3" name="Содержимое 2"/>
          <p:cNvSpPr>
            <a:spLocks noGrp="1"/>
          </p:cNvSpPr>
          <p:nvPr>
            <p:ph idx="1"/>
          </p:nvPr>
        </p:nvSpPr>
        <p:spPr>
          <a:xfrm>
            <a:off x="457200" y="1484784"/>
            <a:ext cx="8229600" cy="4641379"/>
          </a:xfrm>
        </p:spPr>
        <p:txBody>
          <a:bodyPr>
            <a:normAutofit fontScale="92500" lnSpcReduction="10000"/>
          </a:bodyPr>
          <a:lstStyle/>
          <a:p>
            <a:r>
              <a:rPr lang="ru-RU" dirty="0" smtClean="0"/>
              <a:t>Содержит число BEGIN TRANSACTION, выполненных в текущем соединении</a:t>
            </a:r>
          </a:p>
          <a:p>
            <a:r>
              <a:rPr lang="ru-RU" dirty="0" smtClean="0"/>
              <a:t>Инструкция </a:t>
            </a:r>
            <a:r>
              <a:rPr lang="en-US" dirty="0" smtClean="0"/>
              <a:t>BEGIN TRANSACTION </a:t>
            </a:r>
            <a:r>
              <a:rPr lang="ru-RU" dirty="0" smtClean="0"/>
              <a:t>увеличивает значение @@</a:t>
            </a:r>
            <a:r>
              <a:rPr lang="en-US" dirty="0" smtClean="0"/>
              <a:t>TRANCOUNT </a:t>
            </a:r>
            <a:r>
              <a:rPr lang="ru-RU" dirty="0" smtClean="0"/>
              <a:t>на 1</a:t>
            </a:r>
          </a:p>
          <a:p>
            <a:r>
              <a:rPr lang="ru-RU" dirty="0" smtClean="0"/>
              <a:t>Инструкция </a:t>
            </a:r>
            <a:r>
              <a:rPr lang="en-US" dirty="0" smtClean="0"/>
              <a:t>ROLLBACK TRANSACTION </a:t>
            </a:r>
            <a:r>
              <a:rPr lang="ru-RU" dirty="0" smtClean="0"/>
              <a:t>уменьшает значение @@</a:t>
            </a:r>
            <a:r>
              <a:rPr lang="en-US" dirty="0" smtClean="0"/>
              <a:t>TRANCOUNT </a:t>
            </a:r>
            <a:r>
              <a:rPr lang="ru-RU" dirty="0" smtClean="0"/>
              <a:t>до 0, за исключением отката на точку сохранения</a:t>
            </a:r>
          </a:p>
          <a:p>
            <a:r>
              <a:rPr lang="ru-RU" dirty="0" smtClean="0"/>
              <a:t>Инструкции </a:t>
            </a:r>
            <a:r>
              <a:rPr lang="en-US" dirty="0" smtClean="0"/>
              <a:t>COMMIT TRANSACTION </a:t>
            </a:r>
            <a:r>
              <a:rPr lang="ru-RU" dirty="0" smtClean="0"/>
              <a:t>и </a:t>
            </a:r>
            <a:r>
              <a:rPr lang="en-US" dirty="0" smtClean="0"/>
              <a:t>COMMIT WORK </a:t>
            </a:r>
            <a:r>
              <a:rPr lang="ru-RU" dirty="0" smtClean="0"/>
              <a:t>уменьшают значение @@</a:t>
            </a:r>
            <a:r>
              <a:rPr lang="en-US" dirty="0" smtClean="0"/>
              <a:t>TRANCOUNT </a:t>
            </a:r>
            <a:r>
              <a:rPr lang="ru-RU" dirty="0" smtClean="0"/>
              <a:t>на 1</a:t>
            </a:r>
            <a:endParaRPr lang="ru-RU"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Переключение между режимами</a:t>
            </a:r>
            <a:endParaRPr lang="ru-RU" dirty="0"/>
          </a:p>
        </p:txBody>
      </p:sp>
      <p:sp>
        <p:nvSpPr>
          <p:cNvPr id="3" name="Содержимое 2"/>
          <p:cNvSpPr>
            <a:spLocks noGrp="1"/>
          </p:cNvSpPr>
          <p:nvPr>
            <p:ph idx="1"/>
          </p:nvPr>
        </p:nvSpPr>
        <p:spPr>
          <a:xfrm>
            <a:off x="457200" y="1600201"/>
            <a:ext cx="8229600" cy="748679"/>
          </a:xfrm>
        </p:spPr>
        <p:txBody>
          <a:bodyPr/>
          <a:lstStyle/>
          <a:p>
            <a:pPr algn="ctr">
              <a:buNone/>
            </a:pPr>
            <a:r>
              <a:rPr lang="en-US" dirty="0" smtClean="0"/>
              <a:t>SET IMPLICIT_TRANSACTIONS { ON | OFF }</a:t>
            </a:r>
            <a:endParaRPr lang="ru-RU" dirty="0"/>
          </a:p>
        </p:txBody>
      </p:sp>
      <p:graphicFrame>
        <p:nvGraphicFramePr>
          <p:cNvPr id="4" name="Таблица 3"/>
          <p:cNvGraphicFramePr>
            <a:graphicFrameLocks noGrp="1"/>
          </p:cNvGraphicFramePr>
          <p:nvPr/>
        </p:nvGraphicFramePr>
        <p:xfrm>
          <a:off x="1403648" y="2564904"/>
          <a:ext cx="6552728" cy="2316480"/>
        </p:xfrm>
        <a:graphic>
          <a:graphicData uri="http://schemas.openxmlformats.org/drawingml/2006/table">
            <a:tbl>
              <a:tblPr firstRow="1" bandRow="1">
                <a:tableStyleId>{2D5ABB26-0587-4C30-8999-92F81FD0307C}</a:tableStyleId>
              </a:tblPr>
              <a:tblGrid>
                <a:gridCol w="1083642"/>
                <a:gridCol w="5469086"/>
              </a:tblGrid>
              <a:tr h="370840">
                <a:tc>
                  <a:txBody>
                    <a:bodyPr/>
                    <a:lstStyle/>
                    <a:p>
                      <a:r>
                        <a:rPr lang="en-US" sz="2800" dirty="0" smtClean="0"/>
                        <a:t>ON</a:t>
                      </a:r>
                      <a:endParaRPr lang="ru-RU" sz="2800" dirty="0"/>
                    </a:p>
                  </a:txBody>
                  <a:tcPr/>
                </a:tc>
                <a:tc>
                  <a:txBody>
                    <a:bodyPr/>
                    <a:lstStyle/>
                    <a:p>
                      <a:r>
                        <a:rPr lang="ru-RU" sz="2800" dirty="0" smtClean="0"/>
                        <a:t>устанавливает для соединения режим неявных транзакций</a:t>
                      </a:r>
                      <a:endParaRPr lang="ru-RU" sz="2800" dirty="0"/>
                    </a:p>
                  </a:txBody>
                  <a:tcPr/>
                </a:tc>
              </a:tr>
              <a:tr h="370840">
                <a:tc>
                  <a:txBody>
                    <a:bodyPr/>
                    <a:lstStyle/>
                    <a:p>
                      <a:r>
                        <a:rPr lang="en-US" sz="2800" dirty="0" smtClean="0"/>
                        <a:t>OFF</a:t>
                      </a:r>
                      <a:endParaRPr lang="ru-RU" sz="2800" dirty="0"/>
                    </a:p>
                  </a:txBody>
                  <a:tcPr/>
                </a:tc>
                <a:tc>
                  <a:txBody>
                    <a:bodyPr/>
                    <a:lstStyle/>
                    <a:p>
                      <a:r>
                        <a:rPr lang="ru-RU" sz="2800" dirty="0" smtClean="0"/>
                        <a:t>возвращает соединение в режим с автоматической фиксацией транзакций</a:t>
                      </a:r>
                      <a:endParaRPr lang="ru-RU" sz="2800" dirty="0"/>
                    </a:p>
                  </a:txBody>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5</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Журнал транзакций</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Сохраняемая информация</a:t>
            </a:r>
            <a:endParaRPr lang="ru-RU" dirty="0"/>
          </a:p>
        </p:txBody>
      </p:sp>
      <p:sp>
        <p:nvSpPr>
          <p:cNvPr id="3" name="Содержимое 2"/>
          <p:cNvSpPr>
            <a:spLocks noGrp="1"/>
          </p:cNvSpPr>
          <p:nvPr>
            <p:ph idx="1"/>
          </p:nvPr>
        </p:nvSpPr>
        <p:spPr/>
        <p:txBody>
          <a:bodyPr>
            <a:normAutofit/>
          </a:bodyPr>
          <a:lstStyle/>
          <a:p>
            <a:r>
              <a:rPr lang="ru-RU" dirty="0" smtClean="0"/>
              <a:t>Порядковый номер, тип и время изменения</a:t>
            </a:r>
          </a:p>
          <a:p>
            <a:r>
              <a:rPr lang="ru-RU" dirty="0" smtClean="0"/>
              <a:t>Идентификатор транзакции</a:t>
            </a:r>
          </a:p>
          <a:p>
            <a:r>
              <a:rPr lang="ru-RU" dirty="0" smtClean="0"/>
              <a:t>Объект, подвергшийся изменению (номер хранимого файла и номер блока данных в нём, номер строки внутри блока)</a:t>
            </a:r>
          </a:p>
          <a:p>
            <a:r>
              <a:rPr lang="ru-RU" dirty="0" smtClean="0"/>
              <a:t>Предыдущее состояние объекта и новое состояние объекта</a:t>
            </a:r>
          </a:p>
          <a:p>
            <a:endParaRPr lang="ru-RU"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Контрольные точки</a:t>
            </a:r>
            <a:endParaRPr lang="ru-RU" dirty="0"/>
          </a:p>
        </p:txBody>
      </p:sp>
      <p:sp>
        <p:nvSpPr>
          <p:cNvPr id="3" name="Содержимое 2"/>
          <p:cNvSpPr>
            <a:spLocks noGrp="1"/>
          </p:cNvSpPr>
          <p:nvPr>
            <p:ph idx="1"/>
          </p:nvPr>
        </p:nvSpPr>
        <p:spPr>
          <a:xfrm>
            <a:off x="457200" y="1484784"/>
            <a:ext cx="8229600" cy="4968552"/>
          </a:xfrm>
        </p:spPr>
        <p:txBody>
          <a:bodyPr>
            <a:normAutofit fontScale="92500" lnSpcReduction="20000"/>
          </a:bodyPr>
          <a:lstStyle/>
          <a:p>
            <a:r>
              <a:rPr lang="ru-RU" dirty="0" smtClean="0"/>
              <a:t>Система автоматически создает </a:t>
            </a:r>
            <a:r>
              <a:rPr lang="ru-RU" b="1" i="1" dirty="0" smtClean="0"/>
              <a:t>контрольные точки </a:t>
            </a:r>
            <a:r>
              <a:rPr lang="ru-RU" dirty="0" smtClean="0"/>
              <a:t>с некоторым наперед заданным интервалом</a:t>
            </a:r>
          </a:p>
          <a:p>
            <a:r>
              <a:rPr lang="ru-RU" dirty="0" smtClean="0"/>
              <a:t>Для создания контрольной точки требуется выполнить принудительное сохранение содержимого буферов ОП в физической БД и осуществить принудительное сохранение специальной </a:t>
            </a:r>
            <a:r>
              <a:rPr lang="ru-RU" b="1" i="1" dirty="0" smtClean="0"/>
              <a:t>записи контрольной точки </a:t>
            </a:r>
            <a:r>
              <a:rPr lang="ru-RU" dirty="0" smtClean="0"/>
              <a:t>в журнале на физическом носителе</a:t>
            </a:r>
          </a:p>
          <a:p>
            <a:r>
              <a:rPr lang="ru-RU" b="1" i="1" dirty="0" smtClean="0"/>
              <a:t>Запись контрольной точки</a:t>
            </a:r>
            <a:r>
              <a:rPr lang="ru-RU" b="1" dirty="0" smtClean="0"/>
              <a:t> </a:t>
            </a:r>
            <a:r>
              <a:rPr lang="ru-RU" dirty="0" smtClean="0"/>
              <a:t>содержит список всех транзакций, выполняемых в тот момент, когда создавалась контрольная точка</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Использование при восстановлении</a:t>
            </a:r>
            <a:endParaRPr lang="ru-RU" dirty="0"/>
          </a:p>
        </p:txBody>
      </p:sp>
      <p:sp>
        <p:nvSpPr>
          <p:cNvPr id="3" name="Содержимое 2"/>
          <p:cNvSpPr>
            <a:spLocks noGrp="1"/>
          </p:cNvSpPr>
          <p:nvPr>
            <p:ph idx="1"/>
          </p:nvPr>
        </p:nvSpPr>
        <p:spPr>
          <a:xfrm>
            <a:off x="457200" y="1412776"/>
            <a:ext cx="8229600" cy="5112568"/>
          </a:xfrm>
        </p:spPr>
        <p:txBody>
          <a:bodyPr>
            <a:normAutofit fontScale="85000" lnSpcReduction="10000"/>
          </a:bodyPr>
          <a:lstStyle/>
          <a:p>
            <a:r>
              <a:rPr lang="ru-RU" dirty="0" smtClean="0"/>
              <a:t>Критическим моментом в отказе системы является </a:t>
            </a:r>
            <a:r>
              <a:rPr lang="ru-RU" b="1" i="1" dirty="0" smtClean="0"/>
              <a:t>потеря содержимого оперативной памяти</a:t>
            </a:r>
            <a:endParaRPr lang="ru-RU" dirty="0" smtClean="0"/>
          </a:p>
          <a:p>
            <a:r>
              <a:rPr lang="ru-RU" dirty="0" smtClean="0"/>
              <a:t>Поскольку точное состояние любой выполнявшейся в момент отказа системы транзакции остается неизвестным, такая транзакция не может быть успешно завершена, и поэтому при перезапуске системы любая такая транзакция будет </a:t>
            </a:r>
            <a:r>
              <a:rPr lang="ru-RU" b="1" i="1" dirty="0" smtClean="0"/>
              <a:t>отменена</a:t>
            </a:r>
            <a:endParaRPr lang="ru-RU" dirty="0" smtClean="0"/>
          </a:p>
          <a:p>
            <a:r>
              <a:rPr lang="ru-RU" dirty="0" smtClean="0"/>
              <a:t>Кроме того, при перезапуске системы требуется </a:t>
            </a:r>
            <a:r>
              <a:rPr lang="ru-RU" b="1" i="1" dirty="0" smtClean="0"/>
              <a:t>повторно выполнить</a:t>
            </a:r>
            <a:r>
              <a:rPr lang="ru-RU" i="1" dirty="0" smtClean="0"/>
              <a:t> </a:t>
            </a:r>
            <a:r>
              <a:rPr lang="ru-RU" dirty="0" smtClean="0"/>
              <a:t>транзакции, которые были успешно завершены до аварийного останова, но выполненные ими обновления еще не были перенесены из буферов ОП в физическую БД во вторичной памяти</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(1/2)</a:t>
            </a:r>
            <a:endParaRPr lang="ru-RU" dirty="0"/>
          </a:p>
        </p:txBody>
      </p:sp>
      <p:pic>
        <p:nvPicPr>
          <p:cNvPr id="66562" name="Picture 2"/>
          <p:cNvPicPr>
            <a:picLocks noChangeAspect="1" noChangeArrowheads="1"/>
          </p:cNvPicPr>
          <p:nvPr/>
        </p:nvPicPr>
        <p:blipFill>
          <a:blip r:embed="rId2" cstate="print"/>
          <a:srcRect/>
          <a:stretch>
            <a:fillRect/>
          </a:stretch>
        </p:blipFill>
        <p:spPr bwMode="auto">
          <a:xfrm>
            <a:off x="0" y="1484784"/>
            <a:ext cx="8995675" cy="40324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(2/2)</a:t>
            </a:r>
            <a:endParaRPr lang="ru-RU" dirty="0"/>
          </a:p>
        </p:txBody>
      </p:sp>
      <p:sp>
        <p:nvSpPr>
          <p:cNvPr id="3" name="Содержимое 2"/>
          <p:cNvSpPr>
            <a:spLocks noGrp="1"/>
          </p:cNvSpPr>
          <p:nvPr>
            <p:ph idx="1"/>
          </p:nvPr>
        </p:nvSpPr>
        <p:spPr>
          <a:xfrm>
            <a:off x="457200" y="1600200"/>
            <a:ext cx="8229600" cy="4925144"/>
          </a:xfrm>
        </p:spPr>
        <p:txBody>
          <a:bodyPr>
            <a:normAutofit fontScale="92500" lnSpcReduction="20000"/>
          </a:bodyPr>
          <a:lstStyle/>
          <a:p>
            <a:r>
              <a:rPr lang="ru-RU" dirty="0" smtClean="0"/>
              <a:t>При перезапуске системы транзакции типов ТЗ и Т5 должны быть отменены, а транзакции типа Т2 и Т4 — выполнены повторно</a:t>
            </a:r>
          </a:p>
          <a:p>
            <a:r>
              <a:rPr lang="ru-RU" dirty="0" smtClean="0"/>
              <a:t>Транзакции типа Т1 не участвуют в процессе перезапуска, поскольку выполненные ими обновления были принудительно внесены в физическую базу данных к моменту времени </a:t>
            </a:r>
            <a:r>
              <a:rPr lang="ru-RU" dirty="0" err="1" smtClean="0"/>
              <a:t>tc</a:t>
            </a:r>
            <a:r>
              <a:rPr lang="ru-RU" dirty="0" smtClean="0"/>
              <a:t> как часть процедуры создания этой контрольной точки</a:t>
            </a:r>
          </a:p>
          <a:p>
            <a:r>
              <a:rPr lang="ru-RU" dirty="0" smtClean="0"/>
              <a:t>Транзакции, завершившиеся неудачно до момента времени </a:t>
            </a:r>
            <a:r>
              <a:rPr lang="ru-RU" dirty="0" err="1" smtClean="0"/>
              <a:t>tf</a:t>
            </a:r>
            <a:r>
              <a:rPr lang="ru-RU" dirty="0" smtClean="0"/>
              <a:t>, также не будут учитываться в процессе перезапуска</a:t>
            </a:r>
          </a:p>
          <a:p>
            <a:pPr>
              <a:buNone/>
            </a:pPr>
            <a:endParaRPr lang="ru-RU"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274638"/>
            <a:ext cx="7848872" cy="1282154"/>
          </a:xfrm>
        </p:spPr>
        <p:txBody>
          <a:bodyPr>
            <a:normAutofit fontScale="90000"/>
          </a:bodyPr>
          <a:lstStyle/>
          <a:p>
            <a:r>
              <a:rPr lang="ru-RU" dirty="0" smtClean="0"/>
              <a:t>Формирование списков </a:t>
            </a:r>
            <a:r>
              <a:rPr lang="en-US" dirty="0" smtClean="0"/>
              <a:t>UNDO</a:t>
            </a:r>
            <a:r>
              <a:rPr lang="ru-RU" dirty="0" smtClean="0"/>
              <a:t> и</a:t>
            </a:r>
            <a:r>
              <a:rPr lang="en-US" dirty="0" smtClean="0"/>
              <a:t> REDO</a:t>
            </a:r>
            <a:r>
              <a:rPr lang="ru-RU" dirty="0" smtClean="0"/>
              <a:t> (1/2)</a:t>
            </a:r>
            <a:endParaRPr lang="ru-RU" dirty="0"/>
          </a:p>
        </p:txBody>
      </p:sp>
      <p:sp>
        <p:nvSpPr>
          <p:cNvPr id="3" name="Содержимое 2"/>
          <p:cNvSpPr>
            <a:spLocks noGrp="1"/>
          </p:cNvSpPr>
          <p:nvPr>
            <p:ph idx="1"/>
          </p:nvPr>
        </p:nvSpPr>
        <p:spPr>
          <a:xfrm>
            <a:off x="457200" y="1700808"/>
            <a:ext cx="8229600" cy="4464496"/>
          </a:xfrm>
        </p:spPr>
        <p:txBody>
          <a:bodyPr>
            <a:normAutofit lnSpcReduction="10000"/>
          </a:bodyPr>
          <a:lstStyle/>
          <a:p>
            <a:pPr marL="355600" indent="-355600"/>
            <a:r>
              <a:rPr lang="ru-RU" dirty="0" smtClean="0"/>
              <a:t>Создаются два списка: UNDO (Отменить) и REDO (Выполнить повторно) </a:t>
            </a:r>
          </a:p>
          <a:p>
            <a:pPr marL="355600" indent="-355600"/>
            <a:r>
              <a:rPr lang="ru-RU" dirty="0" smtClean="0"/>
              <a:t>В список UNDO заносятся все транзакции, упомянутые в последней из существующих записей контрольной точки, а список REDO пока остается пустым</a:t>
            </a:r>
          </a:p>
          <a:p>
            <a:pPr marL="355600" indent="-355600"/>
            <a:r>
              <a:rPr lang="ru-RU" dirty="0" smtClean="0"/>
              <a:t>В журнале регистрации поиск начинается с записи контрольной точки и происходит в прямом направлении</a:t>
            </a:r>
          </a:p>
          <a:p>
            <a:endParaRPr lang="ru-RU"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Формирование списков </a:t>
            </a:r>
            <a:r>
              <a:rPr lang="en-US" dirty="0" smtClean="0"/>
              <a:t>UNDO</a:t>
            </a:r>
            <a:r>
              <a:rPr lang="ru-RU" dirty="0" smtClean="0"/>
              <a:t> и</a:t>
            </a:r>
            <a:r>
              <a:rPr lang="en-US" dirty="0" smtClean="0"/>
              <a:t> REDO</a:t>
            </a:r>
            <a:r>
              <a:rPr lang="ru-RU" dirty="0" smtClean="0"/>
              <a:t> (2/2)</a:t>
            </a:r>
            <a:endParaRPr lang="ru-RU" dirty="0"/>
          </a:p>
        </p:txBody>
      </p:sp>
      <p:sp>
        <p:nvSpPr>
          <p:cNvPr id="3" name="Содержимое 2"/>
          <p:cNvSpPr>
            <a:spLocks noGrp="1"/>
          </p:cNvSpPr>
          <p:nvPr>
            <p:ph idx="1"/>
          </p:nvPr>
        </p:nvSpPr>
        <p:spPr>
          <a:xfrm>
            <a:off x="457200" y="1600200"/>
            <a:ext cx="8507288" cy="4925144"/>
          </a:xfrm>
        </p:spPr>
        <p:txBody>
          <a:bodyPr>
            <a:normAutofit fontScale="92500" lnSpcReduction="20000"/>
          </a:bodyPr>
          <a:lstStyle/>
          <a:p>
            <a:pPr marL="355600" indent="-355600"/>
            <a:r>
              <a:rPr lang="ru-RU" dirty="0" smtClean="0"/>
              <a:t>Если в журнале обнаружена запись BEGIN TRANSACTION с указанием о начале выполнения некоторой транзакции Т, то эта транзакция добавляется в СПИСОК </a:t>
            </a:r>
            <a:r>
              <a:rPr lang="en-US" dirty="0" smtClean="0"/>
              <a:t>UNDO</a:t>
            </a:r>
          </a:p>
          <a:p>
            <a:pPr marL="355600" indent="-355600"/>
            <a:r>
              <a:rPr lang="ru-RU" dirty="0" smtClean="0"/>
              <a:t>Если в журнале обнаружена запись COMMIT, свидетельствующая об окончании выполнения некоторой транзакции Т, эта транзакция переносится из списка UNDO в список REDO</a:t>
            </a:r>
          </a:p>
          <a:p>
            <a:pPr marL="355600" indent="-355600"/>
            <a:r>
              <a:rPr lang="ru-RU" dirty="0" smtClean="0"/>
              <a:t>По достижении конца файла журнала списки UNDO и REDO анализируются для выявления, соответственно, транзакций типов ТЗ и Т5, а также типов Т2 и Т4</a:t>
            </a:r>
            <a:endParaRPr lang="ru-RU"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Применение списков </a:t>
            </a:r>
            <a:r>
              <a:rPr lang="en-US" dirty="0" smtClean="0"/>
              <a:t>UNDO</a:t>
            </a:r>
            <a:r>
              <a:rPr lang="ru-RU" dirty="0" smtClean="0"/>
              <a:t> и</a:t>
            </a:r>
            <a:r>
              <a:rPr lang="en-US" dirty="0" smtClean="0"/>
              <a:t> REDO</a:t>
            </a:r>
            <a:endParaRPr lang="ru-RU" dirty="0"/>
          </a:p>
        </p:txBody>
      </p:sp>
      <p:sp>
        <p:nvSpPr>
          <p:cNvPr id="3" name="Содержимое 2"/>
          <p:cNvSpPr>
            <a:spLocks noGrp="1"/>
          </p:cNvSpPr>
          <p:nvPr>
            <p:ph idx="1"/>
          </p:nvPr>
        </p:nvSpPr>
        <p:spPr/>
        <p:txBody>
          <a:bodyPr/>
          <a:lstStyle/>
          <a:p>
            <a:r>
              <a:rPr lang="ru-RU" dirty="0" smtClean="0"/>
              <a:t>После этого система просматривает журнал регистрации в обратном направлении, выполняя откат транзакций из списка UNDO</a:t>
            </a:r>
          </a:p>
          <a:p>
            <a:r>
              <a:rPr lang="ru-RU" dirty="0" smtClean="0"/>
              <a:t>И, наконец, затем вновь просматривает журнал в прямом направлении, повторно выполняя транзакции из списка REDO</a:t>
            </a:r>
          </a:p>
          <a:p>
            <a:endParaRPr lang="ru-RU"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6</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Сериализация транзакций</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354162"/>
          </a:xfrm>
        </p:spPr>
        <p:txBody>
          <a:bodyPr>
            <a:normAutofit fontScale="90000"/>
          </a:bodyPr>
          <a:lstStyle/>
          <a:p>
            <a:r>
              <a:rPr lang="ru-RU" dirty="0" smtClean="0"/>
              <a:t>Проблемы реализации механизма транзакций</a:t>
            </a:r>
            <a:endParaRPr lang="ru-RU" dirty="0"/>
          </a:p>
        </p:txBody>
      </p:sp>
      <p:sp>
        <p:nvSpPr>
          <p:cNvPr id="3" name="Содержимое 2"/>
          <p:cNvSpPr>
            <a:spLocks noGrp="1"/>
          </p:cNvSpPr>
          <p:nvPr>
            <p:ph idx="1"/>
          </p:nvPr>
        </p:nvSpPr>
        <p:spPr>
          <a:xfrm>
            <a:off x="457200" y="1844824"/>
            <a:ext cx="8435280" cy="5013176"/>
          </a:xfrm>
        </p:spPr>
        <p:txBody>
          <a:bodyPr>
            <a:normAutofit fontScale="85000" lnSpcReduction="20000"/>
          </a:bodyPr>
          <a:lstStyle/>
          <a:p>
            <a:r>
              <a:rPr lang="ru-RU" dirty="0" smtClean="0"/>
              <a:t>Необходимо избежать потери изменений БД в ситуации, когда несколько программ читают одни и те же данные, изменяют их и пытаются записать результат на прежнее место</a:t>
            </a:r>
          </a:p>
          <a:p>
            <a:pPr>
              <a:buNone/>
            </a:pPr>
            <a:r>
              <a:rPr lang="ru-RU" dirty="0" smtClean="0"/>
              <a:t>	</a:t>
            </a:r>
            <a:r>
              <a:rPr lang="ru-RU" sz="3100" dirty="0" smtClean="0">
                <a:solidFill>
                  <a:schemeClr val="tx1">
                    <a:lumMod val="50000"/>
                    <a:lumOff val="50000"/>
                  </a:schemeClr>
                </a:solidFill>
              </a:rPr>
              <a:t>В БД могут быть сохранены изменения, выполненные только одной программой, результаты работы всех остальных программ будут потеряны</a:t>
            </a:r>
            <a:endParaRPr lang="ru-RU" dirty="0" smtClean="0">
              <a:solidFill>
                <a:schemeClr val="tx1">
                  <a:lumMod val="50000"/>
                  <a:lumOff val="50000"/>
                </a:schemeClr>
              </a:solidFill>
            </a:endParaRPr>
          </a:p>
          <a:p>
            <a:r>
              <a:rPr lang="ru-RU" dirty="0" smtClean="0"/>
              <a:t>Требуется исключить возможность чтения незафиксированных изменений</a:t>
            </a:r>
          </a:p>
          <a:p>
            <a:pPr>
              <a:buNone/>
            </a:pPr>
            <a:r>
              <a:rPr lang="ru-RU" dirty="0" smtClean="0"/>
              <a:t>	</a:t>
            </a:r>
            <a:r>
              <a:rPr lang="ru-RU" sz="3100" dirty="0" smtClean="0">
                <a:solidFill>
                  <a:schemeClr val="tx1">
                    <a:lumMod val="50000"/>
                    <a:lumOff val="50000"/>
                  </a:schemeClr>
                </a:solidFill>
              </a:rPr>
              <a:t>Это может произойти в случае, когда одна транзакция вносит изменения в БД, они тут же считываются в другой транзакции, но затем другая транзакция прерывается оператором ROLLBACK WORK </a:t>
            </a:r>
            <a:endParaRPr lang="ru-RU" dirty="0" smtClean="0">
              <a:solidFill>
                <a:schemeClr val="tx1">
                  <a:lumMod val="50000"/>
                  <a:lumOff val="50000"/>
                </a:schemeClr>
              </a:solidFill>
            </a:endParaRPr>
          </a:p>
          <a:p>
            <a:endParaRPr lang="ru-RU"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Принципы сериализации</a:t>
            </a:r>
            <a:endParaRPr lang="ru-RU" dirty="0"/>
          </a:p>
        </p:txBody>
      </p:sp>
      <p:sp>
        <p:nvSpPr>
          <p:cNvPr id="3" name="Содержимое 2"/>
          <p:cNvSpPr>
            <a:spLocks noGrp="1"/>
          </p:cNvSpPr>
          <p:nvPr>
            <p:ph idx="1"/>
          </p:nvPr>
        </p:nvSpPr>
        <p:spPr>
          <a:xfrm>
            <a:off x="467544" y="1484784"/>
            <a:ext cx="8229600" cy="4925144"/>
          </a:xfrm>
        </p:spPr>
        <p:txBody>
          <a:bodyPr>
            <a:normAutofit fontScale="92500" lnSpcReduction="10000"/>
          </a:bodyPr>
          <a:lstStyle/>
          <a:p>
            <a:pPr lvl="0"/>
            <a:r>
              <a:rPr lang="ru-RU" dirty="0" smtClean="0"/>
              <a:t>Транзакция не может получить доступ к незафиксированным данным, то есть к данным, в которых произведены изменения, но эти изменения еще не зафиксированы</a:t>
            </a:r>
          </a:p>
          <a:p>
            <a:pPr lvl="0"/>
            <a:r>
              <a:rPr lang="ru-RU" dirty="0" smtClean="0"/>
              <a:t>Результат совместного выполнения транзакций должен быть эквивалентен результату их последовательного выполнения. То есть, если две транзакции выполняются параллельно, то полагается, что результат будет такой же, как если бы сначала выполнялась первая, а затем вторая транзакция или наоборот</a:t>
            </a:r>
            <a:endParaRPr lang="ru-RU"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Проблемы параллельного доступа к общим данным</a:t>
            </a:r>
            <a:endParaRPr lang="ru-RU" dirty="0"/>
          </a:p>
        </p:txBody>
      </p:sp>
      <p:sp>
        <p:nvSpPr>
          <p:cNvPr id="3" name="Содержимое 2"/>
          <p:cNvSpPr>
            <a:spLocks noGrp="1"/>
          </p:cNvSpPr>
          <p:nvPr>
            <p:ph idx="1"/>
          </p:nvPr>
        </p:nvSpPr>
        <p:spPr>
          <a:xfrm>
            <a:off x="457200" y="1844824"/>
            <a:ext cx="8363272" cy="4752528"/>
          </a:xfrm>
        </p:spPr>
        <p:txBody>
          <a:bodyPr>
            <a:normAutofit/>
          </a:bodyPr>
          <a:lstStyle/>
          <a:p>
            <a:r>
              <a:rPr lang="ru-RU" dirty="0" smtClean="0"/>
              <a:t>Потерянное обновление (</a:t>
            </a:r>
            <a:r>
              <a:rPr lang="ru-RU" dirty="0" err="1" smtClean="0"/>
              <a:t>lost</a:t>
            </a:r>
            <a:r>
              <a:rPr lang="ru-RU" dirty="0" smtClean="0"/>
              <a:t> </a:t>
            </a:r>
            <a:r>
              <a:rPr lang="ru-RU" dirty="0" err="1" smtClean="0"/>
              <a:t>update</a:t>
            </a:r>
            <a:r>
              <a:rPr lang="ru-RU" dirty="0" smtClean="0"/>
              <a:t>)</a:t>
            </a:r>
          </a:p>
          <a:p>
            <a:r>
              <a:rPr lang="ru-RU" dirty="0" smtClean="0"/>
              <a:t>«Грязное» чтение (</a:t>
            </a:r>
            <a:r>
              <a:rPr lang="ru-RU" dirty="0" err="1" smtClean="0"/>
              <a:t>dirty</a:t>
            </a:r>
            <a:r>
              <a:rPr lang="ru-RU" dirty="0" smtClean="0"/>
              <a:t> </a:t>
            </a:r>
            <a:r>
              <a:rPr lang="ru-RU" dirty="0" err="1" smtClean="0"/>
              <a:t>read</a:t>
            </a:r>
            <a:r>
              <a:rPr lang="ru-RU" dirty="0" smtClean="0"/>
              <a:t>)</a:t>
            </a:r>
          </a:p>
          <a:p>
            <a:r>
              <a:rPr lang="ru-RU" dirty="0" smtClean="0"/>
              <a:t>Неповторяющееся чтение (</a:t>
            </a:r>
            <a:r>
              <a:rPr lang="ru-RU" dirty="0" err="1" smtClean="0"/>
              <a:t>non-repeatable</a:t>
            </a:r>
            <a:r>
              <a:rPr lang="ru-RU" dirty="0" smtClean="0"/>
              <a:t> </a:t>
            </a:r>
            <a:r>
              <a:rPr lang="ru-RU" dirty="0" err="1" smtClean="0"/>
              <a:t>read</a:t>
            </a:r>
            <a:r>
              <a:rPr lang="ru-RU" dirty="0" smtClean="0"/>
              <a:t>) </a:t>
            </a:r>
          </a:p>
          <a:p>
            <a:r>
              <a:rPr lang="ru-RU" dirty="0" smtClean="0"/>
              <a:t>Фантомное чтение (</a:t>
            </a:r>
            <a:r>
              <a:rPr lang="ru-RU" dirty="0" err="1" smtClean="0"/>
              <a:t>phantom</a:t>
            </a:r>
            <a:r>
              <a:rPr lang="ru-RU" dirty="0" smtClean="0"/>
              <a:t> </a:t>
            </a:r>
            <a:r>
              <a:rPr lang="ru-RU" dirty="0" err="1" smtClean="0"/>
              <a:t>reads</a:t>
            </a:r>
            <a:r>
              <a:rPr lang="ru-RU" dirty="0" smtClean="0"/>
              <a: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Потерянное обновление</a:t>
            </a:r>
            <a:endParaRPr lang="ru-RU" dirty="0"/>
          </a:p>
        </p:txBody>
      </p:sp>
      <p:sp>
        <p:nvSpPr>
          <p:cNvPr id="3" name="Содержимое 2"/>
          <p:cNvSpPr>
            <a:spLocks noGrp="1"/>
          </p:cNvSpPr>
          <p:nvPr>
            <p:ph idx="1"/>
          </p:nvPr>
        </p:nvSpPr>
        <p:spPr>
          <a:xfrm>
            <a:off x="457200" y="1412776"/>
            <a:ext cx="8363272" cy="1368152"/>
          </a:xfrm>
        </p:spPr>
        <p:txBody>
          <a:bodyPr>
            <a:normAutofit fontScale="92500" lnSpcReduction="10000"/>
          </a:bodyPr>
          <a:lstStyle/>
          <a:p>
            <a:pPr>
              <a:buNone/>
            </a:pPr>
            <a:r>
              <a:rPr lang="ru-RU" dirty="0" smtClean="0"/>
              <a:t>	При одновременном изменении одного блока данных разными транзакциями, одно из изменений теряется</a:t>
            </a:r>
          </a:p>
        </p:txBody>
      </p:sp>
      <p:graphicFrame>
        <p:nvGraphicFramePr>
          <p:cNvPr id="4" name="Таблица 3"/>
          <p:cNvGraphicFramePr>
            <a:graphicFrameLocks noGrp="1"/>
          </p:cNvGraphicFramePr>
          <p:nvPr/>
        </p:nvGraphicFramePr>
        <p:xfrm>
          <a:off x="1187624" y="3140968"/>
          <a:ext cx="7056784" cy="1889760"/>
        </p:xfrm>
        <a:graphic>
          <a:graphicData uri="http://schemas.openxmlformats.org/drawingml/2006/table">
            <a:tbl>
              <a:tblPr/>
              <a:tblGrid>
                <a:gridCol w="3528392"/>
                <a:gridCol w="3528392"/>
              </a:tblGrid>
              <a:tr h="0">
                <a:tc>
                  <a:txBody>
                    <a:bodyPr/>
                    <a:lstStyle/>
                    <a:p>
                      <a:pPr algn="ctr"/>
                      <a:r>
                        <a:rPr lang="ru-RU" sz="2800" dirty="0"/>
                        <a:t>Транзакция 1</a:t>
                      </a:r>
                    </a:p>
                  </a:txBody>
                  <a:tcPr anchor="ctr">
                    <a:lnL>
                      <a:noFill/>
                    </a:lnL>
                    <a:lnR>
                      <a:noFill/>
                    </a:lnR>
                    <a:lnT>
                      <a:noFill/>
                    </a:lnT>
                    <a:lnB>
                      <a:noFill/>
                    </a:lnB>
                  </a:tcPr>
                </a:tc>
                <a:tc>
                  <a:txBody>
                    <a:bodyPr/>
                    <a:lstStyle/>
                    <a:p>
                      <a:pPr algn="ctr"/>
                      <a:r>
                        <a:rPr lang="ru-RU" sz="2800"/>
                        <a:t>Транзакция 2</a:t>
                      </a:r>
                    </a:p>
                  </a:txBody>
                  <a:tcPr anchor="ctr">
                    <a:lnL>
                      <a:noFill/>
                    </a:lnL>
                    <a:lnR>
                      <a:noFill/>
                    </a:lnR>
                    <a:lnT>
                      <a:noFill/>
                    </a:lnT>
                    <a:lnB>
                      <a:noFill/>
                    </a:lnB>
                  </a:tcPr>
                </a:tc>
              </a:tr>
              <a:tr h="0">
                <a:tc>
                  <a:txBody>
                    <a:bodyPr/>
                    <a:lstStyle/>
                    <a:p>
                      <a:pPr algn="l"/>
                      <a:r>
                        <a:rPr lang="en-US" sz="2800" dirty="0"/>
                        <a:t>UPDATE </a:t>
                      </a:r>
                      <a:r>
                        <a:rPr lang="en-US" sz="2800" dirty="0" smtClean="0"/>
                        <a:t>tbl1</a:t>
                      </a:r>
                      <a:endParaRPr lang="ru-RU" sz="2800" dirty="0" smtClean="0"/>
                    </a:p>
                    <a:p>
                      <a:pPr algn="l"/>
                      <a:r>
                        <a:rPr lang="ru-RU" sz="2800" dirty="0" smtClean="0"/>
                        <a:t>    </a:t>
                      </a:r>
                      <a:r>
                        <a:rPr lang="en-US" sz="2800" dirty="0" smtClean="0"/>
                        <a:t>SET f2</a:t>
                      </a:r>
                      <a:r>
                        <a:rPr lang="ru-RU" sz="2800" dirty="0" smtClean="0"/>
                        <a:t> </a:t>
                      </a:r>
                      <a:r>
                        <a:rPr lang="en-US" sz="2800" dirty="0" smtClean="0"/>
                        <a:t>=</a:t>
                      </a:r>
                      <a:r>
                        <a:rPr lang="ru-RU" sz="2800" dirty="0" smtClean="0"/>
                        <a:t> </a:t>
                      </a:r>
                      <a:r>
                        <a:rPr lang="en-US" sz="2800" dirty="0" smtClean="0"/>
                        <a:t>f2</a:t>
                      </a:r>
                      <a:r>
                        <a:rPr lang="ru-RU" sz="2800" dirty="0" smtClean="0"/>
                        <a:t> </a:t>
                      </a:r>
                      <a:r>
                        <a:rPr lang="en-US" sz="2800" dirty="0" smtClean="0"/>
                        <a:t>+</a:t>
                      </a:r>
                      <a:r>
                        <a:rPr lang="ru-RU" sz="2800" dirty="0" smtClean="0"/>
                        <a:t> </a:t>
                      </a:r>
                      <a:r>
                        <a:rPr lang="en-US" sz="2800" dirty="0" smtClean="0"/>
                        <a:t>20</a:t>
                      </a:r>
                      <a:endParaRPr lang="ru-RU" sz="2800" dirty="0" smtClean="0"/>
                    </a:p>
                    <a:p>
                      <a:pPr algn="l"/>
                      <a:r>
                        <a:rPr lang="ru-RU" sz="2800" dirty="0" smtClean="0"/>
                        <a:t>    </a:t>
                      </a:r>
                      <a:r>
                        <a:rPr lang="en-US" sz="2800" dirty="0" smtClean="0"/>
                        <a:t>WHERE f1</a:t>
                      </a:r>
                      <a:r>
                        <a:rPr lang="ru-RU" sz="2800" dirty="0" smtClean="0"/>
                        <a:t> </a:t>
                      </a:r>
                      <a:r>
                        <a:rPr lang="en-US" sz="2800" dirty="0" smtClean="0"/>
                        <a:t>=</a:t>
                      </a:r>
                      <a:r>
                        <a:rPr lang="ru-RU" sz="2800" dirty="0" smtClean="0"/>
                        <a:t> </a:t>
                      </a:r>
                      <a:r>
                        <a:rPr lang="en-US" sz="2800" dirty="0" smtClean="0"/>
                        <a:t>1</a:t>
                      </a:r>
                      <a:endParaRPr lang="en-US" sz="2800" dirty="0"/>
                    </a:p>
                  </a:txBody>
                  <a:tcPr anchor="ctr">
                    <a:lnL>
                      <a:noFill/>
                    </a:lnL>
                    <a:lnR>
                      <a:noFill/>
                    </a:lnR>
                    <a:lnT>
                      <a:noFill/>
                    </a:lnT>
                    <a:lnB>
                      <a:noFill/>
                    </a:lnB>
                  </a:tcPr>
                </a:tc>
                <a:tc>
                  <a:txBody>
                    <a:bodyPr/>
                    <a:lstStyle/>
                    <a:p>
                      <a:pPr algn="l"/>
                      <a:r>
                        <a:rPr lang="en-US" sz="2800" dirty="0"/>
                        <a:t>UPDATE </a:t>
                      </a:r>
                      <a:r>
                        <a:rPr lang="en-US" sz="2800" dirty="0" smtClean="0"/>
                        <a:t>tbl1</a:t>
                      </a:r>
                      <a:endParaRPr lang="ru-RU" sz="2800" dirty="0" smtClean="0"/>
                    </a:p>
                    <a:p>
                      <a:pPr algn="l"/>
                      <a:r>
                        <a:rPr lang="ru-RU" sz="2800" baseline="0" dirty="0" smtClean="0"/>
                        <a:t>    </a:t>
                      </a:r>
                      <a:r>
                        <a:rPr lang="en-US" sz="2800" dirty="0" smtClean="0"/>
                        <a:t>SET f2</a:t>
                      </a:r>
                      <a:r>
                        <a:rPr lang="ru-RU" sz="2800" dirty="0" smtClean="0"/>
                        <a:t> </a:t>
                      </a:r>
                      <a:r>
                        <a:rPr lang="en-US" sz="2800" dirty="0" smtClean="0"/>
                        <a:t>=</a:t>
                      </a:r>
                      <a:r>
                        <a:rPr lang="ru-RU" sz="2800" dirty="0" smtClean="0"/>
                        <a:t> </a:t>
                      </a:r>
                      <a:r>
                        <a:rPr lang="en-US" sz="2800" dirty="0" smtClean="0"/>
                        <a:t>f2</a:t>
                      </a:r>
                      <a:r>
                        <a:rPr lang="ru-RU" sz="2800" dirty="0" smtClean="0"/>
                        <a:t> </a:t>
                      </a:r>
                      <a:r>
                        <a:rPr lang="en-US" sz="2800" dirty="0" smtClean="0"/>
                        <a:t>+</a:t>
                      </a:r>
                      <a:r>
                        <a:rPr lang="ru-RU" sz="2800" dirty="0" smtClean="0"/>
                        <a:t> </a:t>
                      </a:r>
                      <a:r>
                        <a:rPr lang="en-US" sz="2800" dirty="0" smtClean="0"/>
                        <a:t>25</a:t>
                      </a:r>
                      <a:endParaRPr lang="ru-RU" sz="2800" dirty="0" smtClean="0"/>
                    </a:p>
                    <a:p>
                      <a:pPr algn="l"/>
                      <a:r>
                        <a:rPr lang="ru-RU" sz="2800" dirty="0" smtClean="0"/>
                        <a:t> </a:t>
                      </a:r>
                      <a:r>
                        <a:rPr lang="en-US" sz="2800" dirty="0" smtClean="0"/>
                        <a:t> </a:t>
                      </a:r>
                      <a:r>
                        <a:rPr lang="ru-RU" sz="2800" dirty="0" smtClean="0"/>
                        <a:t>  </a:t>
                      </a:r>
                      <a:r>
                        <a:rPr lang="en-US" sz="2800" dirty="0" smtClean="0"/>
                        <a:t>WHERE f1</a:t>
                      </a:r>
                      <a:r>
                        <a:rPr lang="ru-RU" sz="2800" dirty="0" smtClean="0"/>
                        <a:t> </a:t>
                      </a:r>
                      <a:r>
                        <a:rPr lang="en-US" sz="2800" dirty="0" smtClean="0"/>
                        <a:t>=</a:t>
                      </a:r>
                      <a:r>
                        <a:rPr lang="ru-RU" sz="2800" dirty="0" smtClean="0"/>
                        <a:t> </a:t>
                      </a:r>
                      <a:r>
                        <a:rPr lang="en-US" sz="2800" dirty="0" smtClean="0"/>
                        <a:t>1</a:t>
                      </a:r>
                      <a:endParaRPr lang="en-US" sz="28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«Грязное» чтение</a:t>
            </a:r>
            <a:endParaRPr lang="ru-RU" dirty="0"/>
          </a:p>
        </p:txBody>
      </p:sp>
      <p:sp>
        <p:nvSpPr>
          <p:cNvPr id="3" name="Содержимое 2"/>
          <p:cNvSpPr>
            <a:spLocks noGrp="1"/>
          </p:cNvSpPr>
          <p:nvPr>
            <p:ph idx="1"/>
          </p:nvPr>
        </p:nvSpPr>
        <p:spPr>
          <a:xfrm>
            <a:off x="457200" y="1412776"/>
            <a:ext cx="8363272" cy="1368152"/>
          </a:xfrm>
        </p:spPr>
        <p:txBody>
          <a:bodyPr>
            <a:normAutofit fontScale="92500" lnSpcReduction="10000"/>
          </a:bodyPr>
          <a:lstStyle/>
          <a:p>
            <a:pPr>
              <a:buNone/>
            </a:pPr>
            <a:r>
              <a:rPr lang="ru-RU" dirty="0" smtClean="0"/>
              <a:t>	Чтение данных, добавленных или изменённых транзакцией, которая впоследствии не подтвердится (откатится)</a:t>
            </a:r>
          </a:p>
        </p:txBody>
      </p:sp>
      <p:graphicFrame>
        <p:nvGraphicFramePr>
          <p:cNvPr id="4" name="Таблица 3"/>
          <p:cNvGraphicFramePr>
            <a:graphicFrameLocks noGrp="1"/>
          </p:cNvGraphicFramePr>
          <p:nvPr/>
        </p:nvGraphicFramePr>
        <p:xfrm>
          <a:off x="1115616" y="2996952"/>
          <a:ext cx="7344816" cy="3383280"/>
        </p:xfrm>
        <a:graphic>
          <a:graphicData uri="http://schemas.openxmlformats.org/drawingml/2006/table">
            <a:tbl>
              <a:tblPr/>
              <a:tblGrid>
                <a:gridCol w="3960440"/>
                <a:gridCol w="3384376"/>
              </a:tblGrid>
              <a:tr h="0">
                <a:tc>
                  <a:txBody>
                    <a:bodyPr/>
                    <a:lstStyle/>
                    <a:p>
                      <a:pPr algn="ctr"/>
                      <a:r>
                        <a:rPr lang="ru-RU" sz="2400" dirty="0"/>
                        <a:t>Транзакция 1</a:t>
                      </a:r>
                    </a:p>
                  </a:txBody>
                  <a:tcPr anchor="ctr">
                    <a:lnL>
                      <a:noFill/>
                    </a:lnL>
                    <a:lnR>
                      <a:noFill/>
                    </a:lnR>
                    <a:lnT>
                      <a:noFill/>
                    </a:lnT>
                    <a:lnB>
                      <a:noFill/>
                    </a:lnB>
                  </a:tcPr>
                </a:tc>
                <a:tc>
                  <a:txBody>
                    <a:bodyPr/>
                    <a:lstStyle/>
                    <a:p>
                      <a:pPr algn="ctr"/>
                      <a:r>
                        <a:rPr lang="ru-RU" sz="2400" dirty="0"/>
                        <a:t>Транзакция 2</a:t>
                      </a:r>
                    </a:p>
                  </a:txBody>
                  <a:tcPr anchor="ctr">
                    <a:lnL>
                      <a:noFill/>
                    </a:lnL>
                    <a:lnR>
                      <a:noFill/>
                    </a:lnR>
                    <a:lnT>
                      <a:noFill/>
                    </a:lnT>
                    <a:lnB>
                      <a:noFill/>
                    </a:lnB>
                  </a:tcPr>
                </a:tc>
              </a:tr>
              <a:tr h="0">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r h="0">
                <a:tc>
                  <a:txBody>
                    <a:bodyPr/>
                    <a:lstStyle/>
                    <a:p>
                      <a:r>
                        <a:rPr lang="en-US" sz="2400" dirty="0"/>
                        <a:t>UPDATE </a:t>
                      </a:r>
                      <a:r>
                        <a:rPr lang="en-US" sz="2400" dirty="0" smtClean="0"/>
                        <a:t>tbl1</a:t>
                      </a:r>
                      <a:r>
                        <a:rPr lang="ru-RU" sz="2400" dirty="0" smtClean="0"/>
                        <a:t> </a:t>
                      </a:r>
                      <a:r>
                        <a:rPr lang="en-US" sz="2400" dirty="0" smtClean="0"/>
                        <a:t>SET f2</a:t>
                      </a:r>
                      <a:r>
                        <a:rPr lang="ru-RU" sz="2400" dirty="0" smtClean="0"/>
                        <a:t> </a:t>
                      </a:r>
                      <a:r>
                        <a:rPr lang="en-US" sz="2400" dirty="0" smtClean="0"/>
                        <a:t>=</a:t>
                      </a:r>
                      <a:r>
                        <a:rPr lang="ru-RU" sz="2400" dirty="0" smtClean="0"/>
                        <a:t> </a:t>
                      </a:r>
                      <a:r>
                        <a:rPr lang="en-US" sz="2400" dirty="0" smtClean="0"/>
                        <a:t>f2</a:t>
                      </a:r>
                      <a:r>
                        <a:rPr lang="ru-RU" sz="2400" dirty="0" smtClean="0"/>
                        <a:t> </a:t>
                      </a:r>
                      <a:r>
                        <a:rPr lang="en-US" sz="2400" dirty="0" smtClean="0"/>
                        <a:t>+</a:t>
                      </a:r>
                      <a:r>
                        <a:rPr lang="ru-RU" sz="2400" dirty="0" smtClean="0"/>
                        <a:t> </a:t>
                      </a:r>
                      <a:r>
                        <a:rPr lang="en-US" sz="2400" dirty="0" smtClean="0"/>
                        <a:t>1</a:t>
                      </a:r>
                      <a:endParaRPr lang="ru-RU" sz="2400" dirty="0" smtClean="0"/>
                    </a:p>
                    <a:p>
                      <a:r>
                        <a:rPr lang="ru-RU" sz="2400" dirty="0" smtClean="0"/>
                        <a:t>  </a:t>
                      </a:r>
                      <a:r>
                        <a:rPr lang="en-US" sz="2400" dirty="0" smtClean="0"/>
                        <a:t> </a:t>
                      </a:r>
                      <a:r>
                        <a:rPr lang="en-US" sz="2400" dirty="0"/>
                        <a:t>WHERE </a:t>
                      </a:r>
                      <a:r>
                        <a:rPr lang="en-US" sz="2400" dirty="0" smtClean="0"/>
                        <a:t>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r h="0">
                <a:tc>
                  <a:txBody>
                    <a:bodyPr/>
                    <a:lstStyle/>
                    <a:p>
                      <a:endParaRPr lang="ru-RU" sz="2400" dirty="0"/>
                    </a:p>
                  </a:txBody>
                  <a:tcPr anchor="ctr">
                    <a:lnL>
                      <a:noFill/>
                    </a:lnL>
                    <a:lnR>
                      <a:noFill/>
                    </a:lnR>
                    <a:lnT>
                      <a:noFill/>
                    </a:lnT>
                    <a:lnB>
                      <a:noFill/>
                    </a:lnB>
                  </a:tcPr>
                </a:tc>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r>
              <a:tr h="0">
                <a:tc>
                  <a:txBody>
                    <a:bodyPr/>
                    <a:lstStyle/>
                    <a:p>
                      <a:r>
                        <a:rPr lang="en-US" sz="2400" dirty="0"/>
                        <a:t>ROLLBACK </a:t>
                      </a:r>
                      <a:r>
                        <a:rPr lang="en-US" sz="2400" dirty="0" smtClean="0"/>
                        <a:t>WORK</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Неповторяющееся чтение</a:t>
            </a:r>
            <a:endParaRPr lang="ru-RU" dirty="0"/>
          </a:p>
        </p:txBody>
      </p:sp>
      <p:sp>
        <p:nvSpPr>
          <p:cNvPr id="3" name="Содержимое 2"/>
          <p:cNvSpPr>
            <a:spLocks noGrp="1"/>
          </p:cNvSpPr>
          <p:nvPr>
            <p:ph idx="1"/>
          </p:nvPr>
        </p:nvSpPr>
        <p:spPr>
          <a:xfrm>
            <a:off x="457200" y="1412776"/>
            <a:ext cx="8363272" cy="1512168"/>
          </a:xfrm>
        </p:spPr>
        <p:txBody>
          <a:bodyPr>
            <a:normAutofit fontScale="92500"/>
          </a:bodyPr>
          <a:lstStyle/>
          <a:p>
            <a:pPr>
              <a:buNone/>
            </a:pPr>
            <a:r>
              <a:rPr lang="ru-RU" dirty="0" smtClean="0"/>
              <a:t>	При повторном чтении в рамках одной транзакции, ранее прочитанные данные оказываются изменёнными или удалёнными</a:t>
            </a:r>
          </a:p>
        </p:txBody>
      </p:sp>
      <p:graphicFrame>
        <p:nvGraphicFramePr>
          <p:cNvPr id="4" name="Таблица 3"/>
          <p:cNvGraphicFramePr>
            <a:graphicFrameLocks noGrp="1"/>
          </p:cNvGraphicFramePr>
          <p:nvPr/>
        </p:nvGraphicFramePr>
        <p:xfrm>
          <a:off x="1115616" y="3068960"/>
          <a:ext cx="6840760" cy="3383280"/>
        </p:xfrm>
        <a:graphic>
          <a:graphicData uri="http://schemas.openxmlformats.org/drawingml/2006/table">
            <a:tbl>
              <a:tblPr/>
              <a:tblGrid>
                <a:gridCol w="3672408"/>
                <a:gridCol w="3168352"/>
              </a:tblGrid>
              <a:tr h="0">
                <a:tc>
                  <a:txBody>
                    <a:bodyPr/>
                    <a:lstStyle/>
                    <a:p>
                      <a:pPr algn="ctr"/>
                      <a:r>
                        <a:rPr lang="ru-RU" sz="2400" dirty="0"/>
                        <a:t>Транзакция 1</a:t>
                      </a:r>
                    </a:p>
                  </a:txBody>
                  <a:tcPr anchor="ctr">
                    <a:lnL>
                      <a:noFill/>
                    </a:lnL>
                    <a:lnR>
                      <a:noFill/>
                    </a:lnR>
                    <a:lnT>
                      <a:noFill/>
                    </a:lnT>
                    <a:lnB>
                      <a:noFill/>
                    </a:lnB>
                  </a:tcPr>
                </a:tc>
                <a:tc>
                  <a:txBody>
                    <a:bodyPr/>
                    <a:lstStyle/>
                    <a:p>
                      <a:pPr algn="ctr"/>
                      <a:r>
                        <a:rPr lang="ru-RU" sz="2400" dirty="0"/>
                        <a:t>Транзакция 2</a:t>
                      </a:r>
                    </a:p>
                  </a:txBody>
                  <a:tcPr anchor="ctr">
                    <a:lnL>
                      <a:noFill/>
                    </a:lnL>
                    <a:lnR>
                      <a:noFill/>
                    </a:lnR>
                    <a:lnT>
                      <a:noFill/>
                    </a:lnT>
                    <a:lnB>
                      <a:noFill/>
                    </a:lnB>
                  </a:tcPr>
                </a:tc>
              </a:tr>
              <a:tr h="0">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 </a:t>
                      </a:r>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 </a:t>
                      </a:r>
                      <a:r>
                        <a:rPr lang="en-US" sz="2400" dirty="0"/>
                        <a:t>WHERE </a:t>
                      </a:r>
                      <a:r>
                        <a:rPr lang="en-US" sz="2400" dirty="0" smtClean="0"/>
                        <a:t>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r>
              <a:tr h="0">
                <a:tc>
                  <a:txBody>
                    <a:bodyPr/>
                    <a:lstStyle/>
                    <a:p>
                      <a:r>
                        <a:rPr lang="en-US" sz="2400" dirty="0"/>
                        <a:t>UPDATE tbl1 SET </a:t>
                      </a:r>
                      <a:r>
                        <a:rPr lang="en-US" sz="2400" dirty="0" smtClean="0"/>
                        <a:t>f2</a:t>
                      </a:r>
                      <a:r>
                        <a:rPr lang="ru-RU" sz="2400" dirty="0" smtClean="0"/>
                        <a:t> </a:t>
                      </a:r>
                      <a:r>
                        <a:rPr lang="en-US" sz="2400" dirty="0" smtClean="0"/>
                        <a:t>=</a:t>
                      </a:r>
                      <a:r>
                        <a:rPr lang="ru-RU" sz="2400" dirty="0" smtClean="0"/>
                        <a:t> </a:t>
                      </a:r>
                      <a:r>
                        <a:rPr lang="en-US" sz="2400" dirty="0" smtClean="0"/>
                        <a:t>f2</a:t>
                      </a:r>
                      <a:r>
                        <a:rPr lang="ru-RU" sz="2400" dirty="0" smtClean="0"/>
                        <a:t> </a:t>
                      </a:r>
                      <a:r>
                        <a:rPr lang="en-US" sz="2400" dirty="0" smtClean="0"/>
                        <a:t>+</a:t>
                      </a:r>
                      <a:r>
                        <a:rPr lang="ru-RU" sz="2400" dirty="0" smtClean="0"/>
                        <a:t> </a:t>
                      </a:r>
                      <a:r>
                        <a:rPr lang="en-US" sz="2400" dirty="0" smtClean="0"/>
                        <a:t>1</a:t>
                      </a:r>
                      <a:endParaRPr lang="ru-RU" sz="2400" dirty="0" smtClean="0"/>
                    </a:p>
                    <a:p>
                      <a:r>
                        <a:rPr lang="en-US" sz="2400" dirty="0" smtClean="0"/>
                        <a:t> </a:t>
                      </a:r>
                      <a:r>
                        <a:rPr lang="ru-RU" sz="2400" dirty="0" smtClean="0"/>
                        <a:t>   </a:t>
                      </a:r>
                      <a:r>
                        <a:rPr lang="en-US" sz="2400" dirty="0" smtClean="0"/>
                        <a:t>WHERE 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c>
                  <a:txBody>
                    <a:bodyPr/>
                    <a:lstStyle/>
                    <a:p>
                      <a:endParaRPr lang="ru-RU" sz="2400"/>
                    </a:p>
                  </a:txBody>
                  <a:tcPr anchor="ctr">
                    <a:lnL>
                      <a:noFill/>
                    </a:lnL>
                    <a:lnR>
                      <a:noFill/>
                    </a:lnR>
                    <a:lnT>
                      <a:noFill/>
                    </a:lnT>
                    <a:lnB>
                      <a:noFill/>
                    </a:lnB>
                  </a:tcPr>
                </a:tc>
              </a:tr>
              <a:tr h="0">
                <a:tc>
                  <a:txBody>
                    <a:bodyPr/>
                    <a:lstStyle/>
                    <a:p>
                      <a:r>
                        <a:rPr lang="en-US" sz="2400" dirty="0" smtClean="0"/>
                        <a:t>COMMIT</a:t>
                      </a:r>
                      <a:endParaRPr lang="en-US" sz="2400" dirty="0"/>
                    </a:p>
                  </a:txBody>
                  <a:tcPr anchor="ctr">
                    <a:lnL>
                      <a:noFill/>
                    </a:lnL>
                    <a:lnR>
                      <a:noFill/>
                    </a:lnR>
                    <a:lnT>
                      <a:noFill/>
                    </a:lnT>
                    <a:lnB>
                      <a:noFill/>
                    </a:lnB>
                  </a:tcPr>
                </a:tc>
                <a:tc>
                  <a:txBody>
                    <a:bodyPr/>
                    <a:lstStyle/>
                    <a:p>
                      <a:endParaRPr lang="ru-RU" sz="2400"/>
                    </a:p>
                  </a:txBody>
                  <a:tcPr anchor="ctr">
                    <a:lnL>
                      <a:noFill/>
                    </a:lnL>
                    <a:lnR>
                      <a:noFill/>
                    </a:lnR>
                    <a:lnT>
                      <a:noFill/>
                    </a:lnT>
                    <a:lnB>
                      <a:noFill/>
                    </a:lnB>
                  </a:tcPr>
                </a:tc>
              </a:tr>
              <a:tr h="0">
                <a:tc>
                  <a:txBody>
                    <a:bodyPr/>
                    <a:lstStyle/>
                    <a:p>
                      <a:endParaRPr lang="ru-RU" sz="2400"/>
                    </a:p>
                  </a:txBody>
                  <a:tcPr anchor="ctr">
                    <a:lnL>
                      <a:noFill/>
                    </a:lnL>
                    <a:lnR>
                      <a:noFill/>
                    </a:lnR>
                    <a:lnT>
                      <a:noFill/>
                    </a:lnT>
                    <a:lnB>
                      <a:noFill/>
                    </a:lnB>
                  </a:tcPr>
                </a:tc>
                <a:tc>
                  <a:txBody>
                    <a:bodyPr/>
                    <a:lstStyle/>
                    <a:p>
                      <a:r>
                        <a:rPr lang="en-US" sz="2400" dirty="0"/>
                        <a:t>SELECT f2 FROM </a:t>
                      </a:r>
                      <a:r>
                        <a:rPr lang="en-US" sz="2400" dirty="0" smtClean="0"/>
                        <a:t>tbl1</a:t>
                      </a:r>
                      <a:endParaRPr lang="ru-RU" sz="2400" dirty="0" smtClean="0"/>
                    </a:p>
                    <a:p>
                      <a:r>
                        <a:rPr lang="ru-RU" sz="2400" dirty="0" smtClean="0"/>
                        <a:t>     </a:t>
                      </a:r>
                      <a:r>
                        <a:rPr lang="en-US" sz="2400" dirty="0" smtClean="0"/>
                        <a:t> </a:t>
                      </a:r>
                      <a:r>
                        <a:rPr lang="en-US" sz="2400" dirty="0"/>
                        <a:t>WHERE </a:t>
                      </a:r>
                      <a:r>
                        <a:rPr lang="en-US" sz="2400" dirty="0" smtClean="0"/>
                        <a:t>f1</a:t>
                      </a:r>
                      <a:r>
                        <a:rPr lang="ru-RU" sz="2400" dirty="0" smtClean="0"/>
                        <a:t> </a:t>
                      </a:r>
                      <a:r>
                        <a:rPr lang="en-US" sz="2400" dirty="0" smtClean="0"/>
                        <a:t>=</a:t>
                      </a:r>
                      <a:r>
                        <a:rPr lang="ru-RU" sz="2400" dirty="0" smtClean="0"/>
                        <a:t> </a:t>
                      </a:r>
                      <a:r>
                        <a:rPr lang="en-US" sz="2400" dirty="0" smtClean="0"/>
                        <a:t>1</a:t>
                      </a:r>
                      <a:endParaRPr lang="en-US" sz="24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Фантомное чтение</a:t>
            </a:r>
            <a:endParaRPr lang="ru-RU" dirty="0"/>
          </a:p>
        </p:txBody>
      </p:sp>
      <p:sp>
        <p:nvSpPr>
          <p:cNvPr id="3" name="Содержимое 2"/>
          <p:cNvSpPr>
            <a:spLocks noGrp="1"/>
          </p:cNvSpPr>
          <p:nvPr>
            <p:ph idx="1"/>
          </p:nvPr>
        </p:nvSpPr>
        <p:spPr>
          <a:xfrm>
            <a:off x="611560" y="1412776"/>
            <a:ext cx="8208912" cy="2232248"/>
          </a:xfrm>
        </p:spPr>
        <p:txBody>
          <a:bodyPr>
            <a:normAutofit fontScale="92500" lnSpcReduction="10000"/>
          </a:bodyPr>
          <a:lstStyle/>
          <a:p>
            <a:pPr marL="0" indent="0">
              <a:buNone/>
            </a:pPr>
            <a:r>
              <a:rPr lang="ru-RU" dirty="0" smtClean="0"/>
              <a:t>При повторном чтении в рамках одной транзакции прочитаны данные(новые "фантомные" строки), которых при предыдущих чтениях не было, хотя они удовлетворяли условиям отбора предыдущего чтения</a:t>
            </a:r>
          </a:p>
        </p:txBody>
      </p:sp>
      <p:graphicFrame>
        <p:nvGraphicFramePr>
          <p:cNvPr id="4" name="Таблица 3"/>
          <p:cNvGraphicFramePr>
            <a:graphicFrameLocks noGrp="1"/>
          </p:cNvGraphicFramePr>
          <p:nvPr/>
        </p:nvGraphicFramePr>
        <p:xfrm>
          <a:off x="899592" y="3789040"/>
          <a:ext cx="7416824" cy="2651760"/>
        </p:xfrm>
        <a:graphic>
          <a:graphicData uri="http://schemas.openxmlformats.org/drawingml/2006/table">
            <a:tbl>
              <a:tblPr/>
              <a:tblGrid>
                <a:gridCol w="3708412"/>
                <a:gridCol w="3708412"/>
              </a:tblGrid>
              <a:tr h="0">
                <a:tc>
                  <a:txBody>
                    <a:bodyPr/>
                    <a:lstStyle/>
                    <a:p>
                      <a:pPr algn="ctr"/>
                      <a:r>
                        <a:rPr lang="ru-RU" sz="2400" dirty="0"/>
                        <a:t>Транзакция 1</a:t>
                      </a:r>
                    </a:p>
                  </a:txBody>
                  <a:tcPr anchor="ctr">
                    <a:lnL>
                      <a:noFill/>
                    </a:lnL>
                    <a:lnR>
                      <a:noFill/>
                    </a:lnR>
                    <a:lnT>
                      <a:noFill/>
                    </a:lnT>
                    <a:lnB>
                      <a:noFill/>
                    </a:lnB>
                  </a:tcPr>
                </a:tc>
                <a:tc>
                  <a:txBody>
                    <a:bodyPr/>
                    <a:lstStyle/>
                    <a:p>
                      <a:pPr algn="ctr"/>
                      <a:r>
                        <a:rPr lang="ru-RU" sz="2400" dirty="0"/>
                        <a:t>Транзакция 2</a:t>
                      </a:r>
                    </a:p>
                  </a:txBody>
                  <a:tcPr anchor="ctr">
                    <a:lnL>
                      <a:noFill/>
                    </a:lnL>
                    <a:lnR>
                      <a:noFill/>
                    </a:lnR>
                    <a:lnT>
                      <a:noFill/>
                    </a:lnT>
                    <a:lnB>
                      <a:noFill/>
                    </a:lnB>
                  </a:tcPr>
                </a:tc>
              </a:tr>
              <a:tr h="0">
                <a:tc>
                  <a:txBody>
                    <a:bodyPr/>
                    <a:lstStyle/>
                    <a:p>
                      <a:endParaRPr lang="ru-RU" sz="2400"/>
                    </a:p>
                  </a:txBody>
                  <a:tcPr anchor="ctr">
                    <a:lnL>
                      <a:noFill/>
                    </a:lnL>
                    <a:lnR>
                      <a:noFill/>
                    </a:lnR>
                    <a:lnT>
                      <a:noFill/>
                    </a:lnT>
                    <a:lnB>
                      <a:noFill/>
                    </a:lnB>
                  </a:tcPr>
                </a:tc>
                <a:tc>
                  <a:txBody>
                    <a:bodyPr/>
                    <a:lstStyle/>
                    <a:p>
                      <a:r>
                        <a:rPr lang="en-US" sz="2400" dirty="0"/>
                        <a:t>SELECT SUM(f2) FROM </a:t>
                      </a:r>
                      <a:r>
                        <a:rPr lang="en-US" sz="2400" dirty="0" smtClean="0"/>
                        <a:t>tbl1</a:t>
                      </a:r>
                      <a:endParaRPr lang="en-US" sz="2400" dirty="0"/>
                    </a:p>
                  </a:txBody>
                  <a:tcPr anchor="ctr">
                    <a:lnL>
                      <a:noFill/>
                    </a:lnL>
                    <a:lnR>
                      <a:noFill/>
                    </a:lnR>
                    <a:lnT>
                      <a:noFill/>
                    </a:lnT>
                    <a:lnB>
                      <a:noFill/>
                    </a:lnB>
                  </a:tcPr>
                </a:tc>
              </a:tr>
              <a:tr h="0">
                <a:tc>
                  <a:txBody>
                    <a:bodyPr/>
                    <a:lstStyle/>
                    <a:p>
                      <a:r>
                        <a:rPr lang="en-US" sz="2400" dirty="0"/>
                        <a:t>INSERT INTO tbl1 (f1,f2</a:t>
                      </a:r>
                      <a:r>
                        <a:rPr lang="en-US" sz="2400" dirty="0" smtClean="0"/>
                        <a:t>)</a:t>
                      </a:r>
                      <a:endParaRPr lang="ru-RU" sz="2400" dirty="0" smtClean="0"/>
                    </a:p>
                    <a:p>
                      <a:r>
                        <a:rPr lang="ru-RU" sz="2400" dirty="0" smtClean="0"/>
                        <a:t>    </a:t>
                      </a:r>
                      <a:r>
                        <a:rPr lang="en-US" sz="2400" dirty="0" smtClean="0"/>
                        <a:t> </a:t>
                      </a:r>
                      <a:r>
                        <a:rPr lang="en-US" sz="2400" dirty="0"/>
                        <a:t>VALUES (15,20</a:t>
                      </a:r>
                      <a:r>
                        <a:rPr lang="en-US" sz="2400" dirty="0" smtClean="0"/>
                        <a:t>)</a:t>
                      </a:r>
                      <a:endParaRPr lang="en-US" sz="2400" dirty="0"/>
                    </a:p>
                  </a:txBody>
                  <a:tcPr anchor="ctr">
                    <a:lnL>
                      <a:noFill/>
                    </a:lnL>
                    <a:lnR>
                      <a:noFill/>
                    </a:lnR>
                    <a:lnT>
                      <a:noFill/>
                    </a:lnT>
                    <a:lnB>
                      <a:noFill/>
                    </a:lnB>
                  </a:tcPr>
                </a:tc>
                <a:tc>
                  <a:txBody>
                    <a:bodyPr/>
                    <a:lstStyle/>
                    <a:p>
                      <a:endParaRPr lang="ru-RU" sz="2400" dirty="0"/>
                    </a:p>
                  </a:txBody>
                  <a:tcPr anchor="ctr">
                    <a:lnL>
                      <a:noFill/>
                    </a:lnL>
                    <a:lnR>
                      <a:noFill/>
                    </a:lnR>
                    <a:lnT>
                      <a:noFill/>
                    </a:lnT>
                    <a:lnB>
                      <a:noFill/>
                    </a:lnB>
                  </a:tcPr>
                </a:tc>
              </a:tr>
              <a:tr h="0">
                <a:tc>
                  <a:txBody>
                    <a:bodyPr/>
                    <a:lstStyle/>
                    <a:p>
                      <a:r>
                        <a:rPr lang="en-US" sz="2400" dirty="0" smtClean="0"/>
                        <a:t>COMMIT</a:t>
                      </a:r>
                      <a:endParaRPr lang="en-US" sz="2400" dirty="0"/>
                    </a:p>
                  </a:txBody>
                  <a:tcPr anchor="ctr">
                    <a:lnL>
                      <a:noFill/>
                    </a:lnL>
                    <a:lnR>
                      <a:noFill/>
                    </a:lnR>
                    <a:lnT>
                      <a:noFill/>
                    </a:lnT>
                    <a:lnB>
                      <a:noFill/>
                    </a:lnB>
                  </a:tcPr>
                </a:tc>
                <a:tc>
                  <a:txBody>
                    <a:bodyPr/>
                    <a:lstStyle/>
                    <a:p>
                      <a:endParaRPr lang="ru-RU" sz="2400"/>
                    </a:p>
                  </a:txBody>
                  <a:tcPr anchor="ctr">
                    <a:lnL>
                      <a:noFill/>
                    </a:lnL>
                    <a:lnR>
                      <a:noFill/>
                    </a:lnR>
                    <a:lnT>
                      <a:noFill/>
                    </a:lnT>
                    <a:lnB>
                      <a:noFill/>
                    </a:lnB>
                  </a:tcPr>
                </a:tc>
              </a:tr>
              <a:tr h="0">
                <a:tc>
                  <a:txBody>
                    <a:bodyPr/>
                    <a:lstStyle/>
                    <a:p>
                      <a:endParaRPr lang="ru-RU" sz="2400"/>
                    </a:p>
                  </a:txBody>
                  <a:tcPr anchor="ctr">
                    <a:lnL>
                      <a:noFill/>
                    </a:lnL>
                    <a:lnR>
                      <a:noFill/>
                    </a:lnR>
                    <a:lnT>
                      <a:noFill/>
                    </a:lnT>
                    <a:lnB>
                      <a:noFill/>
                    </a:lnB>
                  </a:tcPr>
                </a:tc>
                <a:tc>
                  <a:txBody>
                    <a:bodyPr/>
                    <a:lstStyle/>
                    <a:p>
                      <a:r>
                        <a:rPr lang="en-US" sz="2400" dirty="0"/>
                        <a:t>SELECT SUM(f2) FROM </a:t>
                      </a:r>
                      <a:r>
                        <a:rPr lang="en-US" sz="2400" dirty="0" smtClean="0"/>
                        <a:t>tbl1</a:t>
                      </a:r>
                      <a:endParaRPr lang="en-US" sz="2400" dirty="0"/>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Уровни изоляции</a:t>
            </a:r>
            <a:endParaRPr lang="ru-RU" dirty="0"/>
          </a:p>
        </p:txBody>
      </p:sp>
      <p:graphicFrame>
        <p:nvGraphicFramePr>
          <p:cNvPr id="4" name="Таблица 3"/>
          <p:cNvGraphicFramePr>
            <a:graphicFrameLocks noGrp="1"/>
          </p:cNvGraphicFramePr>
          <p:nvPr/>
        </p:nvGraphicFramePr>
        <p:xfrm>
          <a:off x="971600" y="1700808"/>
          <a:ext cx="7704856" cy="3528000"/>
        </p:xfrm>
        <a:graphic>
          <a:graphicData uri="http://schemas.openxmlformats.org/drawingml/2006/table">
            <a:tbl>
              <a:tblPr firstRow="1" bandRow="1">
                <a:tableStyleId>{2D5ABB26-0587-4C30-8999-92F81FD0307C}</a:tableStyleId>
              </a:tblPr>
              <a:tblGrid>
                <a:gridCol w="3240360"/>
                <a:gridCol w="4464496"/>
              </a:tblGrid>
              <a:tr h="1044000">
                <a:tc>
                  <a:txBody>
                    <a:bodyPr/>
                    <a:lstStyle/>
                    <a:p>
                      <a:r>
                        <a:rPr lang="ru-RU" sz="2800" dirty="0" err="1" smtClean="0"/>
                        <a:t>Read</a:t>
                      </a:r>
                      <a:r>
                        <a:rPr lang="ru-RU" sz="2800" dirty="0" smtClean="0"/>
                        <a:t> </a:t>
                      </a:r>
                      <a:r>
                        <a:rPr lang="ru-RU" sz="2800" dirty="0" err="1" smtClean="0"/>
                        <a:t>uncommitted</a:t>
                      </a:r>
                      <a:r>
                        <a:rPr lang="ru-RU" sz="2800" dirty="0" smtClean="0"/>
                        <a:t> </a:t>
                      </a:r>
                      <a:endParaRPr lang="ru-RU" sz="2800" dirty="0"/>
                    </a:p>
                  </a:txBody>
                  <a:tcPr/>
                </a:tc>
                <a:tc>
                  <a:txBody>
                    <a:bodyPr/>
                    <a:lstStyle/>
                    <a:p>
                      <a:r>
                        <a:rPr lang="ru-RU" sz="2800" dirty="0" smtClean="0"/>
                        <a:t>чтение незафиксированных данных</a:t>
                      </a:r>
                      <a:endParaRPr lang="ru-RU" sz="2800" dirty="0"/>
                    </a:p>
                  </a:txBody>
                  <a:tcPr/>
                </a:tc>
              </a:tr>
              <a:tr h="1044000">
                <a:tc>
                  <a:txBody>
                    <a:bodyPr/>
                    <a:lstStyle/>
                    <a:p>
                      <a:r>
                        <a:rPr lang="ru-RU" sz="2800" dirty="0" err="1" smtClean="0"/>
                        <a:t>Read</a:t>
                      </a:r>
                      <a:r>
                        <a:rPr lang="ru-RU" sz="2800" dirty="0" smtClean="0"/>
                        <a:t> </a:t>
                      </a:r>
                      <a:r>
                        <a:rPr lang="ru-RU" sz="2800" dirty="0" err="1" smtClean="0"/>
                        <a:t>committed</a:t>
                      </a:r>
                      <a:r>
                        <a:rPr lang="ru-RU" sz="2800" dirty="0" smtClean="0"/>
                        <a:t> </a:t>
                      </a:r>
                      <a:endParaRPr lang="ru-RU"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800" dirty="0" smtClean="0"/>
                        <a:t>чтение фиксированных данных</a:t>
                      </a:r>
                      <a:endParaRPr lang="ru-RU" sz="2800" dirty="0"/>
                    </a:p>
                  </a:txBody>
                  <a:tcPr/>
                </a:tc>
              </a:tr>
              <a:tr h="720000">
                <a:tc>
                  <a:txBody>
                    <a:bodyPr/>
                    <a:lstStyle/>
                    <a:p>
                      <a:r>
                        <a:rPr lang="ru-RU" sz="2800" dirty="0" err="1" smtClean="0"/>
                        <a:t>Repeatable</a:t>
                      </a:r>
                      <a:r>
                        <a:rPr lang="ru-RU" sz="2800" dirty="0" smtClean="0"/>
                        <a:t> </a:t>
                      </a:r>
                      <a:r>
                        <a:rPr lang="ru-RU" sz="2800" dirty="0" err="1" smtClean="0"/>
                        <a:t>read</a:t>
                      </a:r>
                      <a:endParaRPr lang="ru-RU"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800" dirty="0" smtClean="0"/>
                        <a:t>повторяемое чтение</a:t>
                      </a:r>
                      <a:endParaRPr lang="ru-RU" sz="2800" dirty="0"/>
                    </a:p>
                  </a:txBody>
                  <a:tcPr/>
                </a:tc>
              </a:tr>
              <a:tr h="720000">
                <a:tc>
                  <a:txBody>
                    <a:bodyPr/>
                    <a:lstStyle/>
                    <a:p>
                      <a:r>
                        <a:rPr lang="ru-RU" sz="2800" dirty="0" err="1" smtClean="0"/>
                        <a:t>Serializable</a:t>
                      </a:r>
                      <a:endParaRPr lang="ru-RU"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800" dirty="0" smtClean="0"/>
                        <a:t>сериализация транзакций</a:t>
                      </a:r>
                      <a:endParaRPr lang="ru-RU" sz="2800" dirty="0"/>
                    </a:p>
                  </a:txBody>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Read</a:t>
            </a:r>
            <a:r>
              <a:rPr lang="ru-RU" dirty="0" smtClean="0"/>
              <a:t> </a:t>
            </a:r>
            <a:r>
              <a:rPr lang="ru-RU" dirty="0" err="1" smtClean="0"/>
              <a:t>uncommitted</a:t>
            </a:r>
            <a:endParaRPr lang="ru-RU" dirty="0"/>
          </a:p>
        </p:txBody>
      </p:sp>
      <p:sp>
        <p:nvSpPr>
          <p:cNvPr id="3" name="Содержимое 2"/>
          <p:cNvSpPr>
            <a:spLocks noGrp="1"/>
          </p:cNvSpPr>
          <p:nvPr>
            <p:ph idx="1"/>
          </p:nvPr>
        </p:nvSpPr>
        <p:spPr/>
        <p:txBody>
          <a:bodyPr>
            <a:normAutofit/>
          </a:bodyPr>
          <a:lstStyle/>
          <a:p>
            <a:r>
              <a:rPr lang="ru-RU" dirty="0" smtClean="0"/>
              <a:t>Низший уровень изоляции (уровень 0)</a:t>
            </a:r>
          </a:p>
          <a:p>
            <a:r>
              <a:rPr lang="ru-RU" dirty="0" smtClean="0"/>
              <a:t>Гарантирует только отсутствие потерянных обновлений </a:t>
            </a:r>
          </a:p>
          <a:p>
            <a:r>
              <a:rPr lang="ru-RU" dirty="0" smtClean="0"/>
              <a:t>Если несколько транзакций одновременно пытались изменять одну и ту же строку, то в окончательном варианте строка будет иметь значение, определенное последней успешно выполненной транзакцией</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Read</a:t>
            </a:r>
            <a:r>
              <a:rPr lang="ru-RU" dirty="0" smtClean="0"/>
              <a:t> </a:t>
            </a:r>
            <a:r>
              <a:rPr lang="ru-RU" dirty="0" err="1" smtClean="0"/>
              <a:t>committed</a:t>
            </a:r>
            <a:endParaRPr lang="ru-RU" dirty="0"/>
          </a:p>
        </p:txBody>
      </p:sp>
      <p:sp>
        <p:nvSpPr>
          <p:cNvPr id="3" name="Содержимое 2"/>
          <p:cNvSpPr>
            <a:spLocks noGrp="1"/>
          </p:cNvSpPr>
          <p:nvPr>
            <p:ph idx="1"/>
          </p:nvPr>
        </p:nvSpPr>
        <p:spPr/>
        <p:txBody>
          <a:bodyPr>
            <a:normAutofit fontScale="92500" lnSpcReduction="10000"/>
          </a:bodyPr>
          <a:lstStyle/>
          <a:p>
            <a:r>
              <a:rPr lang="ru-RU" dirty="0" smtClean="0"/>
              <a:t>Завершенное чтение, при котором отсутствует черновое, "грязное" чтение (т.е. чтение одним пользователем данных, которые не были зафиксированы в БД командой COMMIT)</a:t>
            </a:r>
          </a:p>
          <a:p>
            <a:r>
              <a:rPr lang="ru-RU" dirty="0" smtClean="0"/>
              <a:t>Тем не менее в процессе работы одной транзакции другая может быть успешно завершена и сделанные ею изменения зафиксированы. В итоге первая транзакция будет работать уже с другим набором данных (проблема неповторяемого чтения)</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Repeatable</a:t>
            </a:r>
            <a:r>
              <a:rPr lang="ru-RU" dirty="0" smtClean="0"/>
              <a:t> </a:t>
            </a:r>
            <a:r>
              <a:rPr lang="ru-RU" dirty="0" err="1" smtClean="0"/>
              <a:t>read</a:t>
            </a:r>
            <a:endParaRPr lang="ru-RU" dirty="0"/>
          </a:p>
        </p:txBody>
      </p:sp>
      <p:sp>
        <p:nvSpPr>
          <p:cNvPr id="3" name="Содержимое 2"/>
          <p:cNvSpPr>
            <a:spLocks noGrp="1"/>
          </p:cNvSpPr>
          <p:nvPr>
            <p:ph idx="1"/>
          </p:nvPr>
        </p:nvSpPr>
        <p:spPr/>
        <p:txBody>
          <a:bodyPr>
            <a:normAutofit/>
          </a:bodyPr>
          <a:lstStyle/>
          <a:p>
            <a:r>
              <a:rPr lang="ru-RU" dirty="0" smtClean="0"/>
              <a:t>Уровень, при котором чтение одной и той же строки или строк в транзакции дает одинаковый результат</a:t>
            </a:r>
          </a:p>
          <a:p>
            <a:r>
              <a:rPr lang="ru-RU" dirty="0" smtClean="0"/>
              <a:t>Пока транзакция не завершена, никакие другие транзакции не могут модифицировать эти данные</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Serializable</a:t>
            </a:r>
            <a:endParaRPr lang="ru-RU" dirty="0"/>
          </a:p>
        </p:txBody>
      </p:sp>
      <p:sp>
        <p:nvSpPr>
          <p:cNvPr id="3" name="Содержимое 2"/>
          <p:cNvSpPr>
            <a:spLocks noGrp="1"/>
          </p:cNvSpPr>
          <p:nvPr>
            <p:ph idx="1"/>
          </p:nvPr>
        </p:nvSpPr>
        <p:spPr/>
        <p:txBody>
          <a:bodyPr>
            <a:normAutofit lnSpcReduction="10000"/>
          </a:bodyPr>
          <a:lstStyle/>
          <a:p>
            <a:r>
              <a:rPr lang="ru-RU" dirty="0" smtClean="0"/>
              <a:t>Самый высокий уровень изолированности –транзакции полностью изолируются друг от друга</a:t>
            </a:r>
          </a:p>
          <a:p>
            <a:r>
              <a:rPr lang="ru-RU" dirty="0" smtClean="0"/>
              <a:t>На этом уровне результаты параллельного выполнения транзакций для базы данных в большинстве случаев можно считать совпадающими с последовательным выполнением тех же транзакций (по очереди в каком-либо порядке)</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570186"/>
          </a:xfrm>
        </p:spPr>
        <p:txBody>
          <a:bodyPr>
            <a:normAutofit/>
          </a:bodyPr>
          <a:lstStyle/>
          <a:p>
            <a:r>
              <a:rPr lang="ru-RU" dirty="0" err="1" smtClean="0"/>
              <a:t>Уровени</a:t>
            </a:r>
            <a:r>
              <a:rPr lang="ru-RU" dirty="0" smtClean="0"/>
              <a:t> изоляции и решаемые проблемы</a:t>
            </a:r>
            <a:endParaRPr lang="ru-RU" dirty="0"/>
          </a:p>
        </p:txBody>
      </p:sp>
      <p:graphicFrame>
        <p:nvGraphicFramePr>
          <p:cNvPr id="4" name="Содержимое 3"/>
          <p:cNvGraphicFramePr>
            <a:graphicFrameLocks noGrp="1"/>
          </p:cNvGraphicFramePr>
          <p:nvPr>
            <p:ph idx="1"/>
          </p:nvPr>
        </p:nvGraphicFramePr>
        <p:xfrm>
          <a:off x="467544" y="2132856"/>
          <a:ext cx="8229600" cy="3828960"/>
        </p:xfrm>
        <a:graphic>
          <a:graphicData uri="http://schemas.openxmlformats.org/drawingml/2006/table">
            <a:tbl>
              <a:tblPr firstRow="1" bandRow="1">
                <a:tableStyleId>{5940675A-B579-460E-94D1-54222C63F5DA}</a:tableStyleId>
              </a:tblPr>
              <a:tblGrid>
                <a:gridCol w="2026568"/>
                <a:gridCol w="1584176"/>
                <a:gridCol w="1584176"/>
                <a:gridCol w="1512168"/>
                <a:gridCol w="1522512"/>
              </a:tblGrid>
              <a:tr h="370840">
                <a:tc>
                  <a:txBody>
                    <a:bodyPr/>
                    <a:lstStyle/>
                    <a:p>
                      <a:pPr algn="ctr"/>
                      <a:r>
                        <a:rPr lang="ru-RU" sz="2000" dirty="0"/>
                        <a:t>Уровень изоляции</a:t>
                      </a:r>
                    </a:p>
                  </a:txBody>
                  <a:tcPr anchor="ctr"/>
                </a:tc>
                <a:tc>
                  <a:txBody>
                    <a:bodyPr/>
                    <a:lstStyle/>
                    <a:p>
                      <a:pPr algn="ctr"/>
                      <a:r>
                        <a:rPr lang="ru-RU" sz="2000"/>
                        <a:t>Фантомная вставка</a:t>
                      </a:r>
                    </a:p>
                  </a:txBody>
                  <a:tcPr anchor="ctr"/>
                </a:tc>
                <a:tc>
                  <a:txBody>
                    <a:bodyPr/>
                    <a:lstStyle/>
                    <a:p>
                      <a:pPr algn="ctr"/>
                      <a:r>
                        <a:rPr lang="ru-RU" sz="2000"/>
                        <a:t>Неповторяющееся чтение</a:t>
                      </a:r>
                    </a:p>
                  </a:txBody>
                  <a:tcPr anchor="ctr"/>
                </a:tc>
                <a:tc>
                  <a:txBody>
                    <a:bodyPr/>
                    <a:lstStyle/>
                    <a:p>
                      <a:pPr algn="ctr"/>
                      <a:r>
                        <a:rPr lang="ru-RU" sz="2000"/>
                        <a:t>«Грязное» чтение</a:t>
                      </a:r>
                    </a:p>
                  </a:txBody>
                  <a:tcPr anchor="ctr"/>
                </a:tc>
                <a:tc>
                  <a:txBody>
                    <a:bodyPr/>
                    <a:lstStyle/>
                    <a:p>
                      <a:pPr algn="ctr"/>
                      <a:r>
                        <a:rPr lang="ru-RU" sz="2000" dirty="0"/>
                        <a:t>Потерянное обновление</a:t>
                      </a:r>
                    </a:p>
                  </a:txBody>
                  <a:tcPr anchor="ctr"/>
                </a:tc>
              </a:tr>
              <a:tr h="370840">
                <a:tc>
                  <a:txBody>
                    <a:bodyPr/>
                    <a:lstStyle/>
                    <a:p>
                      <a:pPr algn="l"/>
                      <a:r>
                        <a:rPr lang="en-US" sz="2000" dirty="0"/>
                        <a:t>READ UNCOMMITTED</a:t>
                      </a:r>
                    </a:p>
                  </a:txBody>
                  <a:tcPr anchor="ctr"/>
                </a:tc>
                <a:tc>
                  <a:txBody>
                    <a:bodyPr/>
                    <a:lstStyle/>
                    <a:p>
                      <a:pPr algn="ctr"/>
                      <a:r>
                        <a:rPr lang="ru-RU" sz="2000" dirty="0"/>
                        <a:t>–</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dirty="0"/>
                        <a:t>+</a:t>
                      </a:r>
                    </a:p>
                  </a:txBody>
                  <a:tcPr anchor="ctr"/>
                </a:tc>
              </a:tr>
              <a:tr h="370840">
                <a:tc>
                  <a:txBody>
                    <a:bodyPr/>
                    <a:lstStyle/>
                    <a:p>
                      <a:pPr algn="l"/>
                      <a:r>
                        <a:rPr lang="en-US" sz="2000" dirty="0"/>
                        <a:t>READ COMMITTED</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dirty="0"/>
                        <a:t>+</a:t>
                      </a:r>
                    </a:p>
                  </a:txBody>
                  <a:tcPr anchor="ctr"/>
                </a:tc>
              </a:tr>
              <a:tr h="370840">
                <a:tc>
                  <a:txBody>
                    <a:bodyPr/>
                    <a:lstStyle/>
                    <a:p>
                      <a:pPr algn="l"/>
                      <a:r>
                        <a:rPr lang="en-US" sz="2000" dirty="0"/>
                        <a:t>REPEATABLE READ</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a:t>+</a:t>
                      </a:r>
                    </a:p>
                  </a:txBody>
                  <a:tcPr anchor="ctr"/>
                </a:tc>
                <a:tc>
                  <a:txBody>
                    <a:bodyPr/>
                    <a:lstStyle/>
                    <a:p>
                      <a:pPr algn="ctr"/>
                      <a:r>
                        <a:rPr lang="ru-RU" sz="2000" dirty="0"/>
                        <a:t>+</a:t>
                      </a:r>
                    </a:p>
                  </a:txBody>
                  <a:tcPr anchor="ctr"/>
                </a:tc>
              </a:tr>
              <a:tr h="720000">
                <a:tc>
                  <a:txBody>
                    <a:bodyPr/>
                    <a:lstStyle/>
                    <a:p>
                      <a:pPr algn="l"/>
                      <a:r>
                        <a:rPr lang="en-US" sz="2000" dirty="0" smtClean="0"/>
                        <a:t>SERIALIZABLE</a:t>
                      </a:r>
                      <a:endParaRPr lang="ru-RU" sz="2000" dirty="0" smtClean="0"/>
                    </a:p>
                  </a:txBody>
                  <a:tcPr anchor="ctr"/>
                </a:tc>
                <a:tc>
                  <a:txBody>
                    <a:bodyPr/>
                    <a:lstStyle/>
                    <a:p>
                      <a:pPr algn="ctr"/>
                      <a:r>
                        <a:rPr lang="ru-RU" sz="2000"/>
                        <a:t>+</a:t>
                      </a:r>
                    </a:p>
                  </a:txBody>
                  <a:tcPr anchor="ctr"/>
                </a:tc>
                <a:tc>
                  <a:txBody>
                    <a:bodyPr/>
                    <a:lstStyle/>
                    <a:p>
                      <a:pPr algn="ctr"/>
                      <a:r>
                        <a:rPr lang="ru-RU" sz="2000" dirty="0"/>
                        <a:t>+</a:t>
                      </a:r>
                    </a:p>
                  </a:txBody>
                  <a:tcPr anchor="ctr"/>
                </a:tc>
                <a:tc>
                  <a:txBody>
                    <a:bodyPr/>
                    <a:lstStyle/>
                    <a:p>
                      <a:pPr algn="ctr"/>
                      <a:r>
                        <a:rPr lang="ru-RU" sz="2000"/>
                        <a:t>+</a:t>
                      </a:r>
                    </a:p>
                  </a:txBody>
                  <a:tcPr anchor="ctr"/>
                </a:tc>
                <a:tc>
                  <a:txBody>
                    <a:bodyPr/>
                    <a:lstStyle/>
                    <a:p>
                      <a:pPr algn="ctr"/>
                      <a:r>
                        <a:rPr lang="ru-RU" sz="2000" dirty="0"/>
                        <a:t>+</a:t>
                      </a:r>
                    </a:p>
                  </a:txBody>
                  <a:tcPr anchor="ct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7</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Механизм блокировок</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Применение блокировок</a:t>
            </a:r>
            <a:endParaRPr lang="ru-RU" dirty="0"/>
          </a:p>
        </p:txBody>
      </p:sp>
      <p:sp>
        <p:nvSpPr>
          <p:cNvPr id="3" name="Содержимое 2"/>
          <p:cNvSpPr>
            <a:spLocks noGrp="1"/>
          </p:cNvSpPr>
          <p:nvPr>
            <p:ph idx="1"/>
          </p:nvPr>
        </p:nvSpPr>
        <p:spPr>
          <a:xfrm>
            <a:off x="457200" y="1600200"/>
            <a:ext cx="8229600" cy="4925144"/>
          </a:xfrm>
        </p:spPr>
        <p:txBody>
          <a:bodyPr>
            <a:normAutofit fontScale="92500" lnSpcReduction="20000"/>
          </a:bodyPr>
          <a:lstStyle/>
          <a:p>
            <a:r>
              <a:rPr lang="ru-RU" dirty="0" smtClean="0"/>
              <a:t>На время выполнения транзакции СУБД блокирует часть БД к которой транзакция обращается</a:t>
            </a:r>
          </a:p>
          <a:p>
            <a:r>
              <a:rPr lang="ru-RU" dirty="0" smtClean="0"/>
              <a:t>Блокировка сохраняется до момента фиксации или отката транзакции</a:t>
            </a:r>
          </a:p>
          <a:p>
            <a:r>
              <a:rPr lang="ru-RU" dirty="0" smtClean="0"/>
              <a:t>Если в процессе параллельной обработки другой транзакции делается попытка обратиться к блокированным данным, обработка транзакции приостанавливается и возобновляется только после завершения транзакции, заблокировавшей данные и снятия блокировки</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Объекты блокировок</a:t>
            </a:r>
            <a:endParaRPr lang="ru-RU" dirty="0"/>
          </a:p>
        </p:txBody>
      </p:sp>
      <p:sp>
        <p:nvSpPr>
          <p:cNvPr id="3" name="Содержимое 2"/>
          <p:cNvSpPr>
            <a:spLocks noGrp="1"/>
          </p:cNvSpPr>
          <p:nvPr>
            <p:ph idx="1"/>
          </p:nvPr>
        </p:nvSpPr>
        <p:spPr>
          <a:xfrm>
            <a:off x="1547664" y="1600200"/>
            <a:ext cx="7139136" cy="4525963"/>
          </a:xfrm>
        </p:spPr>
        <p:txBody>
          <a:bodyPr>
            <a:normAutofit/>
          </a:bodyPr>
          <a:lstStyle/>
          <a:p>
            <a:r>
              <a:rPr lang="ru-RU" dirty="0" smtClean="0"/>
              <a:t>БД целиком</a:t>
            </a:r>
          </a:p>
          <a:p>
            <a:r>
              <a:rPr lang="ru-RU" dirty="0" smtClean="0"/>
              <a:t>Отдельная таблица БД</a:t>
            </a:r>
          </a:p>
          <a:p>
            <a:r>
              <a:rPr lang="ru-RU" dirty="0" smtClean="0"/>
              <a:t>Группа строк в таблице</a:t>
            </a:r>
          </a:p>
          <a:p>
            <a:r>
              <a:rPr lang="ru-RU" dirty="0" smtClean="0"/>
              <a:t>Отдельная строка таблице</a:t>
            </a:r>
            <a:endParaRPr lang="ru-RU"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Влияние не производительность</a:t>
            </a:r>
            <a:endParaRPr lang="ru-RU" dirty="0"/>
          </a:p>
        </p:txBody>
      </p:sp>
      <p:sp>
        <p:nvSpPr>
          <p:cNvPr id="3" name="Содержимое 2"/>
          <p:cNvSpPr>
            <a:spLocks noGrp="1"/>
          </p:cNvSpPr>
          <p:nvPr>
            <p:ph idx="1"/>
          </p:nvPr>
        </p:nvSpPr>
        <p:spPr/>
        <p:txBody>
          <a:bodyPr>
            <a:normAutofit fontScale="92500"/>
          </a:bodyPr>
          <a:lstStyle/>
          <a:p>
            <a:r>
              <a:rPr lang="ru-RU" dirty="0" smtClean="0"/>
              <a:t>Очевидно, что чем больше блокируемый элемент данных, тем медленнее СУБД обрабатывает транзакции – велико время ожидания снятия блокировок</a:t>
            </a:r>
          </a:p>
          <a:p>
            <a:r>
              <a:rPr lang="ru-RU" dirty="0" smtClean="0"/>
              <a:t>Как правило, реализуется блокировка на уровне отдельных строк: в этом случае можно добиться максимальной производительности за счет того, что блокируемый объект – минимальная структурная единица БД </a:t>
            </a:r>
          </a:p>
          <a:p>
            <a:endParaRPr lang="ru-RU"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Взаимная блокировка</a:t>
            </a:r>
            <a:endParaRPr lang="ru-RU" dirty="0"/>
          </a:p>
        </p:txBody>
      </p:sp>
      <p:graphicFrame>
        <p:nvGraphicFramePr>
          <p:cNvPr id="4" name="Содержимое 3"/>
          <p:cNvGraphicFramePr>
            <a:graphicFrameLocks noGrp="1"/>
          </p:cNvGraphicFramePr>
          <p:nvPr>
            <p:ph idx="1"/>
          </p:nvPr>
        </p:nvGraphicFramePr>
        <p:xfrm>
          <a:off x="1043608" y="1628800"/>
          <a:ext cx="6768751" cy="4017641"/>
        </p:xfrm>
        <a:graphic>
          <a:graphicData uri="http://schemas.openxmlformats.org/drawingml/2006/table">
            <a:tbl>
              <a:tblPr firstRow="1" bandRow="1">
                <a:tableStyleId>{2D5ABB26-0587-4C30-8999-92F81FD0307C}</a:tableStyleId>
              </a:tblPr>
              <a:tblGrid>
                <a:gridCol w="966964"/>
                <a:gridCol w="3209500"/>
                <a:gridCol w="2592287"/>
              </a:tblGrid>
              <a:tr h="892696">
                <a:tc>
                  <a:txBody>
                    <a:bodyPr/>
                    <a:lstStyle/>
                    <a:p>
                      <a:pPr algn="ctr"/>
                      <a:endParaRPr lang="ru-RU" sz="2800" baseline="-25000" dirty="0"/>
                    </a:p>
                  </a:txBody>
                  <a:tcPr/>
                </a:tc>
                <a:tc>
                  <a:txBody>
                    <a:bodyPr/>
                    <a:lstStyle/>
                    <a:p>
                      <a:pPr algn="ctr"/>
                      <a:r>
                        <a:rPr lang="en-US" sz="2800" dirty="0" smtClean="0"/>
                        <a:t>T</a:t>
                      </a:r>
                      <a:r>
                        <a:rPr lang="en-US" sz="2800" baseline="-25000" dirty="0" smtClean="0"/>
                        <a:t>1</a:t>
                      </a:r>
                      <a:endParaRPr lang="ru-RU" sz="2800" baseline="-25000" dirty="0"/>
                    </a:p>
                  </a:txBody>
                  <a:tcPr/>
                </a:tc>
                <a:tc>
                  <a:txBody>
                    <a:bodyPr/>
                    <a:lstStyle/>
                    <a:p>
                      <a:pPr algn="ctr"/>
                      <a:r>
                        <a:rPr lang="en-US" sz="2800" dirty="0" smtClean="0"/>
                        <a:t>T</a:t>
                      </a:r>
                      <a:r>
                        <a:rPr lang="en-US" sz="2800" baseline="-25000" dirty="0" smtClean="0"/>
                        <a:t>2</a:t>
                      </a:r>
                      <a:endParaRPr lang="ru-RU" sz="2800" baseline="-25000" dirty="0"/>
                    </a:p>
                  </a:txBody>
                  <a:tcPr/>
                </a:tc>
              </a:tr>
              <a:tr h="624989">
                <a:tc>
                  <a:txBody>
                    <a:bodyPr/>
                    <a:lstStyle/>
                    <a:p>
                      <a:pPr algn="ctr"/>
                      <a:r>
                        <a:rPr lang="en-US" sz="2800" baseline="0" dirty="0" smtClean="0"/>
                        <a:t>t</a:t>
                      </a:r>
                      <a:r>
                        <a:rPr lang="en-US" sz="2800" baseline="-25000" dirty="0" smtClean="0"/>
                        <a:t>1</a:t>
                      </a:r>
                      <a:endParaRPr lang="ru-RU" sz="2800" baseline="-25000" dirty="0"/>
                    </a:p>
                  </a:txBody>
                  <a:tcPr/>
                </a:tc>
                <a:tc>
                  <a:txBody>
                    <a:bodyPr/>
                    <a:lstStyle/>
                    <a:p>
                      <a:pPr algn="ctr"/>
                      <a:r>
                        <a:rPr lang="en-US" sz="2800" dirty="0" smtClean="0"/>
                        <a:t>UPDATE O</a:t>
                      </a:r>
                      <a:r>
                        <a:rPr lang="en-US" sz="2800" baseline="-25000" dirty="0" smtClean="0"/>
                        <a:t>1</a:t>
                      </a:r>
                      <a:endParaRPr lang="ru-RU" sz="2800" baseline="-25000" dirty="0"/>
                    </a:p>
                  </a:txBody>
                  <a:tcPr/>
                </a:tc>
                <a:tc>
                  <a:txBody>
                    <a:bodyPr/>
                    <a:lstStyle/>
                    <a:p>
                      <a:pPr algn="ctr"/>
                      <a:r>
                        <a:rPr lang="ru-RU" sz="2800" dirty="0" smtClean="0"/>
                        <a:t>…</a:t>
                      </a:r>
                      <a:endParaRPr lang="ru-RU" sz="2800" dirty="0"/>
                    </a:p>
                  </a:txBody>
                  <a:tcPr/>
                </a:tc>
              </a:tr>
              <a:tr h="624989">
                <a:tc>
                  <a:txBody>
                    <a:bodyPr/>
                    <a:lstStyle/>
                    <a:p>
                      <a:pPr algn="ctr"/>
                      <a:r>
                        <a:rPr lang="en-US" sz="2800" baseline="0" dirty="0" smtClean="0"/>
                        <a:t>t</a:t>
                      </a:r>
                      <a:r>
                        <a:rPr lang="en-US" sz="2800" baseline="-25000" dirty="0" smtClean="0"/>
                        <a:t>2</a:t>
                      </a:r>
                      <a:endParaRPr lang="ru-RU" sz="2800" dirty="0"/>
                    </a:p>
                  </a:txBody>
                  <a:tcPr/>
                </a:tc>
                <a:tc>
                  <a:txBody>
                    <a:bodyPr/>
                    <a:lstStyle/>
                    <a:p>
                      <a:pPr algn="ctr"/>
                      <a:r>
                        <a:rPr lang="ru-RU" sz="2800" dirty="0" smtClean="0"/>
                        <a:t>…</a:t>
                      </a:r>
                      <a:endParaRPr lang="ru-RU" sz="2800" dirty="0"/>
                    </a:p>
                  </a:txBody>
                  <a:tcPr/>
                </a:tc>
                <a:tc>
                  <a:txBody>
                    <a:bodyPr/>
                    <a:lstStyle/>
                    <a:p>
                      <a:pPr algn="ctr"/>
                      <a:r>
                        <a:rPr lang="en-US" sz="2800" dirty="0" smtClean="0"/>
                        <a:t>UPDATE O</a:t>
                      </a:r>
                      <a:r>
                        <a:rPr lang="en-US" sz="2800" baseline="-25000" dirty="0" smtClean="0"/>
                        <a:t>2</a:t>
                      </a:r>
                      <a:endParaRPr lang="ru-RU" sz="2800" baseline="-25000" dirty="0"/>
                    </a:p>
                  </a:txBody>
                  <a:tcPr/>
                </a:tc>
              </a:tr>
              <a:tr h="624989">
                <a:tc>
                  <a:txBody>
                    <a:bodyPr/>
                    <a:lstStyle/>
                    <a:p>
                      <a:pPr algn="ctr"/>
                      <a:r>
                        <a:rPr lang="en-US" sz="2800" baseline="0" dirty="0" smtClean="0"/>
                        <a:t>t</a:t>
                      </a:r>
                      <a:r>
                        <a:rPr lang="en-US" sz="2800" baseline="-25000" dirty="0" smtClean="0"/>
                        <a:t>3</a:t>
                      </a:r>
                      <a:endParaRPr lang="ru-RU" sz="2800" baseline="-25000" dirty="0"/>
                    </a:p>
                  </a:txBody>
                  <a:tcPr/>
                </a:tc>
                <a:tc>
                  <a:txBody>
                    <a:bodyPr/>
                    <a:lstStyle/>
                    <a:p>
                      <a:pPr algn="ctr"/>
                      <a:r>
                        <a:rPr lang="en-US" sz="2800" dirty="0" smtClean="0"/>
                        <a:t>SELECT O</a:t>
                      </a:r>
                      <a:r>
                        <a:rPr lang="en-US" sz="2800" baseline="-25000" dirty="0" smtClean="0"/>
                        <a:t>2</a:t>
                      </a:r>
                      <a:endParaRPr lang="ru-RU" sz="2800" baseline="-25000" dirty="0"/>
                    </a:p>
                  </a:txBody>
                  <a:tcPr/>
                </a:tc>
                <a:tc>
                  <a:txBody>
                    <a:bodyPr/>
                    <a:lstStyle/>
                    <a:p>
                      <a:pPr algn="ctr"/>
                      <a:r>
                        <a:rPr lang="ru-RU" sz="2800" dirty="0" smtClean="0"/>
                        <a:t>…</a:t>
                      </a:r>
                      <a:endParaRPr lang="ru-RU" sz="2800" dirty="0"/>
                    </a:p>
                  </a:txBody>
                  <a:tcPr/>
                </a:tc>
              </a:tr>
              <a:tr h="624989">
                <a:tc>
                  <a:txBody>
                    <a:bodyPr/>
                    <a:lstStyle/>
                    <a:p>
                      <a:pPr algn="ctr"/>
                      <a:r>
                        <a:rPr lang="en-US" sz="2800" baseline="0" dirty="0" smtClean="0"/>
                        <a:t>t</a:t>
                      </a:r>
                      <a:r>
                        <a:rPr lang="en-US" sz="2800" baseline="-25000" dirty="0" smtClean="0"/>
                        <a:t>4</a:t>
                      </a:r>
                      <a:endParaRPr lang="ru-RU" sz="2800" dirty="0"/>
                    </a:p>
                  </a:txBody>
                  <a:tcPr/>
                </a:tc>
                <a:tc>
                  <a:txBody>
                    <a:bodyPr/>
                    <a:lstStyle/>
                    <a:p>
                      <a:pPr algn="ctr"/>
                      <a:r>
                        <a:rPr lang="ru-RU" sz="2800" dirty="0" smtClean="0"/>
                        <a:t>ожидание </a:t>
                      </a:r>
                      <a:r>
                        <a:rPr lang="en-US" sz="2800" dirty="0" smtClean="0"/>
                        <a:t>O</a:t>
                      </a:r>
                      <a:r>
                        <a:rPr lang="en-US" sz="2800" baseline="-25000" dirty="0" smtClean="0"/>
                        <a:t>2</a:t>
                      </a:r>
                      <a:endParaRPr lang="ru-RU" sz="2800" dirty="0"/>
                    </a:p>
                  </a:txBody>
                  <a:tcPr/>
                </a:tc>
                <a:tc>
                  <a:txBody>
                    <a:bodyPr/>
                    <a:lstStyle/>
                    <a:p>
                      <a:pPr algn="ctr"/>
                      <a:r>
                        <a:rPr lang="en-US" sz="2800" dirty="0" smtClean="0"/>
                        <a:t>SELECT</a:t>
                      </a:r>
                      <a:r>
                        <a:rPr lang="en-US" sz="2800" baseline="0" dirty="0" smtClean="0"/>
                        <a:t> O</a:t>
                      </a:r>
                      <a:r>
                        <a:rPr lang="en-US" sz="2800" baseline="-25000" dirty="0" smtClean="0"/>
                        <a:t>1</a:t>
                      </a:r>
                      <a:endParaRPr lang="ru-RU" sz="2800" baseline="-25000" dirty="0"/>
                    </a:p>
                  </a:txBody>
                  <a:tcPr/>
                </a:tc>
              </a:tr>
              <a:tr h="624989">
                <a:tc>
                  <a:txBody>
                    <a:bodyPr/>
                    <a:lstStyle/>
                    <a:p>
                      <a:pPr algn="ctr"/>
                      <a:r>
                        <a:rPr lang="en-US" sz="2800" baseline="0" dirty="0" smtClean="0"/>
                        <a:t>t</a:t>
                      </a:r>
                      <a:r>
                        <a:rPr lang="ru-RU" sz="2800" baseline="-25000" dirty="0" smtClean="0"/>
                        <a:t>5</a:t>
                      </a:r>
                      <a:endParaRPr lang="ru-RU" sz="2800" dirty="0"/>
                    </a:p>
                  </a:txBody>
                  <a:tcPr/>
                </a:tc>
                <a:tc>
                  <a:txBody>
                    <a:bodyPr/>
                    <a:lstStyle/>
                    <a:p>
                      <a:pPr algn="ctr"/>
                      <a:r>
                        <a:rPr lang="ru-RU" sz="2800" dirty="0" smtClean="0"/>
                        <a:t>ожидание </a:t>
                      </a:r>
                      <a:r>
                        <a:rPr lang="en-US" sz="2800" dirty="0" smtClean="0"/>
                        <a:t>O</a:t>
                      </a:r>
                      <a:r>
                        <a:rPr lang="en-US" sz="2800" baseline="-25000" dirty="0" smtClean="0"/>
                        <a:t>2</a:t>
                      </a:r>
                      <a:endParaRPr lang="ru-RU" sz="2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ru-RU" sz="2800" dirty="0" smtClean="0"/>
                        <a:t>ожидание </a:t>
                      </a:r>
                      <a:r>
                        <a:rPr lang="en-US" sz="2800" dirty="0" smtClean="0"/>
                        <a:t>O</a:t>
                      </a:r>
                      <a:r>
                        <a:rPr lang="ru-RU" sz="2800" baseline="-25000" dirty="0" smtClean="0"/>
                        <a:t>1</a:t>
                      </a:r>
                      <a:endParaRPr lang="ru-RU" sz="2800" dirty="0" smtClean="0"/>
                    </a:p>
                  </a:txBody>
                  <a:tcPr/>
                </a:tc>
              </a:tr>
            </a:tbl>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Предотвращение тупиков</a:t>
            </a:r>
            <a:endParaRPr lang="ru-RU" dirty="0"/>
          </a:p>
        </p:txBody>
      </p:sp>
      <p:sp>
        <p:nvSpPr>
          <p:cNvPr id="3" name="Содержимое 2"/>
          <p:cNvSpPr>
            <a:spLocks noGrp="1"/>
          </p:cNvSpPr>
          <p:nvPr>
            <p:ph idx="1"/>
          </p:nvPr>
        </p:nvSpPr>
        <p:spPr>
          <a:xfrm>
            <a:off x="457200" y="1600200"/>
            <a:ext cx="8229600" cy="4781128"/>
          </a:xfrm>
        </p:spPr>
        <p:txBody>
          <a:bodyPr>
            <a:normAutofit fontScale="92500" lnSpcReduction="20000"/>
          </a:bodyPr>
          <a:lstStyle/>
          <a:p>
            <a:r>
              <a:rPr lang="ru-RU" dirty="0" smtClean="0"/>
              <a:t>Для предотвращения тупиковых ситуаций СУБД периодически проверяет блокировки, установленные выполняющимися транзакциями</a:t>
            </a:r>
            <a:endParaRPr lang="en-US" dirty="0" smtClean="0"/>
          </a:p>
          <a:p>
            <a:r>
              <a:rPr lang="ru-RU" dirty="0" smtClean="0"/>
              <a:t>Если обнаруживается ситуация взаимоблокировки, то одна из транзакций, вызвавших эту ситуацию прерывается</a:t>
            </a:r>
            <a:endParaRPr lang="en-US" dirty="0" smtClean="0"/>
          </a:p>
          <a:p>
            <a:r>
              <a:rPr lang="ru-RU" dirty="0" smtClean="0"/>
              <a:t>Программа, которая сгенерировала прерванную транзакцию, получает сообщение об ошибке</a:t>
            </a:r>
            <a:endParaRPr lang="en-US" dirty="0" smtClean="0"/>
          </a:p>
          <a:p>
            <a:r>
              <a:rPr lang="ru-RU" dirty="0" smtClean="0"/>
              <a:t>Вторая транзакция продолжает выполняться в штатном режиме</a:t>
            </a:r>
          </a:p>
          <a:p>
            <a:endParaRPr lang="ru-RU"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a:t>
            </a:r>
            <a:r>
              <a:rPr lang="en-US" dirty="0" smtClean="0"/>
              <a:t>8</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Распределенная транзакция</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Определение</a:t>
            </a:r>
            <a:endParaRPr lang="ru-RU" dirty="0"/>
          </a:p>
        </p:txBody>
      </p:sp>
      <p:sp>
        <p:nvSpPr>
          <p:cNvPr id="3" name="Содержимое 2"/>
          <p:cNvSpPr>
            <a:spLocks noGrp="1"/>
          </p:cNvSpPr>
          <p:nvPr>
            <p:ph idx="1"/>
          </p:nvPr>
        </p:nvSpPr>
        <p:spPr/>
        <p:txBody>
          <a:bodyPr>
            <a:normAutofit lnSpcReduction="10000"/>
          </a:bodyPr>
          <a:lstStyle/>
          <a:p>
            <a:r>
              <a:rPr lang="ru-RU" dirty="0" smtClean="0"/>
              <a:t>Транзакция, обновляющая данные на нескольких узлах сети называется </a:t>
            </a:r>
            <a:r>
              <a:rPr lang="ru-RU" i="1" dirty="0" smtClean="0"/>
              <a:t>распределенной</a:t>
            </a:r>
          </a:p>
          <a:p>
            <a:r>
              <a:rPr lang="ru-RU" dirty="0" smtClean="0"/>
              <a:t>Если транзакция работает с БД, расположенной на одном узле, то ее называют </a:t>
            </a:r>
            <a:r>
              <a:rPr lang="ru-RU" i="1" dirty="0" smtClean="0"/>
              <a:t>локальной</a:t>
            </a:r>
          </a:p>
          <a:p>
            <a:r>
              <a:rPr lang="ru-RU" dirty="0" smtClean="0"/>
              <a:t>Таким образом, логически распределенная транзакция состоит из </a:t>
            </a:r>
            <a:r>
              <a:rPr lang="ru-RU" smtClean="0"/>
              <a:t>нескольких локальных</a:t>
            </a:r>
            <a:endParaRPr lang="ru-RU" dirty="0" smtClean="0"/>
          </a:p>
          <a:p>
            <a:endParaRPr lang="ru-RU"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426170"/>
          </a:xfrm>
        </p:spPr>
        <p:txBody>
          <a:bodyPr>
            <a:normAutofit fontScale="90000"/>
          </a:bodyPr>
          <a:lstStyle/>
          <a:p>
            <a:r>
              <a:rPr lang="ru-RU" dirty="0" smtClean="0"/>
              <a:t>Требования к распределенным транзакциям</a:t>
            </a:r>
            <a:endParaRPr lang="ru-RU" dirty="0"/>
          </a:p>
        </p:txBody>
      </p:sp>
      <p:sp>
        <p:nvSpPr>
          <p:cNvPr id="3" name="Содержимое 2"/>
          <p:cNvSpPr>
            <a:spLocks noGrp="1"/>
          </p:cNvSpPr>
          <p:nvPr>
            <p:ph idx="1"/>
          </p:nvPr>
        </p:nvSpPr>
        <p:spPr>
          <a:xfrm>
            <a:off x="457200" y="1844824"/>
            <a:ext cx="8229600" cy="4281339"/>
          </a:xfrm>
        </p:spPr>
        <p:txBody>
          <a:bodyPr/>
          <a:lstStyle/>
          <a:p>
            <a:r>
              <a:rPr lang="ru-RU" dirty="0" smtClean="0"/>
              <a:t>Распределенная транзакция должна фиксироваться только в случае, когда зафиксированы все локальные транзакции ее составляющие</a:t>
            </a:r>
          </a:p>
          <a:p>
            <a:r>
              <a:rPr lang="ru-RU" dirty="0" smtClean="0"/>
              <a:t>Если прерывается хотя бы одна из локальных транзакций, должна быть прервана и распределенная транзакция</a:t>
            </a:r>
            <a:endParaRPr lang="ru-RU"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Двухфазная фиксация (1/2)</a:t>
            </a:r>
            <a:endParaRPr lang="ru-RU" dirty="0"/>
          </a:p>
        </p:txBody>
      </p:sp>
      <p:sp>
        <p:nvSpPr>
          <p:cNvPr id="3" name="Содержимое 2"/>
          <p:cNvSpPr>
            <a:spLocks noGrp="1"/>
          </p:cNvSpPr>
          <p:nvPr>
            <p:ph idx="1"/>
          </p:nvPr>
        </p:nvSpPr>
        <p:spPr>
          <a:xfrm>
            <a:off x="457200" y="1600200"/>
            <a:ext cx="8229600" cy="4997152"/>
          </a:xfrm>
        </p:spPr>
        <p:txBody>
          <a:bodyPr>
            <a:normAutofit fontScale="85000" lnSpcReduction="20000"/>
          </a:bodyPr>
          <a:lstStyle/>
          <a:p>
            <a:r>
              <a:rPr lang="ru-RU" dirty="0" smtClean="0"/>
              <a:t>На первой стадии сервер БД, фиксирующий распределенную транзакцию, посылает команду "приготовиться к фиксации" всем узлам сети (серверам БД), задействованным для выполнения соответствующих локальных транзакций</a:t>
            </a:r>
          </a:p>
          <a:p>
            <a:r>
              <a:rPr lang="ru-RU" dirty="0" smtClean="0"/>
              <a:t>Все серверы локальных БД должны в ответ сообщить, что они готовы к фиксации</a:t>
            </a:r>
          </a:p>
          <a:p>
            <a:r>
              <a:rPr lang="ru-RU" dirty="0" smtClean="0"/>
              <a:t>Если хотя бы от одного из серверов ответ не получен или, если имело место программная или аппаратная ошибка при выполнении локальной транзакции, то сервер распределенной БД производит откат локальных транзакций на всех узлах, включая те, которые прислали оповещение о готовности к фиксации</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Двухфазная фиксация (2/2)</a:t>
            </a:r>
            <a:endParaRPr lang="ru-RU" dirty="0"/>
          </a:p>
        </p:txBody>
      </p:sp>
      <p:sp>
        <p:nvSpPr>
          <p:cNvPr id="3" name="Содержимое 2"/>
          <p:cNvSpPr>
            <a:spLocks noGrp="1"/>
          </p:cNvSpPr>
          <p:nvPr>
            <p:ph idx="1"/>
          </p:nvPr>
        </p:nvSpPr>
        <p:spPr/>
        <p:txBody>
          <a:bodyPr>
            <a:normAutofit/>
          </a:bodyPr>
          <a:lstStyle/>
          <a:p>
            <a:r>
              <a:rPr lang="ru-RU" dirty="0" smtClean="0"/>
              <a:t>Вторая стадия начинается, когда все локальные СУБД готовы к фиксации</a:t>
            </a:r>
          </a:p>
          <a:p>
            <a:r>
              <a:rPr lang="ru-RU" dirty="0" smtClean="0"/>
              <a:t>Сервер, обрабатывающий распределенную транзакцию, заканчивает ее фиксацию, посылая команду "зафиксировать транзакцию" всем локальным серверам </a:t>
            </a:r>
          </a:p>
          <a:p>
            <a:endParaRPr lang="ru-RU"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5701</TotalTime>
  <Words>1978</Words>
  <Application>Microsoft Office PowerPoint</Application>
  <PresentationFormat>Экран (4:3)</PresentationFormat>
  <Paragraphs>303</Paragraphs>
  <Slides>59</Slides>
  <Notes>0</Notes>
  <HiddenSlides>0</HiddenSlides>
  <MMClips>0</MMClips>
  <ScaleCrop>false</ScaleCrop>
  <HeadingPairs>
    <vt:vector size="8" baseType="variant">
      <vt:variant>
        <vt:lpstr>Использованные шрифты</vt:lpstr>
      </vt:variant>
      <vt:variant>
        <vt:i4>2</vt:i4>
      </vt:variant>
      <vt:variant>
        <vt:lpstr>Тема</vt:lpstr>
      </vt:variant>
      <vt:variant>
        <vt:i4>1</vt:i4>
      </vt:variant>
      <vt:variant>
        <vt:lpstr>Внедренные серверы OLE</vt:lpstr>
      </vt:variant>
      <vt:variant>
        <vt:i4>1</vt:i4>
      </vt:variant>
      <vt:variant>
        <vt:lpstr>Заголовки слайдов</vt:lpstr>
      </vt:variant>
      <vt:variant>
        <vt:i4>59</vt:i4>
      </vt:variant>
    </vt:vector>
  </HeadingPairs>
  <TitlesOfParts>
    <vt:vector size="63" baseType="lpstr">
      <vt:lpstr>Arial</vt:lpstr>
      <vt:lpstr>Calibri</vt:lpstr>
      <vt:lpstr>Тема Office</vt:lpstr>
      <vt:lpstr>Visio</vt:lpstr>
      <vt:lpstr>План лекции</vt:lpstr>
      <vt:lpstr>Вопрос 1</vt:lpstr>
      <vt:lpstr>Вводный пример</vt:lpstr>
      <vt:lpstr>Определение</vt:lpstr>
      <vt:lpstr>Примеры</vt:lpstr>
      <vt:lpstr>Вопрос 2</vt:lpstr>
      <vt:lpstr>Свойства ACID</vt:lpstr>
      <vt:lpstr>Атомарность</vt:lpstr>
      <vt:lpstr>Согласованность</vt:lpstr>
      <vt:lpstr>Изолированность</vt:lpstr>
      <vt:lpstr>Долговечность</vt:lpstr>
      <vt:lpstr>Вопрос 3</vt:lpstr>
      <vt:lpstr>Варианты завершения транзакции</vt:lpstr>
      <vt:lpstr>Фиксация</vt:lpstr>
      <vt:lpstr>Откат</vt:lpstr>
      <vt:lpstr>Завершение транзакции в нормальных условиях</vt:lpstr>
      <vt:lpstr>Завершение транзакции при завершении программы</vt:lpstr>
      <vt:lpstr>Вопрос 4</vt:lpstr>
      <vt:lpstr>Команды для работы с транзакциями</vt:lpstr>
      <vt:lpstr>Синтаксис</vt:lpstr>
      <vt:lpstr>Совместимость с SQL-92</vt:lpstr>
      <vt:lpstr>«Скелет» программы</vt:lpstr>
      <vt:lpstr>Пример</vt:lpstr>
      <vt:lpstr>@@TRANCOUNT</vt:lpstr>
      <vt:lpstr>Переключение между режимами</vt:lpstr>
      <vt:lpstr>Вопрос 5</vt:lpstr>
      <vt:lpstr>Сохраняемая информация</vt:lpstr>
      <vt:lpstr>Контрольные точки</vt:lpstr>
      <vt:lpstr>Использование при восстановлении</vt:lpstr>
      <vt:lpstr>Пример (1/2)</vt:lpstr>
      <vt:lpstr>Пример (2/2)</vt:lpstr>
      <vt:lpstr>Формирование списков UNDO и REDO (1/2)</vt:lpstr>
      <vt:lpstr>Формирование списков UNDO и REDO (2/2)</vt:lpstr>
      <vt:lpstr>Применение списков UNDO и REDO</vt:lpstr>
      <vt:lpstr>Вопрос 6</vt:lpstr>
      <vt:lpstr>Проблемы реализации механизма транзакций</vt:lpstr>
      <vt:lpstr>Принципы сериализации</vt:lpstr>
      <vt:lpstr>Проблемы параллельного доступа к общим данным</vt:lpstr>
      <vt:lpstr>Потерянное обновление</vt:lpstr>
      <vt:lpstr>«Грязное» чтение</vt:lpstr>
      <vt:lpstr>Неповторяющееся чтение</vt:lpstr>
      <vt:lpstr>Фантомное чтение</vt:lpstr>
      <vt:lpstr>Уровни изоляции</vt:lpstr>
      <vt:lpstr>Read uncommitted</vt:lpstr>
      <vt:lpstr>Read committed</vt:lpstr>
      <vt:lpstr>Repeatable read</vt:lpstr>
      <vt:lpstr>Serializable</vt:lpstr>
      <vt:lpstr>Уровени изоляции и решаемые проблемы</vt:lpstr>
      <vt:lpstr>Вопрос 7</vt:lpstr>
      <vt:lpstr>Применение блокировок</vt:lpstr>
      <vt:lpstr>Объекты блокировок</vt:lpstr>
      <vt:lpstr>Влияние не производительность</vt:lpstr>
      <vt:lpstr>Взаимная блокировка</vt:lpstr>
      <vt:lpstr>Предотвращение тупиков</vt:lpstr>
      <vt:lpstr>Вопрос 8</vt:lpstr>
      <vt:lpstr>Определение</vt:lpstr>
      <vt:lpstr>Требования к распределенным транзакциям</vt:lpstr>
      <vt:lpstr>Двухфазная фиксация (1/2)</vt:lpstr>
      <vt:lpstr>Двухфазная фиксация (2/2)</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art</dc:creator>
  <cp:lastModifiedBy>Николай Волков</cp:lastModifiedBy>
  <cp:revision>623</cp:revision>
  <dcterms:created xsi:type="dcterms:W3CDTF">2012-04-10T15:36:07Z</dcterms:created>
  <dcterms:modified xsi:type="dcterms:W3CDTF">2022-01-14T06:20:59Z</dcterms:modified>
</cp:coreProperties>
</file>