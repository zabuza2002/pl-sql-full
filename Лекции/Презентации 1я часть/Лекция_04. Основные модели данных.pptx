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41"/>
  </p:notesMasterIdLst>
  <p:sldIdLst>
    <p:sldId id="257" r:id="rId2"/>
    <p:sldId id="321" r:id="rId3"/>
    <p:sldId id="355" r:id="rId4"/>
    <p:sldId id="357" r:id="rId5"/>
    <p:sldId id="358" r:id="rId6"/>
    <p:sldId id="376" r:id="rId7"/>
    <p:sldId id="356" r:id="rId8"/>
    <p:sldId id="359" r:id="rId9"/>
    <p:sldId id="377" r:id="rId10"/>
    <p:sldId id="363" r:id="rId11"/>
    <p:sldId id="364" r:id="rId12"/>
    <p:sldId id="367" r:id="rId13"/>
    <p:sldId id="368" r:id="rId14"/>
    <p:sldId id="394" r:id="rId15"/>
    <p:sldId id="388" r:id="rId16"/>
    <p:sldId id="390" r:id="rId17"/>
    <p:sldId id="369" r:id="rId18"/>
    <p:sldId id="395" r:id="rId19"/>
    <p:sldId id="370" r:id="rId20"/>
    <p:sldId id="371" r:id="rId21"/>
    <p:sldId id="365" r:id="rId22"/>
    <p:sldId id="372" r:id="rId23"/>
    <p:sldId id="391" r:id="rId24"/>
    <p:sldId id="392" r:id="rId25"/>
    <p:sldId id="375" r:id="rId26"/>
    <p:sldId id="373" r:id="rId27"/>
    <p:sldId id="374" r:id="rId28"/>
    <p:sldId id="366" r:id="rId29"/>
    <p:sldId id="378" r:id="rId30"/>
    <p:sldId id="382" r:id="rId31"/>
    <p:sldId id="384" r:id="rId32"/>
    <p:sldId id="379" r:id="rId33"/>
    <p:sldId id="381" r:id="rId34"/>
    <p:sldId id="383" r:id="rId35"/>
    <p:sldId id="385" r:id="rId36"/>
    <p:sldId id="386" r:id="rId37"/>
    <p:sldId id="393" r:id="rId38"/>
    <p:sldId id="380" r:id="rId39"/>
    <p:sldId id="387" r:id="rId4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EBBD4-DF2A-466B-9C02-819997BF5FCB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924E2-C814-4D75-AACF-890EFECD781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8814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437A7-3297-49EF-A824-ADB59F7B1FB0}" type="datetimeFigureOut">
              <a:rPr lang="ru-RU" smtClean="0"/>
              <a:pPr/>
              <a:t>21.12.2021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C0405F-7A8E-4392-8689-8912801FE43B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 лекции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827584" y="1600200"/>
            <a:ext cx="7416824" cy="4525963"/>
          </a:xfrm>
        </p:spPr>
        <p:txBody>
          <a:bodyPr>
            <a:normAutofit/>
          </a:bodyPr>
          <a:lstStyle/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Понятие модели данных</a:t>
            </a:r>
          </a:p>
          <a:p>
            <a:pPr marL="514350" indent="-514350" hangingPunct="0">
              <a:buFont typeface="+mj-lt"/>
              <a:buAutoNum type="arabicPeriod"/>
            </a:pPr>
            <a:r>
              <a:rPr lang="ru-RU" dirty="0" smtClean="0"/>
              <a:t>Модель данных на основе инвертированных списков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Иерархическая модель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Сетевая модель данных</a:t>
            </a:r>
          </a:p>
          <a:p>
            <a:pPr marL="514350" lvl="0" indent="-514350" hangingPunct="0">
              <a:buFont typeface="+mj-lt"/>
              <a:buAutoNum type="arabicPeriod"/>
            </a:pPr>
            <a:r>
              <a:rPr lang="ru-RU" dirty="0" smtClean="0"/>
              <a:t>Реляционная модель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1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Понятие модели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Определение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571612"/>
            <a:ext cx="8229600" cy="4786346"/>
          </a:xfrm>
        </p:spPr>
        <p:txBody>
          <a:bodyPr>
            <a:normAutofit fontScale="92500" lnSpcReduction="20000"/>
          </a:bodyPr>
          <a:lstStyle/>
          <a:p>
            <a:pPr hangingPunct="0"/>
            <a:r>
              <a:rPr lang="ru-RU" sz="3600" i="1" dirty="0" smtClean="0"/>
              <a:t>Модель данных </a:t>
            </a:r>
            <a:r>
              <a:rPr lang="ru-RU" sz="3600" dirty="0" smtClean="0"/>
              <a:t>– это совокупность структур данных и операций по их обработке. Кроме того, модель данных может включать в себя ограничения целостности</a:t>
            </a:r>
          </a:p>
          <a:p>
            <a:pPr hangingPunct="0"/>
            <a:r>
              <a:rPr lang="ru-RU" sz="3600" dirty="0" smtClean="0"/>
              <a:t>Иными словами, как правило, модель данных состоит из трех частей, описывающих разные ее аспекты:</a:t>
            </a:r>
          </a:p>
          <a:p>
            <a:pPr lvl="1" hangingPunct="0"/>
            <a:r>
              <a:rPr lang="ru-RU" dirty="0" smtClean="0"/>
              <a:t>структурной части</a:t>
            </a:r>
          </a:p>
          <a:p>
            <a:pPr lvl="1" hangingPunct="0"/>
            <a:r>
              <a:rPr lang="ru-RU" dirty="0" smtClean="0"/>
              <a:t>манипуляционной части</a:t>
            </a:r>
          </a:p>
          <a:p>
            <a:pPr lvl="1" hangingPunct="0"/>
            <a:r>
              <a:rPr lang="ru-RU" dirty="0" smtClean="0"/>
              <a:t>целостной части</a:t>
            </a:r>
          </a:p>
          <a:p>
            <a:pPr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Структурная часть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Задает набор типов структур данных</a:t>
            </a:r>
          </a:p>
          <a:p>
            <a:r>
              <a:rPr lang="ru-RU" dirty="0" smtClean="0"/>
              <a:t>Здесь можно провести аналогию с языками программирования, в которых тоже есть предопределённые типы структур данных, такие как скалярные данные, вектора, массивы, структуры (например, тип </a:t>
            </a:r>
            <a:r>
              <a:rPr lang="ru-RU" i="1" dirty="0" err="1" smtClean="0"/>
              <a:t>struct</a:t>
            </a:r>
            <a:r>
              <a:rPr lang="ru-RU" dirty="0" smtClean="0"/>
              <a:t> в языке Си) и т.д.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Манипуляционная часть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5256584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Задает набор операторов или правил вывода, которые могут быть применены к любым экземплярам поддерживаемых типов данных, чтобы находить, выводить или преобразовывать информацию, содержащуюся в любых частях структур данных в любых комбинациях</a:t>
            </a:r>
          </a:p>
          <a:p>
            <a:r>
              <a:rPr lang="ru-RU" dirty="0" smtClean="0"/>
              <a:t>Такими операциями являются:</a:t>
            </a:r>
          </a:p>
          <a:p>
            <a:pPr lvl="1"/>
            <a:r>
              <a:rPr lang="ru-RU" dirty="0" smtClean="0"/>
              <a:t>создание и модификация структур данных</a:t>
            </a:r>
          </a:p>
          <a:p>
            <a:pPr lvl="1"/>
            <a:r>
              <a:rPr lang="ru-RU" dirty="0" smtClean="0"/>
              <a:t>внесение новых данных, удаление и модификация существующих данных</a:t>
            </a:r>
          </a:p>
          <a:p>
            <a:pPr lvl="1"/>
            <a:r>
              <a:rPr lang="ru-RU" dirty="0" smtClean="0"/>
              <a:t>поиск данных по различным условиям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Целостная часть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10000"/>
          </a:bodyPr>
          <a:lstStyle/>
          <a:p>
            <a:r>
              <a:rPr lang="ru-RU" dirty="0" smtClean="0"/>
              <a:t>Задает набор общих правил целостности, которые прямо или косвенно определяют множество непротиворечивых состояний базы данных и/или множество изменений её состояния</a:t>
            </a:r>
          </a:p>
          <a:p>
            <a:r>
              <a:rPr lang="ru-RU" dirty="0" smtClean="0"/>
              <a:t>Для пользователей информационной системы важно, чтобы база данных отражала предметную область однозначно и непротиворечиво. Если она обладает такими свойствами, то говорят, что БД удовлетворяет </a:t>
            </a:r>
            <a:r>
              <a:rPr lang="ru-RU" i="1" dirty="0" smtClean="0"/>
              <a:t>условию целостности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2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Модель данных на основе инвертированных списков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Известные представители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СУБД </a:t>
            </a:r>
            <a:r>
              <a:rPr lang="ru-RU" dirty="0" err="1" smtClean="0"/>
              <a:t>Datacom</a:t>
            </a:r>
            <a:r>
              <a:rPr lang="ru-RU" dirty="0" smtClean="0"/>
              <a:t>/DB, выведенная на рынок в конце 1960-х гг. компанией </a:t>
            </a:r>
            <a:r>
              <a:rPr lang="ru-RU" dirty="0" err="1" smtClean="0"/>
              <a:t>Applied</a:t>
            </a:r>
            <a:r>
              <a:rPr lang="ru-RU" dirty="0" smtClean="0"/>
              <a:t> </a:t>
            </a:r>
            <a:r>
              <a:rPr lang="ru-RU" dirty="0" err="1" smtClean="0"/>
              <a:t>Data</a:t>
            </a:r>
            <a:r>
              <a:rPr lang="ru-RU" dirty="0" smtClean="0"/>
              <a:t> </a:t>
            </a:r>
            <a:r>
              <a:rPr lang="ru-RU" dirty="0" err="1" smtClean="0"/>
              <a:t>Research</a:t>
            </a:r>
            <a:r>
              <a:rPr lang="ru-RU" dirty="0" smtClean="0"/>
              <a:t>, </a:t>
            </a:r>
            <a:r>
              <a:rPr lang="ru-RU" dirty="0" err="1" smtClean="0"/>
              <a:t>Inc</a:t>
            </a:r>
            <a:r>
              <a:rPr lang="ru-RU" dirty="0" smtClean="0"/>
              <a:t>. (ADR) и принадлежащая в настоящее время компании </a:t>
            </a:r>
            <a:r>
              <a:rPr lang="ru-RU" dirty="0" err="1" smtClean="0"/>
              <a:t>Computer</a:t>
            </a:r>
            <a:r>
              <a:rPr lang="ru-RU" dirty="0" smtClean="0"/>
              <a:t> </a:t>
            </a:r>
            <a:r>
              <a:rPr lang="ru-RU" dirty="0" err="1" smtClean="0"/>
              <a:t>Associates</a:t>
            </a:r>
            <a:endParaRPr lang="ru-RU" dirty="0" smtClean="0"/>
          </a:p>
          <a:p>
            <a:r>
              <a:rPr lang="ru-RU" dirty="0" smtClean="0"/>
              <a:t>СУБД </a:t>
            </a:r>
            <a:r>
              <a:rPr lang="ru-RU" dirty="0" err="1" smtClean="0"/>
              <a:t>Adabas</a:t>
            </a:r>
            <a:r>
              <a:rPr lang="ru-RU" dirty="0" smtClean="0"/>
              <a:t> (A</a:t>
            </a:r>
            <a:r>
              <a:rPr lang="en-US" dirty="0" err="1" smtClean="0"/>
              <a:t>da</a:t>
            </a:r>
            <a:r>
              <a:rPr lang="ru-RU" dirty="0" err="1" smtClean="0"/>
              <a:t>ptable</a:t>
            </a:r>
            <a:r>
              <a:rPr lang="ru-RU" dirty="0" smtClean="0"/>
              <a:t> D</a:t>
            </a:r>
            <a:r>
              <a:rPr lang="en-US" dirty="0" smtClean="0"/>
              <a:t>a</a:t>
            </a:r>
            <a:r>
              <a:rPr lang="ru-RU" dirty="0" err="1" smtClean="0"/>
              <a:t>tabase</a:t>
            </a:r>
            <a:r>
              <a:rPr lang="ru-RU" dirty="0" smtClean="0"/>
              <a:t> </a:t>
            </a:r>
            <a:r>
              <a:rPr lang="ru-RU" dirty="0" err="1" smtClean="0"/>
              <a:t>System</a:t>
            </a:r>
            <a:r>
              <a:rPr lang="ru-RU" dirty="0" smtClean="0"/>
              <a:t>), которая была разработана компанией </a:t>
            </a:r>
            <a:r>
              <a:rPr lang="ru-RU" dirty="0" err="1" smtClean="0"/>
              <a:t>Software</a:t>
            </a:r>
            <a:r>
              <a:rPr lang="ru-RU" dirty="0" smtClean="0"/>
              <a:t> AG в 1971 г. и до сих пор является ее основным продуктом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Применение в настоящее время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Организация доступа к данным на основе инвертированных таблиц используется практически во всех современных реляционных СУБД, но в этих системах пользователи не имеют непосредственного доступа к инвертированным таблицам (индексам)</a:t>
            </a:r>
          </a:p>
          <a:p>
            <a:r>
              <a:rPr lang="ru-RU" dirty="0" smtClean="0"/>
              <a:t>Широко используется в информационно-поисковых системах документального типа (</a:t>
            </a:r>
            <a:r>
              <a:rPr lang="en-US" dirty="0" smtClean="0"/>
              <a:t>Google</a:t>
            </a:r>
            <a:r>
              <a:rPr lang="ru-RU" dirty="0" smtClean="0"/>
              <a:t>, </a:t>
            </a:r>
            <a:r>
              <a:rPr lang="ru-RU" dirty="0" err="1" smtClean="0"/>
              <a:t>Яндекс</a:t>
            </a:r>
            <a:r>
              <a:rPr lang="ru-RU" dirty="0" smtClean="0"/>
              <a:t>, …) 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Ограничения целостности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Общие правила определения целостности БД отсутствуют</a:t>
            </a:r>
          </a:p>
          <a:p>
            <a:r>
              <a:rPr lang="ru-RU" dirty="0" smtClean="0"/>
              <a:t>В некоторых системах поддерживаются ограничения уникальности значений некоторых полей, но в основном вся поддержка целостности данных возлагается на прикладную программу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3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Иерархическая модель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Типичный представитель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СУБД IMS (</a:t>
            </a:r>
            <a:r>
              <a:rPr lang="ru-RU" dirty="0" err="1" smtClean="0"/>
              <a:t>Information</a:t>
            </a:r>
            <a:r>
              <a:rPr lang="ru-RU" dirty="0" smtClean="0"/>
              <a:t> </a:t>
            </a:r>
            <a:r>
              <a:rPr lang="ru-RU" dirty="0" err="1" smtClean="0"/>
              <a:t>Management</a:t>
            </a:r>
            <a:r>
              <a:rPr lang="ru-RU" dirty="0" smtClean="0"/>
              <a:t> </a:t>
            </a:r>
            <a:r>
              <a:rPr lang="ru-RU" dirty="0" err="1" smtClean="0"/>
              <a:t>System</a:t>
            </a:r>
            <a:r>
              <a:rPr lang="ru-RU" dirty="0" smtClean="0"/>
              <a:t>) компании IBM. Первая версия системы появилась в 1968 г. </a:t>
            </a:r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Структуры данных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363272" cy="5256584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Иерархическая БД состоит из упорядоченного набора деревьев</a:t>
            </a:r>
            <a:r>
              <a:rPr lang="en-US" dirty="0" smtClean="0"/>
              <a:t> (</a:t>
            </a:r>
            <a:r>
              <a:rPr lang="ru-RU" dirty="0" smtClean="0"/>
              <a:t>более точно, из упорядоченного набора нескольких экземпляров одного типа дерева</a:t>
            </a:r>
            <a:r>
              <a:rPr lang="en-US" dirty="0" smtClean="0"/>
              <a:t>)</a:t>
            </a:r>
          </a:p>
          <a:p>
            <a:r>
              <a:rPr lang="ru-RU" dirty="0" smtClean="0"/>
              <a:t>Тип дерева состоит из одного «корневого» типа записи и упорядоченного набора из нуля или более типов поддеревьев (каждое из которых является некоторым типом дерева)</a:t>
            </a:r>
            <a:endParaRPr lang="en-US" dirty="0" smtClean="0"/>
          </a:p>
          <a:p>
            <a:r>
              <a:rPr lang="ru-RU" dirty="0" smtClean="0"/>
              <a:t>Тип дерева в целом представляет собой иерархически организованный набор типов записи</a:t>
            </a:r>
          </a:p>
          <a:p>
            <a:r>
              <a:rPr lang="ru-RU" dirty="0" smtClean="0"/>
              <a:t>Между типами записи поддерживаются связи (правильнее сказать, </a:t>
            </a:r>
            <a:r>
              <a:rPr lang="ru-RU" i="1" dirty="0" smtClean="0"/>
              <a:t>типы</a:t>
            </a:r>
            <a:r>
              <a:rPr lang="ru-RU" dirty="0" smtClean="0"/>
              <a:t> связей, поскольку реальные связи появляются в экземплярах типа дерева)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Структуры данных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smtClean="0"/>
              <a:t>Тип вершины определяется типом сущности и набором её атрибутов</a:t>
            </a:r>
          </a:p>
          <a:p>
            <a:r>
              <a:rPr lang="ru-RU" dirty="0" smtClean="0"/>
              <a:t>Каждая вершина дерева хранит экземпляры сущностей – записи</a:t>
            </a:r>
          </a:p>
          <a:p>
            <a:r>
              <a:rPr lang="ru-RU" dirty="0" smtClean="0"/>
              <a:t>Следствием внутренних ограничений иерархической модели является то, что каждому экземпляру зависимой группы в БД соответствует уникальное множество экземпляров родительских записей – по одному экземпляру (записи) каждого типа вершин вышестоящих уровней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типа дерева</a:t>
            </a:r>
            <a:endParaRPr lang="ru-RU" dirty="0"/>
          </a:p>
        </p:txBody>
      </p:sp>
      <p:sp>
        <p:nvSpPr>
          <p:cNvPr id="44036" name="AutoShape 4" descr="C:\Users\art\Documents\%D0%A3%D1%87%D0%B5%D0%B1%D0%B0\%D0%91%D0%94\%D0%9A%D1%83%D0%B7%D0%BD%D0%B5%D1%86%D0%BE%D0%B2\6_files\2_1.gif"/>
          <p:cNvSpPr>
            <a:spLocks noChangeAspect="1" noChangeArrowheads="1"/>
          </p:cNvSpPr>
          <p:nvPr/>
        </p:nvSpPr>
        <p:spPr bwMode="auto">
          <a:xfrm>
            <a:off x="155575" y="-517525"/>
            <a:ext cx="4505325" cy="1085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4038" name="AutoShape 6" descr="C:\Users\art\Documents\%D0%A3%D1%87%D0%B5%D0%B1%D0%B0\%D0%91%D0%94\%D0%9A%D1%83%D0%B7%D0%BD%D0%B5%D1%86%D0%BE%D0%B2\6_files\2_1.gif"/>
          <p:cNvSpPr>
            <a:spLocks noChangeAspect="1" noChangeArrowheads="1"/>
          </p:cNvSpPr>
          <p:nvPr/>
        </p:nvSpPr>
        <p:spPr bwMode="auto">
          <a:xfrm>
            <a:off x="155575" y="-517525"/>
            <a:ext cx="4505325" cy="1085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619672" y="2132856"/>
          <a:ext cx="6096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Отд_Номер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Отд_Размер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Отд_Зарп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395536" y="3645024"/>
          <a:ext cx="489654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8192"/>
                <a:gridCol w="1387790"/>
                <a:gridCol w="1780562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Рук_Номер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Рук_Имя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Рук_Отдел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3419872" y="5301208"/>
          <a:ext cx="532859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209"/>
                <a:gridCol w="1728192"/>
                <a:gridCol w="172819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Служ_Номер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Служ_Имя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err="1" smtClean="0"/>
                        <a:t>Служ_Зарп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19672" y="1628800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Отдел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95536" y="314096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Руководитель</a:t>
            </a:r>
            <a:endParaRPr lang="ru-R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419872" y="479715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Служащие</a:t>
            </a:r>
            <a:endParaRPr lang="ru-RU" sz="2400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4644008" y="2636912"/>
            <a:ext cx="0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2915816" y="3068960"/>
            <a:ext cx="33123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2915816" y="3068960"/>
            <a:ext cx="0" cy="504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6228184" y="3068960"/>
            <a:ext cx="0" cy="20882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иерархической БД</a:t>
            </a:r>
            <a:endParaRPr lang="ru-RU" dirty="0"/>
          </a:p>
        </p:txBody>
      </p:sp>
      <p:sp>
        <p:nvSpPr>
          <p:cNvPr id="44036" name="AutoShape 4" descr="C:\Users\art\Documents\%D0%A3%D1%87%D0%B5%D0%B1%D0%B0\%D0%91%D0%94\%D0%9A%D1%83%D0%B7%D0%BD%D0%B5%D1%86%D0%BE%D0%B2\6_files\2_1.gif"/>
          <p:cNvSpPr>
            <a:spLocks noChangeAspect="1" noChangeArrowheads="1"/>
          </p:cNvSpPr>
          <p:nvPr/>
        </p:nvSpPr>
        <p:spPr bwMode="auto">
          <a:xfrm>
            <a:off x="155575" y="-517525"/>
            <a:ext cx="4505325" cy="1085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4038" name="AutoShape 6" descr="C:\Users\art\Documents\%D0%A3%D1%87%D0%B5%D0%B1%D0%B0\%D0%91%D0%94\%D0%9A%D1%83%D0%B7%D0%BD%D0%B5%D1%86%D0%BE%D0%B2\6_files\2_1.gif"/>
          <p:cNvSpPr>
            <a:spLocks noChangeAspect="1" noChangeArrowheads="1"/>
          </p:cNvSpPr>
          <p:nvPr/>
        </p:nvSpPr>
        <p:spPr bwMode="auto">
          <a:xfrm>
            <a:off x="155575" y="-517525"/>
            <a:ext cx="4505325" cy="108585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/>
        </p:nvGraphicFramePr>
        <p:xfrm>
          <a:off x="1619672" y="2132856"/>
          <a:ext cx="6096000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/>
                <a:gridCol w="2032000"/>
                <a:gridCol w="2032000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12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20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1000000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/>
        </p:nvGraphicFramePr>
        <p:xfrm>
          <a:off x="395536" y="3645024"/>
          <a:ext cx="489654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/>
                <a:gridCol w="1944216"/>
                <a:gridCol w="1656184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1223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 И.И.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12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/>
        </p:nvGraphicFramePr>
        <p:xfrm>
          <a:off x="3419872" y="5301208"/>
          <a:ext cx="532859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/>
                <a:gridCol w="2016225"/>
                <a:gridCol w="172819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1223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Иванов И.И.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60000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619672" y="1628800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Отдел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95536" y="3140968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Руководитель</a:t>
            </a:r>
            <a:endParaRPr lang="ru-R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3419872" y="4797152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Служащие</a:t>
            </a:r>
            <a:endParaRPr lang="ru-RU" sz="2400" dirty="0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4644008" y="2636912"/>
            <a:ext cx="0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2915816" y="3068960"/>
            <a:ext cx="331236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2915816" y="3068960"/>
            <a:ext cx="0" cy="5040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6228184" y="3068960"/>
            <a:ext cx="0" cy="208823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Таблица 15"/>
          <p:cNvGraphicFramePr>
            <a:graphicFrameLocks noGrp="1"/>
          </p:cNvGraphicFramePr>
          <p:nvPr/>
        </p:nvGraphicFramePr>
        <p:xfrm>
          <a:off x="3563888" y="5805264"/>
          <a:ext cx="5328594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4176"/>
                <a:gridCol w="2016225"/>
                <a:gridCol w="1728193"/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1224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Петров П.П.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400" dirty="0" smtClean="0"/>
                        <a:t>40000</a:t>
                      </a:r>
                      <a:endParaRPr lang="ru-RU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Терминология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Все экземпляры одного типа потомка с общим экземпляром типа предка называются близнецами</a:t>
            </a:r>
          </a:p>
          <a:p>
            <a:r>
              <a:rPr lang="ru-RU" dirty="0" smtClean="0"/>
              <a:t>В терминологии IMS вместо термина </a:t>
            </a:r>
            <a:r>
              <a:rPr lang="ru-RU" i="1" dirty="0" smtClean="0"/>
              <a:t>запись</a:t>
            </a:r>
            <a:r>
              <a:rPr lang="ru-RU" dirty="0" smtClean="0"/>
              <a:t> использовался термин </a:t>
            </a:r>
            <a:r>
              <a:rPr lang="ru-RU" i="1" dirty="0" smtClean="0"/>
              <a:t>сегмент</a:t>
            </a:r>
            <a:r>
              <a:rPr lang="ru-RU" dirty="0" smtClean="0"/>
              <a:t>, а под </a:t>
            </a:r>
            <a:r>
              <a:rPr lang="ru-RU" i="1" dirty="0" smtClean="0"/>
              <a:t>записью базы данных</a:t>
            </a:r>
            <a:r>
              <a:rPr lang="ru-RU" dirty="0" smtClean="0"/>
              <a:t> понималось все дерево сегментов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Способы навигации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97152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Передвижение по дереву всегда начинается с корневой вершины, от которой можно перейти на конкретный экземпляр записи любой вершины следующего уровня. Эта вершина становится текущей вершиной, а экземпляр – текущей записью</a:t>
            </a:r>
          </a:p>
          <a:p>
            <a:r>
              <a:rPr lang="ru-RU" dirty="0" smtClean="0"/>
              <a:t>От этой записи можно перейти к другой записи данной вершины, к экземпляру записи родительской вершины или к экземпляру записи подчинённой вершины. Т.о., попасть в любую вершину можно, только проделав полный путь по дереву от корня</a:t>
            </a:r>
          </a:p>
          <a:p>
            <a:r>
              <a:rPr lang="ru-RU" dirty="0" smtClean="0"/>
              <a:t>Связи между записями в ИМД обычно выполнены в виде ссылок (т.е. хранятся адреса связанных записей)</a:t>
            </a:r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Типичный набор операций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968552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Найти указанный экземпляр типа дерева БД (например, отдел 310)</a:t>
            </a:r>
          </a:p>
          <a:p>
            <a:r>
              <a:rPr lang="ru-RU" dirty="0" smtClean="0"/>
              <a:t>Перейти от одного экземпляра типа дерева к другому</a:t>
            </a:r>
          </a:p>
          <a:p>
            <a:r>
              <a:rPr lang="ru-RU" dirty="0" smtClean="0"/>
              <a:t>Перейти от экземпляра одного типа записи к экземпляру другого типа записи внутри дерева (например, перейти от отдела к первому сотруднику)</a:t>
            </a:r>
          </a:p>
          <a:p>
            <a:r>
              <a:rPr lang="ru-RU" dirty="0" smtClean="0"/>
              <a:t>Перейти от одной записи к другой в порядке обхода иерархии (</a:t>
            </a:r>
            <a:r>
              <a:rPr lang="ru-RU" dirty="0" err="1" smtClean="0"/>
              <a:t>сверху-вниз</a:t>
            </a:r>
            <a:r>
              <a:rPr lang="ru-RU" dirty="0" smtClean="0"/>
              <a:t>, </a:t>
            </a:r>
            <a:r>
              <a:rPr lang="ru-RU" dirty="0" err="1" smtClean="0"/>
              <a:t>слева-направо</a:t>
            </a:r>
            <a:r>
              <a:rPr lang="ru-RU" dirty="0" smtClean="0"/>
              <a:t>)</a:t>
            </a:r>
          </a:p>
          <a:p>
            <a:r>
              <a:rPr lang="ru-RU" dirty="0" smtClean="0"/>
              <a:t>Вставить новую запись в указанную позицию</a:t>
            </a:r>
          </a:p>
          <a:p>
            <a:r>
              <a:rPr lang="ru-RU" dirty="0" smtClean="0"/>
              <a:t>Удалить текущую запись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Ограничения целостности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ru-RU" dirty="0" smtClean="0"/>
              <a:t>В иерархической модели данных автоматически поддерживается целостность ссылок между предками и потомками</a:t>
            </a:r>
          </a:p>
          <a:p>
            <a:r>
              <a:rPr lang="ru-RU" dirty="0" smtClean="0"/>
              <a:t>Основное правило:</a:t>
            </a:r>
            <a:r>
              <a:rPr lang="ru-RU" i="1" dirty="0" smtClean="0"/>
              <a:t> никакой потомок не может существовать без своего родителя</a:t>
            </a:r>
          </a:p>
          <a:p>
            <a:r>
              <a:rPr lang="ru-RU" dirty="0" smtClean="0"/>
              <a:t>Заметим, что аналогичная поддержка целостности по ссылкам между записями без связи «предок-потомок», не обеспечивается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4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Сетевая модель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Типичный представитель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5257800"/>
          </a:xfrm>
        </p:spPr>
        <p:txBody>
          <a:bodyPr>
            <a:normAutofit fontScale="85000" lnSpcReduction="10000"/>
          </a:bodyPr>
          <a:lstStyle/>
          <a:p>
            <a:r>
              <a:rPr lang="ru-RU" dirty="0" smtClean="0"/>
              <a:t>СУБД IDMS (</a:t>
            </a:r>
            <a:r>
              <a:rPr lang="ru-RU" dirty="0" err="1" smtClean="0"/>
              <a:t>Integrated</a:t>
            </a:r>
            <a:r>
              <a:rPr lang="ru-RU" dirty="0" smtClean="0"/>
              <a:t> </a:t>
            </a:r>
            <a:r>
              <a:rPr lang="ru-RU" dirty="0" err="1" smtClean="0"/>
              <a:t>Database</a:t>
            </a:r>
            <a:r>
              <a:rPr lang="ru-RU" dirty="0" smtClean="0"/>
              <a:t> </a:t>
            </a:r>
            <a:r>
              <a:rPr lang="ru-RU" dirty="0" err="1" smtClean="0"/>
              <a:t>Management</a:t>
            </a:r>
            <a:r>
              <a:rPr lang="ru-RU" dirty="0" smtClean="0"/>
              <a:t> </a:t>
            </a:r>
            <a:r>
              <a:rPr lang="ru-RU" dirty="0" err="1" smtClean="0"/>
              <a:t>System</a:t>
            </a:r>
            <a:r>
              <a:rPr lang="ru-RU" dirty="0" smtClean="0"/>
              <a:t>), разработанная компанией </a:t>
            </a:r>
            <a:r>
              <a:rPr lang="ru-RU" dirty="0" err="1" smtClean="0"/>
              <a:t>Cullinet</a:t>
            </a:r>
            <a:r>
              <a:rPr lang="ru-RU" dirty="0" smtClean="0"/>
              <a:t> </a:t>
            </a:r>
            <a:r>
              <a:rPr lang="ru-RU" dirty="0" err="1" smtClean="0"/>
              <a:t>Software</a:t>
            </a:r>
            <a:r>
              <a:rPr lang="ru-RU" dirty="0" smtClean="0"/>
              <a:t>, </a:t>
            </a:r>
            <a:r>
              <a:rPr lang="ru-RU" dirty="0" err="1" smtClean="0"/>
              <a:t>Inc</a:t>
            </a:r>
            <a:r>
              <a:rPr lang="ru-RU" dirty="0" smtClean="0"/>
              <a:t>. и изначально ориентированная на использования на </a:t>
            </a:r>
            <a:r>
              <a:rPr lang="ru-RU" dirty="0" err="1" smtClean="0"/>
              <a:t>мейнфреймах</a:t>
            </a:r>
            <a:r>
              <a:rPr lang="ru-RU" dirty="0" smtClean="0"/>
              <a:t> компании IBM</a:t>
            </a:r>
          </a:p>
          <a:p>
            <a:r>
              <a:rPr lang="ru-RU" dirty="0" smtClean="0"/>
              <a:t>Архитектура системы основана на предложениях </a:t>
            </a:r>
            <a:r>
              <a:rPr lang="ru-RU" dirty="0" err="1" smtClean="0"/>
              <a:t>Data</a:t>
            </a:r>
            <a:r>
              <a:rPr lang="ru-RU" dirty="0" smtClean="0"/>
              <a:t> </a:t>
            </a:r>
            <a:r>
              <a:rPr lang="ru-RU" dirty="0" err="1" smtClean="0"/>
              <a:t>Base</a:t>
            </a:r>
            <a:r>
              <a:rPr lang="ru-RU" dirty="0" smtClean="0"/>
              <a:t> </a:t>
            </a:r>
            <a:r>
              <a:rPr lang="ru-RU" dirty="0" err="1" smtClean="0"/>
              <a:t>Task</a:t>
            </a:r>
            <a:r>
              <a:rPr lang="ru-RU" dirty="0" smtClean="0"/>
              <a:t> </a:t>
            </a:r>
            <a:r>
              <a:rPr lang="ru-RU" dirty="0" err="1" smtClean="0"/>
              <a:t>Group</a:t>
            </a:r>
            <a:r>
              <a:rPr lang="ru-RU" dirty="0" smtClean="0"/>
              <a:t> (DBTG) организации CODASYL (</a:t>
            </a:r>
            <a:r>
              <a:rPr lang="ru-RU" dirty="0" err="1" smtClean="0"/>
              <a:t>COnference</a:t>
            </a:r>
            <a:r>
              <a:rPr lang="ru-RU" dirty="0" smtClean="0"/>
              <a:t> </a:t>
            </a:r>
            <a:r>
              <a:rPr lang="ru-RU" dirty="0" err="1" smtClean="0"/>
              <a:t>on</a:t>
            </a:r>
            <a:r>
              <a:rPr lang="ru-RU" dirty="0" smtClean="0"/>
              <a:t> </a:t>
            </a:r>
            <a:r>
              <a:rPr lang="ru-RU" dirty="0" err="1" smtClean="0"/>
              <a:t>DAta</a:t>
            </a:r>
            <a:r>
              <a:rPr lang="ru-RU" dirty="0" smtClean="0"/>
              <a:t> </a:t>
            </a:r>
            <a:r>
              <a:rPr lang="ru-RU" dirty="0" err="1" smtClean="0"/>
              <a:t>SYstems</a:t>
            </a:r>
            <a:r>
              <a:rPr lang="ru-RU" dirty="0" smtClean="0"/>
              <a:t> </a:t>
            </a:r>
            <a:r>
              <a:rPr lang="ru-RU" dirty="0" err="1" smtClean="0"/>
              <a:t>Languages</a:t>
            </a:r>
            <a:r>
              <a:rPr lang="ru-RU" dirty="0" smtClean="0"/>
              <a:t>)</a:t>
            </a:r>
          </a:p>
          <a:p>
            <a:r>
              <a:rPr lang="ru-RU" dirty="0" smtClean="0"/>
              <a:t>Отчет DBTG был опубликован в 1971 г., и вскоре после этого появилось несколько систем, поддерживающих архитектуру CODASYL, среди которых присутствовала и СУБД IDMS. В настоящее время IDMS принадлежит компании </a:t>
            </a:r>
            <a:r>
              <a:rPr lang="ru-RU" dirty="0" err="1" smtClean="0"/>
              <a:t>Computer</a:t>
            </a:r>
            <a:r>
              <a:rPr lang="ru-RU" dirty="0" smtClean="0"/>
              <a:t> </a:t>
            </a:r>
            <a:r>
              <a:rPr lang="ru-RU" dirty="0" err="1" smtClean="0"/>
              <a:t>Associates</a:t>
            </a:r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Структуры данных (1/2)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896544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Сетевая модель позволяет организовывать БД, структура которых представляется графом общего вида</a:t>
            </a:r>
          </a:p>
          <a:p>
            <a:r>
              <a:rPr lang="ru-RU" dirty="0" smtClean="0"/>
              <a:t>Каждая вершина графа хранит экземпляры сущностей (записи одного типа) и сведения о групповых отношениях с сущностями других типов</a:t>
            </a:r>
          </a:p>
          <a:p>
            <a:r>
              <a:rPr lang="ru-RU" dirty="0" smtClean="0"/>
              <a:t>Каждая запись может хранить произвольное количество значений атрибутов, характеризующих экземпляр сущности</a:t>
            </a:r>
          </a:p>
          <a:p>
            <a:r>
              <a:rPr lang="ru-RU" dirty="0" smtClean="0"/>
              <a:t>Для каждого типа записи выделяется первичный ключ – атрибут, значение которого позволяет однозначно идентифицировать запись среди экземпляров записей данного типа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Структуры данных (2/2)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Связи между записями в СМД выполняются в виде указателей, т.е. каждая запись хранит ссылку на другую однотипную запись (или признак конца списка) и ссылки на списки подчинённых записей, связанных с ней групповыми отношениями</a:t>
            </a:r>
          </a:p>
          <a:p>
            <a:r>
              <a:rPr lang="ru-RU" dirty="0" smtClean="0"/>
              <a:t>В каждой вершине записи хранятся в виде связного списка. Если список организован как однонаправленный, запись имеет ссылку на следующую однотипную запись в списке; если список двунаправленный – то на следующую и предыдущую однотипные записи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схемы сетевой БД</a:t>
            </a:r>
            <a:endParaRPr lang="ru-RU" dirty="0"/>
          </a:p>
        </p:txBody>
      </p:sp>
      <p:sp>
        <p:nvSpPr>
          <p:cNvPr id="512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123" name="Rectangle 3"/>
          <p:cNvSpPr>
            <a:spLocks noChangeArrowheads="1"/>
          </p:cNvSpPr>
          <p:nvPr/>
        </p:nvSpPr>
        <p:spPr bwMode="auto">
          <a:xfrm>
            <a:off x="0" y="9906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611560" y="2708920"/>
            <a:ext cx="21602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Отдел</a:t>
            </a:r>
            <a:endParaRPr lang="ru-R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491880" y="2708920"/>
            <a:ext cx="21602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Служащие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6372200" y="2708920"/>
            <a:ext cx="2160240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Руководитель</a:t>
            </a:r>
            <a:endParaRPr lang="ru-R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1979712" y="1772816"/>
            <a:ext cx="1944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Состоит из</a:t>
            </a:r>
            <a:endParaRPr lang="ru-R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5508104" y="1772816"/>
            <a:ext cx="15121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Является</a:t>
            </a:r>
            <a:endParaRPr lang="ru-R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3923928" y="3645024"/>
            <a:ext cx="1224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Имеет</a:t>
            </a:r>
            <a:endParaRPr lang="ru-RU" sz="2400" dirty="0"/>
          </a:p>
        </p:txBody>
      </p:sp>
      <p:cxnSp>
        <p:nvCxnSpPr>
          <p:cNvPr id="31" name="Прямая соединительная линия 30"/>
          <p:cNvCxnSpPr>
            <a:stCxn id="7" idx="0"/>
          </p:cNvCxnSpPr>
          <p:nvPr/>
        </p:nvCxnSpPr>
        <p:spPr>
          <a:xfrm flipV="1">
            <a:off x="1691680" y="2276872"/>
            <a:ext cx="0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>
            <a:off x="1691680" y="2276872"/>
            <a:ext cx="24482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/>
          <p:nvPr/>
        </p:nvCxnSpPr>
        <p:spPr>
          <a:xfrm>
            <a:off x="4139952" y="227687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stCxn id="7" idx="2"/>
          </p:cNvCxnSpPr>
          <p:nvPr/>
        </p:nvCxnSpPr>
        <p:spPr>
          <a:xfrm>
            <a:off x="1691680" y="3170585"/>
            <a:ext cx="0" cy="4024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1691680" y="3573016"/>
            <a:ext cx="576064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endCxn id="9" idx="2"/>
          </p:cNvCxnSpPr>
          <p:nvPr/>
        </p:nvCxnSpPr>
        <p:spPr>
          <a:xfrm flipV="1">
            <a:off x="7452320" y="3170585"/>
            <a:ext cx="0" cy="40243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 flipV="1">
            <a:off x="5004048" y="2276872"/>
            <a:ext cx="0" cy="4320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/>
          <p:cNvCxnSpPr/>
          <p:nvPr/>
        </p:nvCxnSpPr>
        <p:spPr>
          <a:xfrm>
            <a:off x="5004048" y="2276872"/>
            <a:ext cx="2448272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endCxn id="9" idx="0"/>
          </p:cNvCxnSpPr>
          <p:nvPr/>
        </p:nvCxnSpPr>
        <p:spPr>
          <a:xfrm>
            <a:off x="7452320" y="2276872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Типичный набор операций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4968552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Найти конкретную запись в наборе однотипных записей (например, служащего с именем Иванов)</a:t>
            </a:r>
          </a:p>
          <a:p>
            <a:r>
              <a:rPr lang="ru-RU" dirty="0" smtClean="0"/>
              <a:t>Перейти от предка к первому потомку по некоторой связи (например, к первому служащему отдела 625)</a:t>
            </a:r>
          </a:p>
          <a:p>
            <a:r>
              <a:rPr lang="ru-RU" dirty="0" smtClean="0"/>
              <a:t>Перейти к следующему потомку в некоторой связи (например, от Иванова к Сидорову)</a:t>
            </a:r>
          </a:p>
          <a:p>
            <a:r>
              <a:rPr lang="ru-RU" dirty="0" smtClean="0"/>
              <a:t>Перейти от потомка к предку по некоторой связи (например, найти отдел, в котором работает Сидоров)</a:t>
            </a:r>
          </a:p>
          <a:p>
            <a:r>
              <a:rPr lang="ru-RU" dirty="0" smtClean="0"/>
              <a:t>Создать новую запись, модифицировать или уничтожить запись</a:t>
            </a:r>
          </a:p>
          <a:p>
            <a:r>
              <a:rPr lang="ru-RU" dirty="0" smtClean="0"/>
              <a:t>Включить в связь, исключить из связи или переставить в другую связь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Ограничения целостности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dirty="0" smtClean="0"/>
              <a:t>	Имеется (необязательная) возможность потребовать для конкретного типа связи отсутствие потомков, не участвующих ни в одном экземпляре этого типа связи (как в иерархической модели)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Вопрос 5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4400" dirty="0" smtClean="0"/>
              <a:t>Реляционная модель данных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История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 smtClean="0"/>
              <a:t>Основные идеи реляционной модели данных были предложены Эдгаром Коддом в 1969 г. </a:t>
            </a:r>
          </a:p>
          <a:p>
            <a:r>
              <a:rPr lang="ru-RU" dirty="0" smtClean="0"/>
              <a:t>Первая реализация осуществлена в рамках экспериментальный проекта компании IBM </a:t>
            </a:r>
            <a:r>
              <a:rPr lang="ru-RU" dirty="0" err="1" smtClean="0"/>
              <a:t>System</a:t>
            </a:r>
            <a:r>
              <a:rPr lang="ru-RU" dirty="0" smtClean="0"/>
              <a:t> R в начале 70-х</a:t>
            </a:r>
          </a:p>
          <a:p>
            <a:r>
              <a:rPr lang="ru-RU" dirty="0" smtClean="0"/>
              <a:t>Несмотря на некоторые недостатки, реляционная модель данных стала доминирующей, а реляционные СУБД стали промышленным стандартом «де-факто» (</a:t>
            </a:r>
            <a:r>
              <a:rPr lang="en-US" dirty="0" smtClean="0"/>
              <a:t>Oracle, Microsoft SQL Server, IBM DB/2, …</a:t>
            </a:r>
            <a:r>
              <a:rPr lang="ru-RU" dirty="0" smtClean="0"/>
              <a:t>)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Структуры данных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844824"/>
            <a:ext cx="8229600" cy="4281339"/>
          </a:xfrm>
        </p:spPr>
        <p:txBody>
          <a:bodyPr>
            <a:normAutofit/>
          </a:bodyPr>
          <a:lstStyle/>
          <a:p>
            <a:r>
              <a:rPr lang="ru-RU" dirty="0" smtClean="0"/>
              <a:t>Таблица (отношение)</a:t>
            </a:r>
          </a:p>
          <a:p>
            <a:r>
              <a:rPr lang="ru-RU" dirty="0" smtClean="0"/>
              <a:t>Строка (кортеж)</a:t>
            </a:r>
          </a:p>
          <a:p>
            <a:r>
              <a:rPr lang="ru-RU" dirty="0" smtClean="0"/>
              <a:t>Столбец (атрибут)</a:t>
            </a:r>
          </a:p>
          <a:p>
            <a:r>
              <a:rPr lang="ru-RU" dirty="0" smtClean="0"/>
              <a:t>Первичный ключ</a:t>
            </a:r>
          </a:p>
          <a:p>
            <a:r>
              <a:rPr lang="ru-RU" dirty="0" smtClean="0"/>
              <a:t>Внешний ключ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Таблица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Таблица состоит из строк и столбцов и имеет имя, уникальное внутри базы данных</a:t>
            </a:r>
          </a:p>
          <a:p>
            <a:r>
              <a:rPr lang="ru-RU" dirty="0" smtClean="0"/>
              <a:t>Таблица отражает тип объекта реального мира (сущность), а каждая ее строка – конкретный объект</a:t>
            </a:r>
          </a:p>
          <a:p>
            <a:r>
              <a:rPr lang="ru-RU" dirty="0" smtClean="0"/>
              <a:t>Таблица может быть пустой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Пример таблицы</a:t>
            </a:r>
            <a:endParaRPr lang="ru-RU" dirty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25" name="Object 1"/>
          <p:cNvGraphicFramePr>
            <a:graphicFrameLocks noChangeAspect="1"/>
          </p:cNvGraphicFramePr>
          <p:nvPr/>
        </p:nvGraphicFramePr>
        <p:xfrm>
          <a:off x="0" y="1700808"/>
          <a:ext cx="9324528" cy="44644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3" imgW="6303264" imgH="2807208" progId="Visio.Drawing.11">
                  <p:embed/>
                </p:oleObj>
              </mc:Choice>
              <mc:Fallback>
                <p:oleObj name="Visio" r:id="rId3" imgW="6303264" imgH="2807208" progId="Visio.Drawing.11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700808"/>
                        <a:ext cx="9324528" cy="44644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23622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Столбец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Имя столбца должно быть уникальным в таблице</a:t>
            </a:r>
          </a:p>
          <a:p>
            <a:r>
              <a:rPr lang="ru-RU" dirty="0" smtClean="0"/>
              <a:t>Любая таблица должна иметь, по крайней мере, один столбец </a:t>
            </a:r>
          </a:p>
          <a:p>
            <a:r>
              <a:rPr lang="ru-RU" dirty="0" smtClean="0"/>
              <a:t>Значения конкретного атрибута выбираются из домена (</a:t>
            </a:r>
            <a:r>
              <a:rPr lang="ru-RU" dirty="0" err="1" smtClean="0"/>
              <a:t>domain</a:t>
            </a:r>
            <a:r>
              <a:rPr lang="ru-RU" dirty="0" smtClean="0"/>
              <a:t>) – множества всех возможных значений атрибута объекта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Строка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В отличие от столбцов строки не имеют имен</a:t>
            </a:r>
          </a:p>
          <a:p>
            <a:r>
              <a:rPr lang="ru-RU" dirty="0" smtClean="0"/>
              <a:t>Порядок их следования в таблице не определен, а количество логически не ограничено</a:t>
            </a:r>
          </a:p>
          <a:p>
            <a:r>
              <a:rPr lang="ru-RU" dirty="0" smtClean="0"/>
              <a:t>Так как строки в таблице не упорядочены, невозможно выбрать строку по ее позиции – среди них не существует "первой" и "последней"</a:t>
            </a:r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Первичный ключ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smtClean="0"/>
              <a:t>Любая таблица имеет один или несколько столбцов, значения в которых однозначно идентифицируют каждую ее строку. Такой столбец (или комбинация столбцов) называется </a:t>
            </a:r>
            <a:r>
              <a:rPr lang="ru-RU" i="1" dirty="0" smtClean="0"/>
              <a:t>первичным ключом</a:t>
            </a:r>
          </a:p>
          <a:p>
            <a:r>
              <a:rPr lang="ru-RU" dirty="0" smtClean="0"/>
              <a:t>В таблице не должно быть строк, имеющих одно и то же значение первичного ключа. Если таблица удовлетворяет этому требованию, она называется </a:t>
            </a:r>
            <a:r>
              <a:rPr lang="ru-RU" i="1" dirty="0" smtClean="0"/>
              <a:t>отношением</a:t>
            </a:r>
            <a:r>
              <a:rPr lang="ru-RU" dirty="0" smtClean="0"/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Внешний ключ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5445224"/>
          </a:xfrm>
        </p:spPr>
        <p:txBody>
          <a:bodyPr>
            <a:normAutofit fontScale="92500" lnSpcReduction="10000"/>
          </a:bodyPr>
          <a:lstStyle/>
          <a:p>
            <a:r>
              <a:rPr lang="ru-RU" i="1" dirty="0" smtClean="0"/>
              <a:t>Внешний ключ</a:t>
            </a:r>
            <a:r>
              <a:rPr lang="ru-RU" dirty="0" smtClean="0"/>
              <a:t> – это столбец, значения которого однозначно характеризуют сущности, представленные строками некоторого другого отношения, то есть задают значения их первичного ключа</a:t>
            </a:r>
          </a:p>
          <a:p>
            <a:r>
              <a:rPr lang="ru-RU" dirty="0" smtClean="0"/>
              <a:t>Говорят, что отношение, в котором определен внешний ключ, ссылается на соответствующее отношение, в котором такой же атрибут является первичным ключом</a:t>
            </a:r>
          </a:p>
          <a:p>
            <a:r>
              <a:rPr lang="ru-RU" dirty="0" smtClean="0"/>
              <a:t>Внешние ключи – единственный механизм, реализующий взаимосвязь таблиц в реляционной модели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Поддерживаемые операции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81128"/>
          </a:xfrm>
        </p:spPr>
        <p:txBody>
          <a:bodyPr>
            <a:normAutofit/>
          </a:bodyPr>
          <a:lstStyle/>
          <a:p>
            <a:r>
              <a:rPr lang="ru-RU" dirty="0" smtClean="0"/>
              <a:t>Теоретико-множественные операции</a:t>
            </a:r>
          </a:p>
          <a:p>
            <a:pPr lvl="1"/>
            <a:r>
              <a:rPr lang="ru-RU" dirty="0" smtClean="0"/>
              <a:t>объединение</a:t>
            </a:r>
          </a:p>
          <a:p>
            <a:pPr lvl="1"/>
            <a:r>
              <a:rPr lang="ru-RU" dirty="0" smtClean="0"/>
              <a:t>пересечение</a:t>
            </a:r>
          </a:p>
          <a:p>
            <a:pPr lvl="1"/>
            <a:r>
              <a:rPr lang="ru-RU" dirty="0" smtClean="0"/>
              <a:t>декартово произведение</a:t>
            </a:r>
          </a:p>
          <a:p>
            <a:pPr lvl="1"/>
            <a:r>
              <a:rPr lang="ru-RU" dirty="0" smtClean="0"/>
              <a:t>деление</a:t>
            </a:r>
          </a:p>
          <a:p>
            <a:r>
              <a:rPr lang="ru-RU" dirty="0" smtClean="0"/>
              <a:t>Специальные реляционные операции</a:t>
            </a:r>
          </a:p>
          <a:p>
            <a:pPr lvl="1"/>
            <a:r>
              <a:rPr lang="ru-RU" dirty="0" smtClean="0"/>
              <a:t>выборка</a:t>
            </a:r>
          </a:p>
          <a:p>
            <a:pPr lvl="1"/>
            <a:r>
              <a:rPr lang="ru-RU" dirty="0" smtClean="0"/>
              <a:t>проекция</a:t>
            </a:r>
          </a:p>
          <a:p>
            <a:pPr lvl="1"/>
            <a:r>
              <a:rPr lang="ru-RU" dirty="0" smtClean="0"/>
              <a:t>соединение</a:t>
            </a:r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Ограничения целостности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Целостность сущностей - любой кортеж отношения должен быть отличим от любого другого его кортежа (другими словами, любое отношение должно обладать первичным ключом)</a:t>
            </a:r>
          </a:p>
          <a:p>
            <a:r>
              <a:rPr lang="ru-RU" dirty="0" smtClean="0"/>
              <a:t>Целостность ссылок - внешний ключ не может быть указателем на несуществующую строку в таблице</a:t>
            </a:r>
          </a:p>
          <a:p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Преимущества реляционной модели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7544" y="1340768"/>
            <a:ext cx="8363272" cy="5256584"/>
          </a:xfrm>
        </p:spPr>
        <p:txBody>
          <a:bodyPr>
            <a:normAutofit fontScale="85000" lnSpcReduction="10000"/>
          </a:bodyPr>
          <a:lstStyle/>
          <a:p>
            <a:pPr lvl="0" hangingPunct="0"/>
            <a:r>
              <a:rPr lang="ru-RU" dirty="0" smtClean="0"/>
              <a:t>Наличие развитой теории реляционной модели данных, которая поддержана теоретическими исследованиями в большей степени по сравнению с другими моделями</a:t>
            </a:r>
          </a:p>
          <a:p>
            <a:pPr lvl="0" hangingPunct="0"/>
            <a:r>
              <a:rPr lang="ru-RU" dirty="0" smtClean="0"/>
              <a:t>Наличие аппарата сведения к реляционной других моделей данных</a:t>
            </a:r>
          </a:p>
          <a:p>
            <a:pPr lvl="0" hangingPunct="0"/>
            <a:r>
              <a:rPr lang="ru-RU" dirty="0" smtClean="0"/>
              <a:t>Поддержка реляционной моделью специальных средств ускоренного доступа к информации</a:t>
            </a:r>
          </a:p>
          <a:p>
            <a:pPr lvl="0" hangingPunct="0"/>
            <a:r>
              <a:rPr lang="ru-RU" dirty="0" smtClean="0"/>
              <a:t>Возможность манипулирования данными без необходимости знания конкретной физической организации БД во внешней памяти</a:t>
            </a:r>
          </a:p>
          <a:p>
            <a:pPr lvl="0" hangingPunct="0"/>
            <a:r>
              <a:rPr lang="ru-RU" dirty="0" smtClean="0"/>
              <a:t>Наличие стандартизованного высокоуровневого языка запросов к базам данных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1938</TotalTime>
  <Words>1576</Words>
  <Application>Microsoft Office PowerPoint</Application>
  <PresentationFormat>Экран (4:3)</PresentationFormat>
  <Paragraphs>178</Paragraphs>
  <Slides>39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3" baseType="lpstr">
      <vt:lpstr>Arial</vt:lpstr>
      <vt:lpstr>Calibri</vt:lpstr>
      <vt:lpstr>Тема Office</vt:lpstr>
      <vt:lpstr>Visio</vt:lpstr>
      <vt:lpstr>План лекции</vt:lpstr>
      <vt:lpstr>Вопрос 1</vt:lpstr>
      <vt:lpstr>Определение</vt:lpstr>
      <vt:lpstr>Структурная часть</vt:lpstr>
      <vt:lpstr>Манипуляционная часть</vt:lpstr>
      <vt:lpstr>Целостная часть</vt:lpstr>
      <vt:lpstr>Вопрос 2</vt:lpstr>
      <vt:lpstr>Известные представители</vt:lpstr>
      <vt:lpstr>Применение в настоящее время</vt:lpstr>
      <vt:lpstr>Ограничения целостности</vt:lpstr>
      <vt:lpstr>Вопрос 3</vt:lpstr>
      <vt:lpstr>Типичный представитель</vt:lpstr>
      <vt:lpstr>Структуры данных (1/2)</vt:lpstr>
      <vt:lpstr>Структуры данных (2/2)</vt:lpstr>
      <vt:lpstr>Пример типа дерева</vt:lpstr>
      <vt:lpstr>Пример иерархической БД</vt:lpstr>
      <vt:lpstr>Терминология</vt:lpstr>
      <vt:lpstr>Способы навигации</vt:lpstr>
      <vt:lpstr>Типичный набор операций</vt:lpstr>
      <vt:lpstr>Ограничения целостности</vt:lpstr>
      <vt:lpstr>Вопрос 4</vt:lpstr>
      <vt:lpstr>Типичный представитель</vt:lpstr>
      <vt:lpstr>Структуры данных (1/2)</vt:lpstr>
      <vt:lpstr>Структуры данных (2/2)</vt:lpstr>
      <vt:lpstr>Пример схемы сетевой БД</vt:lpstr>
      <vt:lpstr>Типичный набор операций</vt:lpstr>
      <vt:lpstr>Ограничения целостности</vt:lpstr>
      <vt:lpstr>Вопрос 5</vt:lpstr>
      <vt:lpstr>История</vt:lpstr>
      <vt:lpstr>Структуры данных</vt:lpstr>
      <vt:lpstr>Таблица</vt:lpstr>
      <vt:lpstr>Пример таблицы</vt:lpstr>
      <vt:lpstr>Столбец</vt:lpstr>
      <vt:lpstr>Строка</vt:lpstr>
      <vt:lpstr>Первичный ключ</vt:lpstr>
      <vt:lpstr>Внешний ключ</vt:lpstr>
      <vt:lpstr>Поддерживаемые операции</vt:lpstr>
      <vt:lpstr>Ограничения целостности</vt:lpstr>
      <vt:lpstr>Преимущества реляционной модели</vt:lpstr>
    </vt:vector>
  </TitlesOfParts>
  <Company>TOSHIBA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art</dc:creator>
  <cp:lastModifiedBy>Николай Волков</cp:lastModifiedBy>
  <cp:revision>210</cp:revision>
  <dcterms:created xsi:type="dcterms:W3CDTF">2012-04-10T15:36:07Z</dcterms:created>
  <dcterms:modified xsi:type="dcterms:W3CDTF">2021-12-21T13:40:03Z</dcterms:modified>
</cp:coreProperties>
</file>