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83" r:id="rId2"/>
    <p:sldId id="259" r:id="rId3"/>
    <p:sldId id="260" r:id="rId4"/>
    <p:sldId id="262" r:id="rId5"/>
    <p:sldId id="261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58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4842A1-4A0A-4E18-A818-5BE5A60D4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DA75503-DD77-49FA-851C-0F085D3E62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E3913D3-C80D-4613-9EFA-4C9F2DAD5F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26CE9A-0140-4FEE-BBA2-9EAF6CC94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5C1DD9D-3014-4E1F-A09C-2235AAC4A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24812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1CF7C4-75C4-40A0-A3BD-BCFB0A70E0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515E72-7048-4605-AB2E-36ACC8A8ED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E18601D-63DF-4B84-91D2-DCC5B3300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7085DF-8A64-47C5-8B67-51CDB130E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981A73B-7E76-4107-BC16-DBDEE1B16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7177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0953BB-269F-417D-87D3-4051D5023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8781E8-5896-44DD-BDA2-3F9EAE903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C595E74-877B-4943-B546-08E540527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887F4CF-D998-4F38-9129-35417882AE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27E3256-551F-4D07-ABAA-C28E779CF4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73864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DB1BF12-1930-4424-B4C4-EAD71CB50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81571E8-EC88-4C6B-B676-EBEBB571212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DF72C9E9-054B-4125-B3F3-2AC99EFB8D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C7914C9-78A0-403D-AD50-2244511A5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40B15B2-B5AB-4A1B-8454-D5FB5C739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00608C3-2F07-4228-BFF6-C1D1CC8FD8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07481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7AE1A03-33B8-4E65-8C85-E3123C6E4C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D6921C6-8FF0-492A-8D18-6863D9AD5B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42701973-087B-4050-846C-668512FE2E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84186AED-F9AE-419A-8B05-72003F39AD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5CC9484-99F4-41A9-8F59-F16E10F25F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05F98B-18AA-4E43-B6C5-BE0B8A9DC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F5C1095C-CDA8-4BA3-9179-296940E741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5FF4552-956F-4054-8CFE-BD2D3CF73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6845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D54A38-130C-4110-B99B-98348442F9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D7A682B6-03A7-4FB4-ABA2-BF5D7022A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B80FC16-7876-4153-9BFC-EB8CFD744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5F97732-F975-4DD6-B796-A40E7358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9917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EA0CFC73-0343-4B18-9057-6BC55D882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B8B268A-0FC5-4CD6-B230-3E5238639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BA127CC-CB18-40DB-BAB8-14F88CEA0B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28789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E5FC3F-23F7-4E7D-988A-E402D5789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6562F7B-0915-4DE9-9A77-4247F85D08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C69F6B9-58B5-465F-BB39-7CCFC81322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1AD392E-A23D-4B0B-891C-CABF6EA282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AFD83EA-B723-43A9-92E9-A988AB1E4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7FD232A-1895-42C1-9631-5C35CD6DA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64765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129106-1B09-41C0-BB98-1188AC565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634058D-0CAB-4580-B030-9655A4C240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F1EBBBE-9E30-4DC5-868B-2ED42E996B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4AABD38-0448-4EE8-B01C-589231A75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46A419B-9CDE-48D5-A299-72EEEF708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251CA79-ABE5-4D48-9B50-52310296F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983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1836A3-B4EB-46AB-9912-3B4764CC0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2B8DF70-B83C-4C20-9359-F52F2CAFD7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E458D10-3E87-42D1-B217-87059177C9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4D9F83C-B613-4257-AD8F-86954E6DE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F201F20-9824-49A9-BD2E-08896E3145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35138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5DD5F6B-37DC-4F11-AFA1-3D5D46D4E6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33D811D-E9BC-47B6-92D1-D59E37269C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6DDA1C2-1702-477F-9B50-0C339230ED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82C6E66-CD3F-4DB0-BFC0-62BD83243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DBEF32A-C79E-4AAA-BA72-FC1208FE5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83737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00A54C1-3EAE-4EC3-8585-3EED9394F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42C5C5D-7DBC-4724-84F6-C2AB0F8C5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D04EE8E-9347-4120-878E-F80569D51A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CF748-AA64-4C4B-83A0-0A55A17AA5F2}" type="datetimeFigureOut">
              <a:rPr lang="ru-RU" smtClean="0"/>
              <a:t>27.04.2022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768B13D-FF41-4ADC-8716-D7F4109044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7609C8C-4694-4770-8D53-3D1FF66415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DEB440-8903-435B-BAC2-D7721E43FD5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93224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4E15E9-A011-4C21-9D18-B8787FD07D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55371"/>
            <a:ext cx="9144000" cy="897392"/>
          </a:xfrm>
        </p:spPr>
        <p:txBody>
          <a:bodyPr>
            <a:normAutofit fontScale="90000"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Защита курсового проекта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96F0B51-0E4F-43B8-A66B-E2A1C47EE1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 стажер:</a:t>
            </a:r>
          </a:p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Токарчук Андрей</a:t>
            </a:r>
          </a:p>
        </p:txBody>
      </p:sp>
    </p:spTree>
    <p:extLst>
      <p:ext uri="{BB962C8B-B14F-4D97-AF65-F5344CB8AC3E}">
        <p14:creationId xmlns:p14="http://schemas.microsoft.com/office/powerpoint/2010/main" val="2271921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Объект 4">
            <a:extLst>
              <a:ext uri="{FF2B5EF4-FFF2-40B4-BE49-F238E27FC236}">
                <a16:creationId xmlns:a16="http://schemas.microsoft.com/office/drawing/2014/main" id="{4B85A0FC-D267-41C5-979D-D4DCB0A9DC6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82690" y="1098898"/>
            <a:ext cx="10419318" cy="4660203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A1BF639-623E-49C5-976E-ECD5E92495C8}"/>
              </a:ext>
            </a:extLst>
          </p:cNvPr>
          <p:cNvSpPr txBox="1"/>
          <p:nvPr/>
        </p:nvSpPr>
        <p:spPr>
          <a:xfrm>
            <a:off x="3489649" y="512183"/>
            <a:ext cx="55797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1. База данных точки продажи мобильной техники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89A611B-0E71-401A-B944-2EB5288DD4DD}"/>
              </a:ext>
            </a:extLst>
          </p:cNvPr>
          <p:cNvSpPr txBox="1"/>
          <p:nvPr/>
        </p:nvSpPr>
        <p:spPr>
          <a:xfrm>
            <a:off x="4355064" y="5824536"/>
            <a:ext cx="333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ER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-диаграмма логического уровня 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36748814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88E6105-F7C6-4C7B-A572-7D8E505EB3F0}"/>
              </a:ext>
            </a:extLst>
          </p:cNvPr>
          <p:cNvSpPr txBox="1"/>
          <p:nvPr/>
        </p:nvSpPr>
        <p:spPr>
          <a:xfrm>
            <a:off x="5119014" y="302036"/>
            <a:ext cx="17914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Диаграммы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B04A72-161C-43FD-8E4E-5015C59BC494}"/>
              </a:ext>
            </a:extLst>
          </p:cNvPr>
          <p:cNvSpPr txBox="1"/>
          <p:nvPr/>
        </p:nvSpPr>
        <p:spPr>
          <a:xfrm>
            <a:off x="1095684" y="5397792"/>
            <a:ext cx="4565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UML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-диаграмма прецедентов</a:t>
            </a:r>
            <a:endParaRPr lang="ru-RU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783B28-E5E8-4295-8E99-9B5CC51BA68A}"/>
              </a:ext>
            </a:extLst>
          </p:cNvPr>
          <p:cNvSpPr txBox="1"/>
          <p:nvPr/>
        </p:nvSpPr>
        <p:spPr>
          <a:xfrm>
            <a:off x="1348107" y="5689308"/>
            <a:ext cx="406015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О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писывает обязанности работника по его должности</a:t>
            </a:r>
            <a:endParaRPr lang="ru-RU" sz="1400" dirty="0"/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23FA89D-A99A-4973-88E6-538BCA92D7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416" y="865255"/>
            <a:ext cx="5610515" cy="453126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7636CBAB-E26D-42ED-8EC0-3AB16FFF8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3182" y="865256"/>
            <a:ext cx="6231401" cy="3498981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ED15BAC-FB3C-44D4-93B6-B1FDBAC1264F}"/>
              </a:ext>
            </a:extLst>
          </p:cNvPr>
          <p:cNvSpPr txBox="1"/>
          <p:nvPr/>
        </p:nvSpPr>
        <p:spPr>
          <a:xfrm>
            <a:off x="6454069" y="4514055"/>
            <a:ext cx="456500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latin typeface="Times New Roman" panose="02020603050405020304" pitchFamily="18" charset="0"/>
                <a:ea typeface="Calibri" panose="020F0502020204030204" pitchFamily="34" charset="0"/>
              </a:rPr>
              <a:t>IDEF0 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-диаграмма </a:t>
            </a:r>
            <a:endParaRPr lang="ru-RU" sz="14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7FB19A1-01E8-4E79-8736-E05A4668D69F}"/>
              </a:ext>
            </a:extLst>
          </p:cNvPr>
          <p:cNvSpPr txBox="1"/>
          <p:nvPr/>
        </p:nvSpPr>
        <p:spPr>
          <a:xfrm>
            <a:off x="5540052" y="5060515"/>
            <a:ext cx="6097554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Модель IDEF0 представляет собой набор блоков, каждый из которых представляет собой диаграмму со входами и выходами, управлением и механизмами, которые детализируются (декомпозируются) до необходимого уровня</a:t>
            </a:r>
          </a:p>
        </p:txBody>
      </p:sp>
    </p:spTree>
    <p:extLst>
      <p:ext uri="{BB962C8B-B14F-4D97-AF65-F5344CB8AC3E}">
        <p14:creationId xmlns:p14="http://schemas.microsoft.com/office/powerpoint/2010/main" val="21503844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16A987E-336C-4DB9-95F9-842C5753E7AB}"/>
              </a:ext>
            </a:extLst>
          </p:cNvPr>
          <p:cNvSpPr txBox="1"/>
          <p:nvPr/>
        </p:nvSpPr>
        <p:spPr>
          <a:xfrm>
            <a:off x="2237792" y="604147"/>
            <a:ext cx="7716416" cy="368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Нормализация</a:t>
            </a:r>
            <a:r>
              <a:rPr lang="en-US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и описание структур сущности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E92F75A-940F-44CE-AC6F-292C47488276}"/>
              </a:ext>
            </a:extLst>
          </p:cNvPr>
          <p:cNvSpPr txBox="1"/>
          <p:nvPr/>
        </p:nvSpPr>
        <p:spPr>
          <a:xfrm>
            <a:off x="5908387" y="5495586"/>
            <a:ext cx="6097554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Анализ на транзитивные зависимости таблицы «Сотрудники»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FF644B82-2CCE-4E9B-AF70-21C7CED456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03249"/>
            <a:ext cx="5722327" cy="3924929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4536D29-F7EA-4021-8154-41770F038132}"/>
              </a:ext>
            </a:extLst>
          </p:cNvPr>
          <p:cNvSpPr txBox="1"/>
          <p:nvPr/>
        </p:nvSpPr>
        <p:spPr>
          <a:xfrm>
            <a:off x="270033" y="5677057"/>
            <a:ext cx="6097554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 связей сущности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E2969C6E-DC6F-4F03-8B03-93FB833E4D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3673" y="1408061"/>
            <a:ext cx="5554379" cy="427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0463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D8C9A69E-C3D4-485F-B25B-F9DD7B8B25A0}"/>
              </a:ext>
            </a:extLst>
          </p:cNvPr>
          <p:cNvSpPr txBox="1"/>
          <p:nvPr/>
        </p:nvSpPr>
        <p:spPr>
          <a:xfrm>
            <a:off x="4561115" y="339358"/>
            <a:ext cx="34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Рабочая база данных «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Score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»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E0898F-C472-4720-AA55-4A0D0BBC4114}"/>
              </a:ext>
            </a:extLst>
          </p:cNvPr>
          <p:cNvSpPr txBox="1"/>
          <p:nvPr/>
        </p:nvSpPr>
        <p:spPr>
          <a:xfrm>
            <a:off x="3198068" y="5808394"/>
            <a:ext cx="609755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ER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-диаграмма логического уровня </a:t>
            </a:r>
            <a:endParaRPr lang="ru-RU" sz="1400" dirty="0"/>
          </a:p>
        </p:txBody>
      </p: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B6BEE54C-DE04-49D2-B5EA-211886B9C678}"/>
              </a:ext>
            </a:extLst>
          </p:cNvPr>
          <p:cNvGrpSpPr/>
          <p:nvPr/>
        </p:nvGrpSpPr>
        <p:grpSpPr>
          <a:xfrm>
            <a:off x="2074506" y="894834"/>
            <a:ext cx="8042987" cy="4913560"/>
            <a:chOff x="2074506" y="909503"/>
            <a:chExt cx="8042987" cy="4913560"/>
          </a:xfrm>
        </p:grpSpPr>
        <p:pic>
          <p:nvPicPr>
            <p:cNvPr id="6" name="Рисунок 5">
              <a:extLst>
                <a:ext uri="{FF2B5EF4-FFF2-40B4-BE49-F238E27FC236}">
                  <a16:creationId xmlns:a16="http://schemas.microsoft.com/office/drawing/2014/main" id="{3419E39C-15D7-43BD-AB26-A1078772485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74506" y="909503"/>
              <a:ext cx="8042987" cy="4913560"/>
            </a:xfrm>
            <a:prstGeom prst="rect">
              <a:avLst/>
            </a:prstGeom>
          </p:spPr>
        </p:pic>
        <p:sp>
          <p:nvSpPr>
            <p:cNvPr id="2" name="Прямоугольник 1">
              <a:extLst>
                <a:ext uri="{FF2B5EF4-FFF2-40B4-BE49-F238E27FC236}">
                  <a16:creationId xmlns:a16="http://schemas.microsoft.com/office/drawing/2014/main" id="{24EA3FE0-FF17-4ACC-B7EA-3182D822CCE9}"/>
                </a:ext>
              </a:extLst>
            </p:cNvPr>
            <p:cNvSpPr/>
            <p:nvPr/>
          </p:nvSpPr>
          <p:spPr>
            <a:xfrm>
              <a:off x="2743200" y="4721290"/>
              <a:ext cx="1380931" cy="839755"/>
            </a:xfrm>
            <a:prstGeom prst="rect">
              <a:avLst/>
            </a:prstGeom>
            <a:ln>
              <a:solidFill>
                <a:schemeClr val="bg1"/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</p:spTree>
    <p:extLst>
      <p:ext uri="{BB962C8B-B14F-4D97-AF65-F5344CB8AC3E}">
        <p14:creationId xmlns:p14="http://schemas.microsoft.com/office/powerpoint/2010/main" val="10358079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1DE97B1-2320-4A53-9787-F448C23B04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9" y="1533232"/>
            <a:ext cx="6111770" cy="261388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32140BD-0E0C-4F91-8649-4B1276EAA614}"/>
              </a:ext>
            </a:extLst>
          </p:cNvPr>
          <p:cNvSpPr txBox="1"/>
          <p:nvPr/>
        </p:nvSpPr>
        <p:spPr>
          <a:xfrm>
            <a:off x="341345" y="4017824"/>
            <a:ext cx="6097554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 связей сущности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427293-6092-4D85-8E48-BD41F02C6180}"/>
              </a:ext>
            </a:extLst>
          </p:cNvPr>
          <p:cNvSpPr txBox="1"/>
          <p:nvPr/>
        </p:nvSpPr>
        <p:spPr>
          <a:xfrm>
            <a:off x="4822204" y="342513"/>
            <a:ext cx="34080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Описание структур сущности</a:t>
            </a:r>
            <a:endParaRPr lang="ru-RU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72FC8E1-6BAB-45C7-8214-52FBF8D9F4A8}"/>
              </a:ext>
            </a:extLst>
          </p:cNvPr>
          <p:cNvSpPr txBox="1"/>
          <p:nvPr/>
        </p:nvSpPr>
        <p:spPr>
          <a:xfrm>
            <a:off x="6248364" y="4778037"/>
            <a:ext cx="6097554" cy="3809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</a:pP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IDEF0</a:t>
            </a:r>
            <a:r>
              <a:rPr lang="ru-RU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-</a:t>
            </a:r>
            <a:r>
              <a:rPr lang="en-US" sz="1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sz="14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Диаграмма</a:t>
            </a:r>
            <a:endParaRPr lang="ru-RU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396FAC0A-32AB-4C6D-8FB7-2E3946DCFE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8570" y="1342763"/>
            <a:ext cx="5258256" cy="3185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04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A0EB32E-C9EE-4B45-A573-E2CB36AF4CF2}"/>
              </a:ext>
            </a:extLst>
          </p:cNvPr>
          <p:cNvSpPr txBox="1"/>
          <p:nvPr/>
        </p:nvSpPr>
        <p:spPr>
          <a:xfrm>
            <a:off x="4561115" y="339358"/>
            <a:ext cx="30697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Запросы </a:t>
            </a:r>
          </a:p>
        </p:txBody>
      </p: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ABF4BEAA-C86D-4579-A422-DB341E5F7076}"/>
              </a:ext>
            </a:extLst>
          </p:cNvPr>
          <p:cNvGrpSpPr/>
          <p:nvPr/>
        </p:nvGrpSpPr>
        <p:grpSpPr>
          <a:xfrm>
            <a:off x="139959" y="1066865"/>
            <a:ext cx="11737911" cy="1492849"/>
            <a:chOff x="139959" y="1066865"/>
            <a:chExt cx="11737911" cy="1492849"/>
          </a:xfrm>
        </p:grpSpPr>
        <p:pic>
          <p:nvPicPr>
            <p:cNvPr id="5" name="Рисунок 4">
              <a:extLst>
                <a:ext uri="{FF2B5EF4-FFF2-40B4-BE49-F238E27FC236}">
                  <a16:creationId xmlns:a16="http://schemas.microsoft.com/office/drawing/2014/main" id="{CFCB6D98-2275-4A86-BB4B-6A5173ED15C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08914" y="1066865"/>
              <a:ext cx="5868956" cy="1492849"/>
            </a:xfrm>
            <a:prstGeom prst="rect">
              <a:avLst/>
            </a:prstGeom>
          </p:spPr>
        </p:pic>
        <p:pic>
          <p:nvPicPr>
            <p:cNvPr id="9" name="Рисунок 8">
              <a:extLst>
                <a:ext uri="{FF2B5EF4-FFF2-40B4-BE49-F238E27FC236}">
                  <a16:creationId xmlns:a16="http://schemas.microsoft.com/office/drawing/2014/main" id="{307E9F1D-D6E6-4726-8FC2-F25DF7C7A8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39959" y="1254983"/>
              <a:ext cx="5868955" cy="1165906"/>
            </a:xfrm>
            <a:prstGeom prst="rect">
              <a:avLst/>
            </a:prstGeom>
          </p:spPr>
        </p:pic>
      </p:grp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E43C4421-6A1F-4667-B7EB-12286B6487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959" y="2901871"/>
            <a:ext cx="5781869" cy="1335767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5E840065-91DC-471F-89F8-349F908E3D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8914" y="2735580"/>
            <a:ext cx="5212080" cy="1386840"/>
          </a:xfrm>
          <a:prstGeom prst="rect">
            <a:avLst/>
          </a:prstGeom>
        </p:spPr>
      </p:pic>
      <p:cxnSp>
        <p:nvCxnSpPr>
          <p:cNvPr id="32" name="Прямая соединительная линия 31">
            <a:extLst>
              <a:ext uri="{FF2B5EF4-FFF2-40B4-BE49-F238E27FC236}">
                <a16:creationId xmlns:a16="http://schemas.microsoft.com/office/drawing/2014/main" id="{F202AE1E-18F1-4CCA-BADB-EDE159764C5F}"/>
              </a:ext>
            </a:extLst>
          </p:cNvPr>
          <p:cNvCxnSpPr/>
          <p:nvPr/>
        </p:nvCxnSpPr>
        <p:spPr>
          <a:xfrm>
            <a:off x="4948334" y="2662351"/>
            <a:ext cx="20434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Прямая соединительная линия 32">
            <a:extLst>
              <a:ext uri="{FF2B5EF4-FFF2-40B4-BE49-F238E27FC236}">
                <a16:creationId xmlns:a16="http://schemas.microsoft.com/office/drawing/2014/main" id="{53C2E282-14E0-4117-A0E3-5B294D3415FC}"/>
              </a:ext>
            </a:extLst>
          </p:cNvPr>
          <p:cNvCxnSpPr/>
          <p:nvPr/>
        </p:nvCxnSpPr>
        <p:spPr>
          <a:xfrm>
            <a:off x="4948334" y="4316980"/>
            <a:ext cx="20434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343488D1-BE08-4550-9281-B4FAB42860B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9958" y="4761903"/>
            <a:ext cx="7161443" cy="1209703"/>
          </a:xfrm>
          <a:prstGeom prst="rect">
            <a:avLst/>
          </a:prstGeom>
        </p:spPr>
      </p:pic>
      <p:pic>
        <p:nvPicPr>
          <p:cNvPr id="36" name="Рисунок 35">
            <a:extLst>
              <a:ext uri="{FF2B5EF4-FFF2-40B4-BE49-F238E27FC236}">
                <a16:creationId xmlns:a16="http://schemas.microsoft.com/office/drawing/2014/main" id="{AF42828A-7915-4317-BF6D-43B9192C4A8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630885" y="4784813"/>
            <a:ext cx="3139440" cy="982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09829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B330F97-B6EC-4C3F-8B6D-DDA466E5DD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299" y="611237"/>
            <a:ext cx="7447424" cy="1371893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4645FAA-D3C7-4503-AE3E-DCF0DAC952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892" y="542950"/>
            <a:ext cx="3088640" cy="1440180"/>
          </a:xfrm>
          <a:prstGeom prst="rect">
            <a:avLst/>
          </a:prstGeom>
        </p:spPr>
      </p:pic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38D83C7E-1322-46CA-8E18-F78655C69701}"/>
              </a:ext>
            </a:extLst>
          </p:cNvPr>
          <p:cNvCxnSpPr/>
          <p:nvPr/>
        </p:nvCxnSpPr>
        <p:spPr>
          <a:xfrm>
            <a:off x="4612432" y="2158498"/>
            <a:ext cx="20434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5BC0B0AA-FAC8-49FE-8690-EBC3C7CC7E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239" y="2475167"/>
            <a:ext cx="4671465" cy="3848433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E5FE2431-BBDC-4E11-BAC1-655FC07FEF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48847" y="2876866"/>
            <a:ext cx="3305292" cy="3045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1542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C54F440A-C195-4A83-A494-F9180630B526}"/>
              </a:ext>
            </a:extLst>
          </p:cNvPr>
          <p:cNvCxnSpPr/>
          <p:nvPr/>
        </p:nvCxnSpPr>
        <p:spPr>
          <a:xfrm>
            <a:off x="5074298" y="3683752"/>
            <a:ext cx="20434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5251055-182C-493F-B9F9-37D26FB4B5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698" y="329769"/>
            <a:ext cx="7033805" cy="316631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5253921-DD4D-4190-94DA-AB1C33156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5865" y="1037642"/>
            <a:ext cx="2948940" cy="11811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1B690A34-BD7E-4CDC-B6F3-BEB1710C0DE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999" y="4049485"/>
            <a:ext cx="7342505" cy="2355747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2248AF01-E39B-4E82-BA5F-4E3C739A4E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6791" y="4366727"/>
            <a:ext cx="7505209" cy="1453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63034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40A71DDE-182E-4601-B357-3CD9D09BAFFB}"/>
              </a:ext>
            </a:extLst>
          </p:cNvPr>
          <p:cNvCxnSpPr/>
          <p:nvPr/>
        </p:nvCxnSpPr>
        <p:spPr>
          <a:xfrm>
            <a:off x="4781628" y="2896475"/>
            <a:ext cx="20434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440FAE78-2E70-4B88-A4B2-5BCE5F2135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27" y="145417"/>
            <a:ext cx="6858594" cy="2751058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91DB92C8-1713-4CEA-BEBA-BF44893CA4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0323" y="566413"/>
            <a:ext cx="6382107" cy="1599791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C490C6E2-5FFE-4DA2-9208-325E75A237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829" y="3626746"/>
            <a:ext cx="6988146" cy="2522439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41F7756F-FDB3-4C57-91EF-8500E131CA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2269" y="3832705"/>
            <a:ext cx="3710940" cy="2316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166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Прямая соединительная линия 10">
            <a:extLst>
              <a:ext uri="{FF2B5EF4-FFF2-40B4-BE49-F238E27FC236}">
                <a16:creationId xmlns:a16="http://schemas.microsoft.com/office/drawing/2014/main" id="{6BF03153-7727-4228-856A-B17D200A3F6C}"/>
              </a:ext>
            </a:extLst>
          </p:cNvPr>
          <p:cNvCxnSpPr/>
          <p:nvPr/>
        </p:nvCxnSpPr>
        <p:spPr>
          <a:xfrm>
            <a:off x="5470433" y="4092546"/>
            <a:ext cx="20434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78C06F47-5D0E-4D3C-9191-792820EBB5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51" y="186612"/>
            <a:ext cx="5494654" cy="3808388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A832563A-C551-47A3-8180-D15AFCDFC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3837" y="1365334"/>
            <a:ext cx="2408129" cy="1066892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98545E6-9FD6-4044-A9D0-ABA3744DB4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936" y="4306833"/>
            <a:ext cx="5273497" cy="2293819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6878CB6B-E877-4757-BE80-CADFD066A6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773" y="4190093"/>
            <a:ext cx="2857500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2851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2758CB9C-1FAC-4DF8-9DC1-F289A35B62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634" y="242597"/>
            <a:ext cx="7875422" cy="5346440"/>
          </a:xfrm>
          <a:prstGeom prst="rect">
            <a:avLst/>
          </a:prstGeom>
        </p:spPr>
      </p:pic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CB4A8021-6AD1-49AB-ABA6-29B12BD80A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23780" y="2552700"/>
            <a:ext cx="449453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7043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E49F32F7-BBC2-4023-B46F-00A2094FF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73" y="1207783"/>
            <a:ext cx="6515887" cy="2738709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1DCD5983-CDAB-44A7-A2D1-634D42057C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352" y="3763596"/>
            <a:ext cx="4069433" cy="365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272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3FCC0B3-647D-4BF9-AE9E-592EE88293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18" y="345054"/>
            <a:ext cx="7524927" cy="5635868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8909DC4-74F5-46AB-9934-CC813B2699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4949" y="2194832"/>
            <a:ext cx="4448175" cy="1162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505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A2AC96E-BA77-4AB7-A4DC-175DBD5B11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72" y="296206"/>
            <a:ext cx="6634465" cy="5321956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3855D2D-89B0-4DA1-A5AC-182431E39D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427" y="1112319"/>
            <a:ext cx="2514818" cy="2316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83054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E324DA-17A8-4C09-A902-AC58DBD2AF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171" y="366152"/>
            <a:ext cx="7861954" cy="366467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8F9FFF9-7E11-4CB6-992E-2C01FE399F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1354" y="3291295"/>
            <a:ext cx="5753100" cy="6019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709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5A52F7D-5DAB-4CFE-9E5B-6C6E08DA9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78" y="284331"/>
            <a:ext cx="7136912" cy="6069816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88E10B-6A10-4385-A3ED-16F810D08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427" y="1069444"/>
            <a:ext cx="4998720" cy="3002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2975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1168F9D5-DACE-4551-96F1-57D7BA03F959}"/>
              </a:ext>
            </a:extLst>
          </p:cNvPr>
          <p:cNvSpPr txBox="1"/>
          <p:nvPr/>
        </p:nvSpPr>
        <p:spPr>
          <a:xfrm>
            <a:off x="4378390" y="460656"/>
            <a:ext cx="34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Дополнительные задания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49A829-5729-4266-8E9E-757B4E325C84}"/>
              </a:ext>
            </a:extLst>
          </p:cNvPr>
          <p:cNvSpPr txBox="1"/>
          <p:nvPr/>
        </p:nvSpPr>
        <p:spPr>
          <a:xfrm>
            <a:off x="2677886" y="952740"/>
            <a:ext cx="65259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Отправка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blob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файла с информацией о его размере на почту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2B28EC3-2324-4563-A6CD-DC2AE4898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509" y="1444824"/>
            <a:ext cx="6723877" cy="504573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9A755A6-70CA-4A0D-8D23-E87131A950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5149" y="5363313"/>
            <a:ext cx="4092630" cy="1083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7255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BACAC0-4B4D-4C74-AB9B-E18D2E80034D}"/>
              </a:ext>
            </a:extLst>
          </p:cNvPr>
          <p:cNvSpPr txBox="1"/>
          <p:nvPr/>
        </p:nvSpPr>
        <p:spPr>
          <a:xfrm>
            <a:off x="4378390" y="460656"/>
            <a:ext cx="34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База данных на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sql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5132D3D0-133F-4678-AA81-1FB07C3682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07" y="989045"/>
            <a:ext cx="4574051" cy="3536739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97FC993-7FB2-4541-A683-B3E85793CE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0758" y="1172842"/>
            <a:ext cx="5261551" cy="4512315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C52BE8BE-5B10-4342-8069-6A218ED4FE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2005" y="1287624"/>
            <a:ext cx="1973288" cy="3853543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14D2B785-9C4A-4012-8043-1F6EAB43D3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30634" y="4117512"/>
            <a:ext cx="1900124" cy="1557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559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B14EBD6-3AF6-4DDB-81CB-78D499B8FF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19" y="921693"/>
            <a:ext cx="5326842" cy="393226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915B60F-DEA4-4EF3-AA80-886CC7125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6941" y="921693"/>
            <a:ext cx="5342083" cy="305588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CC6BE51-EF64-4825-863D-9E68C4E92691}"/>
              </a:ext>
            </a:extLst>
          </p:cNvPr>
          <p:cNvSpPr txBox="1"/>
          <p:nvPr/>
        </p:nvSpPr>
        <p:spPr>
          <a:xfrm>
            <a:off x="4238430" y="376680"/>
            <a:ext cx="34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Задания для запросов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96AAF0D-E0C0-4407-AB3C-50D5BD2BB0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1673" y="3947963"/>
            <a:ext cx="5928957" cy="2338256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A85DE9-3026-45BD-8429-E04DCAE4CA9E}"/>
              </a:ext>
            </a:extLst>
          </p:cNvPr>
          <p:cNvSpPr txBox="1"/>
          <p:nvPr/>
        </p:nvSpPr>
        <p:spPr>
          <a:xfrm>
            <a:off x="6891435" y="6211573"/>
            <a:ext cx="34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</a:t>
            </a:r>
          </a:p>
        </p:txBody>
      </p:sp>
      <p:cxnSp>
        <p:nvCxnSpPr>
          <p:cNvPr id="14" name="Прямая соединительная линия 13">
            <a:extLst>
              <a:ext uri="{FF2B5EF4-FFF2-40B4-BE49-F238E27FC236}">
                <a16:creationId xmlns:a16="http://schemas.microsoft.com/office/drawing/2014/main" id="{6828E01B-1438-4A80-88D5-CA5C916BF37B}"/>
              </a:ext>
            </a:extLst>
          </p:cNvPr>
          <p:cNvCxnSpPr/>
          <p:nvPr/>
        </p:nvCxnSpPr>
        <p:spPr>
          <a:xfrm>
            <a:off x="5766941" y="3859280"/>
            <a:ext cx="204340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id="{B01BEC77-59C1-4771-AF2F-F4517BE9A632}"/>
              </a:ext>
            </a:extLst>
          </p:cNvPr>
          <p:cNvCxnSpPr>
            <a:cxnSpLocks/>
          </p:cNvCxnSpPr>
          <p:nvPr/>
        </p:nvCxnSpPr>
        <p:spPr>
          <a:xfrm flipV="1">
            <a:off x="5610392" y="3977578"/>
            <a:ext cx="0" cy="15804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73883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89A614E-695E-44AE-B9F9-2E00AF9FD4FD}"/>
              </a:ext>
            </a:extLst>
          </p:cNvPr>
          <p:cNvSpPr txBox="1"/>
          <p:nvPr/>
        </p:nvSpPr>
        <p:spPr>
          <a:xfrm>
            <a:off x="4378390" y="339359"/>
            <a:ext cx="3435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Работа с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Перевод таблицы в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XML-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документ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3AB048E-C742-402A-8664-1513AD209E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978" y="985690"/>
            <a:ext cx="4283566" cy="3879706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BA23C474-A2A5-463C-AA9D-636ED01877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6582" y="1280417"/>
            <a:ext cx="4888071" cy="358497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0DE30509-BEB5-4BDE-91BB-29AA68B53E16}"/>
              </a:ext>
            </a:extLst>
          </p:cNvPr>
          <p:cNvSpPr txBox="1"/>
          <p:nvPr/>
        </p:nvSpPr>
        <p:spPr>
          <a:xfrm>
            <a:off x="873151" y="4865396"/>
            <a:ext cx="34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часть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C2CD4EB-107E-4E62-8371-CC2A8927B571}"/>
              </a:ext>
            </a:extLst>
          </p:cNvPr>
          <p:cNvSpPr txBox="1"/>
          <p:nvPr/>
        </p:nvSpPr>
        <p:spPr>
          <a:xfrm>
            <a:off x="4972400" y="4865396"/>
            <a:ext cx="34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часть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9C0D25-AB86-42D2-8689-6E8D0EED79A3}"/>
              </a:ext>
            </a:extLst>
          </p:cNvPr>
          <p:cNvSpPr txBox="1"/>
          <p:nvPr/>
        </p:nvSpPr>
        <p:spPr>
          <a:xfrm>
            <a:off x="7813610" y="6027877"/>
            <a:ext cx="34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Результат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5E674085-2A9B-4457-A272-6A8C4B3AE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610" y="3702914"/>
            <a:ext cx="3435220" cy="232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1973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61A1CF7-E242-457A-974A-27DB72B27EA5}"/>
              </a:ext>
            </a:extLst>
          </p:cNvPr>
          <p:cNvSpPr txBox="1"/>
          <p:nvPr/>
        </p:nvSpPr>
        <p:spPr>
          <a:xfrm>
            <a:off x="4378390" y="339359"/>
            <a:ext cx="34352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Парсер сайта с помощью пакета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UTL-TCP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4050205-5605-4E0E-8260-582B6936D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343" y="1289250"/>
            <a:ext cx="5997460" cy="375698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3E90A25-2684-40FC-B37F-670FF661B9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7542" y="1410549"/>
            <a:ext cx="5269399" cy="2368350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80DD0FC2-D660-422D-AB40-BD3BF714C1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68786" y="3769569"/>
            <a:ext cx="5646909" cy="2080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5431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0FBB87-ABB4-4A7A-9C68-BDDD6E6CC8E9}"/>
              </a:ext>
            </a:extLst>
          </p:cNvPr>
          <p:cNvSpPr txBox="1"/>
          <p:nvPr/>
        </p:nvSpPr>
        <p:spPr>
          <a:xfrm>
            <a:off x="4378390" y="339359"/>
            <a:ext cx="34352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 API / ORDS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FF962D6-477D-8145-4469-594116020E8B}"/>
              </a:ext>
            </a:extLst>
          </p:cNvPr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0012" y="850978"/>
            <a:ext cx="9165465" cy="515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1163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7" descr="Изображение выглядит как текст&#10;&#10;Автоматически созданное описание">
            <a:extLst>
              <a:ext uri="{FF2B5EF4-FFF2-40B4-BE49-F238E27FC236}">
                <a16:creationId xmlns:a16="http://schemas.microsoft.com/office/drawing/2014/main" id="{25380D1A-00D0-41FA-A6A5-0101E3327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56" y="1495554"/>
            <a:ext cx="5290158" cy="299398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2532A3B-F678-4DAA-89F9-E634328652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694" y="747832"/>
            <a:ext cx="4824007" cy="43498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4D80216-0219-42A7-B221-25C38AE7D5D1}"/>
              </a:ext>
            </a:extLst>
          </p:cNvPr>
          <p:cNvSpPr txBox="1"/>
          <p:nvPr/>
        </p:nvSpPr>
        <p:spPr>
          <a:xfrm>
            <a:off x="1808320" y="4839869"/>
            <a:ext cx="2866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ea typeface="Calibri Light"/>
                <a:cs typeface="Calibri Light"/>
              </a:rPr>
              <a:t>Пример с методом GET</a:t>
            </a:r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F08856-8C3F-4107-8DB4-DD9488CFDDC9}"/>
              </a:ext>
            </a:extLst>
          </p:cNvPr>
          <p:cNvSpPr txBox="1"/>
          <p:nvPr/>
        </p:nvSpPr>
        <p:spPr>
          <a:xfrm>
            <a:off x="7554688" y="5209201"/>
            <a:ext cx="286683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tx1"/>
                </a:solidFill>
                <a:ea typeface="Calibri Light"/>
                <a:cs typeface="Calibri Light"/>
              </a:rPr>
              <a:t>Результат: </a:t>
            </a:r>
            <a:r>
              <a:rPr lang="en-US" dirty="0" err="1">
                <a:solidFill>
                  <a:schemeClr val="tx1"/>
                </a:solidFill>
                <a:ea typeface="Calibri Light"/>
                <a:cs typeface="Calibri Light"/>
              </a:rPr>
              <a:t>json</a:t>
            </a:r>
            <a:r>
              <a:rPr lang="en-US" dirty="0">
                <a:solidFill>
                  <a:schemeClr val="tx1"/>
                </a:solidFill>
                <a:ea typeface="Calibri Light"/>
                <a:cs typeface="Calibri Light"/>
              </a:rPr>
              <a:t>-</a:t>
            </a:r>
            <a:r>
              <a:rPr lang="ru-RU" dirty="0">
                <a:solidFill>
                  <a:schemeClr val="tx1"/>
                </a:solidFill>
                <a:ea typeface="Calibri Light"/>
                <a:cs typeface="Calibri Light"/>
              </a:rPr>
              <a:t>файл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514883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6D5A97-7DCD-42E4-AF31-4F1776EC3762}"/>
              </a:ext>
            </a:extLst>
          </p:cNvPr>
          <p:cNvSpPr txBox="1"/>
          <p:nvPr/>
        </p:nvSpPr>
        <p:spPr>
          <a:xfrm>
            <a:off x="5325315" y="519796"/>
            <a:ext cx="15413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  <a:ea typeface="Calibri Light"/>
                <a:cs typeface="Calibri Light"/>
              </a:rPr>
              <a:t>Elasticsearch</a:t>
            </a:r>
            <a:endParaRPr lang="ru-RU" dirty="0"/>
          </a:p>
        </p:txBody>
      </p:sp>
      <p:pic>
        <p:nvPicPr>
          <p:cNvPr id="5" name="Рисунок 3" descr="Изображение выглядит как стол&#10;&#10;Автоматически созданное описание">
            <a:extLst>
              <a:ext uri="{FF2B5EF4-FFF2-40B4-BE49-F238E27FC236}">
                <a16:creationId xmlns:a16="http://schemas.microsoft.com/office/drawing/2014/main" id="{7E516183-663F-44AA-8A18-E3E6E2DC6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315" y="1250449"/>
            <a:ext cx="5971745" cy="33591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1A12E6B-D5EF-43BB-ACD6-C6B029DFDF50}"/>
              </a:ext>
            </a:extLst>
          </p:cNvPr>
          <p:cNvSpPr txBox="1"/>
          <p:nvPr/>
        </p:nvSpPr>
        <p:spPr>
          <a:xfrm>
            <a:off x="314908" y="1250449"/>
            <a:ext cx="6097554" cy="2289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-228600"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  <a:buFont typeface="Wingdings" panose="05000000000000000000" pitchFamily="2" charset="2"/>
              <a:buChar char="§"/>
            </a:pPr>
            <a:r>
              <a:rPr lang="en-US" sz="1800" b="0" i="0" dirty="0"/>
              <a:t>Elasticsearch — </a:t>
            </a:r>
            <a:r>
              <a:rPr lang="en-US" sz="1800" dirty="0"/>
              <a:t>Использует </a:t>
            </a:r>
            <a:r>
              <a:rPr lang="en-US" sz="1800" dirty="0" err="1"/>
              <a:t>полнотекстовый</a:t>
            </a:r>
            <a:r>
              <a:rPr lang="en-US" sz="1800" dirty="0"/>
              <a:t> </a:t>
            </a: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</a:pPr>
            <a:r>
              <a:rPr lang="en-US" sz="1800" dirty="0" err="1"/>
              <a:t>индекс</a:t>
            </a:r>
            <a:r>
              <a:rPr lang="en-US" sz="1800" dirty="0"/>
              <a:t> </a:t>
            </a:r>
            <a:r>
              <a:rPr lang="en-US" sz="1800" dirty="0" err="1"/>
              <a:t>для</a:t>
            </a:r>
            <a:r>
              <a:rPr lang="en-US" sz="1800" dirty="0"/>
              <a:t> </a:t>
            </a:r>
            <a:r>
              <a:rPr lang="en-US" sz="1800" dirty="0" err="1"/>
              <a:t>поиска</a:t>
            </a:r>
            <a:r>
              <a:rPr lang="en-US" sz="1800" dirty="0"/>
              <a:t>. </a:t>
            </a:r>
            <a:r>
              <a:rPr lang="en-US" sz="1800" dirty="0" err="1"/>
              <a:t>Он</a:t>
            </a:r>
            <a:r>
              <a:rPr lang="en-US" sz="1800" dirty="0"/>
              <a:t> в режиме </a:t>
            </a:r>
            <a:r>
              <a:rPr lang="en-US" sz="1800" dirty="0" err="1"/>
              <a:t>реального</a:t>
            </a:r>
            <a:r>
              <a:rPr lang="en-US" sz="1800" dirty="0"/>
              <a:t> </a:t>
            </a: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</a:pPr>
            <a:r>
              <a:rPr lang="en-US" sz="1800" dirty="0" err="1"/>
              <a:t>времени</a:t>
            </a:r>
            <a:r>
              <a:rPr lang="en-US" sz="1800" dirty="0"/>
              <a:t> ищет совпадения </a:t>
            </a:r>
            <a:r>
              <a:rPr lang="en-US" sz="1800" dirty="0" err="1"/>
              <a:t>по</a:t>
            </a:r>
            <a:r>
              <a:rPr lang="en-US" sz="1800" dirty="0"/>
              <a:t> </a:t>
            </a:r>
            <a:r>
              <a:rPr lang="en-US" sz="1800" dirty="0" err="1"/>
              <a:t>словам</a:t>
            </a:r>
            <a:r>
              <a:rPr lang="en-US" sz="1800" dirty="0"/>
              <a:t> </a:t>
            </a:r>
            <a:r>
              <a:rPr lang="en-US" sz="1800" dirty="0" err="1"/>
              <a:t>на</a:t>
            </a:r>
            <a:endParaRPr lang="en-US" sz="1800" dirty="0"/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</a:pPr>
            <a:r>
              <a:rPr lang="en-US" sz="1800" dirty="0" err="1"/>
              <a:t>различных</a:t>
            </a:r>
            <a:r>
              <a:rPr lang="en-US" sz="1800" dirty="0"/>
              <a:t> </a:t>
            </a:r>
            <a:r>
              <a:rPr lang="en-US" sz="1800" dirty="0" err="1"/>
              <a:t>ресурсах</a:t>
            </a:r>
            <a:r>
              <a:rPr lang="en-US" sz="1800" dirty="0"/>
              <a:t> и </a:t>
            </a:r>
            <a:r>
              <a:rPr lang="en-US" sz="1800" dirty="0" err="1"/>
              <a:t>выдает</a:t>
            </a:r>
            <a:r>
              <a:rPr lang="en-US" sz="1800" dirty="0"/>
              <a:t> </a:t>
            </a: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</a:pPr>
            <a:r>
              <a:rPr lang="en-US" sz="1800" dirty="0"/>
              <a:t>в </a:t>
            </a:r>
            <a:r>
              <a:rPr lang="en-US" sz="1800" dirty="0" err="1"/>
              <a:t>результате</a:t>
            </a:r>
            <a:r>
              <a:rPr lang="en-US" sz="1800" dirty="0"/>
              <a:t> </a:t>
            </a:r>
            <a:r>
              <a:rPr lang="en-US" sz="1800" dirty="0" err="1"/>
              <a:t>поиска</a:t>
            </a:r>
            <a:r>
              <a:rPr lang="en-US" sz="1800" dirty="0"/>
              <a:t> </a:t>
            </a:r>
            <a:r>
              <a:rPr lang="en-US" sz="1800" dirty="0" err="1"/>
              <a:t>наиболее</a:t>
            </a:r>
            <a:r>
              <a:rPr lang="en-US" sz="1800" dirty="0"/>
              <a:t> </a:t>
            </a:r>
          </a:p>
          <a:p>
            <a:pPr defTabSz="914400">
              <a:lnSpc>
                <a:spcPct val="110000"/>
              </a:lnSpc>
              <a:spcAft>
                <a:spcPts val="600"/>
              </a:spcAft>
              <a:buClr>
                <a:schemeClr val="accent1"/>
              </a:buClr>
              <a:buSzPct val="110000"/>
            </a:pPr>
            <a:r>
              <a:rPr lang="en-US" sz="1800" dirty="0" err="1"/>
              <a:t>подходящие</a:t>
            </a:r>
            <a:r>
              <a:rPr lang="en-US" sz="1800" dirty="0"/>
              <a:t> </a:t>
            </a:r>
            <a:r>
              <a:rPr lang="en-US" sz="1800" dirty="0" err="1"/>
              <a:t>варианты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1484912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EBC34EA-5145-42C8-975E-B7D24A8A38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58249310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1018</TotalTime>
  <Words>192</Words>
  <Application>Microsoft Office PowerPoint</Application>
  <PresentationFormat>Широкоэкранный</PresentationFormat>
  <Paragraphs>40</Paragraphs>
  <Slides>26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26</vt:i4>
      </vt:variant>
    </vt:vector>
  </HeadingPairs>
  <TitlesOfParts>
    <vt:vector size="32" baseType="lpstr">
      <vt:lpstr>Arial</vt:lpstr>
      <vt:lpstr>Calibri</vt:lpstr>
      <vt:lpstr>Calibri Light</vt:lpstr>
      <vt:lpstr>Times New Roman</vt:lpstr>
      <vt:lpstr>Wingdings</vt:lpstr>
      <vt:lpstr>Тема Office</vt:lpstr>
      <vt:lpstr>Защита курсового проекта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Рабочая база данных с запросами с 3 НФ структура и логика. UML-IDEF0</dc:title>
  <dc:creator>Andrey Tokarchuk</dc:creator>
  <cp:lastModifiedBy>Andrey Tokarchuk</cp:lastModifiedBy>
  <cp:revision>10</cp:revision>
  <dcterms:created xsi:type="dcterms:W3CDTF">2022-04-25T15:06:08Z</dcterms:created>
  <dcterms:modified xsi:type="dcterms:W3CDTF">2022-04-27T17:46:02Z</dcterms:modified>
</cp:coreProperties>
</file>